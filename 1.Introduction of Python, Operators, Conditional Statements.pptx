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1"/>
  </p:sldMasterIdLst>
  <p:sldIdLst>
    <p:sldId id="282" r:id="rId2"/>
    <p:sldId id="283" r:id="rId3"/>
    <p:sldId id="288" r:id="rId4"/>
    <p:sldId id="289" r:id="rId5"/>
    <p:sldId id="290" r:id="rId6"/>
    <p:sldId id="291" r:id="rId7"/>
    <p:sldId id="292" r:id="rId8"/>
    <p:sldId id="300" r:id="rId9"/>
    <p:sldId id="318" r:id="rId10"/>
    <p:sldId id="319" r:id="rId11"/>
    <p:sldId id="325" r:id="rId12"/>
    <p:sldId id="324" r:id="rId13"/>
    <p:sldId id="326" r:id="rId14"/>
    <p:sldId id="321" r:id="rId15"/>
    <p:sldId id="301" r:id="rId16"/>
    <p:sldId id="303" r:id="rId17"/>
    <p:sldId id="322" r:id="rId18"/>
    <p:sldId id="305" r:id="rId19"/>
    <p:sldId id="306" r:id="rId20"/>
    <p:sldId id="310" r:id="rId21"/>
    <p:sldId id="315" r:id="rId22"/>
    <p:sldId id="316" r:id="rId23"/>
    <p:sldId id="317" r:id="rId24"/>
    <p:sldId id="327" r:id="rId25"/>
    <p:sldId id="367" r:id="rId26"/>
    <p:sldId id="368" r:id="rId27"/>
    <p:sldId id="369" r:id="rId28"/>
    <p:sldId id="370" r:id="rId29"/>
    <p:sldId id="328" r:id="rId30"/>
    <p:sldId id="329" r:id="rId31"/>
    <p:sldId id="330" r:id="rId32"/>
    <p:sldId id="331" r:id="rId33"/>
    <p:sldId id="332" r:id="rId34"/>
    <p:sldId id="333" r:id="rId35"/>
    <p:sldId id="334" r:id="rId36"/>
    <p:sldId id="335" r:id="rId37"/>
    <p:sldId id="336" r:id="rId38"/>
    <p:sldId id="371" r:id="rId39"/>
    <p:sldId id="338" r:id="rId40"/>
    <p:sldId id="372" r:id="rId41"/>
    <p:sldId id="373" r:id="rId42"/>
    <p:sldId id="374" r:id="rId43"/>
    <p:sldId id="376" r:id="rId44"/>
    <p:sldId id="381" r:id="rId45"/>
    <p:sldId id="339" r:id="rId46"/>
    <p:sldId id="375" r:id="rId47"/>
    <p:sldId id="340" r:id="rId48"/>
    <p:sldId id="341" r:id="rId49"/>
    <p:sldId id="342" r:id="rId50"/>
    <p:sldId id="343" r:id="rId51"/>
    <p:sldId id="344" r:id="rId52"/>
    <p:sldId id="345" r:id="rId53"/>
    <p:sldId id="346" r:id="rId54"/>
    <p:sldId id="347" r:id="rId55"/>
    <p:sldId id="348" r:id="rId56"/>
    <p:sldId id="377" r:id="rId57"/>
    <p:sldId id="378" r:id="rId58"/>
    <p:sldId id="379" r:id="rId59"/>
    <p:sldId id="380" r:id="rId60"/>
    <p:sldId id="320"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96" y="96"/>
      </p:cViewPr>
      <p:guideLst>
        <p:guide orient="horz" pos="2160"/>
        <p:guide pos="3840"/>
      </p:guideLst>
    </p:cSldViewPr>
  </p:slideViewPr>
  <p:notesTextViewPr>
    <p:cViewPr>
      <p:scale>
        <a:sx n="1" d="1"/>
        <a:sy n="1" d="1"/>
      </p:scale>
      <p:origin x="0" y="0"/>
    </p:cViewPr>
  </p:notesTextViewPr>
  <p:sorterViewPr>
    <p:cViewPr>
      <p:scale>
        <a:sx n="66" d="100"/>
        <a:sy n="66" d="100"/>
      </p:scale>
      <p:origin x="0" y="981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06T06:45:49.701"/>
    </inkml:context>
    <inkml:brush xml:id="br0">
      <inkml:brushProperty name="width" value="0.1" units="cm"/>
      <inkml:brushProperty name="height" value="0.1" units="cm"/>
      <inkml:brushProperty name="color" value="#E71224"/>
    </inkml:brush>
  </inkml:definitions>
  <inkml:trace contextRef="#ctx0" brushRef="#br0">1 1 24575,'606'0'0,"-597"0"0,0 0 0,0 1 0,0 0 0,0 1 0,0 0 0,0 0 0,-1 1 0,1 0 0,-1 0 0,16 10 0,-6-4 0,1-1 0,0-1 0,0 0 0,0-1 0,26 4 0,-9-4 0,0-2 0,38-1 0,802-3 0,-380-1 0,1061 1-1365,-1530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06T06:46:03.761"/>
    </inkml:context>
    <inkml:brush xml:id="br0">
      <inkml:brushProperty name="width" value="0.1" units="cm"/>
      <inkml:brushProperty name="height" value="0.1" units="cm"/>
      <inkml:brushProperty name="color" value="#E71224"/>
    </inkml:brush>
  </inkml:definitions>
  <inkml:trace contextRef="#ctx0" brushRef="#br0">1 1 24575,'606'0'0,"-597"0"0,0 0 0,0 1 0,0 0 0,0 1 0,0 0 0,0 0 0,-1 1 0,1 0 0,-1 0 0,16 10 0,-6-4 0,1-1 0,0-1 0,0 0 0,0-1 0,26 4 0,-9-4 0,0-2 0,38-1 0,802-3 0,-380-1 0,1061 1-1365,-1530 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06T06:46:16.041"/>
    </inkml:context>
    <inkml:brush xml:id="br0">
      <inkml:brushProperty name="width" value="0.1" units="cm"/>
      <inkml:brushProperty name="height" value="0.1" units="cm"/>
      <inkml:brushProperty name="color" value="#E71224"/>
    </inkml:brush>
  </inkml:definitions>
  <inkml:trace contextRef="#ctx0" brushRef="#br0">1 1 24575,'606'0'0,"-597"0"0,0 0 0,0 1 0,0 0 0,0 1 0,0 0 0,0 0 0,-1 1 0,1 0 0,-1 0 0,16 10 0,-6-4 0,1-1 0,0-1 0,0 0 0,0-1 0,26 4 0,-9-4 0,0-2 0,38-1 0,802-3 0,-380-1 0,1061 1-1365,-1530 0-5461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8893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0155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3656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9095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8804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927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0889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51970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6003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714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pPr/>
              <a:t>9/14/2024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5132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9/14/2024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968812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programiz.com/python-programming/keyword-list"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www.programiz.com/python-programming/string" TargetMode="External"/><Relationship Id="rId7" Type="http://schemas.openxmlformats.org/officeDocument/2006/relationships/hyperlink" Target="https://www.programiz.com/python-programming/dictionary"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programiz.com/python-programming/set" TargetMode="External"/><Relationship Id="rId5" Type="http://schemas.openxmlformats.org/officeDocument/2006/relationships/hyperlink" Target="https://www.programiz.com/python-programming/tuple" TargetMode="External"/><Relationship Id="rId4" Type="http://schemas.openxmlformats.org/officeDocument/2006/relationships/hyperlink" Target="https://www.programiz.com/python-programming/list"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00.png"/><Relationship Id="rId4" Type="http://schemas.openxmlformats.org/officeDocument/2006/relationships/customXml" Target="../ink/ink1.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geeksforgeeks.org/python-operators/"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www.geeksforgeeks.org/python-or-operator/" TargetMode="External"/><Relationship Id="rId4" Type="http://schemas.openxmlformats.org/officeDocument/2006/relationships/hyperlink" Target="https://www.geeksforgeeks.org/python-bitwise-operators/"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descr="Image result for pyth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5842" name="Picture 2" descr="C:\Users\Dell\Downloads\Most-popular-programming-languages.png"/>
          <p:cNvPicPr>
            <a:picLocks noChangeAspect="1" noChangeArrowheads="1"/>
          </p:cNvPicPr>
          <p:nvPr/>
        </p:nvPicPr>
        <p:blipFill>
          <a:blip r:embed="rId2"/>
          <a:srcRect/>
          <a:stretch>
            <a:fillRect/>
          </a:stretch>
        </p:blipFill>
        <p:spPr bwMode="auto">
          <a:xfrm>
            <a:off x="1" y="0"/>
            <a:ext cx="4976948" cy="6858000"/>
          </a:xfrm>
          <a:prstGeom prst="rect">
            <a:avLst/>
          </a:prstGeom>
          <a:noFill/>
        </p:spPr>
      </p:pic>
      <p:pic>
        <p:nvPicPr>
          <p:cNvPr id="35843" name="Picture 3" descr="C:\Users\Dell\Downloads\main-qimg-3e5cf25fdcd81bf7292827ee3f42205b.png"/>
          <p:cNvPicPr>
            <a:picLocks noChangeAspect="1" noChangeArrowheads="1"/>
          </p:cNvPicPr>
          <p:nvPr/>
        </p:nvPicPr>
        <p:blipFill>
          <a:blip r:embed="rId3"/>
          <a:srcRect/>
          <a:stretch>
            <a:fillRect/>
          </a:stretch>
        </p:blipFill>
        <p:spPr bwMode="auto">
          <a:xfrm>
            <a:off x="5055326" y="0"/>
            <a:ext cx="7136674" cy="6858000"/>
          </a:xfrm>
          <a:prstGeom prst="rect">
            <a:avLst/>
          </a:prstGeom>
          <a:noFill/>
        </p:spPr>
      </p:pic>
    </p:spTree>
    <p:extLst>
      <p:ext uri="{BB962C8B-B14F-4D97-AF65-F5344CB8AC3E}">
        <p14:creationId xmlns:p14="http://schemas.microsoft.com/office/powerpoint/2010/main" val="4037227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630881"/>
          </a:xfrm>
        </p:spPr>
        <p:txBody>
          <a:bodyPr>
            <a:normAutofit/>
          </a:bodyPr>
          <a:lstStyle/>
          <a:p>
            <a:r>
              <a:rPr lang="en-US" sz="3200" dirty="0">
                <a:solidFill>
                  <a:srgbClr val="FF0000"/>
                </a:solidFill>
              </a:rPr>
              <a:t>Introduction</a:t>
            </a:r>
            <a:endParaRPr lang="en-IN" sz="3000" dirty="0">
              <a:solidFill>
                <a:srgbClr val="FF0000"/>
              </a:solidFill>
            </a:endParaRPr>
          </a:p>
        </p:txBody>
      </p:sp>
      <p:sp>
        <p:nvSpPr>
          <p:cNvPr id="3" name="Content Placeholder 2"/>
          <p:cNvSpPr>
            <a:spLocks noGrp="1"/>
          </p:cNvSpPr>
          <p:nvPr>
            <p:ph idx="1"/>
          </p:nvPr>
        </p:nvSpPr>
        <p:spPr>
          <a:xfrm>
            <a:off x="838199" y="1120462"/>
            <a:ext cx="10830059" cy="5486400"/>
          </a:xfrm>
        </p:spPr>
        <p:txBody>
          <a:bodyPr>
            <a:normAutofit/>
          </a:bodyPr>
          <a:lstStyle/>
          <a:p>
            <a:pPr algn="just"/>
            <a:r>
              <a:rPr lang="en-US" sz="3200" dirty="0"/>
              <a:t>Python is a general purpose, interpreted and high-level programming language</a:t>
            </a:r>
          </a:p>
          <a:p>
            <a:pPr algn="just"/>
            <a:r>
              <a:rPr lang="en-US" sz="3200" dirty="0"/>
              <a:t> It’s  design philosophy emphasizes </a:t>
            </a:r>
            <a:r>
              <a:rPr lang="en-US" sz="3200" dirty="0">
                <a:solidFill>
                  <a:srgbClr val="7030A0"/>
                </a:solidFill>
              </a:rPr>
              <a:t>code readability</a:t>
            </a:r>
            <a:r>
              <a:rPr lang="en-US" sz="3200" dirty="0"/>
              <a:t>.</a:t>
            </a:r>
          </a:p>
          <a:p>
            <a:pPr algn="just"/>
            <a:r>
              <a:rPr lang="en-US" sz="3200" dirty="0"/>
              <a:t>Its syntax are said to be </a:t>
            </a:r>
            <a:r>
              <a:rPr lang="en-US" sz="3200" dirty="0">
                <a:solidFill>
                  <a:srgbClr val="7030A0"/>
                </a:solidFill>
              </a:rPr>
              <a:t>clear and expressive</a:t>
            </a:r>
            <a:r>
              <a:rPr lang="en-US" sz="3200" dirty="0"/>
              <a:t>. </a:t>
            </a:r>
          </a:p>
          <a:p>
            <a:pPr algn="just"/>
            <a:r>
              <a:rPr lang="en-US" sz="3200" dirty="0"/>
              <a:t>Python interpreters are available for many operating systems.</a:t>
            </a:r>
          </a:p>
          <a:p>
            <a:pPr algn="just"/>
            <a:r>
              <a:rPr lang="en-US" sz="3200" dirty="0"/>
              <a:t>Like Java, once written, programs can be run on any operating system.</a:t>
            </a:r>
          </a:p>
          <a:p>
            <a:pPr algn="just"/>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US" sz="3200" b="1" dirty="0">
                <a:solidFill>
                  <a:srgbClr val="FF0000"/>
                </a:solidFill>
              </a:rPr>
              <a:t>History</a:t>
            </a:r>
            <a:endParaRPr lang="en-IN" sz="30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pPr algn="just"/>
            <a:r>
              <a:rPr lang="en-US" sz="3200" dirty="0"/>
              <a:t>The history of Python starts with ABC.</a:t>
            </a:r>
          </a:p>
          <a:p>
            <a:pPr algn="just"/>
            <a:r>
              <a:rPr lang="en-US" sz="3200" dirty="0"/>
              <a:t>Python was conceptualized by Guido Van </a:t>
            </a:r>
            <a:r>
              <a:rPr lang="en-US" sz="3200" dirty="0" err="1"/>
              <a:t>Rossum</a:t>
            </a:r>
            <a:r>
              <a:rPr lang="en-US" sz="3200" dirty="0"/>
              <a:t> in the late 1980s.</a:t>
            </a:r>
          </a:p>
          <a:p>
            <a:pPr algn="just" fontAlgn="base"/>
            <a:r>
              <a:rPr lang="en-US" sz="3200" dirty="0"/>
              <a:t>It was in late 1980’s, when Guido van Rossum came up with an idea to develop a programming language while working in CWI(Centrum </a:t>
            </a:r>
            <a:r>
              <a:rPr lang="en-US" sz="3200" dirty="0" err="1"/>
              <a:t>Wiskunde</a:t>
            </a:r>
            <a:r>
              <a:rPr lang="en-US" sz="3200" dirty="0"/>
              <a:t> and Informatica), Amsterdam, for a project named </a:t>
            </a:r>
            <a:r>
              <a:rPr lang="en-US" sz="3200" b="1" dirty="0"/>
              <a:t>Amoeba </a:t>
            </a:r>
            <a:r>
              <a:rPr lang="en-US" sz="3200" dirty="0"/>
              <a:t>which is a distributed operating system.</a:t>
            </a:r>
          </a:p>
          <a:p>
            <a:pPr algn="just" fontAlgn="base"/>
            <a:r>
              <a:rPr lang="en-US" sz="3200" dirty="0"/>
              <a:t>He along with his team was using ABC language for their project which was not able to handle </a:t>
            </a:r>
            <a:r>
              <a:rPr lang="en-US" sz="3200" b="1" dirty="0"/>
              <a:t>exceptions</a:t>
            </a:r>
            <a:r>
              <a:rPr lang="en-US" sz="3200" dirty="0"/>
              <a:t> and interface with the Amoeba Operating System.</a:t>
            </a:r>
          </a:p>
          <a:p>
            <a:pPr algn="just" fontAlgn="base"/>
            <a:endParaRPr lang="en-US" sz="3200" dirty="0"/>
          </a:p>
          <a:p>
            <a:pPr marL="0" indent="0" algn="just">
              <a:buNone/>
            </a:pP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US" sz="3200" b="1" dirty="0">
                <a:solidFill>
                  <a:srgbClr val="FF0000"/>
                </a:solidFill>
              </a:rPr>
              <a:t>History</a:t>
            </a:r>
            <a:endParaRPr lang="en-IN" sz="30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pPr algn="just" fontAlgn="base"/>
            <a:r>
              <a:rPr lang="en-US" sz="3200" dirty="0"/>
              <a:t>In December, 1989, he actually started implementing his ideas to develop a new programming language that is capable of </a:t>
            </a:r>
            <a:r>
              <a:rPr lang="en-US" sz="3200" b="1" dirty="0"/>
              <a:t>exception handling</a:t>
            </a:r>
            <a:r>
              <a:rPr lang="en-US" sz="3200" dirty="0"/>
              <a:t> with several other programming paradigms.</a:t>
            </a:r>
          </a:p>
          <a:p>
            <a:pPr algn="just" fontAlgn="base"/>
            <a:r>
              <a:rPr lang="en-US" sz="3200" dirty="0" err="1"/>
              <a:t>Rossum</a:t>
            </a:r>
            <a:r>
              <a:rPr lang="en-US" sz="3200" dirty="0"/>
              <a:t> being a big fan of a British sketch comedy series, </a:t>
            </a:r>
            <a:r>
              <a:rPr lang="en-US" sz="3200" b="1" dirty="0"/>
              <a:t>Monty Python’s Flying Circus</a:t>
            </a:r>
            <a:r>
              <a:rPr lang="en-US" sz="3200" dirty="0"/>
              <a:t>, named the language as Python.</a:t>
            </a:r>
          </a:p>
          <a:p>
            <a:pPr algn="just"/>
            <a:r>
              <a:rPr lang="en-US" sz="3200" dirty="0"/>
              <a:t>Python came into sight on </a:t>
            </a:r>
            <a:r>
              <a:rPr lang="en-US" sz="3200" b="1" dirty="0"/>
              <a:t>20 Feb, 1991 </a:t>
            </a:r>
            <a:r>
              <a:rPr lang="en-US" sz="3200" dirty="0"/>
              <a:t>for the very first time with a version 0.9.0.</a:t>
            </a:r>
          </a:p>
          <a:p>
            <a:pPr marL="0" indent="0" algn="just">
              <a:buNone/>
            </a:pP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41986" name="Picture 2"/>
          <p:cNvPicPr>
            <a:picLocks noChangeAspect="1" noChangeArrowheads="1"/>
          </p:cNvPicPr>
          <p:nvPr/>
        </p:nvPicPr>
        <p:blipFill>
          <a:blip r:embed="rId3"/>
          <a:srcRect/>
          <a:stretch>
            <a:fillRect/>
          </a:stretch>
        </p:blipFill>
        <p:spPr bwMode="auto">
          <a:xfrm>
            <a:off x="0" y="0"/>
            <a:ext cx="9067800" cy="6486525"/>
          </a:xfrm>
          <a:prstGeom prst="rect">
            <a:avLst/>
          </a:prstGeom>
          <a:noFill/>
          <a:ln w="9525">
            <a:noFill/>
            <a:miter lim="800000"/>
            <a:headEnd/>
            <a:tailEnd/>
          </a:ln>
          <a:effectLst/>
        </p:spPr>
      </p:pic>
    </p:spTree>
    <p:extLst>
      <p:ext uri="{BB962C8B-B14F-4D97-AF65-F5344CB8AC3E}">
        <p14:creationId xmlns:p14="http://schemas.microsoft.com/office/powerpoint/2010/main" val="3934164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43010" name="Picture 2"/>
          <p:cNvPicPr>
            <a:picLocks noChangeAspect="1" noChangeArrowheads="1"/>
          </p:cNvPicPr>
          <p:nvPr/>
        </p:nvPicPr>
        <p:blipFill>
          <a:blip r:embed="rId3"/>
          <a:srcRect/>
          <a:stretch>
            <a:fillRect/>
          </a:stretch>
        </p:blipFill>
        <p:spPr bwMode="auto">
          <a:xfrm>
            <a:off x="0" y="4764"/>
            <a:ext cx="10558463" cy="6317660"/>
          </a:xfrm>
          <a:prstGeom prst="rect">
            <a:avLst/>
          </a:prstGeom>
          <a:noFill/>
          <a:ln w="9525">
            <a:noFill/>
            <a:miter lim="800000"/>
            <a:headEnd/>
            <a:tailEnd/>
          </a:ln>
          <a:effectLst/>
        </p:spPr>
      </p:pic>
    </p:spTree>
    <p:extLst>
      <p:ext uri="{BB962C8B-B14F-4D97-AF65-F5344CB8AC3E}">
        <p14:creationId xmlns:p14="http://schemas.microsoft.com/office/powerpoint/2010/main" val="3934164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US" sz="3200" b="1" dirty="0">
                <a:solidFill>
                  <a:srgbClr val="FF0000"/>
                </a:solidFill>
              </a:rPr>
              <a:t>History</a:t>
            </a:r>
            <a:endParaRPr lang="en-IN" sz="30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r>
              <a:rPr lang="en-US" sz="3200" dirty="0"/>
              <a:t>Python 0.9.0 - February 20, 1991</a:t>
            </a:r>
          </a:p>
          <a:p>
            <a:r>
              <a:rPr lang="en-US" sz="3200" dirty="0"/>
              <a:t>Python 1.0 - January 1994</a:t>
            </a:r>
          </a:p>
          <a:p>
            <a:r>
              <a:rPr lang="en-US" sz="3200" dirty="0"/>
              <a:t>Python 2.0 - October 16, 2000</a:t>
            </a:r>
          </a:p>
          <a:p>
            <a:r>
              <a:rPr lang="en-US" sz="3200" dirty="0"/>
              <a:t>Python 3.0 - December 3, 2008</a:t>
            </a:r>
          </a:p>
          <a:p>
            <a:r>
              <a:rPr lang="en-US" sz="3200" dirty="0"/>
              <a:t>Python 3.7 - June 27, 2018</a:t>
            </a:r>
          </a:p>
          <a:p>
            <a:r>
              <a:rPr lang="en-IN" sz="3200" b="0" i="0" dirty="0">
                <a:solidFill>
                  <a:srgbClr val="202122"/>
                </a:solidFill>
                <a:effectLst/>
              </a:rPr>
              <a:t>Python 3.11	</a:t>
            </a:r>
            <a:r>
              <a:rPr lang="en-IN" sz="3200" dirty="0">
                <a:solidFill>
                  <a:srgbClr val="202122"/>
                </a:solidFill>
              </a:rPr>
              <a:t>    -N</a:t>
            </a:r>
            <a:r>
              <a:rPr lang="en-IN" sz="3200" b="0" i="0" dirty="0">
                <a:solidFill>
                  <a:srgbClr val="202122"/>
                </a:solidFill>
                <a:effectLst/>
              </a:rPr>
              <a:t>ovember 2022, </a:t>
            </a:r>
          </a:p>
          <a:p>
            <a:r>
              <a:rPr lang="en-IN" sz="3200" b="0" i="0" dirty="0">
                <a:solidFill>
                  <a:srgbClr val="202122"/>
                </a:solidFill>
                <a:effectLst/>
              </a:rPr>
              <a:t>Python       </a:t>
            </a:r>
            <a:r>
              <a:rPr lang="en-IN" sz="3200" b="0" i="0" dirty="0">
                <a:solidFill>
                  <a:srgbClr val="000000"/>
                </a:solidFill>
                <a:effectLst/>
              </a:rPr>
              <a:t>3.12.0	 2 October 2023</a:t>
            </a: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1026" name="Picture 2" descr="C:\Users\Dell\Downloads\Python-Applications.jpg"/>
          <p:cNvPicPr>
            <a:picLocks noChangeAspect="1" noChangeArrowheads="1"/>
          </p:cNvPicPr>
          <p:nvPr/>
        </p:nvPicPr>
        <p:blipFill>
          <a:blip r:embed="rId3"/>
          <a:srcRect/>
          <a:stretch>
            <a:fillRect/>
          </a:stretch>
        </p:blipFill>
        <p:spPr bwMode="auto">
          <a:xfrm>
            <a:off x="0" y="0"/>
            <a:ext cx="12192000" cy="6374673"/>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500253"/>
          </a:xfrm>
        </p:spPr>
        <p:txBody>
          <a:bodyPr>
            <a:noAutofit/>
          </a:bodyPr>
          <a:lstStyle/>
          <a:p>
            <a:r>
              <a:rPr lang="en-IN" sz="3200" dirty="0">
                <a:solidFill>
                  <a:srgbClr val="FF0000"/>
                </a:solidFill>
              </a:rPr>
              <a:t>Running Python scripts</a:t>
            </a:r>
          </a:p>
        </p:txBody>
      </p:sp>
      <p:sp>
        <p:nvSpPr>
          <p:cNvPr id="3" name="Content Placeholder 2"/>
          <p:cNvSpPr>
            <a:spLocks noGrp="1"/>
          </p:cNvSpPr>
          <p:nvPr>
            <p:ph idx="1"/>
          </p:nvPr>
        </p:nvSpPr>
        <p:spPr>
          <a:xfrm>
            <a:off x="587829" y="1120462"/>
            <a:ext cx="11377748" cy="5267275"/>
          </a:xfrm>
        </p:spPr>
        <p:txBody>
          <a:bodyPr>
            <a:normAutofit/>
          </a:bodyPr>
          <a:lstStyle/>
          <a:p>
            <a:pPr>
              <a:buNone/>
            </a:pPr>
            <a:r>
              <a:rPr lang="en-US" sz="3200" dirty="0">
                <a:solidFill>
                  <a:srgbClr val="FF0000"/>
                </a:solidFill>
              </a:rPr>
              <a:t>Method One: Interactive Mode</a:t>
            </a:r>
          </a:p>
          <a:p>
            <a:r>
              <a:rPr lang="en-US" sz="3200" dirty="0"/>
              <a:t>The most basic way to run code is to enter and run lines of code in the Terminal. </a:t>
            </a:r>
          </a:p>
          <a:p>
            <a:r>
              <a:rPr lang="en-US" sz="3200" dirty="0"/>
              <a:t> start Python by typing in python at the $ command prompt, type in print "Hello and hit enter.</a:t>
            </a:r>
          </a:p>
          <a:p>
            <a:pPr>
              <a:buNone/>
            </a:pPr>
            <a:r>
              <a:rPr lang="en-US" sz="3200" dirty="0">
                <a:solidFill>
                  <a:srgbClr val="FF0000"/>
                </a:solidFill>
              </a:rPr>
              <a:t>Ex :</a:t>
            </a:r>
          </a:p>
          <a:p>
            <a:r>
              <a:rPr lang="en-US" sz="3200" dirty="0"/>
              <a:t>&gt;&gt;&gt; print(“hello”)</a:t>
            </a:r>
          </a:p>
          <a:p>
            <a:pPr>
              <a:buNone/>
            </a:pPr>
            <a:r>
              <a:rPr lang="en-US" sz="3200" dirty="0"/>
              <a:t>o/p :hello</a:t>
            </a:r>
          </a:p>
          <a:p>
            <a:pPr>
              <a:buNone/>
            </a:pP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151955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500253"/>
          </a:xfrm>
        </p:spPr>
        <p:txBody>
          <a:bodyPr>
            <a:noAutofit/>
          </a:bodyPr>
          <a:lstStyle/>
          <a:p>
            <a:r>
              <a:rPr lang="en-IN" sz="3200" dirty="0">
                <a:solidFill>
                  <a:srgbClr val="FF0000"/>
                </a:solidFill>
              </a:rPr>
              <a:t>Running Python scripts</a:t>
            </a:r>
          </a:p>
        </p:txBody>
      </p:sp>
      <p:sp>
        <p:nvSpPr>
          <p:cNvPr id="3" name="Content Placeholder 2"/>
          <p:cNvSpPr>
            <a:spLocks noGrp="1"/>
          </p:cNvSpPr>
          <p:nvPr>
            <p:ph idx="1"/>
          </p:nvPr>
        </p:nvSpPr>
        <p:spPr>
          <a:xfrm>
            <a:off x="587829" y="1120462"/>
            <a:ext cx="11377748" cy="5267275"/>
          </a:xfrm>
        </p:spPr>
        <p:txBody>
          <a:bodyPr>
            <a:normAutofit/>
          </a:bodyPr>
          <a:lstStyle/>
          <a:p>
            <a:pPr>
              <a:buNone/>
            </a:pPr>
            <a:r>
              <a:rPr lang="en-US" sz="3200" dirty="0">
                <a:solidFill>
                  <a:srgbClr val="FF0000"/>
                </a:solidFill>
              </a:rPr>
              <a:t>Method 2: Running a Python Script in the Terminal</a:t>
            </a:r>
          </a:p>
          <a:p>
            <a:pPr algn="just"/>
            <a:r>
              <a:rPr lang="en-US" sz="3200" dirty="0"/>
              <a:t>Python code is written in plain text files, typically given a “.</a:t>
            </a:r>
            <a:r>
              <a:rPr lang="en-US" sz="3200" dirty="0" err="1"/>
              <a:t>py</a:t>
            </a:r>
            <a:r>
              <a:rPr lang="en-US" sz="3200" dirty="0"/>
              <a:t>” extension.</a:t>
            </a:r>
          </a:p>
          <a:p>
            <a:pPr algn="just"/>
            <a:r>
              <a:rPr lang="en-US" sz="3200" dirty="0"/>
              <a:t>Open up a Terminal window. Let’s say you saved your script with the name hello_world.py in your Documents folder.</a:t>
            </a:r>
          </a:p>
          <a:p>
            <a:pPr algn="just"/>
            <a:r>
              <a:rPr lang="en-US" sz="3200" dirty="0"/>
              <a:t> Navigate to the Documents folder by typing in </a:t>
            </a:r>
            <a:r>
              <a:rPr lang="en-US" sz="3200" dirty="0" err="1"/>
              <a:t>cd</a:t>
            </a:r>
            <a:r>
              <a:rPr lang="en-US" sz="3200" dirty="0"/>
              <a:t> Documents and hit enter. </a:t>
            </a:r>
          </a:p>
          <a:p>
            <a:pPr algn="just"/>
            <a:r>
              <a:rPr lang="en-US" sz="3200" dirty="0"/>
              <a:t>Then to run your code type in python hello_world.py and hit enter. Your code will run and you’ll see the output.</a:t>
            </a:r>
          </a:p>
          <a:p>
            <a:pPr>
              <a:buNone/>
            </a:pPr>
            <a:r>
              <a:rPr lang="en-US" sz="3200" dirty="0"/>
              <a:t>$python hello_world.py</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895729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500253"/>
          </a:xfrm>
        </p:spPr>
        <p:txBody>
          <a:bodyPr>
            <a:noAutofit/>
          </a:bodyPr>
          <a:lstStyle/>
          <a:p>
            <a:r>
              <a:rPr lang="en-IN" sz="3200" dirty="0">
                <a:solidFill>
                  <a:srgbClr val="FF0000"/>
                </a:solidFill>
              </a:rPr>
              <a:t>Running Python scripts</a:t>
            </a:r>
          </a:p>
        </p:txBody>
      </p:sp>
      <p:sp>
        <p:nvSpPr>
          <p:cNvPr id="3" name="Content Placeholder 2"/>
          <p:cNvSpPr>
            <a:spLocks noGrp="1"/>
          </p:cNvSpPr>
          <p:nvPr>
            <p:ph idx="1"/>
          </p:nvPr>
        </p:nvSpPr>
        <p:spPr>
          <a:xfrm>
            <a:off x="587829" y="1120462"/>
            <a:ext cx="11377748" cy="5267275"/>
          </a:xfrm>
        </p:spPr>
        <p:txBody>
          <a:bodyPr>
            <a:normAutofit/>
          </a:bodyPr>
          <a:lstStyle/>
          <a:p>
            <a:pPr>
              <a:buNone/>
            </a:pPr>
            <a:r>
              <a:rPr lang="en-US" sz="3200" dirty="0">
                <a:solidFill>
                  <a:srgbClr val="FF0000"/>
                </a:solidFill>
              </a:rPr>
              <a:t>Method 3: Running a Python Script in Jupyter notebook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33333"/>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333333"/>
                </a:solidFill>
                <a:effectLst/>
              </a:rPr>
              <a:t>Install the classic Jupyter Notebook with:</a:t>
            </a:r>
            <a:endParaRPr kumimoji="0" lang="en-US"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222222"/>
                </a:solidFill>
                <a:effectLst/>
              </a:rPr>
              <a:t>	pip notebook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333333"/>
                </a:solidFill>
                <a:effectLst/>
              </a:rPr>
              <a:t>To run the notebook:</a:t>
            </a:r>
            <a:endParaRPr kumimoji="0" lang="en-US"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222222"/>
                </a:solidFill>
                <a:effectLst/>
              </a:rPr>
              <a:t>	</a:t>
            </a:r>
            <a:r>
              <a:rPr kumimoji="0" lang="en-US" altLang="en-US" sz="3000" b="0" i="0" u="none" strike="noStrike" cap="none" normalizeH="0" baseline="0" dirty="0" err="1">
                <a:ln>
                  <a:noFill/>
                </a:ln>
                <a:solidFill>
                  <a:srgbClr val="222222"/>
                </a:solidFill>
                <a:effectLst/>
              </a:rPr>
              <a:t>jupyter</a:t>
            </a:r>
            <a:r>
              <a:rPr kumimoji="0" lang="en-US" altLang="en-US" sz="3000" b="0" i="0" u="none" strike="noStrike" cap="none" normalizeH="0" baseline="0" dirty="0">
                <a:ln>
                  <a:noFill/>
                </a:ln>
                <a:solidFill>
                  <a:srgbClr val="222222"/>
                </a:solidFill>
                <a:effectLst/>
              </a:rPr>
              <a:t> notebook</a:t>
            </a:r>
            <a:endParaRPr kumimoji="0" lang="en-US" altLang="en-US" sz="3000" b="0" i="0" u="none" strike="noStrike" cap="none" normalizeH="0" baseline="0" dirty="0">
              <a:ln>
                <a:noFill/>
              </a:ln>
              <a:solidFill>
                <a:schemeClr val="tx1"/>
              </a:solidFill>
              <a:effectLst/>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4008378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4" y="270456"/>
            <a:ext cx="10358846" cy="500253"/>
          </a:xfrm>
        </p:spPr>
        <p:txBody>
          <a:bodyPr>
            <a:noAutofit/>
          </a:bodyPr>
          <a:lstStyle/>
          <a:p>
            <a:r>
              <a:rPr lang="en-US" sz="2400" dirty="0">
                <a:solidFill>
                  <a:srgbClr val="FF0000"/>
                </a:solidFill>
              </a:rPr>
              <a:t>Example Program</a:t>
            </a:r>
            <a:endParaRPr lang="en-IN" sz="24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pPr>
              <a:buNone/>
            </a:pPr>
            <a:r>
              <a:rPr lang="en-US" sz="3200" dirty="0"/>
              <a:t>name="Devansh"</a:t>
            </a:r>
          </a:p>
          <a:p>
            <a:pPr>
              <a:buNone/>
            </a:pPr>
            <a:r>
              <a:rPr lang="en-US" sz="3200" dirty="0"/>
              <a:t>age=6</a:t>
            </a:r>
          </a:p>
          <a:p>
            <a:pPr>
              <a:buNone/>
            </a:pPr>
            <a:r>
              <a:rPr lang="en-US" sz="3200" dirty="0"/>
              <a:t>print("</a:t>
            </a:r>
            <a:r>
              <a:rPr lang="en-US" sz="3200" dirty="0" err="1"/>
              <a:t>Name:",name</a:t>
            </a:r>
            <a:r>
              <a:rPr lang="en-US" sz="3200" dirty="0"/>
              <a:t>)</a:t>
            </a:r>
          </a:p>
          <a:p>
            <a:pPr>
              <a:buNone/>
            </a:pPr>
            <a:r>
              <a:rPr lang="en-US" sz="3200" dirty="0"/>
              <a:t>print("</a:t>
            </a:r>
            <a:r>
              <a:rPr lang="en-US" sz="3200" dirty="0" err="1"/>
              <a:t>Age:",age</a:t>
            </a:r>
            <a:r>
              <a:rPr lang="en-US" sz="3200" dirty="0"/>
              <a:t>)</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638475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4" y="270456"/>
            <a:ext cx="10358846" cy="500253"/>
          </a:xfrm>
        </p:spPr>
        <p:txBody>
          <a:bodyPr>
            <a:noAutofit/>
          </a:bodyPr>
          <a:lstStyle/>
          <a:p>
            <a:r>
              <a:rPr lang="en-US" sz="2400" dirty="0">
                <a:solidFill>
                  <a:srgbClr val="FF0000"/>
                </a:solidFill>
              </a:rPr>
              <a:t>program to convert height in feet and inches to cm. [1 feet = 12 inch and 1 inch= 2.54 cm</a:t>
            </a:r>
            <a:endParaRPr lang="en-IN" sz="24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pPr>
              <a:buNone/>
            </a:pPr>
            <a:r>
              <a:rPr lang="en-US" sz="3200" dirty="0"/>
              <a:t>print("Input your height: ")</a:t>
            </a:r>
          </a:p>
          <a:p>
            <a:pPr>
              <a:buNone/>
            </a:pPr>
            <a:r>
              <a:rPr lang="en-US" sz="3200" dirty="0" err="1"/>
              <a:t>h_ft</a:t>
            </a:r>
            <a:r>
              <a:rPr lang="en-US" sz="3200" dirty="0"/>
              <a:t> = </a:t>
            </a:r>
            <a:r>
              <a:rPr lang="en-US" sz="3200" dirty="0" err="1"/>
              <a:t>int</a:t>
            </a:r>
            <a:r>
              <a:rPr lang="en-US" sz="3200" dirty="0"/>
              <a:t>(input("Feet: "))</a:t>
            </a:r>
          </a:p>
          <a:p>
            <a:pPr>
              <a:buNone/>
            </a:pPr>
            <a:r>
              <a:rPr lang="en-US" sz="3200" dirty="0" err="1"/>
              <a:t>h_inch</a:t>
            </a:r>
            <a:r>
              <a:rPr lang="en-US" sz="3200" dirty="0"/>
              <a:t> = </a:t>
            </a:r>
            <a:r>
              <a:rPr lang="en-US" sz="3200" dirty="0" err="1"/>
              <a:t>int</a:t>
            </a:r>
            <a:r>
              <a:rPr lang="en-US" sz="3200" dirty="0"/>
              <a:t>(input("Inches: "))</a:t>
            </a:r>
          </a:p>
          <a:p>
            <a:pPr>
              <a:buNone/>
            </a:pPr>
            <a:r>
              <a:rPr lang="en-US" sz="3200" dirty="0" err="1"/>
              <a:t>h_inch</a:t>
            </a:r>
            <a:r>
              <a:rPr lang="en-US" sz="3200" dirty="0"/>
              <a:t> += </a:t>
            </a:r>
            <a:r>
              <a:rPr lang="en-US" sz="3200" dirty="0" err="1"/>
              <a:t>h_ft</a:t>
            </a:r>
            <a:r>
              <a:rPr lang="en-US" sz="3200" dirty="0"/>
              <a:t> * 12</a:t>
            </a:r>
          </a:p>
          <a:p>
            <a:pPr>
              <a:buNone/>
            </a:pPr>
            <a:r>
              <a:rPr lang="en-US" sz="3200" dirty="0" err="1"/>
              <a:t>h_cm</a:t>
            </a:r>
            <a:r>
              <a:rPr lang="en-US" sz="3200" dirty="0"/>
              <a:t> = round(</a:t>
            </a:r>
            <a:r>
              <a:rPr lang="en-US" sz="3200" dirty="0" err="1"/>
              <a:t>h_inch</a:t>
            </a:r>
            <a:r>
              <a:rPr lang="en-US" sz="3200" dirty="0"/>
              <a:t> * 2.54, 1)</a:t>
            </a:r>
          </a:p>
          <a:p>
            <a:pPr>
              <a:buNone/>
            </a:pPr>
            <a:r>
              <a:rPr lang="en-US" sz="3200" dirty="0"/>
              <a:t>print("Your height is : %d cm." % </a:t>
            </a:r>
            <a:r>
              <a:rPr lang="en-US" sz="3200" dirty="0" err="1"/>
              <a:t>h_cm</a:t>
            </a:r>
            <a:r>
              <a:rPr lang="en-US" sz="3200" dirty="0"/>
              <a:t>)</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1248280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IN" sz="3000" dirty="0">
                <a:solidFill>
                  <a:srgbClr val="FF0000"/>
                </a:solidFill>
              </a:rPr>
              <a:t>Comments in python</a:t>
            </a:r>
          </a:p>
        </p:txBody>
      </p:sp>
      <p:sp>
        <p:nvSpPr>
          <p:cNvPr id="3" name="Content Placeholder 2"/>
          <p:cNvSpPr>
            <a:spLocks noGrp="1"/>
          </p:cNvSpPr>
          <p:nvPr>
            <p:ph idx="1"/>
          </p:nvPr>
        </p:nvSpPr>
        <p:spPr>
          <a:xfrm>
            <a:off x="587829" y="1120462"/>
            <a:ext cx="11377748" cy="5267275"/>
          </a:xfrm>
        </p:spPr>
        <p:txBody>
          <a:bodyPr>
            <a:normAutofit/>
          </a:bodyPr>
          <a:lstStyle/>
          <a:p>
            <a:pPr algn="just">
              <a:buNone/>
            </a:pPr>
            <a:r>
              <a:rPr lang="en-US" sz="3200" i="1" dirty="0">
                <a:solidFill>
                  <a:srgbClr val="FF0000"/>
                </a:solidFill>
              </a:rPr>
              <a:t>Single line comments: </a:t>
            </a:r>
          </a:p>
          <a:p>
            <a:pPr algn="just"/>
            <a:r>
              <a:rPr lang="en-US" sz="3200" i="1" dirty="0"/>
              <a:t># This would be a comment in Python</a:t>
            </a:r>
          </a:p>
          <a:p>
            <a:pPr algn="just">
              <a:buNone/>
            </a:pPr>
            <a:r>
              <a:rPr lang="en-US" sz="3200" i="1" dirty="0">
                <a:solidFill>
                  <a:srgbClr val="FF0000"/>
                </a:solidFill>
              </a:rPr>
              <a:t>Multi line comments: </a:t>
            </a:r>
            <a:endParaRPr lang="en-US" sz="3200" i="1" dirty="0"/>
          </a:p>
          <a:p>
            <a:pPr algn="just"/>
            <a:r>
              <a:rPr lang="en-US" sz="3200" i="1" dirty="0"/>
              <a:t>“””” This would be a multiline comment</a:t>
            </a:r>
            <a:r>
              <a:rPr lang="en-US" sz="3200" dirty="0"/>
              <a:t> </a:t>
            </a:r>
            <a:r>
              <a:rPr lang="en-US" sz="3200" i="1" dirty="0"/>
              <a:t>in Python that spans several lines and</a:t>
            </a:r>
            <a:r>
              <a:rPr lang="en-US" sz="3200" dirty="0"/>
              <a:t> </a:t>
            </a:r>
            <a:r>
              <a:rPr lang="en-US" sz="3200" i="1" dirty="0"/>
              <a:t>describes your code, your day, or anything you want it to</a:t>
            </a:r>
            <a:r>
              <a:rPr lang="en-US" sz="3200" dirty="0"/>
              <a:t> </a:t>
            </a:r>
            <a:r>
              <a:rPr lang="en-US" sz="3200" i="1" dirty="0"/>
              <a:t>…</a:t>
            </a:r>
            <a:r>
              <a:rPr lang="en-US" sz="3200" dirty="0"/>
              <a:t> </a:t>
            </a:r>
            <a:r>
              <a:rPr lang="en-US" sz="3200" i="1" dirty="0"/>
              <a:t>“””</a:t>
            </a:r>
            <a:r>
              <a:rPr lang="en-US" sz="3200" dirty="0"/>
              <a:t> </a:t>
            </a:r>
            <a:endParaRPr lang="en-US" sz="3200" i="1" dirty="0"/>
          </a:p>
          <a:p>
            <a:pPr algn="just"/>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US" sz="3200" b="1" dirty="0">
                <a:solidFill>
                  <a:srgbClr val="FF0000"/>
                </a:solidFill>
              </a:rPr>
              <a:t>Variables</a:t>
            </a:r>
            <a:endParaRPr lang="en-IN" sz="30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pPr algn="just"/>
            <a:r>
              <a:rPr lang="en-US" sz="3200" dirty="0"/>
              <a:t>A Python variable is a </a:t>
            </a:r>
            <a:r>
              <a:rPr lang="en-US" sz="3200" dirty="0">
                <a:solidFill>
                  <a:srgbClr val="7030A0"/>
                </a:solidFill>
              </a:rPr>
              <a:t>reserved memory location </a:t>
            </a:r>
            <a:r>
              <a:rPr lang="en-US" sz="3200" dirty="0"/>
              <a:t>to store values.</a:t>
            </a:r>
          </a:p>
          <a:p>
            <a:pPr algn="just"/>
            <a:r>
              <a:rPr lang="en-US" sz="3200" dirty="0"/>
              <a:t>A variable is a </a:t>
            </a:r>
            <a:r>
              <a:rPr lang="en-US" sz="3200" dirty="0">
                <a:solidFill>
                  <a:srgbClr val="7030A0"/>
                </a:solidFill>
              </a:rPr>
              <a:t>symbolic name </a:t>
            </a:r>
            <a:r>
              <a:rPr lang="en-US" sz="3200" dirty="0"/>
              <a:t>for this physical location.</a:t>
            </a:r>
          </a:p>
          <a:p>
            <a:pPr algn="just"/>
            <a:r>
              <a:rPr lang="en-US" sz="3200" dirty="0"/>
              <a:t>This memory location contains values, like </a:t>
            </a:r>
            <a:r>
              <a:rPr lang="en-US" sz="3200" dirty="0">
                <a:solidFill>
                  <a:srgbClr val="7030A0"/>
                </a:solidFill>
              </a:rPr>
              <a:t>numbers, text or more complicated type</a:t>
            </a:r>
            <a:r>
              <a:rPr lang="en-US" sz="3200" dirty="0"/>
              <a:t>s. </a:t>
            </a:r>
          </a:p>
          <a:p>
            <a:pPr>
              <a:buNone/>
            </a:pPr>
            <a:r>
              <a:rPr lang="en-US" sz="3200" dirty="0" err="1"/>
              <a:t>i</a:t>
            </a:r>
            <a:r>
              <a:rPr lang="en-US" sz="3200" dirty="0"/>
              <a:t> = 42</a:t>
            </a:r>
          </a:p>
          <a:p>
            <a:pPr>
              <a:buNone/>
            </a:pPr>
            <a:r>
              <a:rPr lang="en-US" sz="3200" dirty="0"/>
              <a:t>S=“hi”</a:t>
            </a:r>
          </a:p>
          <a:p>
            <a:pPr>
              <a:buNone/>
            </a:pPr>
            <a:r>
              <a:rPr lang="en-US" sz="3200" dirty="0"/>
              <a:t>Z=10.5</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US" sz="3200" b="1" dirty="0">
                <a:solidFill>
                  <a:srgbClr val="FF0000"/>
                </a:solidFill>
              </a:rPr>
              <a:t>Cont ..</a:t>
            </a:r>
            <a:endParaRPr lang="en-IN" sz="30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pPr algn="just">
              <a:buNone/>
            </a:pPr>
            <a:r>
              <a:rPr lang="en-US" sz="3200" dirty="0">
                <a:solidFill>
                  <a:srgbClr val="FF0000"/>
                </a:solidFill>
              </a:rPr>
              <a:t>Ex:</a:t>
            </a:r>
          </a:p>
          <a:p>
            <a:pPr algn="just">
              <a:buNone/>
            </a:pPr>
            <a:r>
              <a:rPr lang="en-US" sz="3200" dirty="0"/>
              <a:t>counter = 100          # An integer assignment</a:t>
            </a:r>
          </a:p>
          <a:p>
            <a:pPr algn="just">
              <a:buNone/>
            </a:pPr>
            <a:r>
              <a:rPr lang="en-US" sz="3200" dirty="0"/>
              <a:t>miles   = 1000.0       # A floating point</a:t>
            </a:r>
          </a:p>
          <a:p>
            <a:pPr algn="just">
              <a:buNone/>
            </a:pPr>
            <a:r>
              <a:rPr lang="en-US" sz="3200" dirty="0"/>
              <a:t>name    = "John"       # A string</a:t>
            </a:r>
          </a:p>
          <a:p>
            <a:pPr algn="just">
              <a:buNone/>
            </a:pPr>
            <a:r>
              <a:rPr lang="en-US" sz="3200" dirty="0"/>
              <a:t>print (counter)</a:t>
            </a:r>
          </a:p>
          <a:p>
            <a:pPr algn="just">
              <a:buNone/>
            </a:pPr>
            <a:r>
              <a:rPr lang="en-US" sz="3200" dirty="0"/>
              <a:t>print (miles)</a:t>
            </a:r>
          </a:p>
          <a:p>
            <a:pPr algn="just">
              <a:buNone/>
            </a:pPr>
            <a:r>
              <a:rPr lang="en-US" sz="3200" dirty="0"/>
              <a:t>print (name)</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500253"/>
          </a:xfrm>
        </p:spPr>
        <p:txBody>
          <a:bodyPr>
            <a:noAutofit/>
          </a:bodyPr>
          <a:lstStyle/>
          <a:p>
            <a:br>
              <a:rPr lang="en-US" sz="3200" b="1" dirty="0">
                <a:solidFill>
                  <a:srgbClr val="FF0000"/>
                </a:solidFill>
              </a:rPr>
            </a:br>
            <a:r>
              <a:rPr lang="en-US" sz="3200" b="1" dirty="0">
                <a:solidFill>
                  <a:srgbClr val="FF0000"/>
                </a:solidFill>
              </a:rPr>
              <a:t>Python Identifiers</a:t>
            </a:r>
            <a:br>
              <a:rPr lang="en-US" sz="3200" b="1" dirty="0">
                <a:solidFill>
                  <a:srgbClr val="FF0000"/>
                </a:solidFill>
              </a:rPr>
            </a:br>
            <a:endParaRPr lang="en-IN" sz="32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pPr algn="just"/>
            <a:r>
              <a:rPr lang="en-US" sz="3200" dirty="0"/>
              <a:t>Identifier is the name given to entities like </a:t>
            </a:r>
            <a:r>
              <a:rPr lang="en-US" sz="3200" dirty="0">
                <a:solidFill>
                  <a:srgbClr val="7030A0"/>
                </a:solidFill>
              </a:rPr>
              <a:t>class, functions, variables</a:t>
            </a:r>
            <a:r>
              <a:rPr lang="en-US" sz="3200" dirty="0"/>
              <a:t> etc. in Python. </a:t>
            </a:r>
          </a:p>
          <a:p>
            <a:pPr algn="just"/>
            <a:r>
              <a:rPr lang="en-US" sz="3200" dirty="0"/>
              <a:t>It helps differentiating one entity from another.</a:t>
            </a:r>
          </a:p>
          <a:p>
            <a:pPr algn="just">
              <a:buNone/>
            </a:pPr>
            <a:r>
              <a:rPr lang="en-US" sz="3200" b="1" dirty="0">
                <a:solidFill>
                  <a:srgbClr val="FF0000"/>
                </a:solidFill>
              </a:rPr>
              <a:t>Rules for writing identifiers or variables</a:t>
            </a:r>
          </a:p>
          <a:p>
            <a:pPr lvl="0" algn="just"/>
            <a:r>
              <a:rPr lang="en-US" sz="3200" dirty="0"/>
              <a:t>Identifiers can be a combination of letters in lowercase (a to z) or uppercase (A to Z) or digits (0 to 9) or an underscore (_). </a:t>
            </a:r>
          </a:p>
          <a:p>
            <a:pPr lvl="0" algn="just"/>
            <a:r>
              <a:rPr lang="en-US" sz="3200" dirty="0"/>
              <a:t>An identifier cannot start with a </a:t>
            </a:r>
            <a:r>
              <a:rPr lang="en-US" sz="3200" dirty="0">
                <a:solidFill>
                  <a:srgbClr val="7030A0"/>
                </a:solidFill>
              </a:rPr>
              <a:t>digit</a:t>
            </a:r>
            <a:r>
              <a:rPr lang="en-US" sz="3200" dirty="0"/>
              <a:t>. </a:t>
            </a:r>
          </a:p>
          <a:p>
            <a:pPr lvl="0" algn="just"/>
            <a:r>
              <a:rPr lang="en-US" sz="3200" dirty="0"/>
              <a:t>Keywords cannot be used as </a:t>
            </a:r>
            <a:r>
              <a:rPr lang="en-US" sz="3200" dirty="0">
                <a:solidFill>
                  <a:srgbClr val="7030A0"/>
                </a:solidFill>
              </a:rPr>
              <a:t>identifiers</a:t>
            </a:r>
            <a:r>
              <a:rPr lang="en-US" sz="3200" dirty="0"/>
              <a:t>.</a:t>
            </a:r>
          </a:p>
          <a:p>
            <a:pPr lvl="0" algn="just"/>
            <a:r>
              <a:rPr lang="en-US" sz="3200" dirty="0"/>
              <a:t>We cannot use special symbols like !, @, #, $, % etc. in identifier</a:t>
            </a:r>
          </a:p>
          <a:p>
            <a:pPr algn="just">
              <a:buNone/>
            </a:pP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IN" sz="3000" dirty="0">
                <a:solidFill>
                  <a:srgbClr val="FF0000"/>
                </a:solidFill>
              </a:rPr>
              <a:t>Input and output</a:t>
            </a:r>
          </a:p>
        </p:txBody>
      </p:sp>
      <p:sp>
        <p:nvSpPr>
          <p:cNvPr id="3" name="Content Placeholder 2"/>
          <p:cNvSpPr>
            <a:spLocks noGrp="1"/>
          </p:cNvSpPr>
          <p:nvPr>
            <p:ph idx="1"/>
          </p:nvPr>
        </p:nvSpPr>
        <p:spPr>
          <a:xfrm>
            <a:off x="587829" y="1120462"/>
            <a:ext cx="11377748" cy="5267275"/>
          </a:xfrm>
        </p:spPr>
        <p:txBody>
          <a:bodyPr>
            <a:normAutofit/>
          </a:bodyPr>
          <a:lstStyle/>
          <a:p>
            <a:pPr algn="just"/>
            <a:r>
              <a:rPr lang="en-US" sz="3200" dirty="0">
                <a:solidFill>
                  <a:srgbClr val="7030A0"/>
                </a:solidFill>
              </a:rPr>
              <a:t>input() and print() </a:t>
            </a:r>
            <a:r>
              <a:rPr lang="en-US" sz="3200" dirty="0"/>
              <a:t>are widely used for standard input and output operations respectively.</a:t>
            </a:r>
          </a:p>
          <a:p>
            <a:pPr algn="just"/>
            <a:r>
              <a:rPr lang="en-US" sz="3200" dirty="0">
                <a:solidFill>
                  <a:srgbClr val="7030A0"/>
                </a:solidFill>
              </a:rPr>
              <a:t>print() </a:t>
            </a:r>
            <a:r>
              <a:rPr lang="en-US" sz="3200" dirty="0"/>
              <a:t>function is used to  output data to the standard output device (screen).</a:t>
            </a:r>
          </a:p>
          <a:p>
            <a:pPr algn="just">
              <a:buNone/>
            </a:pPr>
            <a:r>
              <a:rPr lang="en-US" sz="3200" dirty="0"/>
              <a:t>Syntax:</a:t>
            </a:r>
          </a:p>
          <a:p>
            <a:pPr algn="just">
              <a:buNone/>
            </a:pPr>
            <a:r>
              <a:rPr lang="en-US" sz="3200" dirty="0"/>
              <a:t>Print(variable)</a:t>
            </a:r>
          </a:p>
          <a:p>
            <a:pPr algn="just">
              <a:buNone/>
            </a:pPr>
            <a:r>
              <a:rPr lang="en-US" sz="3200" dirty="0">
                <a:solidFill>
                  <a:srgbClr val="FF0000"/>
                </a:solidFill>
              </a:rPr>
              <a:t>Ex:</a:t>
            </a:r>
          </a:p>
          <a:p>
            <a:pPr algn="just">
              <a:buNone/>
            </a:pPr>
            <a:r>
              <a:rPr lang="en-US" sz="3200" dirty="0"/>
              <a:t>a=5</a:t>
            </a:r>
          </a:p>
          <a:p>
            <a:pPr algn="just">
              <a:buNone/>
            </a:pPr>
            <a:r>
              <a:rPr lang="en-US" sz="3200" dirty="0"/>
              <a:t>Print(a) or print(“value of c </a:t>
            </a:r>
            <a:r>
              <a:rPr lang="en-US" sz="3200" dirty="0" err="1"/>
              <a:t>is”,c</a:t>
            </a:r>
            <a:r>
              <a:rPr lang="en-US" sz="3200" dirty="0"/>
              <a:t>) </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IN" sz="3000" dirty="0">
                <a:solidFill>
                  <a:srgbClr val="FF0000"/>
                </a:solidFill>
              </a:rPr>
              <a:t>Input and output</a:t>
            </a:r>
          </a:p>
        </p:txBody>
      </p:sp>
      <p:sp>
        <p:nvSpPr>
          <p:cNvPr id="3" name="Content Placeholder 2"/>
          <p:cNvSpPr>
            <a:spLocks noGrp="1"/>
          </p:cNvSpPr>
          <p:nvPr>
            <p:ph idx="1"/>
          </p:nvPr>
        </p:nvSpPr>
        <p:spPr>
          <a:xfrm>
            <a:off x="587829" y="1120462"/>
            <a:ext cx="11377748" cy="5267275"/>
          </a:xfrm>
        </p:spPr>
        <p:txBody>
          <a:bodyPr>
            <a:normAutofit/>
          </a:bodyPr>
          <a:lstStyle/>
          <a:p>
            <a:pPr algn="just"/>
            <a:r>
              <a:rPr lang="en-US" sz="3200" dirty="0">
                <a:solidFill>
                  <a:srgbClr val="FF0000"/>
                </a:solidFill>
              </a:rPr>
              <a:t>Input() </a:t>
            </a:r>
            <a:r>
              <a:rPr lang="en-US" sz="3200" dirty="0"/>
              <a:t>function is used to read the  input form the user.</a:t>
            </a:r>
          </a:p>
          <a:p>
            <a:pPr algn="just">
              <a:buNone/>
            </a:pPr>
            <a:r>
              <a:rPr lang="en-US" sz="3200" dirty="0"/>
              <a:t>variable=input(“Enter Value ”)</a:t>
            </a:r>
          </a:p>
          <a:p>
            <a:pPr algn="just"/>
            <a:r>
              <a:rPr lang="en-US" sz="3200" dirty="0"/>
              <a:t>By default type of entered value is string.</a:t>
            </a:r>
          </a:p>
          <a:p>
            <a:pPr algn="just"/>
            <a:r>
              <a:rPr lang="en-US" sz="3200" dirty="0" err="1"/>
              <a:t>int</a:t>
            </a:r>
            <a:r>
              <a:rPr lang="en-US" sz="3200" dirty="0"/>
              <a:t>() or float() functions are used convert this string number in to integer  or float.</a:t>
            </a:r>
          </a:p>
          <a:p>
            <a:pPr algn="just">
              <a:buNone/>
            </a:pPr>
            <a:r>
              <a:rPr lang="en-US" sz="3200" dirty="0"/>
              <a:t>a=input(“enter a value”)</a:t>
            </a:r>
          </a:p>
          <a:p>
            <a:pPr algn="just">
              <a:buNone/>
            </a:pPr>
            <a:r>
              <a:rPr lang="en-US" sz="3200" dirty="0"/>
              <a:t>a=</a:t>
            </a:r>
            <a:r>
              <a:rPr lang="en-US" sz="3200" dirty="0" err="1"/>
              <a:t>int</a:t>
            </a:r>
            <a:r>
              <a:rPr lang="en-US" sz="3200" dirty="0"/>
              <a:t>(a)   or a=float(a)</a:t>
            </a:r>
          </a:p>
          <a:p>
            <a:pPr algn="just"/>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45681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r>
              <a:rPr lang="en-IN" sz="3000" dirty="0">
                <a:solidFill>
                  <a:srgbClr val="FF0000"/>
                </a:solidFill>
              </a:rPr>
              <a:t>Keywords in python</a:t>
            </a:r>
          </a:p>
        </p:txBody>
      </p:sp>
      <p:sp>
        <p:nvSpPr>
          <p:cNvPr id="3" name="Content Placeholder 2"/>
          <p:cNvSpPr>
            <a:spLocks noGrp="1"/>
          </p:cNvSpPr>
          <p:nvPr>
            <p:ph idx="1"/>
          </p:nvPr>
        </p:nvSpPr>
        <p:spPr>
          <a:xfrm>
            <a:off x="587829" y="1120462"/>
            <a:ext cx="11377748" cy="5267275"/>
          </a:xfrm>
        </p:spPr>
        <p:txBody>
          <a:bodyPr>
            <a:normAutofit/>
          </a:bodyPr>
          <a:lstStyle/>
          <a:p>
            <a:pPr algn="just"/>
            <a:r>
              <a:rPr lang="en-US" sz="3200" dirty="0"/>
              <a:t>There are 33 keywords in Python 3.3.</a:t>
            </a:r>
          </a:p>
          <a:p>
            <a:pPr algn="just"/>
            <a:r>
              <a:rPr lang="en-US" sz="3200" dirty="0"/>
              <a:t>Keywords are the reserved words in Python. We cannot use a keyword as variable name, function name or any other identifier.</a:t>
            </a:r>
          </a:p>
          <a:p>
            <a:pPr algn="just"/>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graphicFrame>
        <p:nvGraphicFramePr>
          <p:cNvPr id="6" name="Table 5"/>
          <p:cNvGraphicFramePr>
            <a:graphicFrameLocks noGrp="1"/>
          </p:cNvGraphicFramePr>
          <p:nvPr/>
        </p:nvGraphicFramePr>
        <p:xfrm>
          <a:off x="1914435" y="2606175"/>
          <a:ext cx="8128001" cy="3644265"/>
        </p:xfrm>
        <a:graphic>
          <a:graphicData uri="http://schemas.openxmlformats.org/drawingml/2006/table">
            <a:tbl>
              <a:tblPr/>
              <a:tblGrid>
                <a:gridCol w="1606939">
                  <a:extLst>
                    <a:ext uri="{9D8B030D-6E8A-4147-A177-3AD203B41FA5}">
                      <a16:colId xmlns:a16="http://schemas.microsoft.com/office/drawing/2014/main" val="20000"/>
                    </a:ext>
                  </a:extLst>
                </a:gridCol>
                <a:gridCol w="1606939">
                  <a:extLst>
                    <a:ext uri="{9D8B030D-6E8A-4147-A177-3AD203B41FA5}">
                      <a16:colId xmlns:a16="http://schemas.microsoft.com/office/drawing/2014/main" val="20001"/>
                    </a:ext>
                  </a:extLst>
                </a:gridCol>
                <a:gridCol w="1606939">
                  <a:extLst>
                    <a:ext uri="{9D8B030D-6E8A-4147-A177-3AD203B41FA5}">
                      <a16:colId xmlns:a16="http://schemas.microsoft.com/office/drawing/2014/main" val="20002"/>
                    </a:ext>
                  </a:extLst>
                </a:gridCol>
                <a:gridCol w="1606939">
                  <a:extLst>
                    <a:ext uri="{9D8B030D-6E8A-4147-A177-3AD203B41FA5}">
                      <a16:colId xmlns:a16="http://schemas.microsoft.com/office/drawing/2014/main" val="20003"/>
                    </a:ext>
                  </a:extLst>
                </a:gridCol>
                <a:gridCol w="1700245">
                  <a:extLst>
                    <a:ext uri="{9D8B030D-6E8A-4147-A177-3AD203B41FA5}">
                      <a16:colId xmlns:a16="http://schemas.microsoft.com/office/drawing/2014/main" val="20004"/>
                    </a:ext>
                  </a:extLst>
                </a:gridCol>
              </a:tblGrid>
              <a:tr h="365760">
                <a:tc gridSpan="5">
                  <a:txBody>
                    <a:bodyPr/>
                    <a:lstStyle/>
                    <a:p>
                      <a:r>
                        <a:rPr lang="en-US" sz="2400" dirty="0">
                          <a:solidFill>
                            <a:srgbClr val="FF0000"/>
                          </a:solidFill>
                        </a:rPr>
                        <a:t>Keywords in Python programming language</a:t>
                      </a:r>
                    </a:p>
                  </a:txBody>
                  <a:tcPr anchor="ctr">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5295">
                <a:tc>
                  <a:txBody>
                    <a:bodyPr/>
                    <a:lstStyle/>
                    <a:p>
                      <a:r>
                        <a:rPr lang="en-US" sz="1800" u="none" strike="noStrike">
                          <a:solidFill>
                            <a:srgbClr val="2B6DAD"/>
                          </a:solidFill>
                          <a:hlinkClick r:id="rId3"/>
                        </a:rPr>
                        <a:t>False</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class</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finally</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is</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return</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5295">
                <a:tc>
                  <a:txBody>
                    <a:bodyPr/>
                    <a:lstStyle/>
                    <a:p>
                      <a:r>
                        <a:rPr lang="en-US" sz="1800" u="none" strike="noStrike">
                          <a:solidFill>
                            <a:srgbClr val="2B6DAD"/>
                          </a:solidFill>
                          <a:hlinkClick r:id="rId3"/>
                        </a:rPr>
                        <a:t>None</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continue</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for</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lambda</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try</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5295">
                <a:tc>
                  <a:txBody>
                    <a:bodyPr/>
                    <a:lstStyle/>
                    <a:p>
                      <a:r>
                        <a:rPr lang="en-US" sz="1800" u="none" strike="noStrike">
                          <a:solidFill>
                            <a:srgbClr val="2B6DAD"/>
                          </a:solidFill>
                          <a:hlinkClick r:id="rId3"/>
                        </a:rPr>
                        <a:t>True</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def</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from</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dirty="0">
                          <a:solidFill>
                            <a:srgbClr val="2B6DAD"/>
                          </a:solidFill>
                          <a:hlinkClick r:id="rId3"/>
                        </a:rPr>
                        <a:t>nonlocal</a:t>
                      </a:r>
                      <a:endParaRPr lang="en-US" sz="1800" dirty="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while</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5295">
                <a:tc>
                  <a:txBody>
                    <a:bodyPr/>
                    <a:lstStyle/>
                    <a:p>
                      <a:r>
                        <a:rPr lang="en-US" sz="1800" u="none" strike="noStrike">
                          <a:solidFill>
                            <a:srgbClr val="2B6DAD"/>
                          </a:solidFill>
                          <a:hlinkClick r:id="rId3"/>
                        </a:rPr>
                        <a:t>and</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del</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global</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not</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with</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5295">
                <a:tc>
                  <a:txBody>
                    <a:bodyPr/>
                    <a:lstStyle/>
                    <a:p>
                      <a:r>
                        <a:rPr lang="en-US" sz="1800" u="none" strike="noStrike">
                          <a:solidFill>
                            <a:srgbClr val="2B6DAD"/>
                          </a:solidFill>
                          <a:hlinkClick r:id="rId3"/>
                        </a:rPr>
                        <a:t>as</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dirty="0">
                          <a:solidFill>
                            <a:srgbClr val="2B6DAD"/>
                          </a:solidFill>
                          <a:hlinkClick r:id="rId3"/>
                        </a:rPr>
                        <a:t>elif</a:t>
                      </a:r>
                      <a:endParaRPr lang="en-US" sz="1800" dirty="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if</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or</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yield</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5295">
                <a:tc>
                  <a:txBody>
                    <a:bodyPr/>
                    <a:lstStyle/>
                    <a:p>
                      <a:r>
                        <a:rPr lang="en-US" sz="1800" u="none" strike="noStrike">
                          <a:solidFill>
                            <a:srgbClr val="2B6DAD"/>
                          </a:solidFill>
                          <a:hlinkClick r:id="rId3"/>
                        </a:rPr>
                        <a:t>assert</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else</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import</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pass</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a:t> </a:t>
                      </a:r>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5295">
                <a:tc>
                  <a:txBody>
                    <a:bodyPr/>
                    <a:lstStyle/>
                    <a:p>
                      <a:r>
                        <a:rPr lang="en-US" sz="1800" u="none" strike="noStrike">
                          <a:solidFill>
                            <a:srgbClr val="2B6DAD"/>
                          </a:solidFill>
                          <a:hlinkClick r:id="rId3"/>
                        </a:rPr>
                        <a:t>break</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except</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in</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r>
                        <a:rPr lang="en-US" sz="1800" u="none" strike="noStrike">
                          <a:solidFill>
                            <a:srgbClr val="2B6DAD"/>
                          </a:solidFill>
                          <a:hlinkClick r:id="rId3"/>
                        </a:rPr>
                        <a:t>raise</a:t>
                      </a:r>
                      <a:endParaRPr lang="en-US" sz="1800"/>
                    </a:p>
                  </a:txBody>
                  <a:tcPr marL="95250" marR="76200" marT="95250" marB="85725" anchor="ctr">
                    <a:lnL w="9525" cap="flat" cmpd="sng" algn="ctr">
                      <a:solidFill>
                        <a:srgbClr val="EAEAEC"/>
                      </a:solidFill>
                      <a:prstDash val="solid"/>
                      <a:round/>
                      <a:headEnd type="none" w="med" len="med"/>
                      <a:tailEnd type="none" w="med" len="med"/>
                    </a:lnL>
                    <a:lnR w="9525" cap="flat" cmpd="sng" algn="ctr">
                      <a:solidFill>
                        <a:srgbClr val="EAEAEC"/>
                      </a:solidFill>
                      <a:prstDash val="solid"/>
                      <a:round/>
                      <a:headEnd type="none" w="med" len="med"/>
                      <a:tailEnd type="none" w="med" len="med"/>
                    </a:lnR>
                    <a:lnT w="9525" cap="flat" cmpd="sng" algn="ctr">
                      <a:solidFill>
                        <a:srgbClr val="EAEAEC"/>
                      </a:solidFill>
                      <a:prstDash val="solid"/>
                      <a:round/>
                      <a:headEnd type="none" w="med" len="med"/>
                      <a:tailEnd type="none" w="med" len="med"/>
                    </a:lnT>
                    <a:lnB w="9525" cap="flat" cmpd="sng" algn="ctr">
                      <a:solidFill>
                        <a:srgbClr val="EAEAEC"/>
                      </a:solidFill>
                      <a:prstDash val="solid"/>
                      <a:round/>
                      <a:headEnd type="none" w="med" len="med"/>
                      <a:tailEnd type="none" w="med" len="med"/>
                    </a:lnB>
                    <a:solidFill>
                      <a:srgbClr val="FFFFFF"/>
                    </a:solidFill>
                  </a:tcPr>
                </a:tc>
                <a:tc>
                  <a:txBody>
                    <a:bodyPr/>
                    <a:lstStyle/>
                    <a:p>
                      <a:endParaRPr lang="en-US" sz="1800" dirty="0"/>
                    </a:p>
                  </a:txBody>
                  <a:tcPr>
                    <a:lnL w="9525" cap="flat" cmpd="sng" algn="ctr">
                      <a:solidFill>
                        <a:srgbClr val="EAEAEC"/>
                      </a:solidFill>
                      <a:prstDash val="solid"/>
                      <a:round/>
                      <a:headEnd type="none" w="med" len="med"/>
                      <a:tailEnd type="none" w="med" len="med"/>
                    </a:lnL>
                    <a:lnT w="9525" cap="flat" cmpd="sng" algn="ctr">
                      <a:solidFill>
                        <a:srgbClr val="EAEAEC"/>
                      </a:solidFill>
                      <a:prstDash val="solid"/>
                      <a:round/>
                      <a:headEnd type="none" w="med" len="med"/>
                      <a:tailEnd type="none" w="med" len="med"/>
                    </a:lnT>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34164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500253"/>
          </a:xfrm>
        </p:spPr>
        <p:txBody>
          <a:bodyPr>
            <a:noAutofit/>
          </a:bodyPr>
          <a:lstStyle/>
          <a:p>
            <a:r>
              <a:rPr lang="en-US" sz="3200" b="1" dirty="0">
                <a:solidFill>
                  <a:srgbClr val="FF0000"/>
                </a:solidFill>
              </a:rPr>
              <a:t>Indentation in python</a:t>
            </a:r>
            <a:endParaRPr lang="en-IN" sz="3200" dirty="0">
              <a:solidFill>
                <a:srgbClr val="FF0000"/>
              </a:solidFill>
            </a:endParaRPr>
          </a:p>
        </p:txBody>
      </p:sp>
      <p:sp>
        <p:nvSpPr>
          <p:cNvPr id="3" name="Content Placeholder 2"/>
          <p:cNvSpPr>
            <a:spLocks noGrp="1"/>
          </p:cNvSpPr>
          <p:nvPr>
            <p:ph idx="1"/>
          </p:nvPr>
        </p:nvSpPr>
        <p:spPr>
          <a:xfrm>
            <a:off x="587829" y="1120462"/>
            <a:ext cx="11377748" cy="5267275"/>
          </a:xfrm>
        </p:spPr>
        <p:txBody>
          <a:bodyPr>
            <a:normAutofit/>
          </a:bodyPr>
          <a:lstStyle/>
          <a:p>
            <a:r>
              <a:rPr lang="en-US" sz="3200" dirty="0"/>
              <a:t>A block is a group of statements in a program or script. </a:t>
            </a:r>
          </a:p>
          <a:p>
            <a:pPr lvl="0"/>
            <a:r>
              <a:rPr lang="en-US" sz="3200" dirty="0"/>
              <a:t>Python does not use braces({}) to indicate blocks of code for class and function definitions or flow control. </a:t>
            </a:r>
          </a:p>
          <a:p>
            <a:pPr lvl="0"/>
            <a:r>
              <a:rPr lang="en-US" sz="3200" dirty="0"/>
              <a:t>In python Blocks of code are denoted by line indentation.</a:t>
            </a:r>
          </a:p>
          <a:p>
            <a:r>
              <a:rPr lang="en-US" sz="3200" dirty="0"/>
              <a:t>Python programs get structured through indentation, i.e. code blocks are defined by their indentation. </a:t>
            </a:r>
          </a:p>
          <a:p>
            <a:pPr algn="just">
              <a:buNone/>
            </a:pP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6" name="Picture 5" descr="C:\Users\Dell\Desktop\Icici\blocks.png"/>
          <p:cNvPicPr/>
          <p:nvPr/>
        </p:nvPicPr>
        <p:blipFill>
          <a:blip r:embed="rId3"/>
          <a:srcRect/>
          <a:stretch>
            <a:fillRect/>
          </a:stretch>
        </p:blipFill>
        <p:spPr bwMode="auto">
          <a:xfrm>
            <a:off x="7419703" y="3645715"/>
            <a:ext cx="4772297" cy="2650581"/>
          </a:xfrm>
          <a:prstGeom prst="rect">
            <a:avLst/>
          </a:prstGeom>
          <a:noFill/>
          <a:ln w="9525">
            <a:noFill/>
            <a:miter lim="800000"/>
            <a:headEnd/>
            <a:tailEnd/>
          </a:ln>
        </p:spPr>
      </p:pic>
    </p:spTree>
    <p:extLst>
      <p:ext uri="{BB962C8B-B14F-4D97-AF65-F5344CB8AC3E}">
        <p14:creationId xmlns:p14="http://schemas.microsoft.com/office/powerpoint/2010/main" val="3934164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500253"/>
          </a:xfrm>
        </p:spPr>
        <p:txBody>
          <a:bodyPr>
            <a:noAutofit/>
          </a:bodyPr>
          <a:lstStyle/>
          <a:p>
            <a:r>
              <a:rPr lang="en-IN" sz="3200" dirty="0">
                <a:solidFill>
                  <a:srgbClr val="FF0000"/>
                </a:solidFill>
              </a:rPr>
              <a:t>Cont …</a:t>
            </a:r>
          </a:p>
        </p:txBody>
      </p:sp>
      <p:sp>
        <p:nvSpPr>
          <p:cNvPr id="3" name="Content Placeholder 2"/>
          <p:cNvSpPr>
            <a:spLocks noGrp="1"/>
          </p:cNvSpPr>
          <p:nvPr>
            <p:ph idx="1"/>
          </p:nvPr>
        </p:nvSpPr>
        <p:spPr>
          <a:xfrm>
            <a:off x="587829" y="1120462"/>
            <a:ext cx="11377748" cy="5267275"/>
          </a:xfrm>
        </p:spPr>
        <p:txBody>
          <a:bodyPr>
            <a:normAutofit/>
          </a:bodyPr>
          <a:lstStyle/>
          <a:p>
            <a:r>
              <a:rPr lang="en-US" sz="3200" dirty="0"/>
              <a:t>All statements with the same distance to the right belong to the same block of code.</a:t>
            </a:r>
          </a:p>
          <a:p>
            <a:r>
              <a:rPr lang="en-US" sz="3200" dirty="0"/>
              <a:t>If a block has to be more deeply nested, it is simply indented further to the right. </a:t>
            </a:r>
          </a:p>
          <a:p>
            <a:r>
              <a:rPr lang="en-US" sz="3200" dirty="0"/>
              <a:t>Leading whitespace (spaces and tabs) at the beginning of a logical line is used to compute the indentation level of the line, which in turn is used to determine the grouping of statements.</a:t>
            </a:r>
          </a:p>
          <a:p>
            <a:pPr algn="just">
              <a:buNone/>
            </a:pP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500253"/>
          </a:xfrm>
        </p:spPr>
        <p:txBody>
          <a:bodyPr>
            <a:noAutofit/>
          </a:bodyPr>
          <a:lstStyle/>
          <a:p>
            <a:r>
              <a:rPr lang="en-IN" sz="3200" dirty="0">
                <a:solidFill>
                  <a:srgbClr val="FF0000"/>
                </a:solidFill>
              </a:rPr>
              <a:t>Cont …</a:t>
            </a:r>
          </a:p>
        </p:txBody>
      </p:sp>
      <p:sp>
        <p:nvSpPr>
          <p:cNvPr id="3" name="Content Placeholder 2"/>
          <p:cNvSpPr>
            <a:spLocks noGrp="1"/>
          </p:cNvSpPr>
          <p:nvPr>
            <p:ph idx="1"/>
          </p:nvPr>
        </p:nvSpPr>
        <p:spPr>
          <a:xfrm>
            <a:off x="587829" y="1120462"/>
            <a:ext cx="11377748" cy="5267275"/>
          </a:xfrm>
        </p:spPr>
        <p:txBody>
          <a:bodyPr>
            <a:normAutofit/>
          </a:bodyPr>
          <a:lstStyle/>
          <a:p>
            <a:r>
              <a:rPr lang="en-US" sz="3200" dirty="0">
                <a:solidFill>
                  <a:srgbClr val="FF0000"/>
                </a:solidFill>
              </a:rPr>
              <a:t>Ex:</a:t>
            </a:r>
          </a:p>
          <a:p>
            <a:pPr>
              <a:buNone/>
            </a:pPr>
            <a:r>
              <a:rPr lang="en-US" sz="3200" dirty="0"/>
              <a:t>a=input("enter a")</a:t>
            </a:r>
          </a:p>
          <a:p>
            <a:pPr>
              <a:buNone/>
            </a:pPr>
            <a:r>
              <a:rPr lang="en-US" sz="3200" dirty="0"/>
              <a:t>b=input("enter b")</a:t>
            </a:r>
          </a:p>
          <a:p>
            <a:pPr>
              <a:buNone/>
            </a:pPr>
            <a:r>
              <a:rPr lang="en-US" sz="3200" dirty="0"/>
              <a:t>if a&gt;b:</a:t>
            </a:r>
          </a:p>
          <a:p>
            <a:pPr>
              <a:buNone/>
            </a:pPr>
            <a:r>
              <a:rPr lang="en-US" sz="3200" dirty="0"/>
              <a:t>	print('a is big')</a:t>
            </a:r>
          </a:p>
          <a:p>
            <a:pPr>
              <a:buNone/>
            </a:pPr>
            <a:r>
              <a:rPr lang="en-US" sz="3200" dirty="0"/>
              <a:t>	print("hi")</a:t>
            </a:r>
          </a:p>
          <a:p>
            <a:pPr>
              <a:buNone/>
            </a:pPr>
            <a:r>
              <a:rPr lang="en-US" sz="3200" dirty="0"/>
              <a:t>else:</a:t>
            </a:r>
          </a:p>
          <a:p>
            <a:pPr>
              <a:buNone/>
            </a:pPr>
            <a:r>
              <a:rPr lang="en-US" sz="3200" dirty="0"/>
              <a:t>	print("b is big")</a:t>
            </a:r>
          </a:p>
          <a:p>
            <a:pPr>
              <a:buNone/>
            </a:pPr>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40287"/>
            <a:ext cx="10515600" cy="630881"/>
          </a:xfrm>
        </p:spPr>
        <p:txBody>
          <a:bodyPr>
            <a:normAutofit/>
          </a:bodyPr>
          <a:lstStyle/>
          <a:p>
            <a:r>
              <a:rPr lang="en-US" sz="3200" b="1" dirty="0">
                <a:solidFill>
                  <a:srgbClr val="FF0000"/>
                </a:solidFill>
              </a:rPr>
              <a:t>Basic Data types in Python</a:t>
            </a:r>
          </a:p>
        </p:txBody>
      </p:sp>
      <p:sp>
        <p:nvSpPr>
          <p:cNvPr id="3" name="Content Placeholder 2"/>
          <p:cNvSpPr>
            <a:spLocks noGrp="1"/>
          </p:cNvSpPr>
          <p:nvPr>
            <p:ph idx="1"/>
          </p:nvPr>
        </p:nvSpPr>
        <p:spPr>
          <a:xfrm>
            <a:off x="838199" y="771168"/>
            <a:ext cx="10830059" cy="5835694"/>
          </a:xfrm>
        </p:spPr>
        <p:txBody>
          <a:bodyPr>
            <a:normAutofit/>
          </a:bodyPr>
          <a:lstStyle/>
          <a:p>
            <a:r>
              <a:rPr lang="en-US" sz="3000" dirty="0"/>
              <a:t>Every value in Python has a data type</a:t>
            </a:r>
            <a:r>
              <a:rPr lang="en-US" sz="3200" dirty="0"/>
              <a:t>. </a:t>
            </a:r>
          </a:p>
          <a:p>
            <a:pPr algn="just"/>
            <a:endParaRPr lang="en-US" sz="32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6" name="Picture 5">
            <a:extLst>
              <a:ext uri="{FF2B5EF4-FFF2-40B4-BE49-F238E27FC236}">
                <a16:creationId xmlns:a16="http://schemas.microsoft.com/office/drawing/2014/main" id="{E0CFB377-9A02-909C-0C78-2CFF2D96CFD3}"/>
              </a:ext>
            </a:extLst>
          </p:cNvPr>
          <p:cNvPicPr>
            <a:picLocks noChangeAspect="1"/>
          </p:cNvPicPr>
          <p:nvPr/>
        </p:nvPicPr>
        <p:blipFill>
          <a:blip r:embed="rId3"/>
          <a:stretch>
            <a:fillRect/>
          </a:stretch>
        </p:blipFill>
        <p:spPr>
          <a:xfrm>
            <a:off x="838199" y="1240970"/>
            <a:ext cx="9184639" cy="4840001"/>
          </a:xfrm>
          <a:prstGeom prst="rect">
            <a:avLst/>
          </a:prstGeom>
        </p:spPr>
      </p:pic>
    </p:spTree>
    <p:extLst>
      <p:ext uri="{BB962C8B-B14F-4D97-AF65-F5344CB8AC3E}">
        <p14:creationId xmlns:p14="http://schemas.microsoft.com/office/powerpoint/2010/main" val="522816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8" y="39679"/>
            <a:ext cx="10515600" cy="630881"/>
          </a:xfrm>
        </p:spPr>
        <p:txBody>
          <a:bodyPr>
            <a:normAutofit/>
          </a:bodyPr>
          <a:lstStyle/>
          <a:p>
            <a:r>
              <a:rPr lang="en-US" sz="3200" b="1" dirty="0">
                <a:solidFill>
                  <a:srgbClr val="FF0000"/>
                </a:solidFill>
              </a:rPr>
              <a:t>Basic Data types in Python</a:t>
            </a:r>
          </a:p>
        </p:txBody>
      </p:sp>
      <p:sp>
        <p:nvSpPr>
          <p:cNvPr id="3" name="Content Placeholder 2"/>
          <p:cNvSpPr>
            <a:spLocks noGrp="1"/>
          </p:cNvSpPr>
          <p:nvPr>
            <p:ph idx="1"/>
          </p:nvPr>
        </p:nvSpPr>
        <p:spPr>
          <a:xfrm>
            <a:off x="193040" y="670560"/>
            <a:ext cx="11846559" cy="5711183"/>
          </a:xfrm>
        </p:spPr>
        <p:txBody>
          <a:bodyPr>
            <a:noAutofit/>
          </a:bodyPr>
          <a:lstStyle/>
          <a:p>
            <a:pPr marL="0" marR="0" lvl="0" indent="0" algn="just" defTabSz="914400" rtl="0" eaLnBrk="0" fontAlgn="base" latinLnBrk="0" hangingPunct="0">
              <a:lnSpc>
                <a:spcPct val="100000"/>
              </a:lnSpc>
              <a:spcBef>
                <a:spcPts val="600"/>
              </a:spcBef>
              <a:spcAft>
                <a:spcPct val="0"/>
              </a:spcAft>
              <a:buClrTx/>
              <a:buSzTx/>
              <a:buFontTx/>
              <a:buAutoNum type="arabicPeriod"/>
              <a:tabLst/>
            </a:pPr>
            <a:r>
              <a:rPr kumimoji="0" lang="en-US" altLang="en-US" sz="2400" b="1" i="0" u="none" strike="noStrike" cap="none" normalizeH="0" baseline="0" dirty="0">
                <a:ln>
                  <a:noFill/>
                </a:ln>
                <a:effectLst/>
              </a:rPr>
              <a:t>Integers (int):</a:t>
            </a:r>
            <a:r>
              <a:rPr kumimoji="0" lang="en-US" altLang="en-US" sz="2400" b="0" i="0" u="none" strike="noStrike" cap="none" normalizeH="0" baseline="0" dirty="0">
                <a:ln>
                  <a:noFill/>
                </a:ln>
                <a:effectLst/>
              </a:rPr>
              <a:t> Whole numbers, such as -5, 0, 42.</a:t>
            </a:r>
          </a:p>
          <a:p>
            <a:pPr marL="0" marR="0" lvl="0" indent="0" algn="just" defTabSz="914400" rtl="0" eaLnBrk="0" fontAlgn="base" latinLnBrk="0" hangingPunct="0">
              <a:lnSpc>
                <a:spcPct val="100000"/>
              </a:lnSpc>
              <a:spcBef>
                <a:spcPts val="600"/>
              </a:spcBef>
              <a:spcAft>
                <a:spcPct val="0"/>
              </a:spcAft>
              <a:buClrTx/>
              <a:buSzTx/>
              <a:buFontTx/>
              <a:buAutoNum type="arabicPeriod" startAt="2"/>
              <a:tabLst/>
            </a:pPr>
            <a:r>
              <a:rPr kumimoji="0" lang="en-US" altLang="en-US" sz="2400" b="1" i="0" u="none" strike="noStrike" cap="none" normalizeH="0" baseline="0" dirty="0">
                <a:ln>
                  <a:noFill/>
                </a:ln>
                <a:effectLst/>
              </a:rPr>
              <a:t>Floating-Point Numbers (float):</a:t>
            </a:r>
            <a:r>
              <a:rPr kumimoji="0" lang="en-US" altLang="en-US" sz="2400" b="0" i="0" u="none" strike="noStrike" cap="none" normalizeH="0" baseline="0" dirty="0">
                <a:ln>
                  <a:noFill/>
                </a:ln>
                <a:effectLst/>
              </a:rPr>
              <a:t> Numbers with a decimal point, such as -3.14, 2.718.</a:t>
            </a:r>
          </a:p>
          <a:p>
            <a:pPr marL="0" marR="0" lvl="0" indent="0" algn="just" defTabSz="914400" rtl="0" eaLnBrk="0" fontAlgn="base" latinLnBrk="0" hangingPunct="0">
              <a:lnSpc>
                <a:spcPct val="100000"/>
              </a:lnSpc>
              <a:spcBef>
                <a:spcPts val="600"/>
              </a:spcBef>
              <a:spcAft>
                <a:spcPct val="0"/>
              </a:spcAft>
              <a:buClrTx/>
              <a:buSzTx/>
              <a:buFontTx/>
              <a:buAutoNum type="arabicPeriod" startAt="3"/>
              <a:tabLst/>
            </a:pPr>
            <a:r>
              <a:rPr kumimoji="0" lang="en-US" altLang="en-US" sz="2400" b="1" i="0" u="none" strike="noStrike" cap="none" normalizeH="0" baseline="0" dirty="0">
                <a:ln>
                  <a:noFill/>
                </a:ln>
                <a:effectLst/>
              </a:rPr>
              <a:t>Strings (str):</a:t>
            </a:r>
            <a:r>
              <a:rPr kumimoji="0" lang="en-US" altLang="en-US" sz="2400" b="0" i="0" u="none" strike="noStrike" cap="none" normalizeH="0" baseline="0" dirty="0">
                <a:ln>
                  <a:noFill/>
                </a:ln>
                <a:effectLst/>
              </a:rPr>
              <a:t> Sequences of characters, enclosed in single (' ') or double (" ") quotes. 		   For example, "Hello, World!".</a:t>
            </a:r>
          </a:p>
          <a:p>
            <a:pPr marL="0" marR="0" lvl="0" indent="0" algn="just" defTabSz="914400" rtl="0" eaLnBrk="0" fontAlgn="base" latinLnBrk="0" hangingPunct="0">
              <a:lnSpc>
                <a:spcPct val="100000"/>
              </a:lnSpc>
              <a:spcBef>
                <a:spcPts val="600"/>
              </a:spcBef>
              <a:spcAft>
                <a:spcPct val="0"/>
              </a:spcAft>
              <a:buClrTx/>
              <a:buSzTx/>
              <a:buFontTx/>
              <a:buAutoNum type="arabicPeriod" startAt="4"/>
              <a:tabLst/>
            </a:pPr>
            <a:r>
              <a:rPr kumimoji="0" lang="en-US" altLang="en-US" sz="2400" b="1" i="0" u="none" strike="noStrike" cap="none" normalizeH="0" baseline="0" dirty="0">
                <a:ln>
                  <a:noFill/>
                </a:ln>
                <a:effectLst/>
              </a:rPr>
              <a:t>Booleans (bool):</a:t>
            </a:r>
            <a:r>
              <a:rPr kumimoji="0" lang="en-US" altLang="en-US" sz="2400" b="0" i="0" u="none" strike="noStrike" cap="none" normalizeH="0" baseline="0" dirty="0">
                <a:ln>
                  <a:noFill/>
                </a:ln>
                <a:effectLst/>
              </a:rPr>
              <a:t> Represents either </a:t>
            </a:r>
            <a:r>
              <a:rPr kumimoji="0" lang="en-US" altLang="en-US" sz="2400" b="1" i="0" u="none" strike="noStrike" cap="none" normalizeH="0" baseline="0" dirty="0">
                <a:ln>
                  <a:noFill/>
                </a:ln>
                <a:effectLst/>
              </a:rPr>
              <a:t>True</a:t>
            </a:r>
            <a:r>
              <a:rPr kumimoji="0" lang="en-US" altLang="en-US" sz="2400" b="0" i="0" u="none" strike="noStrike" cap="none" normalizeH="0" baseline="0" dirty="0">
                <a:ln>
                  <a:noFill/>
                </a:ln>
                <a:effectLst/>
              </a:rPr>
              <a:t> or </a:t>
            </a:r>
            <a:r>
              <a:rPr kumimoji="0" lang="en-US" altLang="en-US" sz="2400" b="1" i="0" u="none" strike="noStrike" cap="none" normalizeH="0" baseline="0" dirty="0">
                <a:ln>
                  <a:noFill/>
                </a:ln>
                <a:effectLst/>
              </a:rPr>
              <a:t>False</a:t>
            </a:r>
            <a:r>
              <a:rPr kumimoji="0" lang="en-US" altLang="en-US" sz="2400" b="0" i="0" u="none" strike="noStrike" cap="none" normalizeH="0" baseline="0" dirty="0">
                <a:ln>
                  <a:noFill/>
                </a:ln>
                <a:effectLst/>
              </a:rPr>
              <a:t>, often used for logical operations.</a:t>
            </a:r>
          </a:p>
          <a:p>
            <a:pPr marL="0" marR="0" lvl="0" indent="0" algn="just" defTabSz="914400" rtl="0" eaLnBrk="0" fontAlgn="base" latinLnBrk="0" hangingPunct="0">
              <a:lnSpc>
                <a:spcPct val="100000"/>
              </a:lnSpc>
              <a:spcBef>
                <a:spcPts val="600"/>
              </a:spcBef>
              <a:spcAft>
                <a:spcPct val="0"/>
              </a:spcAft>
              <a:buClrTx/>
              <a:buSzTx/>
              <a:buFontTx/>
              <a:buAutoNum type="arabicPeriod" startAt="5"/>
              <a:tabLst/>
            </a:pPr>
            <a:r>
              <a:rPr kumimoji="0" lang="en-US" altLang="en-US" sz="2400" b="1" i="0" u="none" strike="noStrike" cap="none" normalizeH="0" baseline="0" dirty="0">
                <a:ln>
                  <a:noFill/>
                </a:ln>
                <a:effectLst/>
              </a:rPr>
              <a:t>Lists (list):</a:t>
            </a:r>
            <a:r>
              <a:rPr kumimoji="0" lang="en-US" altLang="en-US" sz="2400" b="0" i="0" u="none" strike="noStrike" cap="none" normalizeH="0" baseline="0" dirty="0">
                <a:ln>
                  <a:noFill/>
                </a:ln>
                <a:effectLst/>
              </a:rPr>
              <a:t> Ordered collections of items that can be of different data types. Lists are 		mutable (can be changed after creation). Example: </a:t>
            </a:r>
            <a:r>
              <a:rPr kumimoji="0" lang="en-US" altLang="en-US" sz="2400" b="1" i="0" u="none" strike="noStrike" cap="none" normalizeH="0" baseline="0" dirty="0">
                <a:ln>
                  <a:noFill/>
                </a:ln>
                <a:effectLst/>
              </a:rPr>
              <a:t>[1, 2, 3, "apple"]</a:t>
            </a:r>
            <a:r>
              <a:rPr kumimoji="0" lang="en-US" altLang="en-US" sz="2400" b="0" i="0" u="none" strike="noStrike" cap="none" normalizeH="0" baseline="0" dirty="0">
                <a:ln>
                  <a:noFill/>
                </a:ln>
                <a:effectLst/>
              </a:rPr>
              <a:t>.</a:t>
            </a:r>
          </a:p>
          <a:p>
            <a:pPr marL="0" marR="0" lvl="0" indent="0" algn="just" defTabSz="914400" rtl="0" eaLnBrk="0" fontAlgn="base" latinLnBrk="0" hangingPunct="0">
              <a:lnSpc>
                <a:spcPct val="100000"/>
              </a:lnSpc>
              <a:spcBef>
                <a:spcPts val="600"/>
              </a:spcBef>
              <a:spcAft>
                <a:spcPct val="0"/>
              </a:spcAft>
              <a:buClrTx/>
              <a:buSzTx/>
              <a:buFontTx/>
              <a:buAutoNum type="arabicPeriod" startAt="6"/>
              <a:tabLst/>
            </a:pPr>
            <a:r>
              <a:rPr kumimoji="0" lang="en-US" altLang="en-US" sz="2400" b="1" i="0" u="none" strike="noStrike" cap="none" normalizeH="0" baseline="0" dirty="0">
                <a:ln>
                  <a:noFill/>
                </a:ln>
                <a:effectLst/>
              </a:rPr>
              <a:t>Tuples (tuple):</a:t>
            </a:r>
            <a:r>
              <a:rPr kumimoji="0" lang="en-US" altLang="en-US" sz="2400" b="0" i="0" u="none" strike="noStrike" cap="none" normalizeH="0" baseline="0" dirty="0">
                <a:ln>
                  <a:noFill/>
                </a:ln>
                <a:effectLst/>
              </a:rPr>
              <a:t> Similar to lists, but immutable (cannot be changed after creation). 		       Example: </a:t>
            </a:r>
            <a:r>
              <a:rPr kumimoji="0" lang="en-US" altLang="en-US" sz="2400" b="1" i="0" u="none" strike="noStrike" cap="none" normalizeH="0" baseline="0" dirty="0">
                <a:ln>
                  <a:noFill/>
                </a:ln>
                <a:effectLst/>
              </a:rPr>
              <a:t>(1, 2, 3, "apple")</a:t>
            </a:r>
            <a:r>
              <a:rPr kumimoji="0" lang="en-US" altLang="en-US" sz="2400" b="0" i="0" u="none" strike="noStrike" cap="none" normalizeH="0" baseline="0" dirty="0">
                <a:ln>
                  <a:noFill/>
                </a:ln>
                <a:effectLst/>
              </a:rPr>
              <a:t>.</a:t>
            </a:r>
          </a:p>
          <a:p>
            <a:pPr marL="0" marR="0" lvl="0" indent="0" algn="just" defTabSz="914400" rtl="0" eaLnBrk="0" fontAlgn="base" latinLnBrk="0" hangingPunct="0">
              <a:lnSpc>
                <a:spcPct val="100000"/>
              </a:lnSpc>
              <a:spcBef>
                <a:spcPts val="600"/>
              </a:spcBef>
              <a:spcAft>
                <a:spcPct val="0"/>
              </a:spcAft>
              <a:buClrTx/>
              <a:buSzTx/>
              <a:buFontTx/>
              <a:buAutoNum type="arabicPeriod" startAt="7"/>
              <a:tabLst/>
            </a:pPr>
            <a:r>
              <a:rPr kumimoji="0" lang="en-US" altLang="en-US" sz="2400" b="1" i="0" u="none" strike="noStrike" cap="none" normalizeH="0" baseline="0" dirty="0">
                <a:ln>
                  <a:noFill/>
                </a:ln>
                <a:effectLst/>
              </a:rPr>
              <a:t>Dictionaries (</a:t>
            </a:r>
            <a:r>
              <a:rPr kumimoji="0" lang="en-US" altLang="en-US" sz="2400" b="1" i="0" u="none" strike="noStrike" cap="none" normalizeH="0" baseline="0" dirty="0" err="1">
                <a:ln>
                  <a:noFill/>
                </a:ln>
                <a:effectLst/>
              </a:rPr>
              <a:t>dict</a:t>
            </a:r>
            <a:r>
              <a:rPr kumimoji="0" lang="en-US" altLang="en-US" sz="2400" b="1" i="0" u="none" strike="noStrike" cap="none" normalizeH="0" baseline="0" dirty="0">
                <a:ln>
                  <a:noFill/>
                </a:ln>
                <a:effectLst/>
              </a:rPr>
              <a:t>):</a:t>
            </a:r>
            <a:r>
              <a:rPr kumimoji="0" lang="en-US" altLang="en-US" sz="2400" b="0" i="0" u="none" strike="noStrike" cap="none" normalizeH="0" baseline="0" dirty="0">
                <a:ln>
                  <a:noFill/>
                </a:ln>
                <a:effectLst/>
              </a:rPr>
              <a:t> Key-value pairs, where each key maps to a value. </a:t>
            </a:r>
          </a:p>
          <a:p>
            <a:pPr marL="0" marR="0" lvl="0" indent="0" algn="just" defTabSz="914400" rtl="0" eaLnBrk="0" fontAlgn="base" latinLnBrk="0" hangingPunct="0">
              <a:lnSpc>
                <a:spcPct val="100000"/>
              </a:lnSpc>
              <a:spcBef>
                <a:spcPts val="600"/>
              </a:spcBef>
              <a:spcAft>
                <a:spcPct val="0"/>
              </a:spcAft>
              <a:buClrTx/>
              <a:buSzTx/>
              <a:buNone/>
              <a:tabLst/>
            </a:pPr>
            <a:r>
              <a:rPr lang="en-US" altLang="en-US" sz="2400" dirty="0"/>
              <a:t>			</a:t>
            </a:r>
            <a:r>
              <a:rPr kumimoji="0" lang="en-US" altLang="en-US" sz="2400" b="0" i="0" u="none" strike="noStrike" cap="none" normalizeH="0" baseline="0" dirty="0">
                <a:ln>
                  <a:noFill/>
                </a:ln>
                <a:effectLst/>
              </a:rPr>
              <a:t>Example: </a:t>
            </a:r>
            <a:r>
              <a:rPr kumimoji="0" lang="en-US" altLang="en-US" sz="2400" b="1" i="0" u="none" strike="noStrike" cap="none" normalizeH="0" baseline="0" dirty="0">
                <a:ln>
                  <a:noFill/>
                </a:ln>
                <a:effectLst/>
              </a:rPr>
              <a:t>{"name": "John", "age": 30}</a:t>
            </a:r>
            <a:r>
              <a:rPr kumimoji="0" lang="en-US" altLang="en-US" sz="2400" b="0" i="0" u="none" strike="noStrike" cap="none" normalizeH="0" baseline="0" dirty="0">
                <a:ln>
                  <a:noFill/>
                </a:ln>
                <a:effectLst/>
              </a:rPr>
              <a:t>.</a:t>
            </a:r>
          </a:p>
          <a:p>
            <a:pPr marL="0" marR="0" lvl="0" indent="0" algn="just" defTabSz="914400" rtl="0" eaLnBrk="0" fontAlgn="base" latinLnBrk="0" hangingPunct="0">
              <a:lnSpc>
                <a:spcPct val="100000"/>
              </a:lnSpc>
              <a:spcBef>
                <a:spcPts val="600"/>
              </a:spcBef>
              <a:spcAft>
                <a:spcPct val="0"/>
              </a:spcAft>
              <a:buClrTx/>
              <a:buSzTx/>
              <a:buFontTx/>
              <a:buAutoNum type="arabicPeriod" startAt="8"/>
              <a:tabLst/>
            </a:pPr>
            <a:r>
              <a:rPr kumimoji="0" lang="en-US" altLang="en-US" sz="2400" b="1" i="0" u="none" strike="noStrike" cap="none" normalizeH="0" baseline="0" dirty="0">
                <a:ln>
                  <a:noFill/>
                </a:ln>
                <a:effectLst/>
              </a:rPr>
              <a:t>Sets (set):</a:t>
            </a:r>
            <a:r>
              <a:rPr kumimoji="0" lang="en-US" altLang="en-US" sz="2400" b="0" i="0" u="none" strike="noStrike" cap="none" normalizeH="0" baseline="0" dirty="0">
                <a:ln>
                  <a:noFill/>
                </a:ln>
                <a:effectLst/>
              </a:rPr>
              <a:t> Unordered collections of unique elements. Example: </a:t>
            </a:r>
            <a:r>
              <a:rPr kumimoji="0" lang="en-US" altLang="en-US" sz="2400" b="1" i="0" u="none" strike="noStrike" cap="none" normalizeH="0" baseline="0" dirty="0">
                <a:ln>
                  <a:noFill/>
                </a:ln>
                <a:effectLst/>
              </a:rPr>
              <a:t>{1, 2, 3}</a:t>
            </a:r>
            <a:r>
              <a:rPr kumimoji="0" lang="en-US" altLang="en-US" sz="2400" b="0" i="0" u="none" strike="noStrike" cap="none" normalizeH="0" baseline="0" dirty="0">
                <a:ln>
                  <a:noFill/>
                </a:ln>
                <a:effectLst/>
              </a:rPr>
              <a:t>.</a:t>
            </a:r>
          </a:p>
          <a:p>
            <a:pPr marL="0" indent="0" algn="just" eaLnBrk="0" fontAlgn="base" hangingPunct="0">
              <a:lnSpc>
                <a:spcPct val="100000"/>
              </a:lnSpc>
              <a:spcBef>
                <a:spcPts val="600"/>
              </a:spcBef>
              <a:spcAft>
                <a:spcPct val="0"/>
              </a:spcAft>
              <a:buFontTx/>
              <a:buAutoNum type="arabicPeriod" startAt="8"/>
            </a:pPr>
            <a:r>
              <a:rPr kumimoji="0" lang="en-US" altLang="en-US" sz="2400" b="1" i="0" u="none" strike="noStrike" cap="none" normalizeH="0" baseline="0" dirty="0">
                <a:ln>
                  <a:noFill/>
                </a:ln>
                <a:effectLst/>
              </a:rPr>
              <a:t>Complex Numbers (complex):</a:t>
            </a:r>
            <a:r>
              <a:rPr kumimoji="0" lang="en-US" altLang="en-US" sz="2400" b="0" i="0" u="none" strike="noStrike" cap="none" normalizeH="0" baseline="0" dirty="0">
                <a:ln>
                  <a:noFill/>
                </a:ln>
                <a:effectLst/>
              </a:rPr>
              <a:t> Numbers with a real and an imaginary part. Example: </a:t>
            </a:r>
            <a:r>
              <a:rPr kumimoji="0" lang="en-US" altLang="en-US" sz="2400" b="1" i="0" u="none" strike="noStrike" cap="none" normalizeH="0" baseline="0" dirty="0">
                <a:ln>
                  <a:noFill/>
                </a:ln>
                <a:effectLst/>
              </a:rPr>
              <a:t>1 + 2j</a:t>
            </a:r>
            <a:r>
              <a:rPr kumimoji="0" lang="en-US" altLang="en-US" sz="2400" b="0" i="0" u="none" strike="noStrike" cap="none" normalizeH="0" baseline="0" dirty="0">
                <a:ln>
                  <a:noFill/>
                </a:ln>
                <a:solidFill>
                  <a:srgbClr val="374151"/>
                </a:solidFill>
                <a:effectLst/>
                <a:latin typeface="Söhne"/>
              </a:rPr>
              <a:t>.</a:t>
            </a:r>
            <a:endParaRPr kumimoji="0" lang="en-US" altLang="en-US" sz="2400" b="0" i="0" u="none" strike="noStrike" cap="none" normalizeH="0" baseline="0" dirty="0">
              <a:ln>
                <a:noFill/>
              </a:ln>
              <a:effectLst/>
            </a:endParaRPr>
          </a:p>
          <a:p>
            <a:pPr marL="0" marR="0" lvl="0" indent="0" algn="just" defTabSz="914400" rtl="0" eaLnBrk="0" fontAlgn="base" latinLnBrk="0" hangingPunct="0">
              <a:lnSpc>
                <a:spcPct val="100000"/>
              </a:lnSpc>
              <a:spcBef>
                <a:spcPts val="600"/>
              </a:spcBef>
              <a:spcAft>
                <a:spcPct val="0"/>
              </a:spcAft>
              <a:buClrTx/>
              <a:buSzTx/>
              <a:buFontTx/>
              <a:buAutoNum type="arabicPeriod" startAt="8"/>
              <a:tabLst/>
            </a:pPr>
            <a:endParaRPr kumimoji="0" lang="en-US" altLang="en-US" sz="24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endParaRPr>
          </a:p>
          <a:p>
            <a:pPr algn="just"/>
            <a:endParaRPr lang="en-US" sz="2400" dirty="0"/>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08435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761510"/>
          </a:xfrm>
        </p:spPr>
        <p:txBody>
          <a:bodyPr>
            <a:normAutofit/>
          </a:bodyPr>
          <a:lstStyle/>
          <a:p>
            <a:pPr marL="514350" indent="-514350"/>
            <a:r>
              <a:rPr lang="en-US" sz="3200" dirty="0">
                <a:solidFill>
                  <a:srgbClr val="FF0000"/>
                </a:solidFill>
              </a:rPr>
              <a:t>Data types</a:t>
            </a:r>
          </a:p>
        </p:txBody>
      </p:sp>
      <p:sp>
        <p:nvSpPr>
          <p:cNvPr id="3" name="Content Placeholder 2"/>
          <p:cNvSpPr>
            <a:spLocks noGrp="1"/>
          </p:cNvSpPr>
          <p:nvPr>
            <p:ph idx="1"/>
          </p:nvPr>
        </p:nvSpPr>
        <p:spPr>
          <a:xfrm>
            <a:off x="838199" y="1120462"/>
            <a:ext cx="10830059" cy="5486400"/>
          </a:xfrm>
        </p:spPr>
        <p:txBody>
          <a:bodyPr>
            <a:normAutofit fontScale="47500" lnSpcReduction="20000"/>
          </a:bodyPr>
          <a:lstStyle/>
          <a:p>
            <a:pPr algn="just"/>
            <a:r>
              <a:rPr lang="en-US" sz="3200" dirty="0"/>
              <a:t>We can use the </a:t>
            </a:r>
            <a:r>
              <a:rPr lang="en-US" sz="3200" dirty="0">
                <a:solidFill>
                  <a:srgbClr val="FF0000"/>
                </a:solidFill>
              </a:rPr>
              <a:t>type() </a:t>
            </a:r>
            <a:r>
              <a:rPr lang="en-US" sz="3200" dirty="0"/>
              <a:t>function to know type a variable.</a:t>
            </a:r>
          </a:p>
          <a:p>
            <a:pPr algn="just">
              <a:buNone/>
            </a:pPr>
            <a:r>
              <a:rPr lang="en-US" sz="3200" dirty="0">
                <a:solidFill>
                  <a:srgbClr val="FF0000"/>
                </a:solidFill>
              </a:rPr>
              <a:t>Ex:</a:t>
            </a:r>
          </a:p>
          <a:p>
            <a:pPr>
              <a:buNone/>
            </a:pPr>
            <a:r>
              <a:rPr lang="en-US" sz="3200" dirty="0"/>
              <a:t>a= 5</a:t>
            </a:r>
          </a:p>
          <a:p>
            <a:pPr>
              <a:buNone/>
            </a:pPr>
            <a:r>
              <a:rPr lang="en-US" sz="3200" dirty="0"/>
              <a:t>b = 2.0</a:t>
            </a:r>
          </a:p>
          <a:p>
            <a:pPr>
              <a:buNone/>
            </a:pPr>
            <a:r>
              <a:rPr lang="en-US" sz="3200" dirty="0"/>
              <a:t>c = 1+2j</a:t>
            </a:r>
          </a:p>
          <a:p>
            <a:pPr>
              <a:buNone/>
            </a:pPr>
            <a:r>
              <a:rPr lang="en-US" sz="3200" dirty="0"/>
              <a:t>d = "Hi"</a:t>
            </a:r>
          </a:p>
          <a:p>
            <a:pPr>
              <a:buNone/>
            </a:pPr>
            <a:r>
              <a:rPr lang="en-US" sz="3200" dirty="0"/>
              <a:t>e=[1,2,"bye"]</a:t>
            </a:r>
          </a:p>
          <a:p>
            <a:pPr>
              <a:buNone/>
            </a:pPr>
            <a:r>
              <a:rPr lang="en-US" sz="3200" dirty="0"/>
              <a:t>f=(5,6,1.2)</a:t>
            </a:r>
          </a:p>
          <a:p>
            <a:pPr>
              <a:buNone/>
            </a:pPr>
            <a:r>
              <a:rPr lang="en-US" sz="3200" dirty="0"/>
              <a:t>g={8,9,20}</a:t>
            </a:r>
          </a:p>
          <a:p>
            <a:pPr>
              <a:buNone/>
            </a:pPr>
            <a:r>
              <a:rPr lang="en-US" sz="3200" dirty="0"/>
              <a:t>h={"name":"Ram","id":70459}</a:t>
            </a:r>
          </a:p>
          <a:p>
            <a:pPr>
              <a:buNone/>
            </a:pPr>
            <a:r>
              <a:rPr lang="en-US" sz="3200" dirty="0"/>
              <a:t>print(a, "is of type:", type(a))</a:t>
            </a:r>
          </a:p>
          <a:p>
            <a:pPr>
              <a:buNone/>
            </a:pPr>
            <a:r>
              <a:rPr lang="en-US" sz="3200" dirty="0"/>
              <a:t>print(b, "is of type:", type(b))</a:t>
            </a:r>
          </a:p>
          <a:p>
            <a:pPr>
              <a:buNone/>
            </a:pPr>
            <a:r>
              <a:rPr lang="en-US" sz="3200" dirty="0"/>
              <a:t>print(c, "is of type :", type(c))</a:t>
            </a:r>
          </a:p>
          <a:p>
            <a:pPr>
              <a:buNone/>
            </a:pPr>
            <a:r>
              <a:rPr lang="en-US" sz="3200" dirty="0"/>
              <a:t>print(d, "is of type:", type(d))</a:t>
            </a:r>
          </a:p>
          <a:p>
            <a:pPr>
              <a:buNone/>
            </a:pPr>
            <a:r>
              <a:rPr lang="en-US" sz="3200" dirty="0"/>
              <a:t>print(e, "is of type:", type(e))</a:t>
            </a:r>
          </a:p>
          <a:p>
            <a:pPr>
              <a:buNone/>
            </a:pPr>
            <a:r>
              <a:rPr lang="en-US" sz="3200" dirty="0"/>
              <a:t>print(f, "is of type :", type(f))</a:t>
            </a:r>
          </a:p>
          <a:p>
            <a:pPr>
              <a:buNone/>
            </a:pPr>
            <a:r>
              <a:rPr lang="en-US" sz="3200" dirty="0"/>
              <a:t>print(g, "is of type :", type(g))</a:t>
            </a:r>
          </a:p>
          <a:p>
            <a:pPr>
              <a:buNone/>
            </a:pPr>
            <a:r>
              <a:rPr lang="en-US" sz="3200" dirty="0"/>
              <a:t>print(h, "is of type :", type(h))</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6" name="TextBox 5">
            <a:extLst>
              <a:ext uri="{FF2B5EF4-FFF2-40B4-BE49-F238E27FC236}">
                <a16:creationId xmlns:a16="http://schemas.microsoft.com/office/drawing/2014/main" id="{A7F121A6-4FBA-4672-95EB-D92BFE8C4F57}"/>
              </a:ext>
            </a:extLst>
          </p:cNvPr>
          <p:cNvSpPr txBox="1"/>
          <p:nvPr/>
        </p:nvSpPr>
        <p:spPr>
          <a:xfrm>
            <a:off x="6161175" y="3790425"/>
            <a:ext cx="5938771" cy="2585323"/>
          </a:xfrm>
          <a:prstGeom prst="rect">
            <a:avLst/>
          </a:prstGeom>
          <a:noFill/>
        </p:spPr>
        <p:txBody>
          <a:bodyPr wrap="square">
            <a:spAutoFit/>
          </a:bodyPr>
          <a:lstStyle/>
          <a:p>
            <a:r>
              <a:rPr lang="en-IN" dirty="0">
                <a:solidFill>
                  <a:srgbClr val="FF0000"/>
                </a:solidFill>
              </a:rPr>
              <a:t>Output:</a:t>
            </a:r>
          </a:p>
          <a:p>
            <a:r>
              <a:rPr lang="en-IN" dirty="0"/>
              <a:t>5 is of type: &lt;class 'int'&gt;</a:t>
            </a:r>
          </a:p>
          <a:p>
            <a:r>
              <a:rPr lang="en-IN" dirty="0"/>
              <a:t>2.0 is of type: &lt;class 'float'&gt;</a:t>
            </a:r>
          </a:p>
          <a:p>
            <a:r>
              <a:rPr lang="en-IN" dirty="0"/>
              <a:t>(1+2j) is of type : &lt;class 'complex'&gt;</a:t>
            </a:r>
          </a:p>
          <a:p>
            <a:r>
              <a:rPr lang="en-IN" dirty="0"/>
              <a:t>Hi is of type: &lt;class 'str'&gt;</a:t>
            </a:r>
          </a:p>
          <a:p>
            <a:r>
              <a:rPr lang="en-IN" dirty="0"/>
              <a:t>[1, 2, 'bye'] is of type: &lt;class 'list'&gt;</a:t>
            </a:r>
          </a:p>
          <a:p>
            <a:r>
              <a:rPr lang="en-IN" dirty="0"/>
              <a:t>(5, 6, 1.2) is of type : &lt;class 'tuple'&gt;</a:t>
            </a:r>
          </a:p>
          <a:p>
            <a:r>
              <a:rPr lang="en-IN" dirty="0"/>
              <a:t>{8, 9, 20} is of type : &lt;class 'set'&gt;</a:t>
            </a:r>
          </a:p>
          <a:p>
            <a:r>
              <a:rPr lang="en-IN" dirty="0"/>
              <a:t>{'name': 'Ram', 'id': 70459} is of type : &lt;class '</a:t>
            </a:r>
            <a:r>
              <a:rPr lang="en-IN" dirty="0" err="1"/>
              <a:t>dict</a:t>
            </a:r>
            <a:r>
              <a:rPr lang="en-IN" dirty="0"/>
              <a:t>'&gt;</a:t>
            </a:r>
          </a:p>
        </p:txBody>
      </p:sp>
    </p:spTree>
    <p:extLst>
      <p:ext uri="{BB962C8B-B14F-4D97-AF65-F5344CB8AC3E}">
        <p14:creationId xmlns:p14="http://schemas.microsoft.com/office/powerpoint/2010/main" val="3823634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dirty="0">
                <a:solidFill>
                  <a:srgbClr val="FF0000"/>
                </a:solidFill>
              </a:rPr>
            </a:br>
            <a:r>
              <a:rPr lang="en-US" sz="3200" dirty="0">
                <a:solidFill>
                  <a:srgbClr val="FF0000"/>
                </a:solidFill>
              </a:rPr>
              <a:t>Python Operators</a:t>
            </a:r>
            <a:br>
              <a:rPr lang="en-US" sz="3200" dirty="0">
                <a:solidFill>
                  <a:srgbClr val="FF0000"/>
                </a:solidFill>
              </a:rPr>
            </a:br>
            <a:endParaRPr lang="en-US" sz="3200" b="1"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200" y="1162594"/>
            <a:ext cx="10515600" cy="5014369"/>
          </a:xfrm>
        </p:spPr>
        <p:txBody>
          <a:bodyPr>
            <a:normAutofit/>
          </a:bodyPr>
          <a:lstStyle/>
          <a:p>
            <a:r>
              <a:rPr lang="en-US" dirty="0"/>
              <a:t>Operators are used to perform operations on variables(operands).</a:t>
            </a:r>
          </a:p>
          <a:p>
            <a:pPr marL="0" indent="0">
              <a:buNone/>
            </a:pPr>
            <a:r>
              <a:rPr lang="en-US" dirty="0"/>
              <a:t>Python provides the  following operators:</a:t>
            </a:r>
          </a:p>
          <a:p>
            <a:pPr marL="514350" indent="-514350">
              <a:buFont typeface="+mj-lt"/>
              <a:buAutoNum type="arabicPeriod"/>
            </a:pPr>
            <a:r>
              <a:rPr lang="en-US" dirty="0"/>
              <a:t>Arithmetic operators</a:t>
            </a:r>
          </a:p>
          <a:p>
            <a:pPr marL="514350" indent="-514350">
              <a:buFont typeface="+mj-lt"/>
              <a:buAutoNum type="arabicPeriod"/>
            </a:pPr>
            <a:r>
              <a:rPr lang="en-US" dirty="0"/>
              <a:t>Assignment operators</a:t>
            </a:r>
          </a:p>
          <a:p>
            <a:pPr marL="514350" indent="-514350">
              <a:buFont typeface="+mj-lt"/>
              <a:buAutoNum type="arabicPeriod"/>
            </a:pPr>
            <a:r>
              <a:rPr lang="en-US" dirty="0"/>
              <a:t>Comparison operators</a:t>
            </a:r>
          </a:p>
          <a:p>
            <a:pPr marL="514350" indent="-514350">
              <a:buFont typeface="+mj-lt"/>
              <a:buAutoNum type="arabicPeriod"/>
            </a:pPr>
            <a:r>
              <a:rPr lang="en-US" dirty="0"/>
              <a:t>Logical operators</a:t>
            </a:r>
          </a:p>
          <a:p>
            <a:pPr marL="514350" indent="-514350">
              <a:buFont typeface="+mj-lt"/>
              <a:buAutoNum type="arabicPeriod"/>
            </a:pPr>
            <a:r>
              <a:rPr lang="en-US" dirty="0"/>
              <a:t>Identity operators</a:t>
            </a:r>
          </a:p>
          <a:p>
            <a:pPr marL="514350" indent="-514350">
              <a:buFont typeface="+mj-lt"/>
              <a:buAutoNum type="arabicPeriod"/>
            </a:pPr>
            <a:r>
              <a:rPr lang="en-US" dirty="0"/>
              <a:t>Membership operators</a:t>
            </a:r>
          </a:p>
          <a:p>
            <a:pPr marL="514350" indent="-514350">
              <a:buFont typeface="+mj-lt"/>
              <a:buAutoNum type="arabicPeriod"/>
            </a:pPr>
            <a:r>
              <a:rPr lang="en-US" dirty="0"/>
              <a:t>Bitwise operators</a:t>
            </a:r>
          </a:p>
          <a:p>
            <a:endParaRPr lang="en-US" dirty="0"/>
          </a:p>
        </p:txBody>
      </p:sp>
    </p:spTree>
    <p:extLst>
      <p:ext uri="{BB962C8B-B14F-4D97-AF65-F5344CB8AC3E}">
        <p14:creationId xmlns:p14="http://schemas.microsoft.com/office/powerpoint/2010/main" val="4279937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Arithmetic Operators</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200" y="1162594"/>
            <a:ext cx="10515600" cy="5014369"/>
          </a:xfrm>
        </p:spPr>
        <p:txBody>
          <a:bodyPr>
            <a:normAutofit/>
          </a:bodyPr>
          <a:lstStyle/>
          <a:p>
            <a:r>
              <a:rPr lang="en-US" dirty="0"/>
              <a:t>Arithmetic operators are used with numeric values to perform common mathematical operations</a:t>
            </a:r>
          </a:p>
          <a:p>
            <a:endParaRPr lang="en-US" dirty="0"/>
          </a:p>
          <a:p>
            <a:endParaRPr lang="en-US" dirty="0"/>
          </a:p>
          <a:p>
            <a:endParaRPr lang="en-US" dirty="0"/>
          </a:p>
        </p:txBody>
      </p:sp>
      <p:pic>
        <p:nvPicPr>
          <p:cNvPr id="1028" name="Picture 4"/>
          <p:cNvPicPr>
            <a:picLocks noChangeAspect="1" noChangeArrowheads="1"/>
          </p:cNvPicPr>
          <p:nvPr/>
        </p:nvPicPr>
        <p:blipFill>
          <a:blip r:embed="rId3"/>
          <a:srcRect/>
          <a:stretch>
            <a:fillRect/>
          </a:stretch>
        </p:blipFill>
        <p:spPr bwMode="auto">
          <a:xfrm>
            <a:off x="1149530" y="2304098"/>
            <a:ext cx="10580915" cy="3953011"/>
          </a:xfrm>
          <a:prstGeom prst="rect">
            <a:avLst/>
          </a:prstGeom>
          <a:noFill/>
          <a:ln w="9525">
            <a:noFill/>
            <a:miter lim="800000"/>
            <a:headEnd/>
            <a:tailEnd/>
          </a:ln>
          <a:effectLst/>
        </p:spPr>
      </p:pic>
    </p:spTree>
    <p:extLst>
      <p:ext uri="{BB962C8B-B14F-4D97-AF65-F5344CB8AC3E}">
        <p14:creationId xmlns:p14="http://schemas.microsoft.com/office/powerpoint/2010/main" val="672640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Arithmetic Operators</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200" y="1162594"/>
            <a:ext cx="10515600" cy="5014369"/>
          </a:xfrm>
        </p:spPr>
        <p:txBody>
          <a:bodyPr>
            <a:normAutofit/>
          </a:bodyPr>
          <a:lstStyle/>
          <a:p>
            <a:pPr>
              <a:buNone/>
            </a:pPr>
            <a:r>
              <a:rPr lang="fr-FR" dirty="0"/>
              <a:t>x = 5</a:t>
            </a:r>
          </a:p>
          <a:p>
            <a:pPr>
              <a:buNone/>
            </a:pPr>
            <a:r>
              <a:rPr lang="fr-FR" dirty="0"/>
              <a:t>y = 2</a:t>
            </a:r>
          </a:p>
          <a:p>
            <a:pPr>
              <a:buNone/>
            </a:pPr>
            <a:r>
              <a:rPr lang="fr-FR" dirty="0" err="1"/>
              <a:t>print</a:t>
            </a:r>
            <a:r>
              <a:rPr lang="fr-FR" dirty="0"/>
              <a:t>('Addition=',</a:t>
            </a:r>
            <a:r>
              <a:rPr lang="fr-FR" dirty="0" err="1"/>
              <a:t>x+y</a:t>
            </a:r>
            <a:r>
              <a:rPr lang="fr-FR" dirty="0"/>
              <a:t>)</a:t>
            </a:r>
          </a:p>
          <a:p>
            <a:pPr>
              <a:buNone/>
            </a:pPr>
            <a:r>
              <a:rPr lang="fr-FR" dirty="0" err="1"/>
              <a:t>print</a:t>
            </a:r>
            <a:r>
              <a:rPr lang="fr-FR" dirty="0"/>
              <a:t>('</a:t>
            </a:r>
            <a:r>
              <a:rPr lang="fr-FR" dirty="0" err="1"/>
              <a:t>subtraction</a:t>
            </a:r>
            <a:r>
              <a:rPr lang="fr-FR" dirty="0"/>
              <a:t> =',x-y)</a:t>
            </a:r>
          </a:p>
          <a:p>
            <a:pPr>
              <a:buNone/>
            </a:pPr>
            <a:r>
              <a:rPr lang="fr-FR" dirty="0" err="1"/>
              <a:t>print</a:t>
            </a:r>
            <a:r>
              <a:rPr lang="fr-FR" dirty="0"/>
              <a:t>('multiplication =',x*y)</a:t>
            </a:r>
          </a:p>
          <a:p>
            <a:pPr>
              <a:buNone/>
            </a:pPr>
            <a:r>
              <a:rPr lang="fr-FR" dirty="0" err="1"/>
              <a:t>print</a:t>
            </a:r>
            <a:r>
              <a:rPr lang="fr-FR" dirty="0"/>
              <a:t>('division =',x/y)</a:t>
            </a:r>
          </a:p>
          <a:p>
            <a:pPr>
              <a:buNone/>
            </a:pPr>
            <a:r>
              <a:rPr lang="fr-FR" dirty="0" err="1"/>
              <a:t>print</a:t>
            </a:r>
            <a:r>
              <a:rPr lang="fr-FR" dirty="0"/>
              <a:t>('</a:t>
            </a:r>
            <a:r>
              <a:rPr lang="fr-FR" dirty="0" err="1"/>
              <a:t>Floor</a:t>
            </a:r>
            <a:r>
              <a:rPr lang="fr-FR" dirty="0"/>
              <a:t> </a:t>
            </a:r>
            <a:r>
              <a:rPr lang="fr-FR" dirty="0" err="1"/>
              <a:t>dvision</a:t>
            </a:r>
            <a:r>
              <a:rPr lang="fr-FR" dirty="0"/>
              <a:t> =',x//y)</a:t>
            </a:r>
          </a:p>
          <a:p>
            <a:pPr>
              <a:buNone/>
            </a:pPr>
            <a:r>
              <a:rPr lang="fr-FR" dirty="0" err="1"/>
              <a:t>print</a:t>
            </a:r>
            <a:r>
              <a:rPr lang="fr-FR" dirty="0"/>
              <a:t>('</a:t>
            </a:r>
            <a:r>
              <a:rPr lang="fr-FR" dirty="0" err="1"/>
              <a:t>Remainder</a:t>
            </a:r>
            <a:r>
              <a:rPr lang="fr-FR" dirty="0"/>
              <a:t> =',</a:t>
            </a:r>
            <a:r>
              <a:rPr lang="fr-FR" dirty="0" err="1"/>
              <a:t>x%y</a:t>
            </a:r>
            <a:r>
              <a:rPr lang="fr-FR" dirty="0"/>
              <a:t>)</a:t>
            </a:r>
          </a:p>
          <a:p>
            <a:pPr>
              <a:buNone/>
            </a:pPr>
            <a:r>
              <a:rPr lang="fr-FR" dirty="0" err="1"/>
              <a:t>print</a:t>
            </a:r>
            <a:r>
              <a:rPr lang="fr-FR" dirty="0"/>
              <a:t>('Exponentiation =',x**y)</a:t>
            </a:r>
            <a:endParaRPr lang="en-US" dirty="0"/>
          </a:p>
        </p:txBody>
      </p:sp>
      <p:sp>
        <p:nvSpPr>
          <p:cNvPr id="5" name="TextBox 4">
            <a:extLst>
              <a:ext uri="{FF2B5EF4-FFF2-40B4-BE49-F238E27FC236}">
                <a16:creationId xmlns:a16="http://schemas.microsoft.com/office/drawing/2014/main" id="{68029E51-CB27-68C4-F4C3-306C0CA47E4E}"/>
              </a:ext>
            </a:extLst>
          </p:cNvPr>
          <p:cNvSpPr txBox="1"/>
          <p:nvPr/>
        </p:nvSpPr>
        <p:spPr>
          <a:xfrm>
            <a:off x="7675880" y="3861099"/>
            <a:ext cx="2687320" cy="2308324"/>
          </a:xfrm>
          <a:prstGeom prst="rect">
            <a:avLst/>
          </a:prstGeom>
          <a:noFill/>
        </p:spPr>
        <p:txBody>
          <a:bodyPr wrap="square">
            <a:spAutoFit/>
          </a:bodyPr>
          <a:lstStyle/>
          <a:p>
            <a:r>
              <a:rPr lang="en-IN" dirty="0">
                <a:solidFill>
                  <a:srgbClr val="FF0000"/>
                </a:solidFill>
              </a:rPr>
              <a:t>Output:</a:t>
            </a:r>
          </a:p>
          <a:p>
            <a:r>
              <a:rPr lang="en-IN" dirty="0"/>
              <a:t>Addition= 7</a:t>
            </a:r>
          </a:p>
          <a:p>
            <a:r>
              <a:rPr lang="en-IN" dirty="0"/>
              <a:t>subtraction = 3</a:t>
            </a:r>
          </a:p>
          <a:p>
            <a:r>
              <a:rPr lang="en-IN" dirty="0"/>
              <a:t>multiplication = 10</a:t>
            </a:r>
          </a:p>
          <a:p>
            <a:r>
              <a:rPr lang="en-IN" dirty="0"/>
              <a:t>division = 2.5</a:t>
            </a:r>
          </a:p>
          <a:p>
            <a:r>
              <a:rPr lang="en-IN" dirty="0"/>
              <a:t>Floor </a:t>
            </a:r>
            <a:r>
              <a:rPr lang="en-IN" dirty="0" err="1"/>
              <a:t>dvision</a:t>
            </a:r>
            <a:r>
              <a:rPr lang="en-IN" dirty="0"/>
              <a:t> = 2</a:t>
            </a:r>
          </a:p>
          <a:p>
            <a:r>
              <a:rPr lang="en-IN" dirty="0"/>
              <a:t>Remainder = 1</a:t>
            </a:r>
          </a:p>
          <a:p>
            <a:r>
              <a:rPr lang="en-IN" dirty="0"/>
              <a:t>Exponentiation = 25</a:t>
            </a:r>
          </a:p>
        </p:txBody>
      </p:sp>
    </p:spTree>
    <p:extLst>
      <p:ext uri="{BB962C8B-B14F-4D97-AF65-F5344CB8AC3E}">
        <p14:creationId xmlns:p14="http://schemas.microsoft.com/office/powerpoint/2010/main" val="2845866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dirty="0">
                <a:solidFill>
                  <a:srgbClr val="FF0000"/>
                </a:solidFill>
              </a:rPr>
            </a:br>
            <a:r>
              <a:rPr lang="en-US" sz="3200" dirty="0">
                <a:solidFill>
                  <a:srgbClr val="FF0000"/>
                </a:solidFill>
              </a:rPr>
              <a:t>Assignment Operators</a:t>
            </a:r>
            <a:br>
              <a:rPr lang="en-US" sz="3200"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200" y="1162594"/>
            <a:ext cx="10515600" cy="5014369"/>
          </a:xfrm>
        </p:spPr>
        <p:txBody>
          <a:bodyPr>
            <a:normAutofit/>
          </a:bodyPr>
          <a:lstStyle/>
          <a:p>
            <a:r>
              <a:rPr lang="en-US" dirty="0"/>
              <a:t>Assignment operators are used to assign values to variables:</a:t>
            </a:r>
          </a:p>
          <a:p>
            <a:pPr>
              <a:buNone/>
            </a:pPr>
            <a:endParaRPr lang="en-US" dirty="0"/>
          </a:p>
        </p:txBody>
      </p:sp>
      <p:pic>
        <p:nvPicPr>
          <p:cNvPr id="2050" name="Picture 2"/>
          <p:cNvPicPr>
            <a:picLocks noChangeAspect="1" noChangeArrowheads="1"/>
          </p:cNvPicPr>
          <p:nvPr/>
        </p:nvPicPr>
        <p:blipFill>
          <a:blip r:embed="rId3"/>
          <a:srcRect/>
          <a:stretch>
            <a:fillRect/>
          </a:stretch>
        </p:blipFill>
        <p:spPr bwMode="auto">
          <a:xfrm>
            <a:off x="383412" y="1619793"/>
            <a:ext cx="11229467" cy="4703105"/>
          </a:xfrm>
          <a:prstGeom prst="rect">
            <a:avLst/>
          </a:prstGeom>
          <a:noFill/>
          <a:ln w="9525">
            <a:noFill/>
            <a:miter lim="800000"/>
            <a:headEnd/>
            <a:tailEnd/>
          </a:ln>
          <a:effectLst/>
        </p:spPr>
      </p:pic>
    </p:spTree>
    <p:extLst>
      <p:ext uri="{BB962C8B-B14F-4D97-AF65-F5344CB8AC3E}">
        <p14:creationId xmlns:p14="http://schemas.microsoft.com/office/powerpoint/2010/main" val="430213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Comparison/Relational Operators</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200" y="1162594"/>
            <a:ext cx="10515600" cy="5014369"/>
          </a:xfrm>
        </p:spPr>
        <p:txBody>
          <a:bodyPr>
            <a:normAutofit/>
          </a:bodyPr>
          <a:lstStyle/>
          <a:p>
            <a:r>
              <a:rPr lang="en-US" dirty="0"/>
              <a:t>Comparison operators are used to </a:t>
            </a:r>
            <a:r>
              <a:rPr lang="en-US" dirty="0">
                <a:solidFill>
                  <a:srgbClr val="7030A0"/>
                </a:solidFill>
              </a:rPr>
              <a:t>compare two values</a:t>
            </a:r>
            <a:r>
              <a:rPr lang="en-US" dirty="0"/>
              <a:t>:</a:t>
            </a:r>
          </a:p>
          <a:p>
            <a:r>
              <a:rPr lang="en-US" dirty="0"/>
              <a:t> It either returns </a:t>
            </a:r>
            <a:r>
              <a:rPr lang="en-US" dirty="0">
                <a:solidFill>
                  <a:srgbClr val="7030A0"/>
                </a:solidFill>
              </a:rPr>
              <a:t>True or False </a:t>
            </a:r>
            <a:r>
              <a:rPr lang="en-US" dirty="0"/>
              <a:t>according to the condition.</a:t>
            </a:r>
          </a:p>
          <a:p>
            <a:pPr>
              <a:buNone/>
            </a:pPr>
            <a:endParaRPr lang="en-US" dirty="0"/>
          </a:p>
        </p:txBody>
      </p:sp>
      <p:pic>
        <p:nvPicPr>
          <p:cNvPr id="3075" name="Picture 3"/>
          <p:cNvPicPr>
            <a:picLocks noChangeAspect="1" noChangeArrowheads="1"/>
          </p:cNvPicPr>
          <p:nvPr/>
        </p:nvPicPr>
        <p:blipFill>
          <a:blip r:embed="rId3"/>
          <a:srcRect/>
          <a:stretch>
            <a:fillRect/>
          </a:stretch>
        </p:blipFill>
        <p:spPr bwMode="auto">
          <a:xfrm>
            <a:off x="914400" y="2194559"/>
            <a:ext cx="10985863" cy="4127863"/>
          </a:xfrm>
          <a:prstGeom prst="rect">
            <a:avLst/>
          </a:prstGeom>
          <a:noFill/>
          <a:ln w="9525">
            <a:noFill/>
            <a:miter lim="800000"/>
            <a:headEnd/>
            <a:tailEnd/>
          </a:ln>
          <a:effectLst/>
        </p:spPr>
      </p:pic>
    </p:spTree>
    <p:extLst>
      <p:ext uri="{BB962C8B-B14F-4D97-AF65-F5344CB8AC3E}">
        <p14:creationId xmlns:p14="http://schemas.microsoft.com/office/powerpoint/2010/main" val="113789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Comparison Operators</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200" y="1162594"/>
            <a:ext cx="10515600" cy="5014369"/>
          </a:xfrm>
        </p:spPr>
        <p:txBody>
          <a:bodyPr>
            <a:normAutofit/>
          </a:bodyPr>
          <a:lstStyle/>
          <a:p>
            <a:pPr>
              <a:buNone/>
            </a:pPr>
            <a:r>
              <a:rPr lang="es-ES" sz="3200" dirty="0"/>
              <a:t>x = 10</a:t>
            </a:r>
          </a:p>
          <a:p>
            <a:pPr>
              <a:buNone/>
            </a:pPr>
            <a:r>
              <a:rPr lang="es-ES" sz="3200" dirty="0"/>
              <a:t>y = 12</a:t>
            </a:r>
          </a:p>
          <a:p>
            <a:pPr>
              <a:buNone/>
            </a:pPr>
            <a:r>
              <a:rPr lang="es-ES" sz="3200" dirty="0" err="1"/>
              <a:t>print</a:t>
            </a:r>
            <a:r>
              <a:rPr lang="es-ES" sz="3200" dirty="0"/>
              <a:t>('x &gt; y  </a:t>
            </a:r>
            <a:r>
              <a:rPr lang="es-ES" sz="3200" dirty="0" err="1"/>
              <a:t>is',x</a:t>
            </a:r>
            <a:r>
              <a:rPr lang="es-ES" sz="3200" dirty="0"/>
              <a:t>&gt;y)</a:t>
            </a:r>
          </a:p>
          <a:p>
            <a:pPr>
              <a:buNone/>
            </a:pPr>
            <a:r>
              <a:rPr lang="es-ES" sz="3200" dirty="0" err="1"/>
              <a:t>print</a:t>
            </a:r>
            <a:r>
              <a:rPr lang="es-ES" sz="3200" dirty="0"/>
              <a:t>('x &lt; y  </a:t>
            </a:r>
            <a:r>
              <a:rPr lang="es-ES" sz="3200" dirty="0" err="1"/>
              <a:t>is',x</a:t>
            </a:r>
            <a:r>
              <a:rPr lang="es-ES" sz="3200" dirty="0"/>
              <a:t>&lt;y)</a:t>
            </a:r>
          </a:p>
          <a:p>
            <a:pPr>
              <a:buNone/>
            </a:pPr>
            <a:r>
              <a:rPr lang="es-ES" sz="3200" dirty="0" err="1"/>
              <a:t>print</a:t>
            </a:r>
            <a:r>
              <a:rPr lang="es-ES" sz="3200" dirty="0"/>
              <a:t>('x == y </a:t>
            </a:r>
            <a:r>
              <a:rPr lang="es-ES" sz="3200" dirty="0" err="1"/>
              <a:t>is',x</a:t>
            </a:r>
            <a:r>
              <a:rPr lang="es-ES" sz="3200" dirty="0"/>
              <a:t>==y)</a:t>
            </a:r>
          </a:p>
          <a:p>
            <a:pPr>
              <a:buNone/>
            </a:pPr>
            <a:r>
              <a:rPr lang="es-ES" sz="3200" dirty="0" err="1"/>
              <a:t>print</a:t>
            </a:r>
            <a:r>
              <a:rPr lang="es-ES" sz="3200" dirty="0"/>
              <a:t>('x != y </a:t>
            </a:r>
            <a:r>
              <a:rPr lang="es-ES" sz="3200" dirty="0" err="1"/>
              <a:t>is</a:t>
            </a:r>
            <a:r>
              <a:rPr lang="es-ES" sz="3200" dirty="0"/>
              <a:t>',x!=y)</a:t>
            </a:r>
          </a:p>
          <a:p>
            <a:pPr>
              <a:buNone/>
            </a:pPr>
            <a:r>
              <a:rPr lang="es-ES" sz="3200" dirty="0" err="1"/>
              <a:t>print</a:t>
            </a:r>
            <a:r>
              <a:rPr lang="es-ES" sz="3200" dirty="0"/>
              <a:t>('x &gt;= y </a:t>
            </a:r>
            <a:r>
              <a:rPr lang="es-ES" sz="3200" dirty="0" err="1"/>
              <a:t>is',x</a:t>
            </a:r>
            <a:r>
              <a:rPr lang="es-ES" sz="3200" dirty="0"/>
              <a:t>&gt;=y)</a:t>
            </a:r>
          </a:p>
          <a:p>
            <a:pPr>
              <a:buNone/>
            </a:pPr>
            <a:r>
              <a:rPr lang="es-ES" sz="3200" dirty="0" err="1"/>
              <a:t>print</a:t>
            </a:r>
            <a:r>
              <a:rPr lang="es-ES" sz="3200" dirty="0"/>
              <a:t>('x &lt;= y </a:t>
            </a:r>
            <a:r>
              <a:rPr lang="es-ES" sz="3200" dirty="0" err="1"/>
              <a:t>is',x</a:t>
            </a:r>
            <a:r>
              <a:rPr lang="es-ES" sz="3200" dirty="0"/>
              <a:t>&lt;=y)</a:t>
            </a:r>
            <a:endParaRPr lang="en-US" sz="3200" dirty="0"/>
          </a:p>
        </p:txBody>
      </p:sp>
    </p:spTree>
    <p:extLst>
      <p:ext uri="{BB962C8B-B14F-4D97-AF65-F5344CB8AC3E}">
        <p14:creationId xmlns:p14="http://schemas.microsoft.com/office/powerpoint/2010/main" val="2795567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Logical Operators</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1162594"/>
            <a:ext cx="11062063" cy="5014369"/>
          </a:xfrm>
        </p:spPr>
        <p:txBody>
          <a:bodyPr>
            <a:normAutofit/>
          </a:bodyPr>
          <a:lstStyle/>
          <a:p>
            <a:r>
              <a:rPr lang="en-US" sz="3200" dirty="0"/>
              <a:t>Logical operators are used to combine conditional statements</a:t>
            </a:r>
          </a:p>
        </p:txBody>
      </p:sp>
      <p:pic>
        <p:nvPicPr>
          <p:cNvPr id="4098" name="Picture 2"/>
          <p:cNvPicPr>
            <a:picLocks noChangeAspect="1" noChangeArrowheads="1"/>
          </p:cNvPicPr>
          <p:nvPr/>
        </p:nvPicPr>
        <p:blipFill>
          <a:blip r:embed="rId3"/>
          <a:srcRect/>
          <a:stretch>
            <a:fillRect/>
          </a:stretch>
        </p:blipFill>
        <p:spPr bwMode="auto">
          <a:xfrm>
            <a:off x="398101" y="2037805"/>
            <a:ext cx="7204481" cy="4114800"/>
          </a:xfrm>
          <a:prstGeom prst="rect">
            <a:avLst/>
          </a:prstGeom>
          <a:noFill/>
          <a:ln w="9525">
            <a:noFill/>
            <a:miter lim="800000"/>
            <a:headEnd/>
            <a:tailEnd/>
          </a:ln>
          <a:effectLst/>
        </p:spPr>
      </p:pic>
      <p:sp>
        <p:nvSpPr>
          <p:cNvPr id="8" name="Rectangle 7"/>
          <p:cNvSpPr/>
          <p:nvPr/>
        </p:nvSpPr>
        <p:spPr>
          <a:xfrm>
            <a:off x="8207828" y="2081889"/>
            <a:ext cx="3984171" cy="2492990"/>
          </a:xfrm>
          <a:prstGeom prst="rect">
            <a:avLst/>
          </a:prstGeom>
        </p:spPr>
        <p:txBody>
          <a:bodyPr wrap="square">
            <a:spAutoFit/>
          </a:bodyPr>
          <a:lstStyle/>
          <a:p>
            <a:r>
              <a:rPr lang="en-US" sz="2600" dirty="0">
                <a:solidFill>
                  <a:srgbClr val="FF0000"/>
                </a:solidFill>
              </a:rPr>
              <a:t>Ex:</a:t>
            </a:r>
          </a:p>
          <a:p>
            <a:r>
              <a:rPr lang="en-US" sz="2600" dirty="0"/>
              <a:t>x = 5</a:t>
            </a:r>
          </a:p>
          <a:p>
            <a:endParaRPr lang="en-US" sz="2600" dirty="0"/>
          </a:p>
          <a:p>
            <a:r>
              <a:rPr lang="en-US" sz="2600" dirty="0"/>
              <a:t>print(x &gt; 3 and x &lt; 4)</a:t>
            </a:r>
          </a:p>
          <a:p>
            <a:r>
              <a:rPr lang="en-US" sz="2600" dirty="0"/>
              <a:t>print(x &gt; 3 or x &lt; 4)</a:t>
            </a:r>
          </a:p>
          <a:p>
            <a:r>
              <a:rPr lang="en-US" sz="2600" dirty="0"/>
              <a:t>print(not(x==5))</a:t>
            </a:r>
          </a:p>
        </p:txBody>
      </p:sp>
      <p:sp>
        <p:nvSpPr>
          <p:cNvPr id="6" name="TextBox 5">
            <a:extLst>
              <a:ext uri="{FF2B5EF4-FFF2-40B4-BE49-F238E27FC236}">
                <a16:creationId xmlns:a16="http://schemas.microsoft.com/office/drawing/2014/main" id="{CF03AA00-9D32-6D31-7A0A-587BDFEA723E}"/>
              </a:ext>
            </a:extLst>
          </p:cNvPr>
          <p:cNvSpPr txBox="1"/>
          <p:nvPr/>
        </p:nvSpPr>
        <p:spPr>
          <a:xfrm>
            <a:off x="10667472" y="5076667"/>
            <a:ext cx="1372656"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Arial Unicode MS"/>
              </a:rPr>
              <a:t>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False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True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False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5998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Membership operators</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1162594"/>
            <a:ext cx="11062063" cy="5014369"/>
          </a:xfrm>
        </p:spPr>
        <p:txBody>
          <a:bodyPr>
            <a:normAutofit/>
          </a:bodyPr>
          <a:lstStyle/>
          <a:p>
            <a:r>
              <a:rPr lang="en-US" sz="3200" dirty="0"/>
              <a:t>They are used to test whether a value or variable is found in a sequence (</a:t>
            </a:r>
            <a:r>
              <a:rPr lang="en-US" sz="3200" dirty="0">
                <a:hlinkClick r:id="rId3" tooltip="Python strings"/>
              </a:rPr>
              <a:t>string</a:t>
            </a:r>
            <a:r>
              <a:rPr lang="en-US" sz="3200" dirty="0"/>
              <a:t>, </a:t>
            </a:r>
            <a:r>
              <a:rPr lang="en-US" sz="3200" dirty="0">
                <a:hlinkClick r:id="rId4" tooltip="Python list"/>
              </a:rPr>
              <a:t>list</a:t>
            </a:r>
            <a:r>
              <a:rPr lang="en-US" sz="3200" dirty="0"/>
              <a:t>, </a:t>
            </a:r>
            <a:r>
              <a:rPr lang="en-US" sz="3200" dirty="0">
                <a:hlinkClick r:id="rId5" tooltip="Python tuple"/>
              </a:rPr>
              <a:t>tuple</a:t>
            </a:r>
            <a:r>
              <a:rPr lang="en-US" sz="3200" dirty="0"/>
              <a:t>, </a:t>
            </a:r>
            <a:r>
              <a:rPr lang="en-US" sz="3200" dirty="0">
                <a:hlinkClick r:id="rId6" tooltip="Python set"/>
              </a:rPr>
              <a:t>set</a:t>
            </a:r>
            <a:r>
              <a:rPr lang="en-US" sz="3200" dirty="0"/>
              <a:t> and </a:t>
            </a:r>
            <a:r>
              <a:rPr lang="en-US" sz="3200" dirty="0">
                <a:hlinkClick r:id="rId7" tooltip="Python dictionary"/>
              </a:rPr>
              <a:t>dictionary</a:t>
            </a:r>
            <a:r>
              <a:rPr lang="en-US" sz="3200" dirty="0"/>
              <a:t>).</a:t>
            </a:r>
          </a:p>
          <a:p>
            <a:r>
              <a:rPr lang="en-US" sz="3200" dirty="0"/>
              <a:t>In a dictionary we can only test for presence of key, not the value.</a:t>
            </a:r>
          </a:p>
          <a:p>
            <a:endParaRPr lang="en-US" sz="3200" dirty="0"/>
          </a:p>
        </p:txBody>
      </p:sp>
      <p:pic>
        <p:nvPicPr>
          <p:cNvPr id="5122" name="Picture 2"/>
          <p:cNvPicPr>
            <a:picLocks noChangeAspect="1" noChangeArrowheads="1"/>
          </p:cNvPicPr>
          <p:nvPr/>
        </p:nvPicPr>
        <p:blipFill>
          <a:blip r:embed="rId8"/>
          <a:srcRect/>
          <a:stretch>
            <a:fillRect/>
          </a:stretch>
        </p:blipFill>
        <p:spPr bwMode="auto">
          <a:xfrm>
            <a:off x="838199" y="3218226"/>
            <a:ext cx="10683377" cy="2477180"/>
          </a:xfrm>
          <a:prstGeom prst="rect">
            <a:avLst/>
          </a:prstGeom>
          <a:noFill/>
          <a:ln w="9525">
            <a:noFill/>
            <a:miter lim="800000"/>
            <a:headEnd/>
            <a:tailEnd/>
          </a:ln>
          <a:effectLst/>
        </p:spPr>
      </p:pic>
    </p:spTree>
    <p:extLst>
      <p:ext uri="{BB962C8B-B14F-4D97-AF65-F5344CB8AC3E}">
        <p14:creationId xmlns:p14="http://schemas.microsoft.com/office/powerpoint/2010/main" val="1637225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Membership operators</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1162594"/>
            <a:ext cx="11062063" cy="5014369"/>
          </a:xfrm>
        </p:spPr>
        <p:txBody>
          <a:bodyPr>
            <a:normAutofit/>
          </a:bodyPr>
          <a:lstStyle/>
          <a:p>
            <a:pPr>
              <a:buNone/>
            </a:pPr>
            <a:r>
              <a:rPr lang="en-US" sz="3200" dirty="0"/>
              <a:t>x = 'Hello world'</a:t>
            </a:r>
          </a:p>
          <a:p>
            <a:pPr>
              <a:buNone/>
            </a:pPr>
            <a:r>
              <a:rPr lang="en-US" sz="3200" dirty="0"/>
              <a:t>print('H' in x)</a:t>
            </a:r>
          </a:p>
          <a:p>
            <a:pPr>
              <a:buNone/>
            </a:pPr>
            <a:r>
              <a:rPr lang="en-US" sz="3200" dirty="0"/>
              <a:t>print('S' in x)</a:t>
            </a:r>
          </a:p>
          <a:p>
            <a:pPr>
              <a:buNone/>
            </a:pPr>
            <a:r>
              <a:rPr lang="en-US" sz="3200" dirty="0"/>
              <a:t>print('Hello' not in x)</a:t>
            </a:r>
          </a:p>
        </p:txBody>
      </p:sp>
      <p:sp>
        <p:nvSpPr>
          <p:cNvPr id="5" name="TextBox 4">
            <a:extLst>
              <a:ext uri="{FF2B5EF4-FFF2-40B4-BE49-F238E27FC236}">
                <a16:creationId xmlns:a16="http://schemas.microsoft.com/office/drawing/2014/main" id="{359EE926-2C2C-0DC0-2587-C03630E158DE}"/>
              </a:ext>
            </a:extLst>
          </p:cNvPr>
          <p:cNvSpPr txBox="1"/>
          <p:nvPr/>
        </p:nvSpPr>
        <p:spPr>
          <a:xfrm>
            <a:off x="5567152" y="4853524"/>
            <a:ext cx="1372656"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Arial Unicode MS"/>
              </a:rPr>
              <a:t>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True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False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Unicode MS"/>
              </a:rPr>
              <a:t>False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263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Bitwise operators</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lnSpcReduction="10000"/>
          </a:bodyPr>
          <a:lstStyle/>
          <a:p>
            <a:r>
              <a:rPr lang="en-US" sz="3200" dirty="0">
                <a:effectLst/>
                <a:ea typeface="Corbel" panose="020B0503020204020204" pitchFamily="34" charset="0"/>
                <a:cs typeface="Corbel" panose="020B0503020204020204" pitchFamily="34" charset="0"/>
              </a:rPr>
              <a:t>These</a:t>
            </a:r>
            <a:r>
              <a:rPr lang="en-US" sz="3200" spc="130"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operators</a:t>
            </a:r>
            <a:r>
              <a:rPr lang="en-US" sz="3200" spc="130"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act</a:t>
            </a:r>
            <a:r>
              <a:rPr lang="en-US" sz="3200" spc="125"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upon</a:t>
            </a:r>
            <a:r>
              <a:rPr lang="en-US" sz="3200" spc="125"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the</a:t>
            </a:r>
            <a:r>
              <a:rPr lang="en-US" sz="3200" spc="130"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individual</a:t>
            </a:r>
            <a:r>
              <a:rPr lang="en-US" sz="3200" spc="130"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bits</a:t>
            </a:r>
            <a:r>
              <a:rPr lang="en-US" sz="3200" spc="130"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(0</a:t>
            </a:r>
            <a:r>
              <a:rPr lang="en-US" sz="3200" spc="120"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&amp;</a:t>
            </a:r>
            <a:r>
              <a:rPr lang="en-US" sz="3200" spc="120"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1)</a:t>
            </a:r>
            <a:r>
              <a:rPr lang="en-US" sz="3200" spc="125"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of</a:t>
            </a:r>
            <a:r>
              <a:rPr lang="en-US" sz="3200" spc="125" dirty="0">
                <a:effectLst/>
                <a:ea typeface="Corbel" panose="020B0503020204020204" pitchFamily="34" charset="0"/>
                <a:cs typeface="Corbel" panose="020B0503020204020204" pitchFamily="34" charset="0"/>
              </a:rPr>
              <a:t> </a:t>
            </a:r>
            <a:r>
              <a:rPr lang="en-US" sz="3200" dirty="0">
                <a:effectLst/>
                <a:ea typeface="Corbel" panose="020B0503020204020204" pitchFamily="34" charset="0"/>
                <a:cs typeface="Corbel" panose="020B0503020204020204" pitchFamily="34" charset="0"/>
              </a:rPr>
              <a:t>their operands.</a:t>
            </a:r>
          </a:p>
          <a:p>
            <a:r>
              <a:rPr lang="en-US" sz="3200" dirty="0"/>
              <a:t>It operates bit by bit, hence the name.</a:t>
            </a:r>
          </a:p>
          <a:p>
            <a:r>
              <a:rPr lang="en-US" sz="3200" dirty="0"/>
              <a:t>For example, 2 is 10 in binary and 7 is 111.</a:t>
            </a:r>
          </a:p>
          <a:p>
            <a:pPr marL="0" indent="0">
              <a:buNone/>
            </a:pPr>
            <a:endParaRPr lang="en-US" sz="3200" dirty="0"/>
          </a:p>
          <a:p>
            <a:pPr marL="342900" lvl="0" indent="-342900">
              <a:spcBef>
                <a:spcPts val="460"/>
              </a:spcBef>
              <a:spcAft>
                <a:spcPts val="0"/>
              </a:spcAft>
              <a:buSzPts val="1200"/>
              <a:buFont typeface="Franklin Gothic Medium" panose="020B0603020102020204" pitchFamily="34" charset="0"/>
              <a:buAutoNum type="arabicPeriod"/>
              <a:tabLst>
                <a:tab pos="1059815" algn="l"/>
              </a:tabLst>
            </a:pPr>
            <a:r>
              <a:rPr lang="en-US" sz="3200" spc="-5" dirty="0">
                <a:effectLst/>
                <a:ea typeface="Franklin Gothic Medium" panose="020B0603020102020204" pitchFamily="34" charset="0"/>
                <a:cs typeface="Franklin Gothic Medium" panose="020B0603020102020204" pitchFamily="34" charset="0"/>
              </a:rPr>
              <a:t>Bitwise</a:t>
            </a:r>
            <a:r>
              <a:rPr lang="en-US" sz="3200" spc="-20" dirty="0">
                <a:effectLst/>
                <a:ea typeface="Franklin Gothic Medium" panose="020B0603020102020204" pitchFamily="34" charset="0"/>
                <a:cs typeface="Franklin Gothic Medium" panose="020B0603020102020204" pitchFamily="34" charset="0"/>
              </a:rPr>
              <a:t> </a:t>
            </a:r>
            <a:r>
              <a:rPr lang="en-US" sz="3200" spc="-5" dirty="0">
                <a:effectLst/>
                <a:ea typeface="Franklin Gothic Medium" panose="020B0603020102020204" pitchFamily="34" charset="0"/>
                <a:cs typeface="Franklin Gothic Medium" panose="020B0603020102020204" pitchFamily="34" charset="0"/>
              </a:rPr>
              <a:t>AND</a:t>
            </a:r>
            <a:r>
              <a:rPr lang="en-US" sz="3200" spc="-15" dirty="0">
                <a:effectLst/>
                <a:ea typeface="Franklin Gothic Medium" panose="020B0603020102020204" pitchFamily="34" charset="0"/>
                <a:cs typeface="Franklin Gothic Medium" panose="020B0603020102020204" pitchFamily="34" charset="0"/>
              </a:rPr>
              <a:t> </a:t>
            </a:r>
            <a:r>
              <a:rPr lang="en-US" sz="3200" spc="-25" dirty="0">
                <a:effectLst/>
                <a:ea typeface="Franklin Gothic Medium" panose="020B0603020102020204" pitchFamily="34" charset="0"/>
                <a:cs typeface="Franklin Gothic Medium" panose="020B0603020102020204" pitchFamily="34" charset="0"/>
              </a:rPr>
              <a:t>(</a:t>
            </a:r>
            <a:r>
              <a:rPr lang="en-US" sz="3200" b="1" spc="-25" dirty="0">
                <a:effectLst/>
                <a:ea typeface="Franklin Gothic Medium" panose="020B0603020102020204" pitchFamily="34" charset="0"/>
                <a:cs typeface="Corbel" panose="020B0503020204020204" pitchFamily="34" charset="0"/>
              </a:rPr>
              <a:t>&amp;</a:t>
            </a:r>
            <a:r>
              <a:rPr lang="en-US" sz="3200" spc="-25" dirty="0">
                <a:effectLst/>
                <a:ea typeface="Franklin Gothic Medium" panose="020B0603020102020204" pitchFamily="34" charset="0"/>
                <a:cs typeface="Franklin Gothic Medium" panose="020B0603020102020204" pitchFamily="34" charset="0"/>
              </a:rPr>
              <a:t>)</a:t>
            </a:r>
            <a:endParaRPr lang="en-IN" sz="3200" spc="-5" dirty="0">
              <a:effectLst/>
              <a:ea typeface="Franklin Gothic Medium" panose="020B0603020102020204" pitchFamily="34" charset="0"/>
              <a:cs typeface="Franklin Gothic Medium" panose="020B0603020102020204" pitchFamily="34" charset="0"/>
            </a:endParaRPr>
          </a:p>
          <a:p>
            <a:pPr marL="342900" lvl="0" indent="-342900">
              <a:spcBef>
                <a:spcPts val="445"/>
              </a:spcBef>
              <a:spcAft>
                <a:spcPts val="0"/>
              </a:spcAft>
              <a:buSzPts val="1200"/>
              <a:buFont typeface="Franklin Gothic Medium" panose="020B0603020102020204" pitchFamily="34" charset="0"/>
              <a:buAutoNum type="arabicPeriod"/>
              <a:tabLst>
                <a:tab pos="1059815" algn="l"/>
              </a:tabLst>
            </a:pPr>
            <a:r>
              <a:rPr lang="en-US" sz="3200" spc="-5" dirty="0">
                <a:effectLst/>
                <a:ea typeface="Franklin Gothic Medium" panose="020B0603020102020204" pitchFamily="34" charset="0"/>
                <a:cs typeface="Franklin Gothic Medium" panose="020B0603020102020204" pitchFamily="34" charset="0"/>
              </a:rPr>
              <a:t>Bitwise</a:t>
            </a:r>
            <a:r>
              <a:rPr lang="en-US" sz="3200" spc="-20" dirty="0">
                <a:effectLst/>
                <a:ea typeface="Franklin Gothic Medium" panose="020B0603020102020204" pitchFamily="34" charset="0"/>
                <a:cs typeface="Franklin Gothic Medium" panose="020B0603020102020204" pitchFamily="34" charset="0"/>
              </a:rPr>
              <a:t> </a:t>
            </a:r>
            <a:r>
              <a:rPr lang="en-US" sz="3200" spc="-5" dirty="0">
                <a:effectLst/>
                <a:ea typeface="Franklin Gothic Medium" panose="020B0603020102020204" pitchFamily="34" charset="0"/>
                <a:cs typeface="Franklin Gothic Medium" panose="020B0603020102020204" pitchFamily="34" charset="0"/>
              </a:rPr>
              <a:t>OR</a:t>
            </a:r>
            <a:r>
              <a:rPr lang="en-US" sz="3200" spc="-20" dirty="0">
                <a:effectLst/>
                <a:ea typeface="Franklin Gothic Medium" panose="020B0603020102020204" pitchFamily="34" charset="0"/>
                <a:cs typeface="Franklin Gothic Medium" panose="020B0603020102020204" pitchFamily="34" charset="0"/>
              </a:rPr>
              <a:t> </a:t>
            </a:r>
            <a:r>
              <a:rPr lang="en-US" sz="3200" spc="-25" dirty="0">
                <a:effectLst/>
                <a:ea typeface="Franklin Gothic Medium" panose="020B0603020102020204" pitchFamily="34" charset="0"/>
                <a:cs typeface="Franklin Gothic Medium" panose="020B0603020102020204" pitchFamily="34" charset="0"/>
              </a:rPr>
              <a:t>(</a:t>
            </a:r>
            <a:r>
              <a:rPr lang="en-US" sz="3200" b="1" spc="-25" dirty="0">
                <a:effectLst/>
                <a:ea typeface="Franklin Gothic Medium" panose="020B0603020102020204" pitchFamily="34" charset="0"/>
                <a:cs typeface="Corbel" panose="020B0503020204020204" pitchFamily="34" charset="0"/>
              </a:rPr>
              <a:t>|</a:t>
            </a:r>
            <a:r>
              <a:rPr lang="en-US" sz="3200" spc="-25" dirty="0">
                <a:effectLst/>
                <a:ea typeface="Franklin Gothic Medium" panose="020B0603020102020204" pitchFamily="34" charset="0"/>
                <a:cs typeface="Franklin Gothic Medium" panose="020B0603020102020204" pitchFamily="34" charset="0"/>
              </a:rPr>
              <a:t>)</a:t>
            </a:r>
            <a:endParaRPr lang="en-IN" sz="3200" spc="-5" dirty="0">
              <a:effectLst/>
              <a:ea typeface="Franklin Gothic Medium" panose="020B0603020102020204" pitchFamily="34" charset="0"/>
              <a:cs typeface="Franklin Gothic Medium" panose="020B0603020102020204" pitchFamily="34" charset="0"/>
            </a:endParaRPr>
          </a:p>
          <a:p>
            <a:pPr marL="342900" lvl="0" indent="-342900">
              <a:spcBef>
                <a:spcPts val="435"/>
              </a:spcBef>
              <a:spcAft>
                <a:spcPts val="0"/>
              </a:spcAft>
              <a:buSzPts val="1200"/>
              <a:buFont typeface="Franklin Gothic Medium" panose="020B0603020102020204" pitchFamily="34" charset="0"/>
              <a:buAutoNum type="arabicPeriod"/>
              <a:tabLst>
                <a:tab pos="1059815" algn="l"/>
              </a:tabLst>
            </a:pPr>
            <a:r>
              <a:rPr lang="en-US" sz="3200" spc="-5" dirty="0">
                <a:effectLst/>
                <a:ea typeface="Franklin Gothic Medium" panose="020B0603020102020204" pitchFamily="34" charset="0"/>
                <a:cs typeface="Franklin Gothic Medium" panose="020B0603020102020204" pitchFamily="34" charset="0"/>
              </a:rPr>
              <a:t>Bitwise</a:t>
            </a:r>
            <a:r>
              <a:rPr lang="en-US" sz="3200" spc="-15" dirty="0">
                <a:effectLst/>
                <a:ea typeface="Franklin Gothic Medium" panose="020B0603020102020204" pitchFamily="34" charset="0"/>
                <a:cs typeface="Franklin Gothic Medium" panose="020B0603020102020204" pitchFamily="34" charset="0"/>
              </a:rPr>
              <a:t> </a:t>
            </a:r>
            <a:r>
              <a:rPr lang="en-US" sz="3200" spc="-5" dirty="0">
                <a:effectLst/>
                <a:ea typeface="Franklin Gothic Medium" panose="020B0603020102020204" pitchFamily="34" charset="0"/>
                <a:cs typeface="Franklin Gothic Medium" panose="020B0603020102020204" pitchFamily="34" charset="0"/>
              </a:rPr>
              <a:t>XOR</a:t>
            </a:r>
            <a:r>
              <a:rPr lang="en-US" sz="3200" spc="-10" dirty="0">
                <a:effectLst/>
                <a:ea typeface="Franklin Gothic Medium" panose="020B0603020102020204" pitchFamily="34" charset="0"/>
                <a:cs typeface="Franklin Gothic Medium" panose="020B0603020102020204" pitchFamily="34" charset="0"/>
              </a:rPr>
              <a:t> </a:t>
            </a:r>
            <a:r>
              <a:rPr lang="en-US" sz="3200" spc="-25" dirty="0">
                <a:effectLst/>
                <a:ea typeface="Franklin Gothic Medium" panose="020B0603020102020204" pitchFamily="34" charset="0"/>
                <a:cs typeface="Franklin Gothic Medium" panose="020B0603020102020204" pitchFamily="34" charset="0"/>
              </a:rPr>
              <a:t>(</a:t>
            </a:r>
            <a:r>
              <a:rPr lang="en-US" sz="3200" b="1" spc="-25" dirty="0">
                <a:effectLst/>
                <a:ea typeface="Franklin Gothic Medium" panose="020B0603020102020204" pitchFamily="34" charset="0"/>
                <a:cs typeface="Corbel" panose="020B0503020204020204" pitchFamily="34" charset="0"/>
              </a:rPr>
              <a:t>^</a:t>
            </a:r>
            <a:r>
              <a:rPr lang="en-US" sz="3200" spc="-25" dirty="0">
                <a:effectLst/>
                <a:ea typeface="Franklin Gothic Medium" panose="020B0603020102020204" pitchFamily="34" charset="0"/>
                <a:cs typeface="Franklin Gothic Medium" panose="020B0603020102020204" pitchFamily="34" charset="0"/>
              </a:rPr>
              <a:t>)</a:t>
            </a:r>
          </a:p>
          <a:p>
            <a:pPr marL="342900" indent="-342900">
              <a:spcBef>
                <a:spcPts val="435"/>
              </a:spcBef>
              <a:buSzPts val="1200"/>
              <a:buFont typeface="Franklin Gothic Medium" panose="020B0603020102020204" pitchFamily="34" charset="0"/>
              <a:buAutoNum type="arabicPeriod"/>
              <a:tabLst>
                <a:tab pos="1059815" algn="l"/>
              </a:tabLst>
            </a:pPr>
            <a:r>
              <a:rPr lang="en-US" sz="3200" spc="-5" dirty="0">
                <a:effectLst/>
                <a:ea typeface="Franklin Gothic Medium" panose="020B0603020102020204" pitchFamily="34" charset="0"/>
                <a:cs typeface="Corbel" panose="020B0503020204020204" pitchFamily="34" charset="0"/>
              </a:rPr>
              <a:t>Bitwise</a:t>
            </a:r>
            <a:r>
              <a:rPr lang="en-US" sz="3200" spc="210" dirty="0">
                <a:effectLst/>
                <a:ea typeface="Franklin Gothic Medium" panose="020B0603020102020204" pitchFamily="34" charset="0"/>
                <a:cs typeface="Corbel" panose="020B0503020204020204" pitchFamily="34" charset="0"/>
              </a:rPr>
              <a:t> </a:t>
            </a:r>
            <a:r>
              <a:rPr lang="en-US" sz="3200" spc="-5" dirty="0">
                <a:effectLst/>
                <a:ea typeface="Franklin Gothic Medium" panose="020B0603020102020204" pitchFamily="34" charset="0"/>
                <a:cs typeface="Corbel" panose="020B0503020204020204" pitchFamily="34" charset="0"/>
              </a:rPr>
              <a:t>Complements</a:t>
            </a:r>
            <a:r>
              <a:rPr lang="en-US" sz="3200" spc="100" dirty="0">
                <a:effectLst/>
                <a:ea typeface="Franklin Gothic Medium" panose="020B0603020102020204" pitchFamily="34" charset="0"/>
                <a:cs typeface="Corbel" panose="020B0503020204020204" pitchFamily="34" charset="0"/>
              </a:rPr>
              <a:t> </a:t>
            </a:r>
            <a:r>
              <a:rPr lang="en-US" sz="3200" spc="-25" dirty="0">
                <a:effectLst/>
                <a:ea typeface="Franklin Gothic Medium" panose="020B0603020102020204" pitchFamily="34" charset="0"/>
                <a:cs typeface="Franklin Gothic Medium" panose="020B0603020102020204" pitchFamily="34" charset="0"/>
              </a:rPr>
              <a:t>(</a:t>
            </a:r>
            <a:r>
              <a:rPr lang="en-US" sz="3200" b="1" spc="-25" dirty="0">
                <a:effectLst/>
                <a:ea typeface="Franklin Gothic Medium" panose="020B0603020102020204" pitchFamily="34" charset="0"/>
                <a:cs typeface="Corbel" panose="020B0503020204020204" pitchFamily="34" charset="0"/>
              </a:rPr>
              <a:t>~</a:t>
            </a:r>
            <a:r>
              <a:rPr lang="en-US" sz="3200" spc="-25" dirty="0">
                <a:effectLst/>
                <a:ea typeface="Franklin Gothic Medium" panose="020B0603020102020204" pitchFamily="34" charset="0"/>
                <a:cs typeface="Franklin Gothic Medium" panose="020B0603020102020204" pitchFamily="34" charset="0"/>
              </a:rPr>
              <a:t>)</a:t>
            </a:r>
            <a:endParaRPr lang="en-IN" sz="3200" spc="-5" dirty="0">
              <a:effectLst/>
              <a:ea typeface="Franklin Gothic Medium" panose="020B0603020102020204" pitchFamily="34" charset="0"/>
              <a:cs typeface="Franklin Gothic Medium" panose="020B0603020102020204" pitchFamily="34" charset="0"/>
            </a:endParaRPr>
          </a:p>
          <a:p>
            <a:pPr marL="342900" lvl="0" indent="-342900">
              <a:spcBef>
                <a:spcPts val="350"/>
              </a:spcBef>
              <a:spcAft>
                <a:spcPts val="0"/>
              </a:spcAft>
              <a:buSzPts val="1200"/>
              <a:buFont typeface="Franklin Gothic Medium" panose="020B0603020102020204" pitchFamily="34" charset="0"/>
              <a:buAutoNum type="arabicPeriod"/>
              <a:tabLst>
                <a:tab pos="1059815" algn="l"/>
              </a:tabLst>
            </a:pPr>
            <a:r>
              <a:rPr lang="en-US" sz="3200" spc="-5" dirty="0">
                <a:effectLst/>
                <a:ea typeface="Franklin Gothic Medium" panose="020B0603020102020204" pitchFamily="34" charset="0"/>
                <a:cs typeface="Corbel" panose="020B0503020204020204" pitchFamily="34" charset="0"/>
              </a:rPr>
              <a:t>Bitwise</a:t>
            </a:r>
            <a:r>
              <a:rPr lang="en-US" sz="3200" spc="10" dirty="0">
                <a:effectLst/>
                <a:ea typeface="Franklin Gothic Medium" panose="020B0603020102020204" pitchFamily="34" charset="0"/>
                <a:cs typeface="Corbel" panose="020B0503020204020204" pitchFamily="34" charset="0"/>
              </a:rPr>
              <a:t> </a:t>
            </a:r>
            <a:r>
              <a:rPr lang="en-US" sz="3200" spc="-5" dirty="0">
                <a:effectLst/>
                <a:ea typeface="Franklin Gothic Medium" panose="020B0603020102020204" pitchFamily="34" charset="0"/>
                <a:cs typeface="Corbel" panose="020B0503020204020204" pitchFamily="34" charset="0"/>
              </a:rPr>
              <a:t>Left</a:t>
            </a:r>
            <a:r>
              <a:rPr lang="en-US" sz="3200" spc="10" dirty="0">
                <a:effectLst/>
                <a:ea typeface="Franklin Gothic Medium" panose="020B0603020102020204" pitchFamily="34" charset="0"/>
                <a:cs typeface="Corbel" panose="020B0503020204020204" pitchFamily="34" charset="0"/>
              </a:rPr>
              <a:t> </a:t>
            </a:r>
            <a:r>
              <a:rPr lang="en-US" sz="3200" spc="-5" dirty="0">
                <a:effectLst/>
                <a:ea typeface="Franklin Gothic Medium" panose="020B0603020102020204" pitchFamily="34" charset="0"/>
                <a:cs typeface="Corbel" panose="020B0503020204020204" pitchFamily="34" charset="0"/>
              </a:rPr>
              <a:t>shift</a:t>
            </a:r>
            <a:r>
              <a:rPr lang="en-US" sz="3200" spc="10" dirty="0">
                <a:effectLst/>
                <a:ea typeface="Franklin Gothic Medium" panose="020B0603020102020204" pitchFamily="34" charset="0"/>
                <a:cs typeface="Corbel" panose="020B0503020204020204" pitchFamily="34" charset="0"/>
              </a:rPr>
              <a:t> </a:t>
            </a:r>
            <a:r>
              <a:rPr lang="en-US" sz="3200" spc="-20" dirty="0">
                <a:effectLst/>
                <a:ea typeface="Franklin Gothic Medium" panose="020B0603020102020204" pitchFamily="34" charset="0"/>
                <a:cs typeface="Corbel" panose="020B0503020204020204" pitchFamily="34" charset="0"/>
              </a:rPr>
              <a:t>(</a:t>
            </a:r>
            <a:r>
              <a:rPr lang="en-US" sz="3200" b="1" spc="-20" dirty="0">
                <a:effectLst/>
                <a:ea typeface="Franklin Gothic Medium" panose="020B0603020102020204" pitchFamily="34" charset="0"/>
                <a:cs typeface="Corbel" panose="020B0503020204020204" pitchFamily="34" charset="0"/>
              </a:rPr>
              <a:t>&lt;&lt;</a:t>
            </a:r>
            <a:r>
              <a:rPr lang="en-US" sz="3200" spc="-20" dirty="0">
                <a:effectLst/>
                <a:ea typeface="Franklin Gothic Medium" panose="020B0603020102020204" pitchFamily="34" charset="0"/>
                <a:cs typeface="Corbel" panose="020B0503020204020204" pitchFamily="34" charset="0"/>
              </a:rPr>
              <a:t>)</a:t>
            </a:r>
            <a:endParaRPr lang="en-IN" sz="3200" spc="-5" dirty="0">
              <a:effectLst/>
              <a:ea typeface="Franklin Gothic Medium" panose="020B0603020102020204" pitchFamily="34" charset="0"/>
              <a:cs typeface="Franklin Gothic Medium" panose="020B0603020102020204" pitchFamily="34" charset="0"/>
            </a:endParaRPr>
          </a:p>
          <a:p>
            <a:pPr marL="342900" lvl="0" indent="-342900">
              <a:spcBef>
                <a:spcPts val="380"/>
              </a:spcBef>
              <a:spcAft>
                <a:spcPts val="0"/>
              </a:spcAft>
              <a:buSzPts val="1200"/>
              <a:buFont typeface="Franklin Gothic Medium" panose="020B0603020102020204" pitchFamily="34" charset="0"/>
              <a:buAutoNum type="arabicPeriod"/>
              <a:tabLst>
                <a:tab pos="1059815" algn="l"/>
              </a:tabLst>
            </a:pPr>
            <a:r>
              <a:rPr lang="en-US" sz="3200" spc="-5" dirty="0">
                <a:effectLst/>
                <a:ea typeface="Franklin Gothic Medium" panose="020B0603020102020204" pitchFamily="34" charset="0"/>
                <a:cs typeface="Corbel" panose="020B0503020204020204" pitchFamily="34" charset="0"/>
              </a:rPr>
              <a:t>Bitwise</a:t>
            </a:r>
            <a:r>
              <a:rPr lang="en-US" sz="3200" spc="-10" dirty="0">
                <a:effectLst/>
                <a:ea typeface="Franklin Gothic Medium" panose="020B0603020102020204" pitchFamily="34" charset="0"/>
                <a:cs typeface="Corbel" panose="020B0503020204020204" pitchFamily="34" charset="0"/>
              </a:rPr>
              <a:t> </a:t>
            </a:r>
            <a:r>
              <a:rPr lang="en-US" sz="3200" spc="-5" dirty="0">
                <a:effectLst/>
                <a:ea typeface="Franklin Gothic Medium" panose="020B0603020102020204" pitchFamily="34" charset="0"/>
                <a:cs typeface="Corbel" panose="020B0503020204020204" pitchFamily="34" charset="0"/>
              </a:rPr>
              <a:t>Right shift </a:t>
            </a:r>
            <a:r>
              <a:rPr lang="en-US" sz="3200" spc="-20" dirty="0">
                <a:effectLst/>
                <a:ea typeface="Franklin Gothic Medium" panose="020B0603020102020204" pitchFamily="34" charset="0"/>
                <a:cs typeface="Corbel" panose="020B0503020204020204" pitchFamily="34" charset="0"/>
              </a:rPr>
              <a:t>(</a:t>
            </a:r>
            <a:r>
              <a:rPr lang="en-US" sz="3200" b="1" spc="-20" dirty="0">
                <a:effectLst/>
                <a:ea typeface="Franklin Gothic Medium" panose="020B0603020102020204" pitchFamily="34" charset="0"/>
                <a:cs typeface="Corbel" panose="020B0503020204020204" pitchFamily="34" charset="0"/>
              </a:rPr>
              <a:t>&gt;&gt;</a:t>
            </a:r>
            <a:r>
              <a:rPr lang="en-US" sz="3200" spc="-20" dirty="0">
                <a:effectLst/>
                <a:ea typeface="Franklin Gothic Medium" panose="020B0603020102020204" pitchFamily="34" charset="0"/>
                <a:cs typeface="Corbel" panose="020B0503020204020204" pitchFamily="34" charset="0"/>
              </a:rPr>
              <a:t>)</a:t>
            </a:r>
            <a:endParaRPr lang="en-IN" sz="3200" spc="-5" dirty="0">
              <a:effectLst/>
              <a:ea typeface="Franklin Gothic Medium" panose="020B0603020102020204" pitchFamily="34" charset="0"/>
              <a:cs typeface="Franklin Gothic Medium" panose="020B0603020102020204" pitchFamily="34" charset="0"/>
            </a:endParaRPr>
          </a:p>
          <a:p>
            <a:pPr marL="0" indent="0">
              <a:buNone/>
            </a:pPr>
            <a:endParaRPr lang="en-US" sz="3200" dirty="0"/>
          </a:p>
          <a:p>
            <a:pPr>
              <a:buNone/>
            </a:pPr>
            <a:endParaRPr lang="en-US" sz="3200" dirty="0"/>
          </a:p>
        </p:txBody>
      </p:sp>
    </p:spTree>
    <p:extLst>
      <p:ext uri="{BB962C8B-B14F-4D97-AF65-F5344CB8AC3E}">
        <p14:creationId xmlns:p14="http://schemas.microsoft.com/office/powerpoint/2010/main" val="475065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53120"/>
            <a:ext cx="10515600" cy="487190"/>
          </a:xfrm>
        </p:spPr>
        <p:txBody>
          <a:bodyPr>
            <a:noAutofit/>
          </a:bodyPr>
          <a:lstStyle/>
          <a:p>
            <a:br>
              <a:rPr lang="en-US" sz="3200" b="1" dirty="0">
                <a:solidFill>
                  <a:srgbClr val="FF0000"/>
                </a:solidFill>
              </a:rPr>
            </a:br>
            <a:r>
              <a:rPr lang="en-US" sz="3200" b="1" dirty="0">
                <a:solidFill>
                  <a:srgbClr val="FF0000"/>
                </a:solidFill>
              </a:rPr>
              <a:t>Bitwise operators</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6" name="Rectangle 3">
            <a:extLst>
              <a:ext uri="{FF2B5EF4-FFF2-40B4-BE49-F238E27FC236}">
                <a16:creationId xmlns:a16="http://schemas.microsoft.com/office/drawing/2014/main" id="{55B057A2-2108-E579-6743-5722C181F53F}"/>
              </a:ext>
            </a:extLst>
          </p:cNvPr>
          <p:cNvSpPr txBox="1">
            <a:spLocks noChangeArrowheads="1"/>
          </p:cNvSpPr>
          <p:nvPr/>
        </p:nvSpPr>
        <p:spPr>
          <a:xfrm>
            <a:off x="147145" y="802437"/>
            <a:ext cx="12044855" cy="56101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int</a:t>
            </a:r>
            <a:r>
              <a:rPr lang="en-US" sz="2400" spc="-8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x=10;</a:t>
            </a:r>
            <a:r>
              <a:rPr lang="en-US" sz="2400" spc="-8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int</a:t>
            </a:r>
            <a:r>
              <a:rPr lang="en-US" sz="2400" spc="-8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y=11; </a:t>
            </a:r>
            <a:endParaRPr lang="en-IN" sz="240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X:</a:t>
            </a:r>
            <a:r>
              <a:rPr lang="en-US" sz="2400" spc="-7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75" dirty="0">
                <a:ea typeface="Corbel" panose="020B0503020204020204" pitchFamily="34" charset="0"/>
                <a:cs typeface="Corbel" panose="020B0503020204020204" pitchFamily="34" charset="0"/>
              </a:rPr>
              <a:t> </a:t>
            </a:r>
            <a:r>
              <a:rPr lang="en-US" sz="2400" spc="-20" dirty="0">
                <a:ea typeface="Corbel" panose="020B0503020204020204" pitchFamily="34" charset="0"/>
                <a:cs typeface="Corbel" panose="020B0503020204020204" pitchFamily="34" charset="0"/>
              </a:rPr>
              <a:t>1010</a:t>
            </a:r>
            <a:endParaRPr lang="en-IN" sz="2400" spc="-2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Y:</a:t>
            </a:r>
            <a:r>
              <a:rPr lang="en-US" sz="2400" spc="-8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80" dirty="0">
                <a:ea typeface="Corbel" panose="020B0503020204020204" pitchFamily="34" charset="0"/>
                <a:cs typeface="Corbel" panose="020B0503020204020204" pitchFamily="34" charset="0"/>
              </a:rPr>
              <a:t> </a:t>
            </a:r>
            <a:r>
              <a:rPr lang="en-US" sz="2400" spc="-20" dirty="0">
                <a:ea typeface="Corbel" panose="020B0503020204020204" pitchFamily="34" charset="0"/>
                <a:cs typeface="Corbel" panose="020B0503020204020204" pitchFamily="34" charset="0"/>
              </a:rPr>
              <a:t>1011</a:t>
            </a:r>
            <a:endParaRPr lang="en-IN" sz="2400" spc="-2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X&amp;Y</a:t>
            </a:r>
            <a:r>
              <a:rPr lang="en-US" sz="2400" spc="-8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a:t>
            </a:r>
            <a:r>
              <a:rPr lang="en-US" sz="2400" spc="-7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7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1010</a:t>
            </a:r>
            <a:r>
              <a:rPr lang="en-US" sz="2400" spc="-70" dirty="0">
                <a:ea typeface="Corbel" panose="020B0503020204020204" pitchFamily="34" charset="0"/>
                <a:cs typeface="Corbel" panose="020B0503020204020204" pitchFamily="34" charset="0"/>
              </a:rPr>
              <a:t> </a:t>
            </a:r>
            <a:endParaRPr lang="en-US" sz="240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result</a:t>
            </a:r>
            <a:r>
              <a:rPr lang="en-US" sz="2400" spc="-7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is</a:t>
            </a:r>
            <a:r>
              <a:rPr lang="en-US" sz="2400" spc="-75" dirty="0">
                <a:ea typeface="Corbel" panose="020B0503020204020204" pitchFamily="34" charset="0"/>
                <a:cs typeface="Corbel" panose="020B0503020204020204" pitchFamily="34" charset="0"/>
              </a:rPr>
              <a:t> </a:t>
            </a:r>
            <a:r>
              <a:rPr lang="en-US" sz="2400" spc="-25" dirty="0">
                <a:ea typeface="Corbel" panose="020B0503020204020204" pitchFamily="34" charset="0"/>
                <a:cs typeface="Corbel" panose="020B0503020204020204" pitchFamily="34" charset="0"/>
              </a:rPr>
              <a:t>10</a:t>
            </a:r>
          </a:p>
          <a:p>
            <a:pPr marL="0" marR="4276725" indent="0">
              <a:lnSpc>
                <a:spcPts val="2350"/>
              </a:lnSpc>
              <a:spcBef>
                <a:spcPts val="0"/>
              </a:spcBef>
              <a:buFont typeface="Arial" panose="020B0604020202020204" pitchFamily="34" charset="0"/>
              <a:buNone/>
              <a:tabLst>
                <a:tab pos="1973580" algn="l"/>
              </a:tabLst>
            </a:pPr>
            <a:endParaRPr lang="en-IN" sz="2400" spc="-25"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X:	0000</a:t>
            </a:r>
            <a:r>
              <a:rPr lang="en-US" sz="2400" spc="-75" dirty="0">
                <a:ea typeface="Corbel" panose="020B0503020204020204" pitchFamily="34" charset="0"/>
                <a:cs typeface="Corbel" panose="020B0503020204020204" pitchFamily="34" charset="0"/>
              </a:rPr>
              <a:t> </a:t>
            </a:r>
            <a:r>
              <a:rPr lang="en-US" sz="2400" spc="-20" dirty="0">
                <a:ea typeface="Corbel" panose="020B0503020204020204" pitchFamily="34" charset="0"/>
                <a:cs typeface="Corbel" panose="020B0503020204020204" pitchFamily="34" charset="0"/>
              </a:rPr>
              <a:t>1010</a:t>
            </a:r>
            <a:endParaRPr lang="en-IN" sz="2400" spc="-2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Y:</a:t>
            </a:r>
            <a:r>
              <a:rPr lang="en-US" sz="2400" spc="-8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80" dirty="0">
                <a:ea typeface="Corbel" panose="020B0503020204020204" pitchFamily="34" charset="0"/>
                <a:cs typeface="Corbel" panose="020B0503020204020204" pitchFamily="34" charset="0"/>
              </a:rPr>
              <a:t> </a:t>
            </a:r>
            <a:r>
              <a:rPr lang="en-US" sz="2400" spc="-20" dirty="0">
                <a:ea typeface="Corbel" panose="020B0503020204020204" pitchFamily="34" charset="0"/>
                <a:cs typeface="Corbel" panose="020B0503020204020204" pitchFamily="34" charset="0"/>
              </a:rPr>
              <a:t>1011</a:t>
            </a:r>
            <a:endParaRPr lang="en-IN" sz="2400" spc="-2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X|Y</a:t>
            </a:r>
            <a:r>
              <a:rPr lang="en-US" sz="2400" spc="-8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a:t>
            </a:r>
            <a:r>
              <a:rPr lang="en-US" sz="2400" spc="-8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8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1011</a:t>
            </a:r>
            <a:r>
              <a:rPr lang="en-US" sz="2400" spc="-80" dirty="0">
                <a:ea typeface="Corbel" panose="020B0503020204020204" pitchFamily="34" charset="0"/>
                <a:cs typeface="Corbel" panose="020B0503020204020204" pitchFamily="34" charset="0"/>
              </a:rPr>
              <a:t> </a:t>
            </a: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result</a:t>
            </a:r>
            <a:r>
              <a:rPr lang="en-US" sz="2400" spc="-8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is</a:t>
            </a:r>
            <a:r>
              <a:rPr lang="en-US" sz="2400" spc="-80" dirty="0">
                <a:ea typeface="Corbel" panose="020B0503020204020204" pitchFamily="34" charset="0"/>
                <a:cs typeface="Corbel" panose="020B0503020204020204" pitchFamily="34" charset="0"/>
              </a:rPr>
              <a:t> </a:t>
            </a:r>
            <a:r>
              <a:rPr lang="en-US" sz="2400" spc="-25" dirty="0">
                <a:ea typeface="Corbel" panose="020B0503020204020204" pitchFamily="34" charset="0"/>
                <a:cs typeface="Corbel" panose="020B0503020204020204" pitchFamily="34" charset="0"/>
              </a:rPr>
              <a:t>11</a:t>
            </a:r>
          </a:p>
          <a:p>
            <a:pPr marL="0" marR="4276725" indent="0">
              <a:lnSpc>
                <a:spcPts val="2350"/>
              </a:lnSpc>
              <a:spcBef>
                <a:spcPts val="0"/>
              </a:spcBef>
              <a:buFont typeface="Arial" panose="020B0604020202020204" pitchFamily="34" charset="0"/>
              <a:buNone/>
              <a:tabLst>
                <a:tab pos="1973580" algn="l"/>
              </a:tabLst>
            </a:pPr>
            <a:endParaRPr lang="en-IN" sz="2400" spc="-25"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X:</a:t>
            </a:r>
            <a:r>
              <a:rPr lang="en-US" sz="2400" spc="-7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75" dirty="0">
                <a:ea typeface="Corbel" panose="020B0503020204020204" pitchFamily="34" charset="0"/>
                <a:cs typeface="Corbel" panose="020B0503020204020204" pitchFamily="34" charset="0"/>
              </a:rPr>
              <a:t> </a:t>
            </a:r>
            <a:r>
              <a:rPr lang="en-US" sz="2400" spc="-20" dirty="0">
                <a:ea typeface="Corbel" panose="020B0503020204020204" pitchFamily="34" charset="0"/>
                <a:cs typeface="Corbel" panose="020B0503020204020204" pitchFamily="34" charset="0"/>
              </a:rPr>
              <a:t>1010</a:t>
            </a:r>
            <a:endParaRPr lang="en-IN" sz="2400" spc="-2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Y:</a:t>
            </a:r>
            <a:r>
              <a:rPr lang="en-US" sz="2400" spc="-8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80" dirty="0">
                <a:ea typeface="Corbel" panose="020B0503020204020204" pitchFamily="34" charset="0"/>
                <a:cs typeface="Corbel" panose="020B0503020204020204" pitchFamily="34" charset="0"/>
              </a:rPr>
              <a:t> </a:t>
            </a:r>
            <a:r>
              <a:rPr lang="en-US" sz="2400" spc="-20" dirty="0">
                <a:ea typeface="Corbel" panose="020B0503020204020204" pitchFamily="34" charset="0"/>
                <a:cs typeface="Corbel" panose="020B0503020204020204" pitchFamily="34" charset="0"/>
              </a:rPr>
              <a:t>1011</a:t>
            </a: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X^Y</a:t>
            </a:r>
            <a:r>
              <a:rPr lang="en-US" sz="2400" spc="-7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a:t>
            </a:r>
            <a:r>
              <a:rPr lang="en-US" sz="2400" spc="-65"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0000</a:t>
            </a:r>
            <a:r>
              <a:rPr lang="en-US" sz="2400" spc="-7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0001</a:t>
            </a:r>
            <a:r>
              <a:rPr lang="en-US" sz="2400" spc="-60" dirty="0">
                <a:ea typeface="Corbel" panose="020B0503020204020204" pitchFamily="34" charset="0"/>
                <a:cs typeface="Corbel" panose="020B0503020204020204" pitchFamily="34" charset="0"/>
              </a:rPr>
              <a:t> </a:t>
            </a:r>
          </a:p>
          <a:p>
            <a:pPr marL="0" marR="4276725" indent="0">
              <a:lnSpc>
                <a:spcPts val="2350"/>
              </a:lnSpc>
              <a:spcBef>
                <a:spcPts val="0"/>
              </a:spcBef>
              <a:buFont typeface="Arial" panose="020B0604020202020204" pitchFamily="34" charset="0"/>
              <a:buNone/>
              <a:tabLst>
                <a:tab pos="1973580" algn="l"/>
              </a:tabLst>
            </a:pPr>
            <a:r>
              <a:rPr lang="en-US" sz="2400" dirty="0">
                <a:ea typeface="Corbel" panose="020B0503020204020204" pitchFamily="34" charset="0"/>
                <a:cs typeface="Corbel" panose="020B0503020204020204" pitchFamily="34" charset="0"/>
              </a:rPr>
              <a:t>result</a:t>
            </a:r>
            <a:r>
              <a:rPr lang="en-US" sz="2400" spc="-70" dirty="0">
                <a:ea typeface="Corbel" panose="020B0503020204020204" pitchFamily="34" charset="0"/>
                <a:cs typeface="Corbel" panose="020B0503020204020204" pitchFamily="34" charset="0"/>
              </a:rPr>
              <a:t> </a:t>
            </a:r>
            <a:r>
              <a:rPr lang="en-US" sz="2400" dirty="0">
                <a:ea typeface="Corbel" panose="020B0503020204020204" pitchFamily="34" charset="0"/>
                <a:cs typeface="Corbel" panose="020B0503020204020204" pitchFamily="34" charset="0"/>
              </a:rPr>
              <a:t>is</a:t>
            </a:r>
            <a:r>
              <a:rPr lang="en-US" sz="2400" spc="-65" dirty="0">
                <a:ea typeface="Corbel" panose="020B0503020204020204" pitchFamily="34" charset="0"/>
                <a:cs typeface="Corbel" panose="020B0503020204020204" pitchFamily="34" charset="0"/>
              </a:rPr>
              <a:t> </a:t>
            </a:r>
            <a:r>
              <a:rPr lang="en-US" sz="2400" spc="-50" dirty="0">
                <a:ea typeface="Corbel" panose="020B0503020204020204" pitchFamily="34" charset="0"/>
                <a:cs typeface="Corbel" panose="020B0503020204020204" pitchFamily="34" charset="0"/>
              </a:rPr>
              <a:t>1</a:t>
            </a:r>
          </a:p>
          <a:p>
            <a:pPr marL="0" marR="4276725" indent="0">
              <a:lnSpc>
                <a:spcPts val="2350"/>
              </a:lnSpc>
              <a:spcBef>
                <a:spcPts val="0"/>
              </a:spcBef>
              <a:buFont typeface="Arial" panose="020B0604020202020204" pitchFamily="34" charset="0"/>
              <a:buNone/>
              <a:tabLst>
                <a:tab pos="1973580" algn="l"/>
              </a:tabLst>
            </a:pPr>
            <a:endParaRPr lang="en-US" sz="2400" spc="-50" dirty="0">
              <a:ea typeface="Corbel" panose="020B0503020204020204" pitchFamily="34" charset="0"/>
              <a:cs typeface="Corbel" panose="020B0503020204020204" pitchFamily="34" charset="0"/>
            </a:endParaRPr>
          </a:p>
          <a:p>
            <a:pPr marL="0" marR="4276725" indent="0">
              <a:lnSpc>
                <a:spcPts val="2350"/>
              </a:lnSpc>
              <a:spcBef>
                <a:spcPts val="0"/>
              </a:spcBef>
              <a:buFont typeface="Arial" panose="020B0604020202020204" pitchFamily="34" charset="0"/>
              <a:buNone/>
              <a:tabLst>
                <a:tab pos="1973580" algn="l"/>
              </a:tabLst>
            </a:pPr>
            <a:r>
              <a:rPr lang="en-IN" sz="2400" dirty="0"/>
              <a:t>a = 0011</a:t>
            </a:r>
          </a:p>
          <a:p>
            <a:pPr marL="0" marR="4276725" indent="0">
              <a:lnSpc>
                <a:spcPts val="2350"/>
              </a:lnSpc>
              <a:spcBef>
                <a:spcPts val="0"/>
              </a:spcBef>
              <a:buFont typeface="Arial" panose="020B0604020202020204" pitchFamily="34" charset="0"/>
              <a:buNone/>
              <a:tabLst>
                <a:tab pos="1973580" algn="l"/>
              </a:tabLst>
            </a:pPr>
            <a:r>
              <a:rPr lang="en-IN" sz="2400" dirty="0"/>
              <a:t>~a = 1100</a:t>
            </a:r>
          </a:p>
          <a:p>
            <a:pPr marL="0" marR="4276725" indent="0">
              <a:lnSpc>
                <a:spcPts val="2350"/>
              </a:lnSpc>
              <a:spcBef>
                <a:spcPts val="0"/>
              </a:spcBef>
              <a:buFont typeface="Arial" panose="020B0604020202020204" pitchFamily="34" charset="0"/>
              <a:buNone/>
              <a:tabLst>
                <a:tab pos="1973580" algn="l"/>
              </a:tabLst>
            </a:pPr>
            <a:endParaRPr lang="en-IN" sz="2400" dirty="0">
              <a:ea typeface="Corbel" panose="020B0503020204020204" pitchFamily="34" charset="0"/>
              <a:cs typeface="Corbel" panose="020B0503020204020204" pitchFamily="34" charset="0"/>
            </a:endParaRPr>
          </a:p>
          <a:p>
            <a:pPr>
              <a:spcBef>
                <a:spcPts val="0"/>
              </a:spcBef>
            </a:pPr>
            <a:endParaRPr lang="en-US" sz="2400" dirty="0"/>
          </a:p>
        </p:txBody>
      </p:sp>
      <p:pic>
        <p:nvPicPr>
          <p:cNvPr id="8" name="Picture 7">
            <a:extLst>
              <a:ext uri="{FF2B5EF4-FFF2-40B4-BE49-F238E27FC236}">
                <a16:creationId xmlns:a16="http://schemas.microsoft.com/office/drawing/2014/main" id="{97A5DDB6-6FC2-0B33-89B5-684DA929D9CF}"/>
              </a:ext>
            </a:extLst>
          </p:cNvPr>
          <p:cNvPicPr>
            <a:picLocks noChangeAspect="1"/>
          </p:cNvPicPr>
          <p:nvPr/>
        </p:nvPicPr>
        <p:blipFill>
          <a:blip r:embed="rId3"/>
          <a:stretch>
            <a:fillRect/>
          </a:stretch>
        </p:blipFill>
        <p:spPr>
          <a:xfrm>
            <a:off x="5725887" y="1005394"/>
            <a:ext cx="6466114" cy="1726920"/>
          </a:xfrm>
          <a:prstGeom prst="rect">
            <a:avLst/>
          </a:prstGeom>
        </p:spPr>
      </p:pic>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8A07ADCD-20E4-C0AF-7E6A-44B4AB9F40AF}"/>
                  </a:ext>
                </a:extLst>
              </p14:cNvPr>
              <p14:cNvContentPartPr/>
              <p14:nvPr/>
            </p14:nvContentPartPr>
            <p14:xfrm>
              <a:off x="2187583" y="4778942"/>
              <a:ext cx="1425600" cy="33120"/>
            </p14:xfrm>
          </p:contentPart>
        </mc:Choice>
        <mc:Fallback xmlns="">
          <p:pic>
            <p:nvPicPr>
              <p:cNvPr id="12" name="Ink 11">
                <a:extLst>
                  <a:ext uri="{FF2B5EF4-FFF2-40B4-BE49-F238E27FC236}">
                    <a16:creationId xmlns:a16="http://schemas.microsoft.com/office/drawing/2014/main" id="{8A07ADCD-20E4-C0AF-7E6A-44B4AB9F40AF}"/>
                  </a:ext>
                </a:extLst>
              </p:cNvPr>
              <p:cNvPicPr/>
              <p:nvPr/>
            </p:nvPicPr>
            <p:blipFill>
              <a:blip r:embed="rId5"/>
              <a:stretch>
                <a:fillRect/>
              </a:stretch>
            </p:blipFill>
            <p:spPr>
              <a:xfrm>
                <a:off x="2169583" y="4760744"/>
                <a:ext cx="1461240" cy="6915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711E5C01-4543-F10F-1F65-6B77878B20A9}"/>
                  </a:ext>
                </a:extLst>
              </p14:cNvPr>
              <p14:cNvContentPartPr/>
              <p14:nvPr/>
            </p14:nvContentPartPr>
            <p14:xfrm>
              <a:off x="2187583" y="3235576"/>
              <a:ext cx="1425600" cy="33120"/>
            </p14:xfrm>
          </p:contentPart>
        </mc:Choice>
        <mc:Fallback xmlns="">
          <p:pic>
            <p:nvPicPr>
              <p:cNvPr id="13" name="Ink 12">
                <a:extLst>
                  <a:ext uri="{FF2B5EF4-FFF2-40B4-BE49-F238E27FC236}">
                    <a16:creationId xmlns:a16="http://schemas.microsoft.com/office/drawing/2014/main" id="{711E5C01-4543-F10F-1F65-6B77878B20A9}"/>
                  </a:ext>
                </a:extLst>
              </p:cNvPr>
              <p:cNvPicPr/>
              <p:nvPr/>
            </p:nvPicPr>
            <p:blipFill>
              <a:blip r:embed="rId5"/>
              <a:stretch>
                <a:fillRect/>
              </a:stretch>
            </p:blipFill>
            <p:spPr>
              <a:xfrm>
                <a:off x="2169583" y="3217378"/>
                <a:ext cx="1461240" cy="6915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E2777D0E-51C8-95F4-53BD-78A2029D9F58}"/>
                  </a:ext>
                </a:extLst>
              </p14:cNvPr>
              <p14:cNvContentPartPr/>
              <p14:nvPr/>
            </p14:nvContentPartPr>
            <p14:xfrm>
              <a:off x="2187583" y="1725330"/>
              <a:ext cx="1425600" cy="33120"/>
            </p14:xfrm>
          </p:contentPart>
        </mc:Choice>
        <mc:Fallback xmlns="">
          <p:pic>
            <p:nvPicPr>
              <p:cNvPr id="14" name="Ink 13">
                <a:extLst>
                  <a:ext uri="{FF2B5EF4-FFF2-40B4-BE49-F238E27FC236}">
                    <a16:creationId xmlns:a16="http://schemas.microsoft.com/office/drawing/2014/main" id="{E2777D0E-51C8-95F4-53BD-78A2029D9F58}"/>
                  </a:ext>
                </a:extLst>
              </p:cNvPr>
              <p:cNvPicPr/>
              <p:nvPr/>
            </p:nvPicPr>
            <p:blipFill>
              <a:blip r:embed="rId5"/>
              <a:stretch>
                <a:fillRect/>
              </a:stretch>
            </p:blipFill>
            <p:spPr>
              <a:xfrm>
                <a:off x="2169583" y="1707132"/>
                <a:ext cx="1461240" cy="69152"/>
              </a:xfrm>
              <a:prstGeom prst="rect">
                <a:avLst/>
              </a:prstGeom>
            </p:spPr>
          </p:pic>
        </mc:Fallback>
      </mc:AlternateContent>
    </p:spTree>
    <p:extLst>
      <p:ext uri="{BB962C8B-B14F-4D97-AF65-F5344CB8AC3E}">
        <p14:creationId xmlns:p14="http://schemas.microsoft.com/office/powerpoint/2010/main" val="39258033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53120"/>
            <a:ext cx="10515600" cy="487190"/>
          </a:xfrm>
        </p:spPr>
        <p:txBody>
          <a:bodyPr>
            <a:noAutofit/>
          </a:bodyPr>
          <a:lstStyle/>
          <a:p>
            <a:br>
              <a:rPr lang="en-US" sz="3200" b="1" dirty="0">
                <a:solidFill>
                  <a:srgbClr val="FF0000"/>
                </a:solidFill>
              </a:rPr>
            </a:br>
            <a:r>
              <a:rPr lang="en-US" sz="3200" b="1" dirty="0">
                <a:solidFill>
                  <a:srgbClr val="FF0000"/>
                </a:solidFill>
              </a:rPr>
              <a:t>Bitwise operators</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3" name="Rectangle 3">
            <a:extLst>
              <a:ext uri="{FF2B5EF4-FFF2-40B4-BE49-F238E27FC236}">
                <a16:creationId xmlns:a16="http://schemas.microsoft.com/office/drawing/2014/main" id="{B84AED75-0D9A-1D79-7525-AF3968CA9978}"/>
              </a:ext>
            </a:extLst>
          </p:cNvPr>
          <p:cNvSpPr txBox="1">
            <a:spLocks noChangeArrowheads="1"/>
          </p:cNvSpPr>
          <p:nvPr/>
        </p:nvSpPr>
        <p:spPr>
          <a:xfrm>
            <a:off x="147146" y="660400"/>
            <a:ext cx="7113626" cy="57521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IN" sz="2200" dirty="0">
                <a:solidFill>
                  <a:srgbClr val="FF0000"/>
                </a:solidFill>
              </a:rPr>
              <a:t>Bitwise Left Shift Operator «</a:t>
            </a:r>
          </a:p>
          <a:p>
            <a:pPr>
              <a:spcBef>
                <a:spcPts val="0"/>
              </a:spcBef>
            </a:pPr>
            <a:r>
              <a:rPr lang="en-US" sz="2200" dirty="0"/>
              <a:t>This operator shifts the bits of the number towards left a specified number of positions. </a:t>
            </a:r>
          </a:p>
          <a:p>
            <a:pPr>
              <a:spcBef>
                <a:spcPts val="0"/>
              </a:spcBef>
            </a:pPr>
            <a:endParaRPr lang="en-US" sz="2200" spc="-10" dirty="0">
              <a:ea typeface="Corbel" panose="020B0503020204020204" pitchFamily="34" charset="0"/>
              <a:cs typeface="Corbel" panose="020B0503020204020204" pitchFamily="34" charset="0"/>
            </a:endParaRPr>
          </a:p>
          <a:p>
            <a:pPr marL="0" indent="0">
              <a:spcBef>
                <a:spcPts val="0"/>
              </a:spcBef>
              <a:buNone/>
            </a:pPr>
            <a:r>
              <a:rPr lang="en-US" sz="2200" spc="-10" dirty="0">
                <a:ea typeface="Corbel" panose="020B0503020204020204" pitchFamily="34" charset="0"/>
                <a:cs typeface="Corbel" panose="020B0503020204020204" pitchFamily="34" charset="0"/>
              </a:rPr>
              <a:t>X&lt;&lt;n=x*2</a:t>
            </a:r>
            <a:r>
              <a:rPr lang="en-US" sz="2200" spc="-10" baseline="30000" dirty="0">
                <a:ea typeface="Corbel" panose="020B0503020204020204" pitchFamily="34" charset="0"/>
                <a:cs typeface="Corbel" panose="020B0503020204020204" pitchFamily="34" charset="0"/>
              </a:rPr>
              <a:t>n</a:t>
            </a:r>
          </a:p>
          <a:p>
            <a:pPr>
              <a:spcBef>
                <a:spcPts val="0"/>
              </a:spcBef>
            </a:pPr>
            <a:endParaRPr lang="en-US" sz="2200" dirty="0"/>
          </a:p>
          <a:p>
            <a:pPr marL="830580" indent="0">
              <a:lnSpc>
                <a:spcPts val="1380"/>
              </a:lnSpc>
              <a:buFont typeface="Arial" panose="020B0604020202020204" pitchFamily="34" charset="0"/>
              <a:buNone/>
            </a:pPr>
            <a:r>
              <a:rPr lang="en-US" sz="2200" spc="-10" dirty="0">
                <a:ea typeface="Corbel" panose="020B0503020204020204" pitchFamily="34" charset="0"/>
                <a:cs typeface="Corbel" panose="020B0503020204020204" pitchFamily="34" charset="0"/>
              </a:rPr>
              <a:t>X=10;</a:t>
            </a:r>
            <a:endParaRPr lang="en-IN" sz="2200" dirty="0">
              <a:ea typeface="Corbel" panose="020B0503020204020204" pitchFamily="34" charset="0"/>
              <a:cs typeface="Corbel" panose="020B0503020204020204" pitchFamily="34" charset="0"/>
            </a:endParaRPr>
          </a:p>
          <a:p>
            <a:pPr marL="830580" indent="0">
              <a:spcBef>
                <a:spcPts val="435"/>
              </a:spcBef>
              <a:buFont typeface="Arial" panose="020B0604020202020204" pitchFamily="34" charset="0"/>
              <a:buNone/>
            </a:pPr>
            <a:r>
              <a:rPr lang="en-US" sz="2200" spc="-10" dirty="0">
                <a:ea typeface="Corbel" panose="020B0503020204020204" pitchFamily="34" charset="0"/>
                <a:cs typeface="Corbel" panose="020B0503020204020204" pitchFamily="34" charset="0"/>
              </a:rPr>
              <a:t>X&lt;&lt;2=10x2</a:t>
            </a:r>
            <a:r>
              <a:rPr lang="en-US" sz="2200" spc="-10" baseline="30000" dirty="0">
                <a:ea typeface="Corbel" panose="020B0503020204020204" pitchFamily="34" charset="0"/>
                <a:cs typeface="Corbel" panose="020B0503020204020204" pitchFamily="34" charset="0"/>
              </a:rPr>
              <a:t>2</a:t>
            </a:r>
          </a:p>
          <a:p>
            <a:pPr marL="830580" indent="0">
              <a:spcBef>
                <a:spcPts val="435"/>
              </a:spcBef>
              <a:buFont typeface="Arial" panose="020B0604020202020204" pitchFamily="34" charset="0"/>
              <a:buNone/>
            </a:pPr>
            <a:r>
              <a:rPr lang="en-US" sz="2200" spc="-10" dirty="0">
                <a:ea typeface="Corbel" panose="020B0503020204020204" pitchFamily="34" charset="0"/>
                <a:cs typeface="Corbel" panose="020B0503020204020204" pitchFamily="34" charset="0"/>
              </a:rPr>
              <a:t>         =10x4=  40</a:t>
            </a:r>
          </a:p>
          <a:p>
            <a:pPr marL="830580" indent="0">
              <a:spcBef>
                <a:spcPts val="435"/>
              </a:spcBef>
              <a:buFont typeface="Arial" panose="020B0604020202020204" pitchFamily="34" charset="0"/>
              <a:buNone/>
            </a:pPr>
            <a:endParaRPr lang="en-US" sz="2200" spc="-10" dirty="0">
              <a:ea typeface="Corbel" panose="020B0503020204020204" pitchFamily="34" charset="0"/>
              <a:cs typeface="Corbel" panose="020B0503020204020204" pitchFamily="34" charset="0"/>
            </a:endParaRPr>
          </a:p>
          <a:p>
            <a:pPr marL="0" indent="0">
              <a:spcBef>
                <a:spcPts val="435"/>
              </a:spcBef>
              <a:buFont typeface="Arial" panose="020B0604020202020204" pitchFamily="34" charset="0"/>
              <a:buNone/>
            </a:pPr>
            <a:r>
              <a:rPr lang="en-US" sz="2200" dirty="0">
                <a:solidFill>
                  <a:srgbClr val="FF0000"/>
                </a:solidFill>
              </a:rPr>
              <a:t>Bitwise Right Shift Operator (») </a:t>
            </a:r>
          </a:p>
          <a:p>
            <a:pPr>
              <a:spcBef>
                <a:spcPts val="435"/>
              </a:spcBef>
            </a:pPr>
            <a:r>
              <a:rPr lang="en-US" sz="2200" dirty="0"/>
              <a:t>This operator shifts the bits of the number towards right a specified number of positions. </a:t>
            </a:r>
          </a:p>
          <a:p>
            <a:pPr marL="830580" indent="0">
              <a:lnSpc>
                <a:spcPts val="1380"/>
              </a:lnSpc>
              <a:buFont typeface="Arial" panose="020B0604020202020204" pitchFamily="34" charset="0"/>
              <a:buNone/>
            </a:pPr>
            <a:r>
              <a:rPr lang="en-US" sz="2200" spc="-10" dirty="0">
                <a:ea typeface="Corbel" panose="020B0503020204020204" pitchFamily="34" charset="0"/>
                <a:cs typeface="Corbel" panose="020B0503020204020204" pitchFamily="34" charset="0"/>
              </a:rPr>
              <a:t>X=10;</a:t>
            </a:r>
            <a:endParaRPr lang="en-IN" sz="2200" dirty="0">
              <a:ea typeface="Corbel" panose="020B0503020204020204" pitchFamily="34" charset="0"/>
              <a:cs typeface="Corbel" panose="020B0503020204020204" pitchFamily="34" charset="0"/>
            </a:endParaRPr>
          </a:p>
          <a:p>
            <a:pPr marL="830580" indent="0">
              <a:spcBef>
                <a:spcPts val="435"/>
              </a:spcBef>
              <a:buFont typeface="Arial" panose="020B0604020202020204" pitchFamily="34" charset="0"/>
              <a:buNone/>
            </a:pPr>
            <a:r>
              <a:rPr lang="en-US" sz="2200" spc="-10" dirty="0">
                <a:ea typeface="Corbel" panose="020B0503020204020204" pitchFamily="34" charset="0"/>
                <a:cs typeface="Corbel" panose="020B0503020204020204" pitchFamily="34" charset="0"/>
              </a:rPr>
              <a:t>X&gt;&gt;n=x/ 2</a:t>
            </a:r>
            <a:r>
              <a:rPr lang="en-US" sz="2200" spc="-10" baseline="30000" dirty="0">
                <a:ea typeface="Corbel" panose="020B0503020204020204" pitchFamily="34" charset="0"/>
                <a:cs typeface="Corbel" panose="020B0503020204020204" pitchFamily="34" charset="0"/>
              </a:rPr>
              <a:t>n</a:t>
            </a:r>
          </a:p>
          <a:p>
            <a:pPr marL="830580" indent="0">
              <a:spcBef>
                <a:spcPts val="435"/>
              </a:spcBef>
              <a:buFont typeface="Arial" panose="020B0604020202020204" pitchFamily="34" charset="0"/>
              <a:buNone/>
            </a:pPr>
            <a:r>
              <a:rPr lang="en-US" sz="2200" spc="-10" dirty="0">
                <a:ea typeface="Corbel" panose="020B0503020204020204" pitchFamily="34" charset="0"/>
                <a:cs typeface="Corbel" panose="020B0503020204020204" pitchFamily="34" charset="0"/>
              </a:rPr>
              <a:t>X&gt;&gt;2=10/2</a:t>
            </a:r>
            <a:r>
              <a:rPr lang="en-US" sz="2200" spc="-10" baseline="30000" dirty="0">
                <a:ea typeface="Corbel" panose="020B0503020204020204" pitchFamily="34" charset="0"/>
                <a:cs typeface="Corbel" panose="020B0503020204020204" pitchFamily="34" charset="0"/>
              </a:rPr>
              <a:t>2</a:t>
            </a:r>
          </a:p>
          <a:p>
            <a:pPr marL="830580" indent="0">
              <a:spcBef>
                <a:spcPts val="435"/>
              </a:spcBef>
              <a:buFont typeface="Arial" panose="020B0604020202020204" pitchFamily="34" charset="0"/>
              <a:buNone/>
            </a:pPr>
            <a:r>
              <a:rPr lang="en-US" sz="2200" spc="-10" dirty="0"/>
              <a:t>         =10/4=2</a:t>
            </a:r>
            <a:endParaRPr lang="en-US" sz="2400" dirty="0"/>
          </a:p>
        </p:txBody>
      </p:sp>
      <p:pic>
        <p:nvPicPr>
          <p:cNvPr id="5" name="image42.png">
            <a:extLst>
              <a:ext uri="{FF2B5EF4-FFF2-40B4-BE49-F238E27FC236}">
                <a16:creationId xmlns:a16="http://schemas.microsoft.com/office/drawing/2014/main" id="{0A2D7C97-136A-4F35-1C12-328DB7310C7A}"/>
              </a:ext>
            </a:extLst>
          </p:cNvPr>
          <p:cNvPicPr>
            <a:picLocks noChangeAspect="1"/>
          </p:cNvPicPr>
          <p:nvPr/>
        </p:nvPicPr>
        <p:blipFill>
          <a:blip r:embed="rId3" cstate="print"/>
          <a:stretch>
            <a:fillRect/>
          </a:stretch>
        </p:blipFill>
        <p:spPr>
          <a:xfrm>
            <a:off x="7205214" y="1459223"/>
            <a:ext cx="4986786" cy="1616971"/>
          </a:xfrm>
          <a:prstGeom prst="rect">
            <a:avLst/>
          </a:prstGeom>
        </p:spPr>
      </p:pic>
      <p:pic>
        <p:nvPicPr>
          <p:cNvPr id="7" name="image43.png">
            <a:extLst>
              <a:ext uri="{FF2B5EF4-FFF2-40B4-BE49-F238E27FC236}">
                <a16:creationId xmlns:a16="http://schemas.microsoft.com/office/drawing/2014/main" id="{DD8F8ACE-CF28-6DEE-9070-2E7941E92A46}"/>
              </a:ext>
            </a:extLst>
          </p:cNvPr>
          <p:cNvPicPr>
            <a:picLocks noChangeAspect="1"/>
          </p:cNvPicPr>
          <p:nvPr/>
        </p:nvPicPr>
        <p:blipFill>
          <a:blip r:embed="rId4" cstate="print"/>
          <a:stretch>
            <a:fillRect/>
          </a:stretch>
        </p:blipFill>
        <p:spPr>
          <a:xfrm>
            <a:off x="7260772" y="4044759"/>
            <a:ext cx="4931228" cy="1705953"/>
          </a:xfrm>
          <a:prstGeom prst="rect">
            <a:avLst/>
          </a:prstGeom>
        </p:spPr>
      </p:pic>
    </p:spTree>
    <p:extLst>
      <p:ext uri="{BB962C8B-B14F-4D97-AF65-F5344CB8AC3E}">
        <p14:creationId xmlns:p14="http://schemas.microsoft.com/office/powerpoint/2010/main" val="667825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Identity operators</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a:bodyPr>
          <a:lstStyle/>
          <a:p>
            <a:r>
              <a:rPr lang="en-US" sz="3200" dirty="0">
                <a:solidFill>
                  <a:srgbClr val="FF0000"/>
                </a:solidFill>
              </a:rPr>
              <a:t>is</a:t>
            </a:r>
            <a:r>
              <a:rPr lang="en-US" sz="3200" dirty="0"/>
              <a:t> and </a:t>
            </a:r>
            <a:r>
              <a:rPr lang="en-US" sz="3200" dirty="0">
                <a:solidFill>
                  <a:srgbClr val="FF0000"/>
                </a:solidFill>
              </a:rPr>
              <a:t>is not </a:t>
            </a:r>
            <a:r>
              <a:rPr lang="en-US" sz="3200" dirty="0"/>
              <a:t>are the identity operators in Python.</a:t>
            </a:r>
          </a:p>
          <a:p>
            <a:pPr marL="0" indent="0">
              <a:buNone/>
            </a:pPr>
            <a:endParaRPr lang="en-US" sz="3200" dirty="0"/>
          </a:p>
        </p:txBody>
      </p:sp>
      <p:pic>
        <p:nvPicPr>
          <p:cNvPr id="7170" name="Picture 2"/>
          <p:cNvPicPr>
            <a:picLocks noChangeAspect="1" noChangeArrowheads="1"/>
          </p:cNvPicPr>
          <p:nvPr/>
        </p:nvPicPr>
        <p:blipFill>
          <a:blip r:embed="rId3"/>
          <a:srcRect/>
          <a:stretch>
            <a:fillRect/>
          </a:stretch>
        </p:blipFill>
        <p:spPr bwMode="auto">
          <a:xfrm>
            <a:off x="761735" y="2647949"/>
            <a:ext cx="7768311" cy="3282588"/>
          </a:xfrm>
          <a:prstGeom prst="rect">
            <a:avLst/>
          </a:prstGeom>
          <a:noFill/>
          <a:ln w="9525">
            <a:noFill/>
            <a:miter lim="800000"/>
            <a:headEnd/>
            <a:tailEnd/>
          </a:ln>
          <a:effectLst/>
        </p:spPr>
      </p:pic>
      <p:sp>
        <p:nvSpPr>
          <p:cNvPr id="8" name="Rectangle 7"/>
          <p:cNvSpPr/>
          <p:nvPr/>
        </p:nvSpPr>
        <p:spPr>
          <a:xfrm>
            <a:off x="8725989" y="2481942"/>
            <a:ext cx="3187337" cy="3046988"/>
          </a:xfrm>
          <a:prstGeom prst="rect">
            <a:avLst/>
          </a:prstGeom>
        </p:spPr>
        <p:txBody>
          <a:bodyPr wrap="square">
            <a:spAutoFit/>
          </a:bodyPr>
          <a:lstStyle/>
          <a:p>
            <a:r>
              <a:rPr lang="en-US" sz="3200" dirty="0">
                <a:solidFill>
                  <a:srgbClr val="FF0000"/>
                </a:solidFill>
              </a:rPr>
              <a:t>Ex:</a:t>
            </a:r>
          </a:p>
          <a:p>
            <a:r>
              <a:rPr lang="en-US" sz="3200" dirty="0"/>
              <a:t>a1 = 3</a:t>
            </a:r>
          </a:p>
          <a:p>
            <a:r>
              <a:rPr lang="en-US" sz="3200" dirty="0"/>
              <a:t>b1 = 3</a:t>
            </a:r>
          </a:p>
          <a:p>
            <a:endParaRPr lang="en-US" sz="3200" dirty="0"/>
          </a:p>
          <a:p>
            <a:r>
              <a:rPr lang="en-US" sz="3200" dirty="0"/>
              <a:t>print(a1 is  b1)</a:t>
            </a:r>
          </a:p>
          <a:p>
            <a:r>
              <a:rPr lang="en-US" sz="3200" dirty="0"/>
              <a:t>print(a1 is not b1)</a:t>
            </a:r>
          </a:p>
        </p:txBody>
      </p:sp>
    </p:spTree>
    <p:extLst>
      <p:ext uri="{BB962C8B-B14F-4D97-AF65-F5344CB8AC3E}">
        <p14:creationId xmlns:p14="http://schemas.microsoft.com/office/powerpoint/2010/main" val="3242506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735" y="681036"/>
            <a:ext cx="10515600" cy="487190"/>
          </a:xfrm>
        </p:spPr>
        <p:txBody>
          <a:bodyPr>
            <a:noAutofit/>
          </a:bodyPr>
          <a:lstStyle/>
          <a:p>
            <a:r>
              <a:rPr lang="en-US" sz="3300" b="1" i="0" dirty="0">
                <a:solidFill>
                  <a:srgbClr val="FF0000"/>
                </a:solidFill>
                <a:effectLst/>
                <a:latin typeface="Source Sans 3"/>
              </a:rPr>
              <a:t>Precedence and Associativity of Operators in Python</a:t>
            </a:r>
            <a:endParaRPr lang="en-US" sz="33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1240970"/>
            <a:ext cx="11062063" cy="4935994"/>
          </a:xfrm>
        </p:spPr>
        <p:txBody>
          <a:bodyPr>
            <a:normAutofit/>
          </a:bodyPr>
          <a:lstStyle/>
          <a:p>
            <a:endParaRPr lang="en-US" sz="3200" dirty="0">
              <a:solidFill>
                <a:srgbClr val="FF0000"/>
              </a:solidFill>
            </a:endParaRPr>
          </a:p>
          <a:p>
            <a:pPr algn="just"/>
            <a:r>
              <a:rPr lang="en-US" sz="2400" b="0" i="0" dirty="0">
                <a:solidFill>
                  <a:srgbClr val="273239"/>
                </a:solidFill>
                <a:effectLst/>
              </a:rPr>
              <a:t>Operators have different levels of precedence, which determine the order in which they are evaluated. </a:t>
            </a:r>
          </a:p>
          <a:p>
            <a:pPr algn="just"/>
            <a:r>
              <a:rPr lang="en-US" sz="2400" b="0" i="0" dirty="0">
                <a:solidFill>
                  <a:srgbClr val="273239"/>
                </a:solidFill>
                <a:effectLst/>
              </a:rPr>
              <a:t>When multiple operators are present in an expression, the ones with higher precedence are evaluated first. </a:t>
            </a:r>
          </a:p>
          <a:p>
            <a:pPr algn="just"/>
            <a:r>
              <a:rPr lang="en-US" sz="2400" b="0" i="0" dirty="0">
                <a:solidFill>
                  <a:srgbClr val="273239"/>
                </a:solidFill>
                <a:effectLst/>
              </a:rPr>
              <a:t>In the case of operators with the same precedence, their associativity comes into play, determining the order of evaluation.</a:t>
            </a:r>
          </a:p>
          <a:p>
            <a:pPr marL="0" indent="0" algn="just">
              <a:buNone/>
            </a:pPr>
            <a:endParaRPr lang="en-US" sz="2400" b="0" i="0" dirty="0">
              <a:solidFill>
                <a:srgbClr val="273239"/>
              </a:solidFill>
              <a:effectLst/>
            </a:endParaRPr>
          </a:p>
          <a:p>
            <a:pPr marL="0" indent="0" algn="just">
              <a:buNone/>
            </a:pPr>
            <a:r>
              <a:rPr lang="en-US" sz="2400" dirty="0">
                <a:solidFill>
                  <a:srgbClr val="273239"/>
                </a:solidFill>
              </a:rPr>
              <a:t>What is the value of below expression?</a:t>
            </a:r>
          </a:p>
          <a:p>
            <a:pPr algn="just"/>
            <a:endParaRPr lang="en-US" sz="2400" dirty="0"/>
          </a:p>
        </p:txBody>
      </p:sp>
      <p:sp>
        <p:nvSpPr>
          <p:cNvPr id="6" name="TextBox 5">
            <a:extLst>
              <a:ext uri="{FF2B5EF4-FFF2-40B4-BE49-F238E27FC236}">
                <a16:creationId xmlns:a16="http://schemas.microsoft.com/office/drawing/2014/main" id="{8429196B-14B1-34F8-11B6-55F6C6B69BD0}"/>
              </a:ext>
            </a:extLst>
          </p:cNvPr>
          <p:cNvSpPr txBox="1"/>
          <p:nvPr/>
        </p:nvSpPr>
        <p:spPr>
          <a:xfrm>
            <a:off x="1722120" y="4991854"/>
            <a:ext cx="204724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10 + 20 * 30</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6003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480" y="64784"/>
            <a:ext cx="10515600" cy="487190"/>
          </a:xfrm>
        </p:spPr>
        <p:txBody>
          <a:bodyPr>
            <a:noAutofit/>
          </a:bodyPr>
          <a:lstStyle/>
          <a:p>
            <a:r>
              <a:rPr lang="en-US" sz="3300" b="1" i="0" dirty="0">
                <a:solidFill>
                  <a:srgbClr val="FF0000"/>
                </a:solidFill>
                <a:effectLst/>
                <a:latin typeface="Source Sans 3"/>
              </a:rPr>
              <a:t>Precedence and Associativity of Operators in Python</a:t>
            </a:r>
            <a:endParaRPr lang="en-US" sz="33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graphicFrame>
        <p:nvGraphicFramePr>
          <p:cNvPr id="8" name="Table 7">
            <a:extLst>
              <a:ext uri="{FF2B5EF4-FFF2-40B4-BE49-F238E27FC236}">
                <a16:creationId xmlns:a16="http://schemas.microsoft.com/office/drawing/2014/main" id="{56720FD4-0766-62EB-FA9C-1C2A4BEA8C99}"/>
              </a:ext>
            </a:extLst>
          </p:cNvPr>
          <p:cNvGraphicFramePr>
            <a:graphicFrameLocks noGrp="1"/>
          </p:cNvGraphicFramePr>
          <p:nvPr>
            <p:extLst>
              <p:ext uri="{D42A27DB-BD31-4B8C-83A1-F6EECF244321}">
                <p14:modId xmlns:p14="http://schemas.microsoft.com/office/powerpoint/2010/main" val="2887976098"/>
              </p:ext>
            </p:extLst>
          </p:nvPr>
        </p:nvGraphicFramePr>
        <p:xfrm>
          <a:off x="-1" y="551974"/>
          <a:ext cx="12192001" cy="6269122"/>
        </p:xfrm>
        <a:graphic>
          <a:graphicData uri="http://schemas.openxmlformats.org/drawingml/2006/table">
            <a:tbl>
              <a:tblPr firstRow="1" firstCol="1" bandRow="1">
                <a:tableStyleId>{5C22544A-7EE6-4342-B048-85BDC9FD1C3A}</a:tableStyleId>
              </a:tblPr>
              <a:tblGrid>
                <a:gridCol w="1441227">
                  <a:extLst>
                    <a:ext uri="{9D8B030D-6E8A-4147-A177-3AD203B41FA5}">
                      <a16:colId xmlns:a16="http://schemas.microsoft.com/office/drawing/2014/main" val="2313045427"/>
                    </a:ext>
                  </a:extLst>
                </a:gridCol>
                <a:gridCol w="3345016">
                  <a:extLst>
                    <a:ext uri="{9D8B030D-6E8A-4147-A177-3AD203B41FA5}">
                      <a16:colId xmlns:a16="http://schemas.microsoft.com/office/drawing/2014/main" val="813334800"/>
                    </a:ext>
                  </a:extLst>
                </a:gridCol>
                <a:gridCol w="4730819">
                  <a:extLst>
                    <a:ext uri="{9D8B030D-6E8A-4147-A177-3AD203B41FA5}">
                      <a16:colId xmlns:a16="http://schemas.microsoft.com/office/drawing/2014/main" val="2704409032"/>
                    </a:ext>
                  </a:extLst>
                </a:gridCol>
                <a:gridCol w="2674939">
                  <a:extLst>
                    <a:ext uri="{9D8B030D-6E8A-4147-A177-3AD203B41FA5}">
                      <a16:colId xmlns:a16="http://schemas.microsoft.com/office/drawing/2014/main" val="3662989714"/>
                    </a:ext>
                  </a:extLst>
                </a:gridCol>
              </a:tblGrid>
              <a:tr h="352550">
                <a:tc>
                  <a:txBody>
                    <a:bodyPr/>
                    <a:lstStyle/>
                    <a:p>
                      <a:pPr algn="ctr">
                        <a:lnSpc>
                          <a:spcPct val="107000"/>
                        </a:lnSpc>
                        <a:spcAft>
                          <a:spcPts val="800"/>
                        </a:spcAft>
                      </a:pPr>
                      <a:r>
                        <a:rPr lang="en-IN" sz="1700" kern="0" spc="10">
                          <a:effectLst/>
                        </a:rPr>
                        <a:t>Precedence</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20884" marR="20884" marT="52209" marB="52209" anchor="b"/>
                </a:tc>
                <a:tc>
                  <a:txBody>
                    <a:bodyPr/>
                    <a:lstStyle/>
                    <a:p>
                      <a:pPr algn="ctr">
                        <a:lnSpc>
                          <a:spcPct val="107000"/>
                        </a:lnSpc>
                        <a:spcAft>
                          <a:spcPts val="800"/>
                        </a:spcAft>
                      </a:pPr>
                      <a:r>
                        <a:rPr lang="en-IN" sz="1700" kern="0" spc="10">
                          <a:effectLst/>
                        </a:rPr>
                        <a:t>Operators</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52209" marB="52209" anchor="b"/>
                </a:tc>
                <a:tc>
                  <a:txBody>
                    <a:bodyPr/>
                    <a:lstStyle/>
                    <a:p>
                      <a:pPr algn="ctr">
                        <a:lnSpc>
                          <a:spcPct val="107000"/>
                        </a:lnSpc>
                        <a:spcAft>
                          <a:spcPts val="800"/>
                        </a:spcAft>
                      </a:pPr>
                      <a:r>
                        <a:rPr lang="en-IN" sz="1700" kern="0" spc="10">
                          <a:effectLst/>
                        </a:rPr>
                        <a:t>Description</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52209" marB="52209" anchor="b"/>
                </a:tc>
                <a:tc>
                  <a:txBody>
                    <a:bodyPr/>
                    <a:lstStyle/>
                    <a:p>
                      <a:pPr algn="ctr">
                        <a:lnSpc>
                          <a:spcPct val="107000"/>
                        </a:lnSpc>
                        <a:spcAft>
                          <a:spcPts val="800"/>
                        </a:spcAft>
                      </a:pPr>
                      <a:r>
                        <a:rPr lang="en-IN" sz="1700" kern="0" spc="10">
                          <a:effectLst/>
                        </a:rPr>
                        <a:t>Associativity</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52209" marB="52209" anchor="b"/>
                </a:tc>
                <a:extLst>
                  <a:ext uri="{0D108BD9-81ED-4DB2-BD59-A6C34878D82A}">
                    <a16:rowId xmlns:a16="http://schemas.microsoft.com/office/drawing/2014/main" val="3991814881"/>
                  </a:ext>
                </a:extLst>
              </a:tr>
              <a:tr h="256033">
                <a:tc>
                  <a:txBody>
                    <a:bodyPr/>
                    <a:lstStyle/>
                    <a:p>
                      <a:pPr algn="ctr" fontAlgn="base">
                        <a:lnSpc>
                          <a:spcPct val="107000"/>
                        </a:lnSpc>
                        <a:spcAft>
                          <a:spcPts val="800"/>
                        </a:spcAft>
                      </a:pPr>
                      <a:r>
                        <a:rPr lang="en-IN" sz="1700" kern="0" spc="10">
                          <a:effectLst/>
                        </a:rPr>
                        <a:t>1</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kern="0" spc="10">
                          <a:effectLst/>
                        </a:rPr>
                        <a: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Parentheses</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420675079"/>
                  </a:ext>
                </a:extLst>
              </a:tr>
              <a:tr h="256033">
                <a:tc>
                  <a:txBody>
                    <a:bodyPr/>
                    <a:lstStyle/>
                    <a:p>
                      <a:pPr algn="ctr" fontAlgn="base">
                        <a:lnSpc>
                          <a:spcPct val="107000"/>
                        </a:lnSpc>
                        <a:spcAft>
                          <a:spcPts val="800"/>
                        </a:spcAft>
                      </a:pPr>
                      <a:r>
                        <a:rPr lang="en-IN" sz="1700" kern="0" spc="10" dirty="0">
                          <a:effectLst/>
                        </a:rPr>
                        <a:t>2</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dirty="0">
                          <a:effectLst/>
                          <a:hlinkClick r:id="rId3"/>
                        </a:rPr>
                        <a: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Exponentiation</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dirty="0">
                          <a:solidFill>
                            <a:srgbClr val="C00000"/>
                          </a:solidFill>
                          <a:effectLst/>
                        </a:rPr>
                        <a:t>Right to left</a:t>
                      </a:r>
                      <a:endParaRPr lang="en-IN" sz="17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116117456"/>
                  </a:ext>
                </a:extLst>
              </a:tr>
              <a:tr h="256033">
                <a:tc>
                  <a:txBody>
                    <a:bodyPr/>
                    <a:lstStyle/>
                    <a:p>
                      <a:pPr algn="ctr" fontAlgn="base">
                        <a:lnSpc>
                          <a:spcPct val="107000"/>
                        </a:lnSpc>
                        <a:spcAft>
                          <a:spcPts val="800"/>
                        </a:spcAft>
                      </a:pPr>
                      <a:r>
                        <a:rPr lang="en-IN" sz="1700" kern="0" spc="10" dirty="0">
                          <a:effectLst/>
                        </a:rPr>
                        <a:t>3</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kern="0" spc="10">
                          <a:effectLst/>
                        </a:rPr>
                        <a:t>~x</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bitwise NOT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dirty="0">
                          <a:solidFill>
                            <a:srgbClr val="C00000"/>
                          </a:solidFill>
                          <a:effectLst/>
                        </a:rPr>
                        <a:t>Right to left</a:t>
                      </a:r>
                      <a:endParaRPr lang="en-IN" sz="17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1527681777"/>
                  </a:ext>
                </a:extLst>
              </a:tr>
              <a:tr h="479487">
                <a:tc>
                  <a:txBody>
                    <a:bodyPr/>
                    <a:lstStyle/>
                    <a:p>
                      <a:pPr algn="ctr" fontAlgn="base">
                        <a:lnSpc>
                          <a:spcPct val="107000"/>
                        </a:lnSpc>
                        <a:spcAft>
                          <a:spcPts val="800"/>
                        </a:spcAft>
                      </a:pPr>
                      <a:r>
                        <a:rPr lang="en-IN" sz="1700" kern="0" spc="10" dirty="0">
                          <a:effectLst/>
                        </a:rPr>
                        <a:t>4</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kern="0" spc="10" dirty="0">
                          <a:effectLst/>
                        </a:rPr>
                        <a:t>*, @, /, //,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Multiplication, matrix, division, floor division, remainder</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2674571072"/>
                  </a:ext>
                </a:extLst>
              </a:tr>
              <a:tr h="256033">
                <a:tc>
                  <a:txBody>
                    <a:bodyPr/>
                    <a:lstStyle/>
                    <a:p>
                      <a:pPr algn="ctr" fontAlgn="base">
                        <a:lnSpc>
                          <a:spcPct val="107000"/>
                        </a:lnSpc>
                        <a:spcAft>
                          <a:spcPts val="800"/>
                        </a:spcAft>
                      </a:pPr>
                      <a:r>
                        <a:rPr lang="en-IN" sz="1700" kern="0" spc="10" dirty="0">
                          <a:effectLst/>
                        </a:rPr>
                        <a:t>5</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dirty="0">
                          <a:effectLst/>
                          <a:hlinkClick r:id="rId3"/>
                        </a:rPr>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Addition and subtraction</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1507312358"/>
                  </a:ext>
                </a:extLst>
              </a:tr>
              <a:tr h="256033">
                <a:tc>
                  <a:txBody>
                    <a:bodyPr/>
                    <a:lstStyle/>
                    <a:p>
                      <a:pPr algn="ctr" fontAlgn="base">
                        <a:lnSpc>
                          <a:spcPct val="107000"/>
                        </a:lnSpc>
                        <a:spcAft>
                          <a:spcPts val="800"/>
                        </a:spcAft>
                      </a:pPr>
                      <a:r>
                        <a:rPr lang="en-IN" sz="1700" kern="0" spc="10" dirty="0">
                          <a:effectLst/>
                        </a:rPr>
                        <a:t>6</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a:effectLst/>
                          <a:hlinkClick r:id="rId3"/>
                        </a:rPr>
                        <a:t>&lt;&lt;, &gt;&gt;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Shifts</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2841247913"/>
                  </a:ext>
                </a:extLst>
              </a:tr>
              <a:tr h="256033">
                <a:tc>
                  <a:txBody>
                    <a:bodyPr/>
                    <a:lstStyle/>
                    <a:p>
                      <a:pPr algn="ctr" fontAlgn="base">
                        <a:lnSpc>
                          <a:spcPct val="107000"/>
                        </a:lnSpc>
                        <a:spcAft>
                          <a:spcPts val="800"/>
                        </a:spcAft>
                      </a:pPr>
                      <a:r>
                        <a:rPr lang="en-IN" sz="1700" kern="0" spc="10" dirty="0">
                          <a:effectLst/>
                        </a:rPr>
                        <a:t>7</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a:effectLst/>
                          <a:hlinkClick r:id="rId4"/>
                        </a:rPr>
                        <a:t>&amp;</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Bitwise AND</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2677412444"/>
                  </a:ext>
                </a:extLst>
              </a:tr>
              <a:tr h="256033">
                <a:tc>
                  <a:txBody>
                    <a:bodyPr/>
                    <a:lstStyle/>
                    <a:p>
                      <a:pPr algn="ctr" fontAlgn="base">
                        <a:lnSpc>
                          <a:spcPct val="107000"/>
                        </a:lnSpc>
                        <a:spcAft>
                          <a:spcPts val="800"/>
                        </a:spcAft>
                      </a:pPr>
                      <a:r>
                        <a:rPr lang="en-IN" sz="1700" kern="0" spc="10" dirty="0">
                          <a:effectLst/>
                        </a:rPr>
                        <a:t>8</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a:effectLst/>
                          <a:hlinkClick r:id="rId4"/>
                        </a:rPr>
                        <a: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Bitwise XOR</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dirty="0">
                          <a:effectLst/>
                        </a:rPr>
                        <a:t>Left to right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3381814474"/>
                  </a:ext>
                </a:extLst>
              </a:tr>
              <a:tr h="256033">
                <a:tc>
                  <a:txBody>
                    <a:bodyPr/>
                    <a:lstStyle/>
                    <a:p>
                      <a:pPr algn="ctr" fontAlgn="base">
                        <a:lnSpc>
                          <a:spcPct val="107000"/>
                        </a:lnSpc>
                        <a:spcAft>
                          <a:spcPts val="800"/>
                        </a:spcAft>
                      </a:pPr>
                      <a:r>
                        <a:rPr lang="en-IN" sz="1700" kern="0" spc="10" dirty="0">
                          <a:effectLst/>
                        </a:rPr>
                        <a:t>9</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a:effectLst/>
                          <a:hlinkClick r:id="rId4"/>
                        </a:rPr>
                        <a: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Bitwise OR</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3859461838"/>
                  </a:ext>
                </a:extLst>
              </a:tr>
              <a:tr h="432913">
                <a:tc>
                  <a:txBody>
                    <a:bodyPr/>
                    <a:lstStyle/>
                    <a:p>
                      <a:pPr algn="ctr" fontAlgn="base">
                        <a:lnSpc>
                          <a:spcPct val="107000"/>
                        </a:lnSpc>
                        <a:spcAft>
                          <a:spcPts val="800"/>
                        </a:spcAft>
                      </a:pPr>
                      <a:r>
                        <a:rPr lang="en-IN" sz="1700" kern="0" spc="10" dirty="0">
                          <a:effectLst/>
                        </a:rPr>
                        <a:t>10</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kern="0" spc="10">
                          <a:effectLst/>
                        </a:rPr>
                        <a:t>in, not in, is, is not, &lt;, &lt;=, &gt;, &gt;=, !=, ==</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Comparisons, membership tests, identity tests</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2560513104"/>
                  </a:ext>
                </a:extLst>
              </a:tr>
              <a:tr h="256033">
                <a:tc>
                  <a:txBody>
                    <a:bodyPr/>
                    <a:lstStyle/>
                    <a:p>
                      <a:pPr algn="ctr" fontAlgn="base">
                        <a:lnSpc>
                          <a:spcPct val="107000"/>
                        </a:lnSpc>
                        <a:spcAft>
                          <a:spcPts val="800"/>
                        </a:spcAft>
                      </a:pPr>
                      <a:r>
                        <a:rPr lang="en-IN" sz="1700" kern="0" spc="10" dirty="0">
                          <a:effectLst/>
                        </a:rPr>
                        <a:t>11</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a:effectLst/>
                          <a:hlinkClick r:id="rId3"/>
                        </a:rPr>
                        <a:t>and</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dirty="0">
                          <a:effectLst/>
                        </a:rPr>
                        <a:t>logical AND</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407048641"/>
                  </a:ext>
                </a:extLst>
              </a:tr>
              <a:tr h="0">
                <a:tc>
                  <a:txBody>
                    <a:bodyPr/>
                    <a:lstStyle/>
                    <a:p>
                      <a:pPr algn="ctr" fontAlgn="base">
                        <a:lnSpc>
                          <a:spcPct val="107000"/>
                        </a:lnSpc>
                        <a:spcAft>
                          <a:spcPts val="800"/>
                        </a:spcAft>
                      </a:pPr>
                      <a:r>
                        <a:rPr lang="en-IN" sz="1700" kern="0" spc="10" dirty="0">
                          <a:effectLst/>
                        </a:rPr>
                        <a:t>12</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u="sng" kern="0" spc="10">
                          <a:effectLst/>
                          <a:hlinkClick r:id="rId5"/>
                        </a:rPr>
                        <a:t>or</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dirty="0">
                          <a:effectLst/>
                        </a:rPr>
                        <a:t>Logical OR</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Left to right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2036344655"/>
                  </a:ext>
                </a:extLst>
              </a:tr>
              <a:tr h="367760">
                <a:tc>
                  <a:txBody>
                    <a:bodyPr/>
                    <a:lstStyle/>
                    <a:p>
                      <a:pPr algn="ctr" fontAlgn="base">
                        <a:lnSpc>
                          <a:spcPct val="107000"/>
                        </a:lnSpc>
                        <a:spcAft>
                          <a:spcPts val="800"/>
                        </a:spcAft>
                      </a:pPr>
                      <a:r>
                        <a:rPr lang="en-IN" sz="1700" kern="0" spc="10">
                          <a:effectLst/>
                        </a:rPr>
                        <a:t>18</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a:lnSpc>
                          <a:spcPct val="107000"/>
                        </a:lnSpc>
                        <a:spcAft>
                          <a:spcPts val="800"/>
                        </a:spcAft>
                      </a:pPr>
                      <a:r>
                        <a:rPr lang="en-IN" sz="1700" kern="0" spc="10">
                          <a:effectLst/>
                        </a:rPr>
                        <a: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a:effectLst/>
                        </a:rPr>
                        <a:t>Assignment expression (walrus operator)</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tc>
                  <a:txBody>
                    <a:bodyPr/>
                    <a:lstStyle/>
                    <a:p>
                      <a:pPr algn="ctr" fontAlgn="base">
                        <a:lnSpc>
                          <a:spcPct val="107000"/>
                        </a:lnSpc>
                        <a:spcAft>
                          <a:spcPts val="800"/>
                        </a:spcAft>
                      </a:pPr>
                      <a:r>
                        <a:rPr lang="en-IN" sz="1700" kern="0" spc="10" dirty="0">
                          <a:solidFill>
                            <a:srgbClr val="C00000"/>
                          </a:solidFill>
                          <a:effectLst/>
                        </a:rPr>
                        <a:t>Right to left</a:t>
                      </a:r>
                      <a:endParaRPr lang="en-IN" sz="1700" kern="1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52209" marR="52209" marT="73093" marB="73093" anchor="ctr"/>
                </a:tc>
                <a:extLst>
                  <a:ext uri="{0D108BD9-81ED-4DB2-BD59-A6C34878D82A}">
                    <a16:rowId xmlns:a16="http://schemas.microsoft.com/office/drawing/2014/main" val="2340662893"/>
                  </a:ext>
                </a:extLst>
              </a:tr>
            </a:tbl>
          </a:graphicData>
        </a:graphic>
      </p:graphicFrame>
    </p:spTree>
    <p:extLst>
      <p:ext uri="{BB962C8B-B14F-4D97-AF65-F5344CB8AC3E}">
        <p14:creationId xmlns:p14="http://schemas.microsoft.com/office/powerpoint/2010/main" val="42416525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1735" y="681036"/>
            <a:ext cx="10515600" cy="487190"/>
          </a:xfrm>
        </p:spPr>
        <p:txBody>
          <a:bodyPr>
            <a:noAutofit/>
          </a:bodyPr>
          <a:lstStyle/>
          <a:p>
            <a:r>
              <a:rPr lang="en-US" sz="3300" b="1" i="0" dirty="0">
                <a:solidFill>
                  <a:srgbClr val="FF0000"/>
                </a:solidFill>
                <a:effectLst/>
                <a:latin typeface="Source Sans 3"/>
              </a:rPr>
              <a:t>Precedence and Associativity of Operators in Python</a:t>
            </a:r>
            <a:endParaRPr lang="en-US" sz="33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3074" name="Picture 2" descr="Precedence Python">
            <a:extLst>
              <a:ext uri="{FF2B5EF4-FFF2-40B4-BE49-F238E27FC236}">
                <a16:creationId xmlns:a16="http://schemas.microsoft.com/office/drawing/2014/main" id="{8E4BCC11-73E4-3AF3-7917-760FD0C150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3" y="1359778"/>
            <a:ext cx="5251768" cy="42993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B6A4C0F-7D6C-EA4A-FDFD-1C74ACB03087}"/>
              </a:ext>
            </a:extLst>
          </p:cNvPr>
          <p:cNvSpPr txBox="1"/>
          <p:nvPr/>
        </p:nvSpPr>
        <p:spPr>
          <a:xfrm>
            <a:off x="5852160" y="1600906"/>
            <a:ext cx="6339839" cy="2862322"/>
          </a:xfrm>
          <a:prstGeom prst="rect">
            <a:avLst/>
          </a:prstGeom>
          <a:noFill/>
        </p:spPr>
        <p:txBody>
          <a:bodyPr wrap="square">
            <a:spAutoFit/>
          </a:bodyPr>
          <a:lstStyle/>
          <a:p>
            <a:pPr marL="342900" indent="-342900">
              <a:buAutoNum type="arabicPeriod" startAt="2"/>
            </a:pPr>
            <a:r>
              <a:rPr lang="en-IN" b="0" i="0" dirty="0">
                <a:solidFill>
                  <a:srgbClr val="273239"/>
                </a:solidFill>
                <a:effectLst/>
                <a:latin typeface="Nunito" pitchFamily="2" charset="0"/>
              </a:rPr>
              <a:t>100 / 10 * 10</a:t>
            </a:r>
          </a:p>
          <a:p>
            <a:pPr marL="342900" indent="-342900">
              <a:buAutoNum type="arabicPeriod" startAt="2"/>
            </a:pPr>
            <a:endParaRPr lang="en-IN" dirty="0">
              <a:solidFill>
                <a:srgbClr val="273239"/>
              </a:solidFill>
              <a:latin typeface="Nunito" pitchFamily="2" charset="0"/>
            </a:endParaRPr>
          </a:p>
          <a:p>
            <a:r>
              <a:rPr lang="en-US" b="0" i="0" dirty="0">
                <a:solidFill>
                  <a:srgbClr val="273239"/>
                </a:solidFill>
                <a:effectLst/>
                <a:latin typeface="Nunito" pitchFamily="2" charset="0"/>
              </a:rPr>
              <a:t>In this expression ‘*’ and ‘/’ have the same precedence and their associativity is </a:t>
            </a:r>
            <a:r>
              <a:rPr lang="en-US" b="1" i="0" dirty="0">
                <a:solidFill>
                  <a:srgbClr val="273239"/>
                </a:solidFill>
                <a:effectLst/>
                <a:latin typeface="Nunito" pitchFamily="2" charset="0"/>
              </a:rPr>
              <a:t>L</a:t>
            </a:r>
            <a:r>
              <a:rPr lang="en-US" b="0" i="0" dirty="0">
                <a:solidFill>
                  <a:srgbClr val="273239"/>
                </a:solidFill>
                <a:effectLst/>
                <a:latin typeface="Nunito" pitchFamily="2" charset="0"/>
              </a:rPr>
              <a:t>eft</a:t>
            </a:r>
            <a:r>
              <a:rPr lang="en-US" b="1" i="0" dirty="0">
                <a:solidFill>
                  <a:srgbClr val="273239"/>
                </a:solidFill>
                <a:effectLst/>
                <a:latin typeface="Nunito" pitchFamily="2" charset="0"/>
              </a:rPr>
              <a:t> t</a:t>
            </a:r>
            <a:r>
              <a:rPr lang="en-US" b="0" i="0" dirty="0">
                <a:solidFill>
                  <a:srgbClr val="273239"/>
                </a:solidFill>
                <a:effectLst/>
                <a:latin typeface="Nunito" pitchFamily="2" charset="0"/>
              </a:rPr>
              <a:t>o </a:t>
            </a:r>
            <a:r>
              <a:rPr lang="en-US" b="1" i="0" dirty="0">
                <a:solidFill>
                  <a:srgbClr val="273239"/>
                </a:solidFill>
                <a:effectLst/>
                <a:latin typeface="Nunito" pitchFamily="2" charset="0"/>
              </a:rPr>
              <a:t>R</a:t>
            </a:r>
            <a:r>
              <a:rPr lang="en-US" b="0" i="0" dirty="0">
                <a:solidFill>
                  <a:srgbClr val="273239"/>
                </a:solidFill>
                <a:effectLst/>
                <a:latin typeface="Nunito" pitchFamily="2" charset="0"/>
              </a:rPr>
              <a:t>ight, </a:t>
            </a:r>
          </a:p>
          <a:p>
            <a:r>
              <a:rPr lang="en-US" b="0" i="0" dirty="0">
                <a:solidFill>
                  <a:srgbClr val="273239"/>
                </a:solidFill>
                <a:effectLst/>
                <a:latin typeface="Nunito" pitchFamily="2" charset="0"/>
              </a:rPr>
              <a:t>so the expression “100 / 10 * 10” is evaluated as </a:t>
            </a:r>
          </a:p>
          <a:p>
            <a:endParaRPr lang="en-US" dirty="0">
              <a:solidFill>
                <a:srgbClr val="273239"/>
              </a:solidFill>
              <a:latin typeface="Nunito" pitchFamily="2" charset="0"/>
            </a:endParaRPr>
          </a:p>
          <a:p>
            <a:r>
              <a:rPr lang="en-US" b="0" i="0" dirty="0">
                <a:solidFill>
                  <a:srgbClr val="273239"/>
                </a:solidFill>
                <a:effectLst/>
                <a:latin typeface="Nunito" pitchFamily="2" charset="0"/>
              </a:rPr>
              <a:t>=(100 / 10) * 10</a:t>
            </a:r>
          </a:p>
          <a:p>
            <a:r>
              <a:rPr lang="en-US" dirty="0">
                <a:solidFill>
                  <a:srgbClr val="273239"/>
                </a:solidFill>
                <a:latin typeface="Nunito" pitchFamily="2" charset="0"/>
              </a:rPr>
              <a:t>=10*10</a:t>
            </a:r>
          </a:p>
          <a:p>
            <a:r>
              <a:rPr lang="en-US" b="0" i="0" dirty="0">
                <a:solidFill>
                  <a:srgbClr val="C00000"/>
                </a:solidFill>
                <a:effectLst/>
                <a:latin typeface="Nunito" pitchFamily="2" charset="0"/>
              </a:rPr>
              <a:t>value=100</a:t>
            </a:r>
          </a:p>
          <a:p>
            <a:endParaRPr lang="en-IN" dirty="0"/>
          </a:p>
        </p:txBody>
      </p:sp>
      <p:sp>
        <p:nvSpPr>
          <p:cNvPr id="9" name="TextBox 8">
            <a:extLst>
              <a:ext uri="{FF2B5EF4-FFF2-40B4-BE49-F238E27FC236}">
                <a16:creationId xmlns:a16="http://schemas.microsoft.com/office/drawing/2014/main" id="{85AD5C04-2B31-D5B8-42F0-DD1DD324D4FA}"/>
              </a:ext>
            </a:extLst>
          </p:cNvPr>
          <p:cNvSpPr txBox="1"/>
          <p:nvPr/>
        </p:nvSpPr>
        <p:spPr>
          <a:xfrm>
            <a:off x="5852160" y="4561840"/>
            <a:ext cx="6237288"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3. What is the value of  100 + 200 / 10 - 3 * 10</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52B159B6-7434-7864-335E-465000B1E497}"/>
              </a:ext>
            </a:extLst>
          </p:cNvPr>
          <p:cNvSpPr txBox="1"/>
          <p:nvPr/>
        </p:nvSpPr>
        <p:spPr>
          <a:xfrm>
            <a:off x="6019535" y="5179856"/>
            <a:ext cx="6069912" cy="369332"/>
          </a:xfrm>
          <a:prstGeom prst="rect">
            <a:avLst/>
          </a:prstGeom>
          <a:noFill/>
        </p:spPr>
        <p:txBody>
          <a:bodyPr wrap="square">
            <a:spAutoFit/>
          </a:bodyPr>
          <a:lstStyle/>
          <a:p>
            <a:r>
              <a:rPr kumimoji="0" lang="en-US" altLang="en-US" sz="1800" b="0" i="0" u="none" strike="noStrike" cap="none" normalizeH="0" baseline="0" dirty="0">
                <a:ln>
                  <a:noFill/>
                </a:ln>
                <a:solidFill>
                  <a:srgbClr val="273239"/>
                </a:solidFill>
                <a:effectLst/>
                <a:latin typeface="Consolas" panose="020B0609020204030204" pitchFamily="49" charset="0"/>
              </a:rPr>
              <a:t>4. What is the value of </a:t>
            </a:r>
            <a:r>
              <a:rPr lang="en-IN" dirty="0"/>
              <a:t>4+3*2&amp;4|6</a:t>
            </a:r>
          </a:p>
        </p:txBody>
      </p:sp>
    </p:spTree>
    <p:extLst>
      <p:ext uri="{BB962C8B-B14F-4D97-AF65-F5344CB8AC3E}">
        <p14:creationId xmlns:p14="http://schemas.microsoft.com/office/powerpoint/2010/main" val="2380664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TextBox 6">
            <a:extLst>
              <a:ext uri="{FF2B5EF4-FFF2-40B4-BE49-F238E27FC236}">
                <a16:creationId xmlns:a16="http://schemas.microsoft.com/office/drawing/2014/main" id="{9364A097-8406-590C-DB78-FE6EF8A7EBA2}"/>
              </a:ext>
            </a:extLst>
          </p:cNvPr>
          <p:cNvSpPr txBox="1"/>
          <p:nvPr/>
        </p:nvSpPr>
        <p:spPr>
          <a:xfrm>
            <a:off x="614680" y="199620"/>
            <a:ext cx="7838440" cy="2585323"/>
          </a:xfrm>
          <a:prstGeom prst="rect">
            <a:avLst/>
          </a:prstGeom>
          <a:noFill/>
        </p:spPr>
        <p:txBody>
          <a:bodyPr wrap="square">
            <a:spAutoFit/>
          </a:bodyPr>
          <a:lstStyle/>
          <a:p>
            <a:pPr algn="l"/>
            <a:r>
              <a:rPr kumimoji="0" lang="en-US" altLang="en-US" sz="1800" b="0" i="0" u="none" strike="noStrike" cap="none" normalizeH="0" baseline="0" dirty="0">
                <a:ln>
                  <a:noFill/>
                </a:ln>
                <a:solidFill>
                  <a:srgbClr val="FF0000"/>
                </a:solidFill>
                <a:effectLst/>
                <a:latin typeface="Consolas" panose="020B0609020204030204" pitchFamily="49" charset="0"/>
              </a:rPr>
              <a:t>What is the value of  100 + 200 / 10 - 3 * 10</a:t>
            </a:r>
          </a:p>
          <a:p>
            <a:pPr algn="l"/>
            <a:endParaRPr lang="en-US" b="0" i="0" dirty="0">
              <a:solidFill>
                <a:srgbClr val="374151"/>
              </a:solidFill>
              <a:effectLst/>
              <a:latin typeface="Söhne"/>
            </a:endParaRPr>
          </a:p>
          <a:p>
            <a:pPr algn="l">
              <a:buFont typeface="+mj-lt"/>
              <a:buAutoNum type="arabicPeriod"/>
            </a:pPr>
            <a:r>
              <a:rPr lang="en-US" b="0" i="0" dirty="0">
                <a:effectLst/>
                <a:latin typeface="Söhne"/>
              </a:rPr>
              <a:t>First, perform the multiplication and division:</a:t>
            </a:r>
          </a:p>
          <a:p>
            <a:pPr marL="742950" lvl="1" indent="-285750" algn="l">
              <a:buFont typeface="+mj-lt"/>
              <a:buAutoNum type="arabicPeriod"/>
            </a:pPr>
            <a:r>
              <a:rPr lang="en-US" b="0" i="0" dirty="0">
                <a:effectLst/>
                <a:latin typeface="Söhne"/>
              </a:rPr>
              <a:t>200 / 10 = 20</a:t>
            </a:r>
          </a:p>
          <a:p>
            <a:pPr marL="742950" lvl="1" indent="-285750" algn="l">
              <a:buFont typeface="+mj-lt"/>
              <a:buAutoNum type="arabicPeriod"/>
            </a:pPr>
            <a:r>
              <a:rPr lang="en-US" b="0" i="0" dirty="0">
                <a:effectLst/>
                <a:latin typeface="Söhne"/>
              </a:rPr>
              <a:t>3 * 10 = 30</a:t>
            </a:r>
          </a:p>
          <a:p>
            <a:pPr algn="l">
              <a:buFont typeface="+mj-lt"/>
              <a:buAutoNum type="arabicPeriod"/>
            </a:pPr>
            <a:r>
              <a:rPr lang="en-US" b="0" i="0" dirty="0">
                <a:effectLst/>
                <a:latin typeface="Söhne"/>
              </a:rPr>
              <a:t>Then, perform the addition and subtraction from left to right:</a:t>
            </a:r>
          </a:p>
          <a:p>
            <a:pPr marL="742950" lvl="1" indent="-285750" algn="l">
              <a:buFont typeface="+mj-lt"/>
              <a:buAutoNum type="arabicPeriod"/>
            </a:pPr>
            <a:r>
              <a:rPr lang="en-US" b="0" i="0" dirty="0">
                <a:effectLst/>
                <a:latin typeface="Söhne"/>
              </a:rPr>
              <a:t>100 + 20 = 120</a:t>
            </a:r>
          </a:p>
          <a:p>
            <a:pPr marL="742950" lvl="1" indent="-285750" algn="l">
              <a:buFont typeface="+mj-lt"/>
              <a:buAutoNum type="arabicPeriod"/>
            </a:pPr>
            <a:r>
              <a:rPr lang="en-US" b="0" i="0" dirty="0">
                <a:effectLst/>
                <a:latin typeface="Söhne"/>
              </a:rPr>
              <a:t>120 - 30 = 90</a:t>
            </a:r>
          </a:p>
          <a:p>
            <a:pPr algn="l"/>
            <a:r>
              <a:rPr lang="en-US" b="0" i="0" dirty="0">
                <a:effectLst/>
                <a:latin typeface="Söhne"/>
              </a:rPr>
              <a:t>So, the value of the expression "100 + 200 / 10 - 3 * 10" is 90.</a:t>
            </a:r>
          </a:p>
        </p:txBody>
      </p:sp>
      <p:sp>
        <p:nvSpPr>
          <p:cNvPr id="11" name="TextBox 10">
            <a:extLst>
              <a:ext uri="{FF2B5EF4-FFF2-40B4-BE49-F238E27FC236}">
                <a16:creationId xmlns:a16="http://schemas.microsoft.com/office/drawing/2014/main" id="{61292EF0-E6B7-5962-2099-4FAFA8D56CE6}"/>
              </a:ext>
            </a:extLst>
          </p:cNvPr>
          <p:cNvSpPr txBox="1"/>
          <p:nvPr/>
        </p:nvSpPr>
        <p:spPr>
          <a:xfrm>
            <a:off x="614680" y="3101073"/>
            <a:ext cx="11191240" cy="31700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Consolas" panose="020B0609020204030204" pitchFamily="49" charset="0"/>
              </a:rPr>
              <a:t>What is the value of </a:t>
            </a:r>
            <a:r>
              <a:rPr lang="en-IN" sz="2000" dirty="0">
                <a:solidFill>
                  <a:srgbClr val="FF0000"/>
                </a:solidFill>
              </a:rPr>
              <a:t>4+3*2&amp;4|6</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effectLst/>
                <a:latin typeface="Söhne"/>
              </a:rPr>
              <a:t>Multiplication: </a:t>
            </a:r>
            <a:r>
              <a:rPr kumimoji="0" lang="en-US" altLang="en-US" sz="2000" b="1" i="0" u="none" strike="noStrike" cap="none" normalizeH="0" baseline="0" dirty="0">
                <a:ln>
                  <a:noFill/>
                </a:ln>
                <a:effectLst/>
                <a:latin typeface="Söhne Mono"/>
              </a:rPr>
              <a:t>3 * 2 = 6</a:t>
            </a:r>
            <a:endParaRPr kumimoji="0" lang="en-US" altLang="en-US" sz="2000" b="0" i="0" u="none" strike="noStrike" cap="none" normalizeH="0" baseline="0" dirty="0">
              <a:ln>
                <a:noFill/>
              </a:ln>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a:ln>
                  <a:noFill/>
                </a:ln>
                <a:effectLst/>
                <a:latin typeface="Söhne"/>
              </a:rPr>
              <a:t>Addition: </a:t>
            </a:r>
            <a:r>
              <a:rPr kumimoji="0" lang="en-US" altLang="en-US" sz="2000" b="1" i="0" u="none" strike="noStrike" cap="none" normalizeH="0" baseline="0" dirty="0">
                <a:ln>
                  <a:noFill/>
                </a:ln>
                <a:effectLst/>
                <a:latin typeface="Söhne Mono"/>
              </a:rPr>
              <a:t>4 + 6 = 10</a:t>
            </a:r>
            <a:endParaRPr kumimoji="0" lang="en-US" altLang="en-US" sz="2000" b="0" i="0" u="none" strike="noStrike" cap="none" normalizeH="0" baseline="0" dirty="0">
              <a:ln>
                <a:noFill/>
              </a:ln>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a:ln>
                  <a:noFill/>
                </a:ln>
                <a:effectLst/>
                <a:latin typeface="Söhne"/>
              </a:rPr>
              <a:t>Bitwise AND: </a:t>
            </a:r>
            <a:r>
              <a:rPr kumimoji="0" lang="en-US" altLang="en-US" sz="2000" b="1" i="0" u="none" strike="noStrike" cap="none" normalizeH="0" baseline="0" dirty="0">
                <a:ln>
                  <a:noFill/>
                </a:ln>
                <a:effectLst/>
                <a:latin typeface="Söhne Mono"/>
              </a:rPr>
              <a:t>10 &amp; 4 = 0</a:t>
            </a:r>
            <a:r>
              <a:rPr kumimoji="0" lang="en-US" altLang="en-US" sz="2000" b="0" i="0" u="none" strike="noStrike" cap="none" normalizeH="0" baseline="0" dirty="0">
                <a:ln>
                  <a:noFill/>
                </a:ln>
                <a:effectLst/>
                <a:latin typeface="Söhne"/>
              </a:rPr>
              <a:t> (In binary, 10 is </a:t>
            </a:r>
            <a:r>
              <a:rPr kumimoji="0" lang="en-US" altLang="en-US" sz="2000" b="1" i="0" u="none" strike="noStrike" cap="none" normalizeH="0" baseline="0" dirty="0">
                <a:ln>
                  <a:noFill/>
                </a:ln>
                <a:effectLst/>
                <a:latin typeface="Söhne Mono"/>
              </a:rPr>
              <a:t>1010</a:t>
            </a:r>
            <a:r>
              <a:rPr kumimoji="0" lang="en-US" altLang="en-US" sz="2000" b="0" i="0" u="none" strike="noStrike" cap="none" normalizeH="0" baseline="0" dirty="0">
                <a:ln>
                  <a:noFill/>
                </a:ln>
                <a:effectLst/>
                <a:latin typeface="Söhne"/>
              </a:rPr>
              <a:t> and 4 is </a:t>
            </a:r>
            <a:r>
              <a:rPr kumimoji="0" lang="en-US" altLang="en-US" sz="2000" b="1" i="0" u="none" strike="noStrike" cap="none" normalizeH="0" baseline="0" dirty="0">
                <a:ln>
                  <a:noFill/>
                </a:ln>
                <a:effectLst/>
                <a:latin typeface="Söhne Mono"/>
              </a:rPr>
              <a:t>0100</a:t>
            </a:r>
            <a:r>
              <a:rPr kumimoji="0" lang="en-US" altLang="en-US" sz="2000" b="0" i="0" u="none" strike="noStrike" cap="none" normalizeH="0" baseline="0" dirty="0">
                <a:ln>
                  <a:noFill/>
                </a:ln>
                <a:effectLst/>
                <a:latin typeface="Söhne"/>
              </a:rPr>
              <a:t>. The result of a bitwise AND is 0 where there are differing bits.)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effectLst/>
                <a:latin typeface="Söhne"/>
              </a:rPr>
              <a:t>Bitwise OR: </a:t>
            </a:r>
            <a:r>
              <a:rPr kumimoji="0" lang="en-US" altLang="en-US" sz="2000" b="1" i="0" u="none" strike="noStrike" cap="none" normalizeH="0" baseline="0" dirty="0">
                <a:ln>
                  <a:noFill/>
                </a:ln>
                <a:effectLst/>
                <a:latin typeface="Söhne Mono"/>
              </a:rPr>
              <a:t>0 | 6 = 6</a:t>
            </a:r>
            <a:r>
              <a:rPr kumimoji="0" lang="en-US" altLang="en-US" sz="2000" b="0" i="0" u="none" strike="noStrike" cap="none" normalizeH="0" baseline="0" dirty="0">
                <a:ln>
                  <a:noFill/>
                </a:ln>
                <a:effectLst/>
                <a:latin typeface="Söhne"/>
              </a:rPr>
              <a:t> (In binary, 0 is </a:t>
            </a:r>
            <a:r>
              <a:rPr kumimoji="0" lang="en-US" altLang="en-US" sz="2000" b="1" i="0" u="none" strike="noStrike" cap="none" normalizeH="0" baseline="0" dirty="0">
                <a:ln>
                  <a:noFill/>
                </a:ln>
                <a:effectLst/>
                <a:latin typeface="Söhne Mono"/>
              </a:rPr>
              <a:t>0000</a:t>
            </a:r>
            <a:r>
              <a:rPr kumimoji="0" lang="en-US" altLang="en-US" sz="2000" b="0" i="0" u="none" strike="noStrike" cap="none" normalizeH="0" baseline="0" dirty="0">
                <a:ln>
                  <a:noFill/>
                </a:ln>
                <a:effectLst/>
                <a:latin typeface="Söhne"/>
              </a:rPr>
              <a:t> and 6 is </a:t>
            </a:r>
            <a:r>
              <a:rPr kumimoji="0" lang="en-US" altLang="en-US" sz="2000" b="1" i="0" u="none" strike="noStrike" cap="none" normalizeH="0" baseline="0" dirty="0">
                <a:ln>
                  <a:noFill/>
                </a:ln>
                <a:effectLst/>
                <a:latin typeface="Söhne Mono"/>
              </a:rPr>
              <a:t>0110</a:t>
            </a:r>
            <a:r>
              <a:rPr kumimoji="0" lang="en-US" altLang="en-US" sz="2000" b="0" i="0" u="none" strike="noStrike" cap="none" normalizeH="0" baseline="0" dirty="0">
                <a:ln>
                  <a:noFill/>
                </a:ln>
                <a:effectLst/>
                <a:latin typeface="Söhne"/>
              </a:rPr>
              <a:t>. The result of a bitwise OR is 1 where there is at least one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Söhne"/>
              </a:rPr>
              <a:t>So, the final result of the expression is </a:t>
            </a:r>
            <a:r>
              <a:rPr kumimoji="0" lang="en-US" altLang="en-US" sz="2000" b="1" i="0" u="none" strike="noStrike" cap="none" normalizeH="0" baseline="0" dirty="0">
                <a:ln>
                  <a:noFill/>
                </a:ln>
                <a:effectLst/>
                <a:latin typeface="Söhne Mono"/>
              </a:rPr>
              <a:t>6</a:t>
            </a:r>
            <a:r>
              <a:rPr kumimoji="0" lang="en-US" altLang="en-US" sz="2000" b="0" i="0" u="none" strike="noStrike" cap="none" normalizeH="0" baseline="0" dirty="0">
                <a:ln>
                  <a:noFill/>
                </a:ln>
                <a:effectLst/>
                <a:latin typeface="Söhne"/>
              </a:rPr>
              <a:t>.</a:t>
            </a:r>
            <a:br>
              <a:rPr kumimoji="0" lang="en-US" altLang="en-US" sz="2000" b="0" i="0" u="none" strike="noStrike" cap="none" normalizeH="0" baseline="0" dirty="0">
                <a:ln>
                  <a:noFill/>
                </a:ln>
                <a:solidFill>
                  <a:srgbClr val="000000"/>
                </a:solidFill>
                <a:effectLst/>
                <a:latin typeface="Söhne"/>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8335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TextBox 6">
            <a:extLst>
              <a:ext uri="{FF2B5EF4-FFF2-40B4-BE49-F238E27FC236}">
                <a16:creationId xmlns:a16="http://schemas.microsoft.com/office/drawing/2014/main" id="{9364A097-8406-590C-DB78-FE6EF8A7EBA2}"/>
              </a:ext>
            </a:extLst>
          </p:cNvPr>
          <p:cNvSpPr txBox="1"/>
          <p:nvPr/>
        </p:nvSpPr>
        <p:spPr>
          <a:xfrm>
            <a:off x="220717" y="199620"/>
            <a:ext cx="10394731" cy="769441"/>
          </a:xfrm>
          <a:prstGeom prst="rect">
            <a:avLst/>
          </a:prstGeom>
          <a:noFill/>
        </p:spPr>
        <p:txBody>
          <a:bodyPr wrap="square">
            <a:spAutoFit/>
          </a:bodyPr>
          <a:lstStyle/>
          <a:p>
            <a:pPr algn="l"/>
            <a:r>
              <a:rPr lang="en-US" sz="2200" b="0" i="0" dirty="0">
                <a:solidFill>
                  <a:srgbClr val="FF0000"/>
                </a:solidFill>
                <a:effectLst/>
                <a:latin typeface="Söhne"/>
              </a:rPr>
              <a:t>Evaluate the expression step by step according to operator precedence and associativity and print the final output for x = 10 and y = 50 x ** 2 &gt; 100 and y &lt; 100</a:t>
            </a:r>
          </a:p>
        </p:txBody>
      </p:sp>
      <p:sp>
        <p:nvSpPr>
          <p:cNvPr id="5" name="TextBox 4">
            <a:extLst>
              <a:ext uri="{FF2B5EF4-FFF2-40B4-BE49-F238E27FC236}">
                <a16:creationId xmlns:a16="http://schemas.microsoft.com/office/drawing/2014/main" id="{63068988-6146-27AB-0725-B898851E148B}"/>
              </a:ext>
            </a:extLst>
          </p:cNvPr>
          <p:cNvSpPr txBox="1"/>
          <p:nvPr/>
        </p:nvSpPr>
        <p:spPr>
          <a:xfrm>
            <a:off x="1008993" y="1466699"/>
            <a:ext cx="10636469" cy="3816429"/>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rPr>
              <a:t>Let's evaluate it step by step:</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200" b="0" i="0" u="none" strike="noStrike" cap="none" normalizeH="0" baseline="0" dirty="0">
                <a:ln>
                  <a:noFill/>
                </a:ln>
                <a:effectLst/>
              </a:rPr>
              <a:t>Evaluate </a:t>
            </a:r>
            <a:r>
              <a:rPr kumimoji="0" lang="en-US" altLang="en-US" sz="2200" b="1" i="0" u="none" strike="noStrike" cap="none" normalizeH="0" baseline="0" dirty="0">
                <a:ln>
                  <a:noFill/>
                </a:ln>
                <a:effectLst/>
              </a:rPr>
              <a:t>x ** 2</a:t>
            </a:r>
            <a:r>
              <a:rPr kumimoji="0" lang="en-US" altLang="en-US" sz="2200" b="0" i="0" u="none" strike="noStrike" cap="none" normalizeH="0" baseline="0" dirty="0">
                <a:ln>
                  <a:noFill/>
                </a:ln>
                <a:effectLs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effectLst/>
              </a:rPr>
              <a:t>x = 10</a:t>
            </a:r>
            <a:endParaRPr kumimoji="0" lang="en-US" altLang="en-US" sz="2200" b="0" i="0" u="none" strike="noStrike" cap="none" normalizeH="0" baseline="0" dirty="0">
              <a:ln>
                <a:noFill/>
              </a:ln>
              <a:effectLst/>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effectLst/>
              </a:rPr>
              <a:t>x ** 2 = 10 ** 2 = 100</a:t>
            </a:r>
            <a:endParaRPr kumimoji="0" lang="en-US" altLang="en-US" sz="2200" b="0" i="0" u="none" strike="noStrike" cap="none" normalizeH="0" baseline="0" dirty="0">
              <a:ln>
                <a:noFill/>
              </a:ln>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0" i="0" u="none" strike="noStrike" cap="none" normalizeH="0" baseline="0" dirty="0">
                <a:ln>
                  <a:noFill/>
                </a:ln>
                <a:effectLst/>
              </a:rPr>
              <a:t>Evaluate </a:t>
            </a:r>
            <a:r>
              <a:rPr kumimoji="0" lang="en-US" altLang="en-US" sz="2200" b="1" i="0" u="none" strike="noStrike" cap="none" normalizeH="0" baseline="0" dirty="0">
                <a:ln>
                  <a:noFill/>
                </a:ln>
                <a:effectLst/>
              </a:rPr>
              <a:t>y &lt; 100</a:t>
            </a:r>
            <a:r>
              <a:rPr kumimoji="0" lang="en-US" altLang="en-US" sz="2200" b="0" i="0" u="none" strike="noStrike" cap="none" normalizeH="0" baseline="0" dirty="0">
                <a:ln>
                  <a:noFill/>
                </a:ln>
                <a:effectLst/>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effectLst/>
              </a:rPr>
              <a:t>y = 50</a:t>
            </a:r>
            <a:endParaRPr kumimoji="0" lang="en-US" altLang="en-US" sz="2200" b="0" i="0" u="none" strike="noStrike" cap="none" normalizeH="0" baseline="0" dirty="0">
              <a:ln>
                <a:noFill/>
              </a:ln>
              <a:effectLst/>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effectLst/>
              </a:rPr>
              <a:t>y &lt; 100</a:t>
            </a:r>
            <a:r>
              <a:rPr kumimoji="0" lang="en-US" altLang="en-US" sz="2200" b="0" i="0" u="none" strike="noStrike" cap="none" normalizeH="0" baseline="0" dirty="0">
                <a:ln>
                  <a:noFill/>
                </a:ln>
                <a:effectLst/>
              </a:rPr>
              <a:t> is true because 50 is indeed less than 100.</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0" i="0" u="none" strike="noStrike" cap="none" normalizeH="0" baseline="0" dirty="0">
                <a:ln>
                  <a:noFill/>
                </a:ln>
                <a:effectLst/>
              </a:rPr>
              <a:t>Now, we have </a:t>
            </a:r>
            <a:r>
              <a:rPr kumimoji="0" lang="en-US" altLang="en-US" sz="2200" b="1" i="0" u="none" strike="noStrike" cap="none" normalizeH="0" baseline="0" dirty="0">
                <a:ln>
                  <a:noFill/>
                </a:ln>
                <a:effectLst/>
              </a:rPr>
              <a:t>100 &gt; 100 and True</a:t>
            </a:r>
            <a:r>
              <a:rPr kumimoji="0" lang="en-US" altLang="en-US" sz="2200" b="0" i="0" u="none" strike="noStrike" cap="none" normalizeH="0" baseline="0" dirty="0">
                <a:ln>
                  <a:noFill/>
                </a:ln>
                <a:effectLst/>
              </a:rPr>
              <a:t>. To evaluate the </a:t>
            </a:r>
            <a:r>
              <a:rPr kumimoji="0" lang="en-US" altLang="en-US" sz="2200" b="1" i="0" u="none" strike="noStrike" cap="none" normalizeH="0" baseline="0" dirty="0">
                <a:ln>
                  <a:noFill/>
                </a:ln>
                <a:effectLst/>
              </a:rPr>
              <a:t>and</a:t>
            </a:r>
            <a:r>
              <a:rPr kumimoji="0" lang="en-US" altLang="en-US" sz="2200" b="0" i="0" u="none" strike="noStrike" cap="none" normalizeH="0" baseline="0" dirty="0">
                <a:ln>
                  <a:noFill/>
                </a:ln>
                <a:effectLst/>
              </a:rPr>
              <a:t> operator, we need both sides to be </a:t>
            </a:r>
            <a:r>
              <a:rPr kumimoji="0" lang="en-US" altLang="en-US" sz="2200" b="1" i="0" u="none" strike="noStrike" cap="none" normalizeH="0" baseline="0" dirty="0">
                <a:ln>
                  <a:noFill/>
                </a:ln>
                <a:effectLst/>
              </a:rPr>
              <a:t>True</a:t>
            </a:r>
            <a:r>
              <a:rPr kumimoji="0" lang="en-US" altLang="en-US" sz="2200" b="0" i="0" u="none" strike="noStrike" cap="none" normalizeH="0" baseline="0" dirty="0">
                <a:ln>
                  <a:noFill/>
                </a:ln>
                <a:effectLst/>
              </a:rPr>
              <a:t> for the whole expression to be </a:t>
            </a:r>
            <a:r>
              <a:rPr kumimoji="0" lang="en-US" altLang="en-US" sz="2200" b="1" i="0" u="none" strike="noStrike" cap="none" normalizeH="0" baseline="0" dirty="0">
                <a:ln>
                  <a:noFill/>
                </a:ln>
                <a:effectLst/>
              </a:rPr>
              <a:t>True</a:t>
            </a:r>
            <a:r>
              <a:rPr kumimoji="0" lang="en-US" altLang="en-US" sz="2200" b="0" i="0" u="none" strike="noStrike" cap="none" normalizeH="0" baseline="0" dirty="0">
                <a:ln>
                  <a:noFill/>
                </a:ln>
                <a:effectLst/>
              </a:rPr>
              <a:t>. Since the first part, </a:t>
            </a:r>
            <a:r>
              <a:rPr kumimoji="0" lang="en-US" altLang="en-US" sz="2200" b="1" i="0" u="none" strike="noStrike" cap="none" normalizeH="0" baseline="0" dirty="0">
                <a:ln>
                  <a:noFill/>
                </a:ln>
                <a:effectLst/>
              </a:rPr>
              <a:t>100 &gt; 100</a:t>
            </a:r>
            <a:r>
              <a:rPr kumimoji="0" lang="en-US" altLang="en-US" sz="2200" b="0" i="0" u="none" strike="noStrike" cap="none" normalizeH="0" baseline="0" dirty="0">
                <a:ln>
                  <a:noFill/>
                </a:ln>
                <a:effectLst/>
              </a:rPr>
              <a:t>, is </a:t>
            </a:r>
            <a:r>
              <a:rPr kumimoji="0" lang="en-US" altLang="en-US" sz="2200" b="1" i="0" u="none" strike="noStrike" cap="none" normalizeH="0" baseline="0" dirty="0">
                <a:ln>
                  <a:noFill/>
                </a:ln>
                <a:effectLst/>
              </a:rPr>
              <a:t>False</a:t>
            </a:r>
            <a:r>
              <a:rPr kumimoji="0" lang="en-US" altLang="en-US" sz="2200" b="0" i="0" u="none" strike="noStrike" cap="none" normalizeH="0" baseline="0" dirty="0">
                <a:ln>
                  <a:noFill/>
                </a:ln>
                <a:effectLst/>
              </a:rPr>
              <a:t> (because 100 is not greater than 100), the whole expression is </a:t>
            </a:r>
            <a:r>
              <a:rPr kumimoji="0" lang="en-US" altLang="en-US" sz="2200" b="1" i="0" u="none" strike="noStrike" cap="none" normalizeH="0" baseline="0" dirty="0">
                <a:ln>
                  <a:noFill/>
                </a:ln>
                <a:effectLst/>
              </a:rPr>
              <a:t>False</a:t>
            </a:r>
            <a:r>
              <a:rPr kumimoji="0" lang="en-US" altLang="en-US" sz="2200" b="0" i="0" u="none" strike="noStrike" cap="none" normalizeH="0" baseline="0" dirty="0">
                <a:ln>
                  <a:noFill/>
                </a:ln>
                <a:effectLst/>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rPr>
              <a:t>So, the final output for </a:t>
            </a:r>
            <a:r>
              <a:rPr kumimoji="0" lang="en-US" altLang="en-US" sz="2200" b="1" i="0" u="none" strike="noStrike" cap="none" normalizeH="0" baseline="0" dirty="0">
                <a:ln>
                  <a:noFill/>
                </a:ln>
                <a:effectLst/>
              </a:rPr>
              <a:t>x = 10</a:t>
            </a:r>
            <a:r>
              <a:rPr kumimoji="0" lang="en-US" altLang="en-US" sz="2200" b="0" i="0" u="none" strike="noStrike" cap="none" normalizeH="0" baseline="0" dirty="0">
                <a:ln>
                  <a:noFill/>
                </a:ln>
                <a:effectLst/>
              </a:rPr>
              <a:t> and </a:t>
            </a:r>
            <a:r>
              <a:rPr kumimoji="0" lang="en-US" altLang="en-US" sz="2200" b="1" i="0" u="none" strike="noStrike" cap="none" normalizeH="0" baseline="0" dirty="0">
                <a:ln>
                  <a:noFill/>
                </a:ln>
                <a:effectLst/>
              </a:rPr>
              <a:t>y = 50</a:t>
            </a:r>
            <a:r>
              <a:rPr kumimoji="0" lang="en-US" altLang="en-US" sz="2200" b="0" i="0" u="none" strike="noStrike" cap="none" normalizeH="0" baseline="0" dirty="0">
                <a:ln>
                  <a:noFill/>
                </a:ln>
                <a:effectLst/>
              </a:rPr>
              <a:t> is </a:t>
            </a:r>
            <a:r>
              <a:rPr kumimoji="0" lang="en-US" altLang="en-US" sz="2200" b="1" i="0" u="none" strike="noStrike" cap="none" normalizeH="0" baseline="0" dirty="0">
                <a:ln>
                  <a:noFill/>
                </a:ln>
                <a:effectLst/>
              </a:rPr>
              <a:t>False</a:t>
            </a:r>
            <a:r>
              <a:rPr kumimoji="0" lang="en-US" altLang="en-US" sz="2200" b="0" i="0" u="none" strike="noStrike" cap="none" normalizeH="0" baseline="0" dirty="0">
                <a:ln>
                  <a:noFill/>
                </a:ln>
                <a:effectLst/>
              </a:rPr>
              <a:t>.</a:t>
            </a:r>
          </a:p>
        </p:txBody>
      </p:sp>
    </p:spTree>
    <p:extLst>
      <p:ext uri="{BB962C8B-B14F-4D97-AF65-F5344CB8AC3E}">
        <p14:creationId xmlns:p14="http://schemas.microsoft.com/office/powerpoint/2010/main" val="1147997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19595" y="0"/>
            <a:ext cx="11739881" cy="2625437"/>
          </a:xfrm>
        </p:spPr>
        <p:txBody>
          <a:bodyPr>
            <a:normAutofit/>
          </a:bodyPr>
          <a:lstStyle/>
          <a:p>
            <a:pPr marL="0" indent="0" algn="just">
              <a:buNone/>
            </a:pPr>
            <a:r>
              <a:rPr lang="en-US" sz="2000" dirty="0">
                <a:solidFill>
                  <a:srgbClr val="FF0000"/>
                </a:solidFill>
              </a:rPr>
              <a:t>Write a python program which prompts a user to enter the Basic salary to calculate the Total salary of an Employee considering the bonus and conveyance offered to him. Display the Total salary with two digits after the decimal point.</a:t>
            </a:r>
          </a:p>
          <a:p>
            <a:pPr marL="0" indent="0" algn="just">
              <a:buNone/>
            </a:pPr>
            <a:r>
              <a:rPr lang="en-US" sz="2000" dirty="0">
                <a:solidFill>
                  <a:srgbClr val="FF0000"/>
                </a:solidFill>
              </a:rPr>
              <a:t>HRA = 20% of Basic</a:t>
            </a:r>
          </a:p>
          <a:p>
            <a:pPr marL="0" indent="0" algn="just">
              <a:buNone/>
            </a:pPr>
            <a:r>
              <a:rPr lang="en-US" sz="2000" dirty="0">
                <a:solidFill>
                  <a:srgbClr val="FF0000"/>
                </a:solidFill>
              </a:rPr>
              <a:t>DA = 105 % of Basic</a:t>
            </a:r>
          </a:p>
          <a:p>
            <a:pPr marL="0" indent="0" algn="just">
              <a:buNone/>
            </a:pPr>
            <a:r>
              <a:rPr lang="en-US" sz="2000" dirty="0">
                <a:solidFill>
                  <a:srgbClr val="FF0000"/>
                </a:solidFill>
              </a:rPr>
              <a:t>Conveyance = Rs1300</a:t>
            </a:r>
          </a:p>
          <a:p>
            <a:pPr marL="0" indent="0" algn="just">
              <a:buNone/>
            </a:pPr>
            <a:r>
              <a:rPr lang="en-US" sz="2000" dirty="0">
                <a:solidFill>
                  <a:srgbClr val="FF0000"/>
                </a:solidFill>
              </a:rPr>
              <a:t>Bonus = Rs1000</a:t>
            </a:r>
          </a:p>
        </p:txBody>
      </p:sp>
      <p:sp>
        <p:nvSpPr>
          <p:cNvPr id="3" name="TextBox 2">
            <a:extLst>
              <a:ext uri="{FF2B5EF4-FFF2-40B4-BE49-F238E27FC236}">
                <a16:creationId xmlns:a16="http://schemas.microsoft.com/office/drawing/2014/main" id="{30481289-FE1F-AA9F-D782-1DBC88DDBDA8}"/>
              </a:ext>
            </a:extLst>
          </p:cNvPr>
          <p:cNvSpPr txBox="1"/>
          <p:nvPr/>
        </p:nvSpPr>
        <p:spPr>
          <a:xfrm>
            <a:off x="3570515" y="2232016"/>
            <a:ext cx="8601889" cy="3447098"/>
          </a:xfrm>
          <a:prstGeom prst="rect">
            <a:avLst/>
          </a:prstGeom>
          <a:noFill/>
        </p:spPr>
        <p:txBody>
          <a:bodyPr wrap="square">
            <a:spAutoFit/>
          </a:bodyPr>
          <a:lstStyle/>
          <a:p>
            <a:r>
              <a:rPr lang="en-IN" sz="2000" b="1" dirty="0"/>
              <a:t>Code:</a:t>
            </a:r>
          </a:p>
          <a:p>
            <a:r>
              <a:rPr lang="en-IN" dirty="0">
                <a:latin typeface="Cascadia Code" panose="020B0609020000020004" pitchFamily="49" charset="0"/>
                <a:ea typeface="Cascadia Code" panose="020B0609020000020004" pitchFamily="49" charset="0"/>
                <a:cs typeface="Cascadia Code" panose="020B0609020000020004" pitchFamily="49" charset="0"/>
              </a:rPr>
              <a:t># Get the basic salary from the user</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err="1">
                <a:latin typeface="Cascadia Code" panose="020B0609020000020004" pitchFamily="49" charset="0"/>
                <a:ea typeface="Cascadia Code" panose="020B0609020000020004" pitchFamily="49" charset="0"/>
                <a:cs typeface="Cascadia Code" panose="020B0609020000020004" pitchFamily="49" charset="0"/>
              </a:rPr>
              <a:t>basic_salary</a:t>
            </a:r>
            <a:r>
              <a:rPr lang="en-IN" dirty="0">
                <a:latin typeface="Cascadia Code" panose="020B0609020000020004" pitchFamily="49" charset="0"/>
                <a:ea typeface="Cascadia Code" panose="020B0609020000020004" pitchFamily="49" charset="0"/>
                <a:cs typeface="Cascadia Code" panose="020B0609020000020004" pitchFamily="49" charset="0"/>
              </a:rPr>
              <a:t> = float(input("Enter the Basic salary: "))</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err="1">
                <a:latin typeface="Cascadia Code" panose="020B0609020000020004" pitchFamily="49" charset="0"/>
                <a:ea typeface="Cascadia Code" panose="020B0609020000020004" pitchFamily="49" charset="0"/>
                <a:cs typeface="Cascadia Code" panose="020B0609020000020004" pitchFamily="49" charset="0"/>
              </a:rPr>
              <a:t>hra</a:t>
            </a:r>
            <a:r>
              <a:rPr lang="en-IN" dirty="0">
                <a:latin typeface="Cascadia Code" panose="020B0609020000020004" pitchFamily="49" charset="0"/>
                <a:ea typeface="Cascadia Code" panose="020B0609020000020004" pitchFamily="49" charset="0"/>
                <a:cs typeface="Cascadia Code" panose="020B0609020000020004" pitchFamily="49" charset="0"/>
              </a:rPr>
              <a:t> = 0.20 * </a:t>
            </a:r>
            <a:r>
              <a:rPr lang="en-IN" dirty="0" err="1">
                <a:latin typeface="Cascadia Code" panose="020B0609020000020004" pitchFamily="49" charset="0"/>
                <a:ea typeface="Cascadia Code" panose="020B0609020000020004" pitchFamily="49" charset="0"/>
                <a:cs typeface="Cascadia Code" panose="020B0609020000020004" pitchFamily="49" charset="0"/>
              </a:rPr>
              <a:t>basic_salary</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da = 1.05 * </a:t>
            </a:r>
            <a:r>
              <a:rPr lang="en-IN" dirty="0" err="1">
                <a:latin typeface="Cascadia Code" panose="020B0609020000020004" pitchFamily="49" charset="0"/>
                <a:ea typeface="Cascadia Code" panose="020B0609020000020004" pitchFamily="49" charset="0"/>
                <a:cs typeface="Cascadia Code" panose="020B0609020000020004" pitchFamily="49" charset="0"/>
              </a:rPr>
              <a:t>basic_salary</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conveyance = 1300</a:t>
            </a:r>
          </a:p>
          <a:p>
            <a:r>
              <a:rPr lang="en-IN" dirty="0">
                <a:latin typeface="Cascadia Code" panose="020B0609020000020004" pitchFamily="49" charset="0"/>
                <a:ea typeface="Cascadia Code" panose="020B0609020000020004" pitchFamily="49" charset="0"/>
                <a:cs typeface="Cascadia Code" panose="020B0609020000020004" pitchFamily="49" charset="0"/>
              </a:rPr>
              <a:t>bonus = 1000</a:t>
            </a:r>
          </a:p>
          <a:p>
            <a:r>
              <a:rPr lang="en-IN" dirty="0" err="1">
                <a:latin typeface="Cascadia Code" panose="020B0609020000020004" pitchFamily="49" charset="0"/>
                <a:ea typeface="Cascadia Code" panose="020B0609020000020004" pitchFamily="49" charset="0"/>
                <a:cs typeface="Cascadia Code" panose="020B0609020000020004" pitchFamily="49" charset="0"/>
              </a:rPr>
              <a:t>total_salary</a:t>
            </a:r>
            <a:r>
              <a:rPr lang="en-IN" dirty="0">
                <a:latin typeface="Cascadia Code" panose="020B0609020000020004" pitchFamily="49" charset="0"/>
                <a:ea typeface="Cascadia Code" panose="020B0609020000020004" pitchFamily="49" charset="0"/>
                <a:cs typeface="Cascadia Code" panose="020B0609020000020004" pitchFamily="49" charset="0"/>
              </a:rPr>
              <a:t> = </a:t>
            </a:r>
            <a:r>
              <a:rPr lang="en-IN" dirty="0" err="1">
                <a:latin typeface="Cascadia Code" panose="020B0609020000020004" pitchFamily="49" charset="0"/>
                <a:ea typeface="Cascadia Code" panose="020B0609020000020004" pitchFamily="49" charset="0"/>
                <a:cs typeface="Cascadia Code" panose="020B0609020000020004" pitchFamily="49" charset="0"/>
              </a:rPr>
              <a:t>basic_salary</a:t>
            </a:r>
            <a:r>
              <a:rPr lang="en-IN" dirty="0">
                <a:latin typeface="Cascadia Code" panose="020B0609020000020004" pitchFamily="49" charset="0"/>
                <a:ea typeface="Cascadia Code" panose="020B0609020000020004" pitchFamily="49" charset="0"/>
                <a:cs typeface="Cascadia Code" panose="020B0609020000020004" pitchFamily="49" charset="0"/>
              </a:rPr>
              <a:t> + </a:t>
            </a:r>
            <a:r>
              <a:rPr lang="en-IN" dirty="0" err="1">
                <a:latin typeface="Cascadia Code" panose="020B0609020000020004" pitchFamily="49" charset="0"/>
                <a:ea typeface="Cascadia Code" panose="020B0609020000020004" pitchFamily="49" charset="0"/>
                <a:cs typeface="Cascadia Code" panose="020B0609020000020004" pitchFamily="49" charset="0"/>
              </a:rPr>
              <a:t>hra</a:t>
            </a:r>
            <a:r>
              <a:rPr lang="en-IN" dirty="0">
                <a:latin typeface="Cascadia Code" panose="020B0609020000020004" pitchFamily="49" charset="0"/>
                <a:ea typeface="Cascadia Code" panose="020B0609020000020004" pitchFamily="49" charset="0"/>
                <a:cs typeface="Cascadia Code" panose="020B0609020000020004" pitchFamily="49" charset="0"/>
              </a:rPr>
              <a:t> + da + conveyance + bonus</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print(</a:t>
            </a:r>
            <a:r>
              <a:rPr lang="en-IN" dirty="0" err="1">
                <a:latin typeface="Cascadia Code" panose="020B0609020000020004" pitchFamily="49" charset="0"/>
                <a:ea typeface="Cascadia Code" panose="020B0609020000020004" pitchFamily="49" charset="0"/>
                <a:cs typeface="Cascadia Code" panose="020B0609020000020004" pitchFamily="49" charset="0"/>
              </a:rPr>
              <a:t>f"Total</a:t>
            </a:r>
            <a:r>
              <a:rPr lang="en-IN" dirty="0">
                <a:latin typeface="Cascadia Code" panose="020B0609020000020004" pitchFamily="49" charset="0"/>
                <a:ea typeface="Cascadia Code" panose="020B0609020000020004" pitchFamily="49" charset="0"/>
                <a:cs typeface="Cascadia Code" panose="020B0609020000020004" pitchFamily="49" charset="0"/>
              </a:rPr>
              <a:t> Salary: {total_salary:.2f}")</a:t>
            </a:r>
          </a:p>
        </p:txBody>
      </p:sp>
    </p:spTree>
    <p:extLst>
      <p:ext uri="{BB962C8B-B14F-4D97-AF65-F5344CB8AC3E}">
        <p14:creationId xmlns:p14="http://schemas.microsoft.com/office/powerpoint/2010/main" val="10709685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Decision making (or) conditional Statements</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a:bodyPr>
          <a:lstStyle/>
          <a:p>
            <a:r>
              <a:rPr lang="en-US" sz="3200" dirty="0"/>
              <a:t>Decision making is required when we want to execute a code only if a certain condition is satisfied.</a:t>
            </a:r>
          </a:p>
          <a:p>
            <a:pPr marL="514350" indent="-514350">
              <a:buFont typeface="+mj-lt"/>
              <a:buAutoNum type="arabicPeriod"/>
            </a:pPr>
            <a:r>
              <a:rPr lang="en-US" sz="3200" dirty="0"/>
              <a:t>The if statement</a:t>
            </a:r>
          </a:p>
          <a:p>
            <a:pPr marL="514350" indent="-514350">
              <a:buFont typeface="+mj-lt"/>
              <a:buAutoNum type="arabicPeriod"/>
            </a:pPr>
            <a:r>
              <a:rPr lang="en-US" sz="3200" dirty="0"/>
              <a:t>The if else statement</a:t>
            </a:r>
          </a:p>
          <a:p>
            <a:pPr marL="514350" indent="-514350">
              <a:buFont typeface="+mj-lt"/>
              <a:buAutoNum type="arabicPeriod"/>
            </a:pPr>
            <a:r>
              <a:rPr lang="en-US" sz="3200" dirty="0"/>
              <a:t>if...elif...else Statement</a:t>
            </a:r>
          </a:p>
          <a:p>
            <a:pPr marL="514350" indent="-514350">
              <a:buFont typeface="+mj-lt"/>
              <a:buAutoNum type="arabicPeriod"/>
            </a:pPr>
            <a:r>
              <a:rPr lang="en-US" sz="3200" dirty="0"/>
              <a:t>Nested if statements</a:t>
            </a:r>
          </a:p>
          <a:p>
            <a:pPr>
              <a:buNone/>
            </a:pPr>
            <a:endParaRPr lang="en-US" sz="3200" dirty="0"/>
          </a:p>
        </p:txBody>
      </p:sp>
    </p:spTree>
    <p:extLst>
      <p:ext uri="{BB962C8B-B14F-4D97-AF65-F5344CB8AC3E}">
        <p14:creationId xmlns:p14="http://schemas.microsoft.com/office/powerpoint/2010/main" val="1913879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if statement</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fontScale="92500" lnSpcReduction="20000"/>
          </a:bodyPr>
          <a:lstStyle/>
          <a:p>
            <a:pPr algn="just">
              <a:buNone/>
            </a:pPr>
            <a:r>
              <a:rPr lang="en-US" sz="3200" b="1" dirty="0">
                <a:solidFill>
                  <a:srgbClr val="FF0000"/>
                </a:solidFill>
              </a:rPr>
              <a:t>Syntax:</a:t>
            </a:r>
          </a:p>
          <a:p>
            <a:pPr algn="just">
              <a:buNone/>
            </a:pPr>
            <a:r>
              <a:rPr lang="en-US" sz="3200" dirty="0"/>
              <a:t>if test expression: </a:t>
            </a:r>
          </a:p>
          <a:p>
            <a:pPr algn="just">
              <a:buNone/>
            </a:pPr>
            <a:r>
              <a:rPr lang="en-US" sz="3200" dirty="0"/>
              <a:t>		statement(s)</a:t>
            </a:r>
          </a:p>
          <a:p>
            <a:pPr algn="just">
              <a:buNone/>
            </a:pPr>
            <a:endParaRPr lang="en-US" sz="3200" dirty="0"/>
          </a:p>
          <a:p>
            <a:pPr algn="just">
              <a:buNone/>
            </a:pPr>
            <a:endParaRPr lang="en-US" sz="3200" dirty="0"/>
          </a:p>
          <a:p>
            <a:pPr algn="just"/>
            <a:r>
              <a:rPr lang="en-US" sz="3200" dirty="0"/>
              <a:t>Here, the program evaluates the test expression and will execute statement(s) only if the text expression is True.</a:t>
            </a:r>
          </a:p>
          <a:p>
            <a:pPr algn="just"/>
            <a:r>
              <a:rPr lang="en-US" sz="3200" dirty="0"/>
              <a:t>If the text expression is False, the statement(s) is not executed.</a:t>
            </a:r>
          </a:p>
          <a:p>
            <a:pPr algn="just"/>
            <a:r>
              <a:rPr lang="en-US" sz="3200" dirty="0"/>
              <a:t>In Python, the body of the if statement is indicated by the indentation. </a:t>
            </a:r>
          </a:p>
          <a:p>
            <a:pPr algn="just"/>
            <a:r>
              <a:rPr lang="en-US" sz="3200" dirty="0"/>
              <a:t>Body starts with an indentation and the first unindented line marks the end.</a:t>
            </a:r>
          </a:p>
          <a:p>
            <a:pPr algn="just">
              <a:buNone/>
            </a:pPr>
            <a:endParaRPr lang="en-US" sz="3200" dirty="0"/>
          </a:p>
        </p:txBody>
      </p:sp>
    </p:spTree>
    <p:extLst>
      <p:ext uri="{BB962C8B-B14F-4D97-AF65-F5344CB8AC3E}">
        <p14:creationId xmlns:p14="http://schemas.microsoft.com/office/powerpoint/2010/main" val="3069753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dirty="0">
                <a:solidFill>
                  <a:srgbClr val="FF0000"/>
                </a:solidFill>
              </a:rPr>
              <a:t>if statement</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a:bodyPr>
          <a:lstStyle/>
          <a:p>
            <a:pPr algn="just">
              <a:buNone/>
            </a:pPr>
            <a:r>
              <a:rPr lang="en-US" sz="3200" dirty="0"/>
              <a:t>num = 3</a:t>
            </a:r>
          </a:p>
          <a:p>
            <a:pPr algn="just">
              <a:buNone/>
            </a:pPr>
            <a:r>
              <a:rPr lang="en-US" sz="3200" dirty="0"/>
              <a:t>if num&gt;0:    </a:t>
            </a:r>
          </a:p>
          <a:p>
            <a:pPr algn="just">
              <a:buNone/>
            </a:pPr>
            <a:r>
              <a:rPr lang="en-US" sz="3200" dirty="0"/>
              <a:t>		print(num, "is a positive number.")</a:t>
            </a:r>
          </a:p>
          <a:p>
            <a:pPr algn="just">
              <a:buNone/>
            </a:pPr>
            <a:r>
              <a:rPr lang="en-US" sz="3200" dirty="0"/>
              <a:t>print("This is always printed.")</a:t>
            </a:r>
          </a:p>
        </p:txBody>
      </p:sp>
    </p:spTree>
    <p:extLst>
      <p:ext uri="{BB962C8B-B14F-4D97-AF65-F5344CB8AC3E}">
        <p14:creationId xmlns:p14="http://schemas.microsoft.com/office/powerpoint/2010/main" val="1207931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if...else Statement</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a:bodyPr>
          <a:lstStyle/>
          <a:p>
            <a:pPr>
              <a:buNone/>
            </a:pPr>
            <a:r>
              <a:rPr lang="en-US" sz="3200" b="1" dirty="0">
                <a:solidFill>
                  <a:srgbClr val="FF0000"/>
                </a:solidFill>
              </a:rPr>
              <a:t>Syntax:</a:t>
            </a:r>
          </a:p>
          <a:p>
            <a:pPr>
              <a:buNone/>
            </a:pPr>
            <a:r>
              <a:rPr lang="en-US" sz="3200" dirty="0"/>
              <a:t>if test expression:</a:t>
            </a:r>
          </a:p>
          <a:p>
            <a:pPr>
              <a:buNone/>
            </a:pPr>
            <a:r>
              <a:rPr lang="en-US" sz="3200" dirty="0"/>
              <a:t> 		</a:t>
            </a:r>
            <a:r>
              <a:rPr lang="en-US" sz="3200" dirty="0">
                <a:solidFill>
                  <a:srgbClr val="7030A0"/>
                </a:solidFill>
              </a:rPr>
              <a:t>Body of if</a:t>
            </a:r>
          </a:p>
          <a:p>
            <a:pPr>
              <a:buNone/>
            </a:pPr>
            <a:r>
              <a:rPr lang="en-US" sz="3200" dirty="0"/>
              <a:t> else: </a:t>
            </a:r>
          </a:p>
          <a:p>
            <a:pPr>
              <a:buNone/>
            </a:pPr>
            <a:r>
              <a:rPr lang="en-US" sz="3200" dirty="0"/>
              <a:t>		</a:t>
            </a:r>
            <a:r>
              <a:rPr lang="en-US" sz="3200" dirty="0">
                <a:solidFill>
                  <a:srgbClr val="00B0F0"/>
                </a:solidFill>
              </a:rPr>
              <a:t>Body of else</a:t>
            </a:r>
          </a:p>
          <a:p>
            <a:r>
              <a:rPr lang="en-US" sz="3200" dirty="0"/>
              <a:t>The if..else statement evaluates test expression and will execute body of if only when test condition is True.</a:t>
            </a:r>
          </a:p>
          <a:p>
            <a:r>
              <a:rPr lang="en-US" sz="3200" dirty="0"/>
              <a:t>If the condition is False, body of else is executed. </a:t>
            </a:r>
          </a:p>
          <a:p>
            <a:r>
              <a:rPr lang="en-US" sz="3200" dirty="0"/>
              <a:t>Indentation is used to separate the blocks.</a:t>
            </a:r>
          </a:p>
          <a:p>
            <a:pPr>
              <a:buNone/>
            </a:pPr>
            <a:endParaRPr lang="en-US" sz="3200" dirty="0"/>
          </a:p>
        </p:txBody>
      </p:sp>
    </p:spTree>
    <p:extLst>
      <p:ext uri="{BB962C8B-B14F-4D97-AF65-F5344CB8AC3E}">
        <p14:creationId xmlns:p14="http://schemas.microsoft.com/office/powerpoint/2010/main" val="20210392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if...else Statement</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a:bodyPr>
          <a:lstStyle/>
          <a:p>
            <a:pPr>
              <a:buNone/>
            </a:pPr>
            <a:r>
              <a:rPr lang="en-US" sz="3200" dirty="0"/>
              <a:t>no=input("enter number")</a:t>
            </a:r>
          </a:p>
          <a:p>
            <a:pPr>
              <a:buNone/>
            </a:pPr>
            <a:r>
              <a:rPr lang="en-US" sz="3200" dirty="0"/>
              <a:t>no=</a:t>
            </a:r>
            <a:r>
              <a:rPr lang="en-US" sz="3200" dirty="0" err="1"/>
              <a:t>int</a:t>
            </a:r>
            <a:r>
              <a:rPr lang="en-US" sz="3200" dirty="0"/>
              <a:t>(no)</a:t>
            </a:r>
          </a:p>
          <a:p>
            <a:pPr>
              <a:buNone/>
            </a:pPr>
            <a:r>
              <a:rPr lang="en-US" sz="3200" dirty="0"/>
              <a:t>if(no%5==0 and no%11==0):</a:t>
            </a:r>
          </a:p>
          <a:p>
            <a:pPr>
              <a:buNone/>
            </a:pPr>
            <a:r>
              <a:rPr lang="en-US" sz="3200" dirty="0"/>
              <a:t>   	print("number is divisible by 5 and 11")</a:t>
            </a:r>
          </a:p>
          <a:p>
            <a:pPr>
              <a:buNone/>
            </a:pPr>
            <a:r>
              <a:rPr lang="en-US" sz="3200" dirty="0"/>
              <a:t>else:</a:t>
            </a:r>
          </a:p>
          <a:p>
            <a:pPr>
              <a:buNone/>
            </a:pPr>
            <a:r>
              <a:rPr lang="en-US" sz="3200" dirty="0"/>
              <a:t>  		 print("number is not divisible by 5 and 11")</a:t>
            </a:r>
          </a:p>
        </p:txBody>
      </p:sp>
    </p:spTree>
    <p:extLst>
      <p:ext uri="{BB962C8B-B14F-4D97-AF65-F5344CB8AC3E}">
        <p14:creationId xmlns:p14="http://schemas.microsoft.com/office/powerpoint/2010/main" val="21480211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if...elif...else Statement</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3715656"/>
          </a:xfrm>
        </p:spPr>
        <p:txBody>
          <a:bodyPr>
            <a:normAutofit/>
          </a:bodyPr>
          <a:lstStyle/>
          <a:p>
            <a:pPr>
              <a:buNone/>
            </a:pPr>
            <a:r>
              <a:rPr lang="en-US" sz="3200" dirty="0"/>
              <a:t>if condition1:</a:t>
            </a:r>
          </a:p>
          <a:p>
            <a:pPr>
              <a:buNone/>
            </a:pPr>
            <a:r>
              <a:rPr lang="en-US" sz="3200" dirty="0"/>
              <a:t>    	</a:t>
            </a:r>
            <a:r>
              <a:rPr lang="en-US" sz="3200" dirty="0">
                <a:solidFill>
                  <a:srgbClr val="7030A0"/>
                </a:solidFill>
              </a:rPr>
              <a:t># Code to be executed if condition1 is True</a:t>
            </a:r>
          </a:p>
          <a:p>
            <a:pPr>
              <a:buNone/>
            </a:pPr>
            <a:r>
              <a:rPr lang="en-US" sz="3200" dirty="0"/>
              <a:t>elif condition2:</a:t>
            </a:r>
          </a:p>
          <a:p>
            <a:pPr>
              <a:buNone/>
            </a:pPr>
            <a:r>
              <a:rPr lang="en-US" sz="3200" dirty="0"/>
              <a:t>    	</a:t>
            </a:r>
            <a:r>
              <a:rPr lang="en-US" sz="3200" dirty="0">
                <a:solidFill>
                  <a:srgbClr val="0070C0"/>
                </a:solidFill>
              </a:rPr>
              <a:t># Code to be executed if condition2 is True</a:t>
            </a:r>
          </a:p>
          <a:p>
            <a:pPr>
              <a:buNone/>
            </a:pPr>
            <a:r>
              <a:rPr lang="en-US" sz="3200" dirty="0"/>
              <a:t>else:</a:t>
            </a:r>
          </a:p>
          <a:p>
            <a:pPr>
              <a:buNone/>
            </a:pPr>
            <a:r>
              <a:rPr lang="en-US" sz="3200" dirty="0"/>
              <a:t>    	</a:t>
            </a:r>
            <a:r>
              <a:rPr lang="en-US" sz="3200" dirty="0">
                <a:solidFill>
                  <a:srgbClr val="C00000"/>
                </a:solidFill>
              </a:rPr>
              <a:t># Code to be executed if none of the conditions are True</a:t>
            </a:r>
          </a:p>
        </p:txBody>
      </p:sp>
      <p:sp>
        <p:nvSpPr>
          <p:cNvPr id="5" name="TextBox 4">
            <a:extLst>
              <a:ext uri="{FF2B5EF4-FFF2-40B4-BE49-F238E27FC236}">
                <a16:creationId xmlns:a16="http://schemas.microsoft.com/office/drawing/2014/main" id="{530E9465-D678-CCE6-DE86-5559E5816C35}"/>
              </a:ext>
            </a:extLst>
          </p:cNvPr>
          <p:cNvSpPr txBox="1"/>
          <p:nvPr/>
        </p:nvSpPr>
        <p:spPr>
          <a:xfrm>
            <a:off x="-2" y="5246093"/>
            <a:ext cx="12192002" cy="830997"/>
          </a:xfrm>
          <a:prstGeom prst="rect">
            <a:avLst/>
          </a:prstGeom>
          <a:noFill/>
        </p:spPr>
        <p:txBody>
          <a:bodyPr wrap="square">
            <a:spAutoFit/>
          </a:bodyPr>
          <a:lstStyle/>
          <a:p>
            <a:pPr marL="342900" indent="-342900">
              <a:buFont typeface="Arial" panose="020B0604020202020204" pitchFamily="34" charset="0"/>
              <a:buChar char="•"/>
            </a:pPr>
            <a:r>
              <a:rPr lang="en-US" sz="2400" b="1" dirty="0"/>
              <a:t>if...elif...else Statement  </a:t>
            </a:r>
            <a:r>
              <a:rPr lang="en-US" sz="2400" b="0" i="0" dirty="0">
                <a:effectLst/>
              </a:rPr>
              <a:t>allows you to execute different blocks of code based on specified conditions. </a:t>
            </a:r>
            <a:endParaRPr lang="en-IN" sz="2400" dirty="0"/>
          </a:p>
        </p:txBody>
      </p:sp>
    </p:spTree>
    <p:extLst>
      <p:ext uri="{BB962C8B-B14F-4D97-AF65-F5344CB8AC3E}">
        <p14:creationId xmlns:p14="http://schemas.microsoft.com/office/powerpoint/2010/main" val="23832077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if...elif...else Statement</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a:bodyPr>
          <a:lstStyle/>
          <a:p>
            <a:pPr algn="just"/>
            <a:r>
              <a:rPr lang="en-US" sz="3200" dirty="0"/>
              <a:t>If the condition for if is False, it checks the condition of the next elif block and so on.</a:t>
            </a:r>
          </a:p>
          <a:p>
            <a:pPr algn="just"/>
            <a:r>
              <a:rPr lang="en-US" sz="3200" dirty="0"/>
              <a:t>If all the conditions are False, body of else is executed.</a:t>
            </a:r>
          </a:p>
          <a:p>
            <a:pPr algn="just"/>
            <a:r>
              <a:rPr lang="en-US" sz="3200" dirty="0"/>
              <a:t>Only one block among the several if...elif...else blocks is executed according to the condition.</a:t>
            </a:r>
          </a:p>
          <a:p>
            <a:pPr algn="just"/>
            <a:r>
              <a:rPr lang="en-US" sz="3200" dirty="0"/>
              <a:t>The if block can have only one else block. But it can have multiple elif blocks.</a:t>
            </a:r>
          </a:p>
          <a:p>
            <a:pPr algn="just">
              <a:buNone/>
            </a:pPr>
            <a:endParaRPr lang="en-US" sz="3200" dirty="0"/>
          </a:p>
        </p:txBody>
      </p:sp>
    </p:spTree>
    <p:extLst>
      <p:ext uri="{BB962C8B-B14F-4D97-AF65-F5344CB8AC3E}">
        <p14:creationId xmlns:p14="http://schemas.microsoft.com/office/powerpoint/2010/main" val="39102757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br>
              <a:rPr lang="en-US" sz="3200" b="1" dirty="0">
                <a:solidFill>
                  <a:srgbClr val="FF0000"/>
                </a:solidFill>
              </a:rPr>
            </a:br>
            <a:r>
              <a:rPr lang="en-US" sz="3200" b="1" dirty="0">
                <a:solidFill>
                  <a:srgbClr val="FF0000"/>
                </a:solidFill>
              </a:rPr>
              <a:t>if...elif...else Statement</a:t>
            </a:r>
            <a:br>
              <a:rPr lang="en-US" sz="3200" b="1" dirty="0">
                <a:solidFill>
                  <a:srgbClr val="FF0000"/>
                </a:solidFill>
              </a:rPr>
            </a:br>
            <a:endParaRPr lang="en-US" sz="3200" dirty="0">
              <a:solidFill>
                <a:srgbClr val="FF0000"/>
              </a:solidFill>
            </a:endParaRP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a:bodyPr>
          <a:lstStyle/>
          <a:p>
            <a:pPr algn="just">
              <a:buNone/>
            </a:pPr>
            <a:r>
              <a:rPr lang="en-US" sz="3200" dirty="0"/>
              <a:t>a=</a:t>
            </a:r>
            <a:r>
              <a:rPr lang="en-US" sz="3200" dirty="0" err="1"/>
              <a:t>int</a:t>
            </a:r>
            <a:r>
              <a:rPr lang="en-US" sz="3200" dirty="0"/>
              <a:t>(input("enter numbers"))</a:t>
            </a:r>
          </a:p>
          <a:p>
            <a:pPr algn="just">
              <a:buNone/>
            </a:pPr>
            <a:r>
              <a:rPr lang="en-US" sz="3200" dirty="0"/>
              <a:t>b=</a:t>
            </a:r>
            <a:r>
              <a:rPr lang="en-US" sz="3200" dirty="0" err="1"/>
              <a:t>int</a:t>
            </a:r>
            <a:r>
              <a:rPr lang="en-US" sz="3200" dirty="0"/>
              <a:t>(input("enter numbers"))</a:t>
            </a:r>
          </a:p>
          <a:p>
            <a:pPr algn="just">
              <a:buNone/>
            </a:pPr>
            <a:r>
              <a:rPr lang="en-US" sz="3200" dirty="0"/>
              <a:t>c=</a:t>
            </a:r>
            <a:r>
              <a:rPr lang="en-US" sz="3200" dirty="0" err="1"/>
              <a:t>int</a:t>
            </a:r>
            <a:r>
              <a:rPr lang="en-US" sz="3200" dirty="0"/>
              <a:t>(input("enter numbers"))</a:t>
            </a:r>
          </a:p>
          <a:p>
            <a:pPr algn="just">
              <a:buNone/>
            </a:pPr>
            <a:r>
              <a:rPr lang="en-US" sz="3200" dirty="0"/>
              <a:t>if(a&gt;b and a&gt;c):</a:t>
            </a:r>
          </a:p>
          <a:p>
            <a:pPr algn="just">
              <a:buNone/>
            </a:pPr>
            <a:r>
              <a:rPr lang="en-US" sz="3200" dirty="0"/>
              <a:t>   print(</a:t>
            </a:r>
            <a:r>
              <a:rPr lang="en-US" sz="3200" dirty="0" err="1"/>
              <a:t>a,"is</a:t>
            </a:r>
            <a:r>
              <a:rPr lang="en-US" sz="3200" dirty="0"/>
              <a:t> big")</a:t>
            </a:r>
          </a:p>
          <a:p>
            <a:pPr algn="just">
              <a:buNone/>
            </a:pPr>
            <a:r>
              <a:rPr lang="en-US" sz="3200" dirty="0"/>
              <a:t>elif b&gt;c:</a:t>
            </a:r>
          </a:p>
          <a:p>
            <a:pPr algn="just">
              <a:buNone/>
            </a:pPr>
            <a:r>
              <a:rPr lang="en-US" sz="3200" dirty="0"/>
              <a:t>   print(</a:t>
            </a:r>
            <a:r>
              <a:rPr lang="en-US" sz="3200" dirty="0" err="1"/>
              <a:t>b,"is</a:t>
            </a:r>
            <a:r>
              <a:rPr lang="en-US" sz="3200" dirty="0"/>
              <a:t> big")</a:t>
            </a:r>
          </a:p>
          <a:p>
            <a:pPr algn="just">
              <a:buNone/>
            </a:pPr>
            <a:r>
              <a:rPr lang="en-US" sz="3200" dirty="0"/>
              <a:t>else:</a:t>
            </a:r>
          </a:p>
          <a:p>
            <a:pPr algn="just">
              <a:buNone/>
            </a:pPr>
            <a:r>
              <a:rPr lang="en-US" sz="3200" dirty="0"/>
              <a:t>   print(</a:t>
            </a:r>
            <a:r>
              <a:rPr lang="en-US" sz="3200" dirty="0" err="1"/>
              <a:t>c,"is</a:t>
            </a:r>
            <a:r>
              <a:rPr lang="en-US" sz="3200" dirty="0"/>
              <a:t> big")</a:t>
            </a:r>
          </a:p>
        </p:txBody>
      </p:sp>
    </p:spTree>
    <p:extLst>
      <p:ext uri="{BB962C8B-B14F-4D97-AF65-F5344CB8AC3E}">
        <p14:creationId xmlns:p14="http://schemas.microsoft.com/office/powerpoint/2010/main" val="2581803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0456"/>
            <a:ext cx="10515600" cy="487190"/>
          </a:xfrm>
        </p:spPr>
        <p:txBody>
          <a:bodyPr>
            <a:noAutofit/>
          </a:bodyPr>
          <a:lstStyle/>
          <a:p>
            <a:r>
              <a:rPr lang="en-US" sz="3200" b="1" dirty="0">
                <a:solidFill>
                  <a:srgbClr val="FF0000"/>
                </a:solidFill>
              </a:rPr>
              <a:t>Nested if statement</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7" name="Content Placeholder 6"/>
          <p:cNvSpPr>
            <a:spLocks noGrp="1"/>
          </p:cNvSpPr>
          <p:nvPr>
            <p:ph idx="1"/>
          </p:nvPr>
        </p:nvSpPr>
        <p:spPr>
          <a:xfrm>
            <a:off x="838199" y="836024"/>
            <a:ext cx="11062063" cy="5340940"/>
          </a:xfrm>
        </p:spPr>
        <p:txBody>
          <a:bodyPr>
            <a:normAutofit fontScale="92500" lnSpcReduction="20000"/>
          </a:bodyPr>
          <a:lstStyle/>
          <a:p>
            <a:pPr algn="just"/>
            <a:r>
              <a:rPr lang="en-US" sz="3200" dirty="0"/>
              <a:t>We can have a if...elif...else statement inside another </a:t>
            </a:r>
          </a:p>
          <a:p>
            <a:pPr algn="just">
              <a:buNone/>
            </a:pPr>
            <a:r>
              <a:rPr lang="en-US" sz="3200" dirty="0"/>
              <a:t>if...elif...else statement. This is called nesting in computer programming.</a:t>
            </a:r>
          </a:p>
          <a:p>
            <a:pPr algn="just">
              <a:buNone/>
            </a:pPr>
            <a:r>
              <a:rPr lang="en-US" sz="3200" dirty="0">
                <a:solidFill>
                  <a:srgbClr val="FF0000"/>
                </a:solidFill>
              </a:rPr>
              <a:t>Example:</a:t>
            </a:r>
          </a:p>
          <a:p>
            <a:pPr algn="just">
              <a:buNone/>
            </a:pPr>
            <a:r>
              <a:rPr lang="en-US" sz="3200" dirty="0"/>
              <a:t>num = </a:t>
            </a:r>
            <a:r>
              <a:rPr lang="en-US" sz="3200" dirty="0" err="1"/>
              <a:t>int</a:t>
            </a:r>
            <a:r>
              <a:rPr lang="en-US" sz="3200" dirty="0"/>
              <a:t>(input("Enter a number: "))</a:t>
            </a:r>
          </a:p>
          <a:p>
            <a:pPr algn="just">
              <a:buNone/>
            </a:pPr>
            <a:r>
              <a:rPr lang="en-US" sz="3200" dirty="0"/>
              <a:t>if num &gt;= 0:</a:t>
            </a:r>
          </a:p>
          <a:p>
            <a:pPr algn="just">
              <a:buNone/>
            </a:pPr>
            <a:r>
              <a:rPr lang="en-US" sz="3200" dirty="0"/>
              <a:t>    if num == 0:</a:t>
            </a:r>
          </a:p>
          <a:p>
            <a:pPr algn="just">
              <a:buNone/>
            </a:pPr>
            <a:r>
              <a:rPr lang="en-US" sz="3200" dirty="0"/>
              <a:t>        print("Zero")</a:t>
            </a:r>
          </a:p>
          <a:p>
            <a:pPr algn="just">
              <a:buNone/>
            </a:pPr>
            <a:r>
              <a:rPr lang="en-US" sz="3200" dirty="0"/>
              <a:t>    else:</a:t>
            </a:r>
          </a:p>
          <a:p>
            <a:pPr algn="just">
              <a:buNone/>
            </a:pPr>
            <a:r>
              <a:rPr lang="en-US" sz="3200" dirty="0"/>
              <a:t>        print("Positive number")</a:t>
            </a:r>
          </a:p>
          <a:p>
            <a:pPr algn="just">
              <a:buNone/>
            </a:pPr>
            <a:r>
              <a:rPr lang="en-US" sz="3200" dirty="0"/>
              <a:t>else:</a:t>
            </a:r>
          </a:p>
          <a:p>
            <a:pPr algn="just">
              <a:buNone/>
            </a:pPr>
            <a:r>
              <a:rPr lang="en-US" sz="3200" dirty="0"/>
              <a:t>    print("Negative number")</a:t>
            </a:r>
          </a:p>
        </p:txBody>
      </p:sp>
    </p:spTree>
    <p:extLst>
      <p:ext uri="{BB962C8B-B14F-4D97-AF65-F5344CB8AC3E}">
        <p14:creationId xmlns:p14="http://schemas.microsoft.com/office/powerpoint/2010/main" val="40320153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9" name="Picture 8">
            <a:extLst>
              <a:ext uri="{FF2B5EF4-FFF2-40B4-BE49-F238E27FC236}">
                <a16:creationId xmlns:a16="http://schemas.microsoft.com/office/drawing/2014/main" id="{B0D03BAA-F26E-473A-63A6-ADE1C59591E6}"/>
              </a:ext>
            </a:extLst>
          </p:cNvPr>
          <p:cNvPicPr>
            <a:picLocks noChangeAspect="1"/>
          </p:cNvPicPr>
          <p:nvPr/>
        </p:nvPicPr>
        <p:blipFill>
          <a:blip r:embed="rId3"/>
          <a:stretch>
            <a:fillRect/>
          </a:stretch>
        </p:blipFill>
        <p:spPr>
          <a:xfrm>
            <a:off x="393700" y="157480"/>
            <a:ext cx="7967980" cy="660558"/>
          </a:xfrm>
          <a:prstGeom prst="rect">
            <a:avLst/>
          </a:prstGeom>
        </p:spPr>
      </p:pic>
      <p:sp>
        <p:nvSpPr>
          <p:cNvPr id="11" name="TextBox 10">
            <a:extLst>
              <a:ext uri="{FF2B5EF4-FFF2-40B4-BE49-F238E27FC236}">
                <a16:creationId xmlns:a16="http://schemas.microsoft.com/office/drawing/2014/main" id="{DE16A350-66FE-A6CD-46BC-267FCAB32A3C}"/>
              </a:ext>
            </a:extLst>
          </p:cNvPr>
          <p:cNvSpPr txBox="1"/>
          <p:nvPr/>
        </p:nvSpPr>
        <p:spPr>
          <a:xfrm>
            <a:off x="949960" y="1152023"/>
            <a:ext cx="6309360" cy="3964675"/>
          </a:xfrm>
          <a:prstGeom prst="rect">
            <a:avLst/>
          </a:prstGeom>
          <a:noFill/>
        </p:spPr>
        <p:txBody>
          <a:bodyPr wrap="square">
            <a:spAutoFit/>
          </a:bodyPr>
          <a:lstStyle/>
          <a:p>
            <a:pPr>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Program:</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signal=input ("enter signal")</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if(signal=="red"):</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    print("STOP")</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elif(signal=="orange"):</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    print ("Be slow")</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elif(signal=="green"):</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    print ("to go")</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else:</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a:p>
            <a:pPr>
              <a:lnSpc>
                <a:spcPct val="107000"/>
              </a:lnSpc>
              <a:spcAft>
                <a:spcPts val="800"/>
              </a:spcAft>
            </a:pPr>
            <a:r>
              <a:rPr lang="en-IN" sz="1800" kern="100" dirty="0">
                <a:effectLst/>
                <a:latin typeface="Cascadia Code" panose="020B0609020000020004" pitchFamily="49" charset="0"/>
                <a:ea typeface="Cascadia Code" panose="020B0609020000020004" pitchFamily="49" charset="0"/>
                <a:cs typeface="Cascadia Code" panose="020B0609020000020004" pitchFamily="49" charset="0"/>
              </a:rPr>
              <a:t>    print("error")</a:t>
            </a:r>
            <a:endParaRPr lang="en-IN" sz="1600" kern="100" dirty="0">
              <a:effectLst/>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12" name="Picture 11">
            <a:extLst>
              <a:ext uri="{FF2B5EF4-FFF2-40B4-BE49-F238E27FC236}">
                <a16:creationId xmlns:a16="http://schemas.microsoft.com/office/drawing/2014/main" id="{7E4A12FA-5E94-D885-EA7B-131C51EDD58E}"/>
              </a:ext>
            </a:extLst>
          </p:cNvPr>
          <p:cNvPicPr>
            <a:picLocks noChangeAspect="1"/>
          </p:cNvPicPr>
          <p:nvPr/>
        </p:nvPicPr>
        <p:blipFill>
          <a:blip r:embed="rId4"/>
          <a:stretch>
            <a:fillRect/>
          </a:stretch>
        </p:blipFill>
        <p:spPr>
          <a:xfrm>
            <a:off x="4377690" y="5116698"/>
            <a:ext cx="7548370" cy="1017486"/>
          </a:xfrm>
          <a:prstGeom prst="rect">
            <a:avLst/>
          </a:prstGeom>
        </p:spPr>
      </p:pic>
    </p:spTree>
    <p:extLst>
      <p:ext uri="{BB962C8B-B14F-4D97-AF65-F5344CB8AC3E}">
        <p14:creationId xmlns:p14="http://schemas.microsoft.com/office/powerpoint/2010/main" val="239455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3" name="Picture 2">
            <a:extLst>
              <a:ext uri="{FF2B5EF4-FFF2-40B4-BE49-F238E27FC236}">
                <a16:creationId xmlns:a16="http://schemas.microsoft.com/office/drawing/2014/main" id="{2E22ACA2-69CB-AB3D-6719-FBB377E0356A}"/>
              </a:ext>
            </a:extLst>
          </p:cNvPr>
          <p:cNvPicPr>
            <a:picLocks noChangeAspect="1"/>
          </p:cNvPicPr>
          <p:nvPr/>
        </p:nvPicPr>
        <p:blipFill>
          <a:blip r:embed="rId3"/>
          <a:stretch>
            <a:fillRect/>
          </a:stretch>
        </p:blipFill>
        <p:spPr>
          <a:xfrm>
            <a:off x="-2" y="1"/>
            <a:ext cx="9367522" cy="1240970"/>
          </a:xfrm>
          <a:prstGeom prst="rect">
            <a:avLst/>
          </a:prstGeom>
        </p:spPr>
      </p:pic>
      <p:sp>
        <p:nvSpPr>
          <p:cNvPr id="6" name="TextBox 5">
            <a:extLst>
              <a:ext uri="{FF2B5EF4-FFF2-40B4-BE49-F238E27FC236}">
                <a16:creationId xmlns:a16="http://schemas.microsoft.com/office/drawing/2014/main" id="{0D5AD5E8-6453-988A-DA2F-7BB6E9387A1E}"/>
              </a:ext>
            </a:extLst>
          </p:cNvPr>
          <p:cNvSpPr txBox="1"/>
          <p:nvPr/>
        </p:nvSpPr>
        <p:spPr>
          <a:xfrm>
            <a:off x="472440" y="1582340"/>
            <a:ext cx="6309360" cy="4093428"/>
          </a:xfrm>
          <a:prstGeom prst="rect">
            <a:avLst/>
          </a:prstGeom>
          <a:noFill/>
        </p:spPr>
        <p:txBody>
          <a:bodyPr wrap="square">
            <a:spAutoFit/>
          </a:bodyPr>
          <a:lstStyle/>
          <a:p>
            <a:r>
              <a:rPr lang="en-IN" sz="2000" dirty="0">
                <a:latin typeface="Cascadia Code" panose="020B0609020000020004" pitchFamily="49" charset="0"/>
                <a:ea typeface="Cascadia Code" panose="020B0609020000020004" pitchFamily="49" charset="0"/>
                <a:cs typeface="Cascadia Code" panose="020B0609020000020004" pitchFamily="49" charset="0"/>
              </a:rPr>
              <a:t>score=float(input("enter score"))</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if(score&gt;=0.9 and score&lt;=1.0):</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    print("A")</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elif(score&gt;=0.8 and score&lt;0.9):</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    print("B")</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elif(score&gt;=0.7 and score&lt;0.8):</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    print("C")</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elif(score&gt;=0.6 and score&lt;0.7):</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    print("D")</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elif(score&lt;0.6):</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    print("F")</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else:</a:t>
            </a:r>
          </a:p>
          <a:p>
            <a:r>
              <a:rPr lang="en-IN" sz="2000" dirty="0">
                <a:latin typeface="Cascadia Code" panose="020B0609020000020004" pitchFamily="49" charset="0"/>
                <a:ea typeface="Cascadia Code" panose="020B0609020000020004" pitchFamily="49" charset="0"/>
                <a:cs typeface="Cascadia Code" panose="020B0609020000020004" pitchFamily="49" charset="0"/>
              </a:rPr>
              <a:t>    print("error")</a:t>
            </a:r>
          </a:p>
        </p:txBody>
      </p:sp>
      <p:pic>
        <p:nvPicPr>
          <p:cNvPr id="8" name="Picture 7">
            <a:extLst>
              <a:ext uri="{FF2B5EF4-FFF2-40B4-BE49-F238E27FC236}">
                <a16:creationId xmlns:a16="http://schemas.microsoft.com/office/drawing/2014/main" id="{90FB2200-4C63-DB22-26BF-0E0E36E006BC}"/>
              </a:ext>
            </a:extLst>
          </p:cNvPr>
          <p:cNvPicPr>
            <a:picLocks noChangeAspect="1"/>
          </p:cNvPicPr>
          <p:nvPr/>
        </p:nvPicPr>
        <p:blipFill>
          <a:blip r:embed="rId4"/>
          <a:stretch>
            <a:fillRect/>
          </a:stretch>
        </p:blipFill>
        <p:spPr>
          <a:xfrm>
            <a:off x="6416039" y="5275660"/>
            <a:ext cx="5481077" cy="1034828"/>
          </a:xfrm>
          <a:prstGeom prst="rect">
            <a:avLst/>
          </a:prstGeom>
        </p:spPr>
      </p:pic>
    </p:spTree>
    <p:extLst>
      <p:ext uri="{BB962C8B-B14F-4D97-AF65-F5344CB8AC3E}">
        <p14:creationId xmlns:p14="http://schemas.microsoft.com/office/powerpoint/2010/main" val="22320279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6" name="TextBox 5">
            <a:extLst>
              <a:ext uri="{FF2B5EF4-FFF2-40B4-BE49-F238E27FC236}">
                <a16:creationId xmlns:a16="http://schemas.microsoft.com/office/drawing/2014/main" id="{0D5AD5E8-6453-988A-DA2F-7BB6E9387A1E}"/>
              </a:ext>
            </a:extLst>
          </p:cNvPr>
          <p:cNvSpPr txBox="1"/>
          <p:nvPr/>
        </p:nvSpPr>
        <p:spPr>
          <a:xfrm>
            <a:off x="182880" y="1582340"/>
            <a:ext cx="6431280" cy="4524315"/>
          </a:xfrm>
          <a:prstGeom prst="rect">
            <a:avLst/>
          </a:prstGeom>
          <a:noFill/>
        </p:spPr>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MRP=int(input("enter MRP"))</a:t>
            </a:r>
          </a:p>
          <a:p>
            <a:r>
              <a:rPr lang="en-IN" dirty="0">
                <a:latin typeface="Cascadia Code" panose="020B0609020000020004" pitchFamily="49" charset="0"/>
                <a:ea typeface="Cascadia Code" panose="020B0609020000020004" pitchFamily="49" charset="0"/>
                <a:cs typeface="Cascadia Code" panose="020B0609020000020004" pitchFamily="49" charset="0"/>
              </a:rPr>
              <a:t>if(MRP&gt;=1 and MRP&lt;2000):</a:t>
            </a:r>
          </a:p>
          <a:p>
            <a:r>
              <a:rPr lang="en-IN" dirty="0">
                <a:latin typeface="Cascadia Code" panose="020B0609020000020004" pitchFamily="49" charset="0"/>
                <a:ea typeface="Cascadia Code" panose="020B0609020000020004" pitchFamily="49" charset="0"/>
                <a:cs typeface="Cascadia Code" panose="020B0609020000020004" pitchFamily="49" charset="0"/>
              </a:rPr>
              <a:t>    discount=0.05*MRP</a:t>
            </a:r>
          </a:p>
          <a:p>
            <a:r>
              <a:rPr lang="en-IN" dirty="0">
                <a:latin typeface="Cascadia Code" panose="020B0609020000020004" pitchFamily="49" charset="0"/>
                <a:ea typeface="Cascadia Code" panose="020B0609020000020004" pitchFamily="49" charset="0"/>
                <a:cs typeface="Cascadia Code" panose="020B0609020000020004" pitchFamily="49" charset="0"/>
              </a:rPr>
              <a:t>elif(MRP&gt;=2000 and MRP&lt;5000):</a:t>
            </a:r>
          </a:p>
          <a:p>
            <a:r>
              <a:rPr lang="en-IN" dirty="0">
                <a:latin typeface="Cascadia Code" panose="020B0609020000020004" pitchFamily="49" charset="0"/>
                <a:ea typeface="Cascadia Code" panose="020B0609020000020004" pitchFamily="49" charset="0"/>
                <a:cs typeface="Cascadia Code" panose="020B0609020000020004" pitchFamily="49" charset="0"/>
              </a:rPr>
              <a:t>    discount=0.1*MRP</a:t>
            </a:r>
          </a:p>
          <a:p>
            <a:r>
              <a:rPr lang="en-IN" dirty="0">
                <a:latin typeface="Cascadia Code" panose="020B0609020000020004" pitchFamily="49" charset="0"/>
                <a:ea typeface="Cascadia Code" panose="020B0609020000020004" pitchFamily="49" charset="0"/>
                <a:cs typeface="Cascadia Code" panose="020B0609020000020004" pitchFamily="49" charset="0"/>
              </a:rPr>
              <a:t>elif(MRP&gt;=5000 and MRP&lt;10000):</a:t>
            </a:r>
          </a:p>
          <a:p>
            <a:r>
              <a:rPr lang="en-IN" dirty="0">
                <a:latin typeface="Cascadia Code" panose="020B0609020000020004" pitchFamily="49" charset="0"/>
                <a:ea typeface="Cascadia Code" panose="020B0609020000020004" pitchFamily="49" charset="0"/>
                <a:cs typeface="Cascadia Code" panose="020B0609020000020004" pitchFamily="49" charset="0"/>
              </a:rPr>
              <a:t>    discount=0.15*MRP</a:t>
            </a:r>
          </a:p>
          <a:p>
            <a:r>
              <a:rPr lang="en-IN" dirty="0">
                <a:latin typeface="Cascadia Code" panose="020B0609020000020004" pitchFamily="49" charset="0"/>
                <a:ea typeface="Cascadia Code" panose="020B0609020000020004" pitchFamily="49" charset="0"/>
                <a:cs typeface="Cascadia Code" panose="020B0609020000020004" pitchFamily="49" charset="0"/>
              </a:rPr>
              <a:t>elif(MRP&gt;10000):</a:t>
            </a:r>
          </a:p>
          <a:p>
            <a:r>
              <a:rPr lang="en-IN" dirty="0">
                <a:latin typeface="Cascadia Code" panose="020B0609020000020004" pitchFamily="49" charset="0"/>
                <a:ea typeface="Cascadia Code" panose="020B0609020000020004" pitchFamily="49" charset="0"/>
                <a:cs typeface="Cascadia Code" panose="020B0609020000020004" pitchFamily="49" charset="0"/>
              </a:rPr>
              <a:t>    discount=0.2*MRP</a:t>
            </a:r>
          </a:p>
          <a:p>
            <a:r>
              <a:rPr lang="en-IN" dirty="0">
                <a:latin typeface="Cascadia Code" panose="020B0609020000020004" pitchFamily="49" charset="0"/>
                <a:ea typeface="Cascadia Code" panose="020B0609020000020004" pitchFamily="49" charset="0"/>
                <a:cs typeface="Cascadia Code" panose="020B0609020000020004" pitchFamily="49" charset="0"/>
              </a:rPr>
              <a:t>else:</a:t>
            </a:r>
          </a:p>
          <a:p>
            <a:r>
              <a:rPr lang="en-IN" dirty="0">
                <a:latin typeface="Cascadia Code" panose="020B0609020000020004" pitchFamily="49" charset="0"/>
                <a:ea typeface="Cascadia Code" panose="020B0609020000020004" pitchFamily="49" charset="0"/>
                <a:cs typeface="Cascadia Code" panose="020B0609020000020004" pitchFamily="49" charset="0"/>
              </a:rPr>
              <a:t>    print("error")</a:t>
            </a:r>
          </a:p>
          <a:p>
            <a:r>
              <a:rPr lang="en-IN" dirty="0">
                <a:latin typeface="Cascadia Code" panose="020B0609020000020004" pitchFamily="49" charset="0"/>
                <a:ea typeface="Cascadia Code" panose="020B0609020000020004" pitchFamily="49" charset="0"/>
                <a:cs typeface="Cascadia Code" panose="020B0609020000020004" pitchFamily="49" charset="0"/>
              </a:rPr>
              <a:t>amount=MRP-discount</a:t>
            </a:r>
          </a:p>
          <a:p>
            <a:r>
              <a:rPr lang="en-IN" dirty="0">
                <a:latin typeface="Cascadia Code" panose="020B0609020000020004" pitchFamily="49" charset="0"/>
                <a:ea typeface="Cascadia Code" panose="020B0609020000020004" pitchFamily="49" charset="0"/>
                <a:cs typeface="Cascadia Code" panose="020B0609020000020004" pitchFamily="49" charset="0"/>
              </a:rPr>
              <a:t>GST=0.09*amount</a:t>
            </a:r>
          </a:p>
          <a:p>
            <a:r>
              <a:rPr lang="en-IN" dirty="0" err="1">
                <a:latin typeface="Cascadia Code" panose="020B0609020000020004" pitchFamily="49" charset="0"/>
                <a:ea typeface="Cascadia Code" panose="020B0609020000020004" pitchFamily="49" charset="0"/>
                <a:cs typeface="Cascadia Code" panose="020B0609020000020004" pitchFamily="49" charset="0"/>
              </a:rPr>
              <a:t>paidamount</a:t>
            </a:r>
            <a:r>
              <a:rPr lang="en-IN" dirty="0">
                <a:latin typeface="Cascadia Code" panose="020B0609020000020004" pitchFamily="49" charset="0"/>
                <a:ea typeface="Cascadia Code" panose="020B0609020000020004" pitchFamily="49" charset="0"/>
                <a:cs typeface="Cascadia Code" panose="020B0609020000020004" pitchFamily="49" charset="0"/>
              </a:rPr>
              <a:t>=</a:t>
            </a:r>
            <a:r>
              <a:rPr lang="en-IN" dirty="0" err="1">
                <a:latin typeface="Cascadia Code" panose="020B0609020000020004" pitchFamily="49" charset="0"/>
                <a:ea typeface="Cascadia Code" panose="020B0609020000020004" pitchFamily="49" charset="0"/>
                <a:cs typeface="Cascadia Code" panose="020B0609020000020004" pitchFamily="49" charset="0"/>
              </a:rPr>
              <a:t>amount+GST</a:t>
            </a:r>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print("MRP  Discount    GST </a:t>
            </a:r>
            <a:r>
              <a:rPr lang="en-IN" dirty="0" err="1">
                <a:latin typeface="Cascadia Code" panose="020B0609020000020004" pitchFamily="49" charset="0"/>
                <a:ea typeface="Cascadia Code" panose="020B0609020000020004" pitchFamily="49" charset="0"/>
                <a:cs typeface="Cascadia Code" panose="020B0609020000020004" pitchFamily="49" charset="0"/>
              </a:rPr>
              <a:t>Paidamount</a:t>
            </a:r>
            <a:r>
              <a:rPr lang="en-IN" dirty="0">
                <a:latin typeface="Cascadia Code" panose="020B0609020000020004" pitchFamily="49" charset="0"/>
                <a:ea typeface="Cascadia Code" panose="020B0609020000020004" pitchFamily="49" charset="0"/>
                <a:cs typeface="Cascadia Code" panose="020B0609020000020004" pitchFamily="49" charset="0"/>
              </a:rPr>
              <a:t>")</a:t>
            </a:r>
          </a:p>
          <a:p>
            <a:r>
              <a:rPr lang="en-IN" dirty="0">
                <a:latin typeface="Cascadia Code" panose="020B0609020000020004" pitchFamily="49" charset="0"/>
                <a:ea typeface="Cascadia Code" panose="020B0609020000020004" pitchFamily="49" charset="0"/>
                <a:cs typeface="Cascadia Code" panose="020B0609020000020004" pitchFamily="49" charset="0"/>
              </a:rPr>
              <a:t>print(MRP," ",discount," ",GST," ",</a:t>
            </a:r>
            <a:r>
              <a:rPr lang="en-IN" dirty="0" err="1">
                <a:latin typeface="Cascadia Code" panose="020B0609020000020004" pitchFamily="49" charset="0"/>
                <a:ea typeface="Cascadia Code" panose="020B0609020000020004" pitchFamily="49" charset="0"/>
                <a:cs typeface="Cascadia Code" panose="020B0609020000020004" pitchFamily="49" charset="0"/>
              </a:rPr>
              <a:t>paidamount</a:t>
            </a:r>
            <a:r>
              <a:rPr lang="en-IN" dirty="0">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5" name="Picture 4">
            <a:extLst>
              <a:ext uri="{FF2B5EF4-FFF2-40B4-BE49-F238E27FC236}">
                <a16:creationId xmlns:a16="http://schemas.microsoft.com/office/drawing/2014/main" id="{DED027B2-7589-354E-BB51-652FF631D957}"/>
              </a:ext>
            </a:extLst>
          </p:cNvPr>
          <p:cNvPicPr>
            <a:picLocks noChangeAspect="1"/>
          </p:cNvPicPr>
          <p:nvPr/>
        </p:nvPicPr>
        <p:blipFill>
          <a:blip r:embed="rId3"/>
          <a:stretch>
            <a:fillRect/>
          </a:stretch>
        </p:blipFill>
        <p:spPr>
          <a:xfrm>
            <a:off x="-2" y="0"/>
            <a:ext cx="9133842" cy="1582340"/>
          </a:xfrm>
          <a:prstGeom prst="rect">
            <a:avLst/>
          </a:prstGeom>
        </p:spPr>
      </p:pic>
      <p:pic>
        <p:nvPicPr>
          <p:cNvPr id="9" name="Picture 8">
            <a:extLst>
              <a:ext uri="{FF2B5EF4-FFF2-40B4-BE49-F238E27FC236}">
                <a16:creationId xmlns:a16="http://schemas.microsoft.com/office/drawing/2014/main" id="{3101E9CB-5272-55F6-1ECE-DDE1AEBB6706}"/>
              </a:ext>
            </a:extLst>
          </p:cNvPr>
          <p:cNvPicPr>
            <a:picLocks noChangeAspect="1"/>
          </p:cNvPicPr>
          <p:nvPr/>
        </p:nvPicPr>
        <p:blipFill>
          <a:blip r:embed="rId4"/>
          <a:stretch>
            <a:fillRect/>
          </a:stretch>
        </p:blipFill>
        <p:spPr>
          <a:xfrm>
            <a:off x="6406770" y="3844497"/>
            <a:ext cx="5785230" cy="1237636"/>
          </a:xfrm>
          <a:prstGeom prst="rect">
            <a:avLst/>
          </a:prstGeom>
        </p:spPr>
      </p:pic>
    </p:spTree>
    <p:extLst>
      <p:ext uri="{BB962C8B-B14F-4D97-AF65-F5344CB8AC3E}">
        <p14:creationId xmlns:p14="http://schemas.microsoft.com/office/powerpoint/2010/main" val="27467743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
        <p:nvSpPr>
          <p:cNvPr id="6" name="TextBox 5">
            <a:extLst>
              <a:ext uri="{FF2B5EF4-FFF2-40B4-BE49-F238E27FC236}">
                <a16:creationId xmlns:a16="http://schemas.microsoft.com/office/drawing/2014/main" id="{0D5AD5E8-6453-988A-DA2F-7BB6E9387A1E}"/>
              </a:ext>
            </a:extLst>
          </p:cNvPr>
          <p:cNvSpPr txBox="1"/>
          <p:nvPr/>
        </p:nvSpPr>
        <p:spPr>
          <a:xfrm>
            <a:off x="71120" y="2037807"/>
            <a:ext cx="6431280" cy="4278094"/>
          </a:xfrm>
          <a:prstGeom prst="rect">
            <a:avLst/>
          </a:prstGeom>
          <a:noFill/>
        </p:spPr>
        <p:txBody>
          <a:bodyPr wrap="square">
            <a:spAutoFit/>
          </a:bodyPr>
          <a:lstStyle/>
          <a:p>
            <a:r>
              <a:rPr lang="en-US" sz="1700" dirty="0">
                <a:latin typeface="Cascadia Code" panose="020B0609020000020004" pitchFamily="49" charset="0"/>
                <a:ea typeface="Cascadia Code" panose="020B0609020000020004" pitchFamily="49" charset="0"/>
                <a:cs typeface="Cascadia Code" panose="020B0609020000020004" pitchFamily="49" charset="0"/>
              </a:rPr>
              <a:t># Get the month from the user</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month = int(input("Enter a month (1-12): "))</a:t>
            </a:r>
          </a:p>
          <a:p>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r>
              <a:rPr lang="en-US" sz="1700" dirty="0">
                <a:latin typeface="Cascadia Code" panose="020B0609020000020004" pitchFamily="49" charset="0"/>
                <a:ea typeface="Cascadia Code" panose="020B0609020000020004" pitchFamily="49" charset="0"/>
                <a:cs typeface="Cascadia Code" panose="020B0609020000020004" pitchFamily="49" charset="0"/>
              </a:rPr>
              <a:t># Check the month and determine the season</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if month in [12, 1, 2]:</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    season = "Winter"</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elif month in [3, 4, 5]:</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    season = "Spring"</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elif month in [6, 7, 8]:</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    season = "Summer"</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elif month in [9, 10, 11]:</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    season = "Autumn"</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else:</a:t>
            </a:r>
          </a:p>
          <a:p>
            <a:r>
              <a:rPr lang="en-US" sz="1700" dirty="0">
                <a:latin typeface="Cascadia Code" panose="020B0609020000020004" pitchFamily="49" charset="0"/>
                <a:ea typeface="Cascadia Code" panose="020B0609020000020004" pitchFamily="49" charset="0"/>
                <a:cs typeface="Cascadia Code" panose="020B0609020000020004" pitchFamily="49" charset="0"/>
              </a:rPr>
              <a:t>    season = "Invalid month"</a:t>
            </a:r>
          </a:p>
          <a:p>
            <a:endParaRPr lang="en-US" sz="1700" dirty="0">
              <a:latin typeface="Cascadia Code" panose="020B0609020000020004" pitchFamily="49" charset="0"/>
              <a:ea typeface="Cascadia Code" panose="020B0609020000020004" pitchFamily="49" charset="0"/>
              <a:cs typeface="Cascadia Code" panose="020B0609020000020004" pitchFamily="49" charset="0"/>
            </a:endParaRPr>
          </a:p>
          <a:p>
            <a:r>
              <a:rPr lang="en-US" sz="1700" dirty="0">
                <a:latin typeface="Cascadia Code" panose="020B0609020000020004" pitchFamily="49" charset="0"/>
                <a:ea typeface="Cascadia Code" panose="020B0609020000020004" pitchFamily="49" charset="0"/>
                <a:cs typeface="Cascadia Code" panose="020B0609020000020004" pitchFamily="49" charset="0"/>
              </a:rPr>
              <a:t>print(season)</a:t>
            </a:r>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3" name="Picture 2">
            <a:extLst>
              <a:ext uri="{FF2B5EF4-FFF2-40B4-BE49-F238E27FC236}">
                <a16:creationId xmlns:a16="http://schemas.microsoft.com/office/drawing/2014/main" id="{B5C19A8E-A912-7FDD-EBDD-280A31DCA065}"/>
              </a:ext>
            </a:extLst>
          </p:cNvPr>
          <p:cNvPicPr>
            <a:picLocks noChangeAspect="1"/>
          </p:cNvPicPr>
          <p:nvPr/>
        </p:nvPicPr>
        <p:blipFill>
          <a:blip r:embed="rId3"/>
          <a:stretch>
            <a:fillRect/>
          </a:stretch>
        </p:blipFill>
        <p:spPr>
          <a:xfrm>
            <a:off x="0" y="0"/>
            <a:ext cx="10596880" cy="1828800"/>
          </a:xfrm>
          <a:prstGeom prst="rect">
            <a:avLst/>
          </a:prstGeom>
        </p:spPr>
      </p:pic>
      <p:pic>
        <p:nvPicPr>
          <p:cNvPr id="8" name="Picture 7">
            <a:extLst>
              <a:ext uri="{FF2B5EF4-FFF2-40B4-BE49-F238E27FC236}">
                <a16:creationId xmlns:a16="http://schemas.microsoft.com/office/drawing/2014/main" id="{7BEB3B13-706D-6A73-AD44-04B0DDBF9961}"/>
              </a:ext>
            </a:extLst>
          </p:cNvPr>
          <p:cNvPicPr>
            <a:picLocks noChangeAspect="1"/>
          </p:cNvPicPr>
          <p:nvPr/>
        </p:nvPicPr>
        <p:blipFill>
          <a:blip r:embed="rId4"/>
          <a:stretch>
            <a:fillRect/>
          </a:stretch>
        </p:blipFill>
        <p:spPr>
          <a:xfrm>
            <a:off x="6123793" y="4462128"/>
            <a:ext cx="6068207" cy="932831"/>
          </a:xfrm>
          <a:prstGeom prst="rect">
            <a:avLst/>
          </a:prstGeom>
        </p:spPr>
      </p:pic>
    </p:spTree>
    <p:extLst>
      <p:ext uri="{BB962C8B-B14F-4D97-AF65-F5344CB8AC3E}">
        <p14:creationId xmlns:p14="http://schemas.microsoft.com/office/powerpoint/2010/main" val="16452819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pic>
        <p:nvPicPr>
          <p:cNvPr id="5" name="Picture 4">
            <a:extLst>
              <a:ext uri="{FF2B5EF4-FFF2-40B4-BE49-F238E27FC236}">
                <a16:creationId xmlns:a16="http://schemas.microsoft.com/office/drawing/2014/main" id="{1ACBA3AA-1A32-3476-759B-43FE32830751}"/>
              </a:ext>
            </a:extLst>
          </p:cNvPr>
          <p:cNvPicPr>
            <a:picLocks noChangeAspect="1"/>
          </p:cNvPicPr>
          <p:nvPr/>
        </p:nvPicPr>
        <p:blipFill>
          <a:blip r:embed="rId3"/>
          <a:stretch>
            <a:fillRect/>
          </a:stretch>
        </p:blipFill>
        <p:spPr>
          <a:xfrm>
            <a:off x="194831" y="93328"/>
            <a:ext cx="10418900" cy="1449977"/>
          </a:xfrm>
          <a:prstGeom prst="rect">
            <a:avLst/>
          </a:prstGeom>
        </p:spPr>
      </p:pic>
    </p:spTree>
    <p:extLst>
      <p:ext uri="{BB962C8B-B14F-4D97-AF65-F5344CB8AC3E}">
        <p14:creationId xmlns:p14="http://schemas.microsoft.com/office/powerpoint/2010/main" val="4747619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7829" y="1120462"/>
            <a:ext cx="11377748" cy="5267275"/>
          </a:xfrm>
        </p:spPr>
        <p:txBody>
          <a:bodyPr>
            <a:normAutofit/>
          </a:bodyPr>
          <a:lstStyle/>
          <a:p>
            <a:pPr algn="ctr">
              <a:buNone/>
            </a:pPr>
            <a:endParaRPr lang="en-US" sz="9600" dirty="0"/>
          </a:p>
          <a:p>
            <a:pPr algn="ctr">
              <a:buNone/>
            </a:pPr>
            <a:r>
              <a:rPr lang="en-US" sz="9600" i="1" dirty="0">
                <a:solidFill>
                  <a:srgbClr val="00B050"/>
                </a:solidFill>
              </a:rPr>
              <a:t>End</a:t>
            </a:r>
          </a:p>
        </p:txBody>
      </p:sp>
      <p:sp>
        <p:nvSpPr>
          <p:cNvPr id="4" name="Title 1"/>
          <p:cNvSpPr txBox="1">
            <a:spLocks/>
          </p:cNvSpPr>
          <p:nvPr/>
        </p:nvSpPr>
        <p:spPr bwMode="auto">
          <a:xfrm>
            <a:off x="-2" y="6375748"/>
            <a:ext cx="12192001" cy="482252"/>
          </a:xfrm>
          <a:prstGeom prst="rect">
            <a:avLst/>
          </a:prstGeom>
          <a:solidFill>
            <a:srgbClr val="000080"/>
          </a:solidFill>
          <a:ln w="9525" algn="ctr">
            <a:noFill/>
            <a:miter lim="800000"/>
            <a:headEnd/>
            <a:tailEnd/>
          </a:ln>
        </p:spPr>
        <p:txBody>
          <a:bodyPr vert="horz" wrap="square" lIns="91440" tIns="45720" rIns="91440" bIns="45720" numCol="1" anchor="t" anchorCtr="0" compatLnSpc="1">
            <a:prstTxWarp prst="textNoShape">
              <a:avLst/>
            </a:prstTxWarp>
          </a:bodyPr>
          <a:lstStyle>
            <a:defPPr>
              <a:defRPr lang="fr-FR"/>
            </a:defPPr>
            <a:lvl1pPr algn="r" rtl="0" fontAlgn="base">
              <a:spcBef>
                <a:spcPct val="0"/>
              </a:spcBef>
              <a:spcAft>
                <a:spcPct val="0"/>
              </a:spcAft>
              <a:defRPr sz="1000" b="1" kern="1200">
                <a:solidFill>
                  <a:schemeClr val="bg1"/>
                </a:solidFill>
                <a:latin typeface="Arial" charset="0"/>
                <a:ea typeface="+mn-ea"/>
                <a:cs typeface="+mn-cs"/>
              </a:defRPr>
            </a:lvl1pPr>
            <a:lvl2pPr marL="457200" algn="r" rtl="0" fontAlgn="base">
              <a:spcBef>
                <a:spcPct val="0"/>
              </a:spcBef>
              <a:spcAft>
                <a:spcPct val="0"/>
              </a:spcAft>
              <a:defRPr sz="1000" b="1" kern="1200">
                <a:solidFill>
                  <a:schemeClr val="bg1"/>
                </a:solidFill>
                <a:latin typeface="Arial" charset="0"/>
                <a:ea typeface="+mn-ea"/>
                <a:cs typeface="+mn-cs"/>
              </a:defRPr>
            </a:lvl2pPr>
            <a:lvl3pPr marL="914400" algn="r" rtl="0" fontAlgn="base">
              <a:spcBef>
                <a:spcPct val="0"/>
              </a:spcBef>
              <a:spcAft>
                <a:spcPct val="0"/>
              </a:spcAft>
              <a:defRPr sz="1000" b="1" kern="1200">
                <a:solidFill>
                  <a:schemeClr val="bg1"/>
                </a:solidFill>
                <a:latin typeface="Arial" charset="0"/>
                <a:ea typeface="+mn-ea"/>
                <a:cs typeface="+mn-cs"/>
              </a:defRPr>
            </a:lvl3pPr>
            <a:lvl4pPr marL="1371600" algn="r" rtl="0" fontAlgn="base">
              <a:spcBef>
                <a:spcPct val="0"/>
              </a:spcBef>
              <a:spcAft>
                <a:spcPct val="0"/>
              </a:spcAft>
              <a:defRPr sz="1000" b="1" kern="1200">
                <a:solidFill>
                  <a:schemeClr val="bg1"/>
                </a:solidFill>
                <a:latin typeface="Arial" charset="0"/>
                <a:ea typeface="+mn-ea"/>
                <a:cs typeface="+mn-cs"/>
              </a:defRPr>
            </a:lvl4pPr>
            <a:lvl5pPr marL="1828800" algn="r" rtl="0" fontAlgn="base">
              <a:spcBef>
                <a:spcPct val="0"/>
              </a:spcBef>
              <a:spcAft>
                <a:spcPct val="0"/>
              </a:spcAft>
              <a:defRPr sz="1000" b="1" kern="1200">
                <a:solidFill>
                  <a:schemeClr val="bg1"/>
                </a:solidFill>
                <a:latin typeface="Arial" charset="0"/>
                <a:ea typeface="+mn-ea"/>
                <a:cs typeface="+mn-cs"/>
              </a:defRPr>
            </a:lvl5pPr>
            <a:lvl6pPr marL="2286000" algn="l" defTabSz="914400" rtl="0" eaLnBrk="1" latinLnBrk="0" hangingPunct="1">
              <a:defRPr sz="1000" b="1" kern="1200">
                <a:solidFill>
                  <a:schemeClr val="bg1"/>
                </a:solidFill>
                <a:latin typeface="Arial" charset="0"/>
                <a:ea typeface="+mn-ea"/>
                <a:cs typeface="+mn-cs"/>
              </a:defRPr>
            </a:lvl6pPr>
            <a:lvl7pPr marL="2743200" algn="l" defTabSz="914400" rtl="0" eaLnBrk="1" latinLnBrk="0" hangingPunct="1">
              <a:defRPr sz="1000" b="1" kern="1200">
                <a:solidFill>
                  <a:schemeClr val="bg1"/>
                </a:solidFill>
                <a:latin typeface="Arial" charset="0"/>
                <a:ea typeface="+mn-ea"/>
                <a:cs typeface="+mn-cs"/>
              </a:defRPr>
            </a:lvl7pPr>
            <a:lvl8pPr marL="3200400" algn="l" defTabSz="914400" rtl="0" eaLnBrk="1" latinLnBrk="0" hangingPunct="1">
              <a:defRPr sz="1000" b="1" kern="1200">
                <a:solidFill>
                  <a:schemeClr val="bg1"/>
                </a:solidFill>
                <a:latin typeface="Arial" charset="0"/>
                <a:ea typeface="+mn-ea"/>
                <a:cs typeface="+mn-cs"/>
              </a:defRPr>
            </a:lvl8pPr>
            <a:lvl9pPr marL="3657600" algn="l" defTabSz="914400" rtl="0" eaLnBrk="1" latinLnBrk="0" hangingPunct="1">
              <a:defRPr sz="1000" b="1" kern="1200">
                <a:solidFill>
                  <a:schemeClr val="bg1"/>
                </a:solidFill>
                <a:latin typeface="Arial" charset="0"/>
                <a:ea typeface="+mn-ea"/>
                <a:cs typeface="+mn-cs"/>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lang="en-US" sz="2800" b="0" kern="0" dirty="0">
                <a:solidFill>
                  <a:schemeClr val="accent6">
                    <a:lumMod val="20000"/>
                    <a:lumOff val="80000"/>
                  </a:schemeClr>
                </a:solidFill>
                <a:latin typeface="Times New Roman" pitchFamily="18" charset="0"/>
                <a:ea typeface="+mj-ea"/>
                <a:cs typeface="Times New Roman" pitchFamily="18" charset="0"/>
              </a:rPr>
              <a:t>T </a:t>
            </a:r>
            <a:r>
              <a:rPr lang="en-US" sz="2800" b="0" kern="0" dirty="0" err="1">
                <a:solidFill>
                  <a:schemeClr val="accent6">
                    <a:lumMod val="20000"/>
                    <a:lumOff val="80000"/>
                  </a:schemeClr>
                </a:solidFill>
                <a:latin typeface="Times New Roman" pitchFamily="18" charset="0"/>
                <a:ea typeface="+mj-ea"/>
                <a:cs typeface="Times New Roman" pitchFamily="18" charset="0"/>
              </a:rPr>
              <a:t>Seshu</a:t>
            </a:r>
            <a:r>
              <a:rPr lang="en-US" sz="2800" b="0" kern="0" dirty="0">
                <a:solidFill>
                  <a:schemeClr val="accent6">
                    <a:lumMod val="20000"/>
                    <a:lumOff val="80000"/>
                  </a:schemeClr>
                </a:solidFill>
                <a:latin typeface="Times New Roman" pitchFamily="18" charset="0"/>
                <a:ea typeface="+mj-ea"/>
                <a:cs typeface="Times New Roman" pitchFamily="18" charset="0"/>
              </a:rPr>
              <a:t> Chakravarthy		 Department Of Computer Science and Engineering</a:t>
            </a:r>
            <a:endParaRPr kumimoji="0" lang="en-US" sz="2800" b="0" i="0" u="none" strike="noStrike" kern="0" cap="none" spc="0" normalizeH="0" baseline="0" noProof="0" dirty="0">
              <a:ln>
                <a:noFill/>
              </a:ln>
              <a:solidFill>
                <a:schemeClr val="accent6">
                  <a:lumMod val="20000"/>
                  <a:lumOff val="80000"/>
                </a:schemeClr>
              </a:solidFill>
              <a:effectLst/>
              <a:uLnTx/>
              <a:uFillTx/>
              <a:latin typeface="Times New Roman" pitchFamily="18" charset="0"/>
              <a:ea typeface="+mj-ea"/>
              <a:cs typeface="Times New Roman" pitchFamily="18" charset="0"/>
            </a:endParaRPr>
          </a:p>
        </p:txBody>
      </p:sp>
      <p:pic>
        <p:nvPicPr>
          <p:cNvPr id="21505" name="Picture 1" descr="C:\Users\Dell\Downloads\opengraph-icon-200x200.png"/>
          <p:cNvPicPr>
            <a:picLocks noChangeAspect="1" noChangeArrowheads="1"/>
          </p:cNvPicPr>
          <p:nvPr/>
        </p:nvPicPr>
        <p:blipFill>
          <a:blip r:embed="rId2"/>
          <a:srcRect/>
          <a:stretch>
            <a:fillRect/>
          </a:stretch>
        </p:blipFill>
        <p:spPr bwMode="auto">
          <a:xfrm>
            <a:off x="10482375" y="-209007"/>
            <a:ext cx="2049260" cy="1449977"/>
          </a:xfrm>
          <a:prstGeom prst="rect">
            <a:avLst/>
          </a:prstGeom>
          <a:noFill/>
        </p:spPr>
      </p:pic>
    </p:spTree>
    <p:extLst>
      <p:ext uri="{BB962C8B-B14F-4D97-AF65-F5344CB8AC3E}">
        <p14:creationId xmlns:p14="http://schemas.microsoft.com/office/powerpoint/2010/main" val="3934164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2749</TotalTime>
  <Words>4742</Words>
  <Application>Microsoft Office PowerPoint</Application>
  <PresentationFormat>Widescreen</PresentationFormat>
  <Paragraphs>628</Paragraphs>
  <Slides>60</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60</vt:i4>
      </vt:variant>
    </vt:vector>
  </HeadingPairs>
  <TitlesOfParts>
    <vt:vector size="74" baseType="lpstr">
      <vt:lpstr>Arial Unicode MS</vt:lpstr>
      <vt:lpstr>Arial</vt:lpstr>
      <vt:lpstr>Calibri</vt:lpstr>
      <vt:lpstr>Calibri Light</vt:lpstr>
      <vt:lpstr>Cascadia Code</vt:lpstr>
      <vt:lpstr>Consolas</vt:lpstr>
      <vt:lpstr>Corbel</vt:lpstr>
      <vt:lpstr>Franklin Gothic Medium</vt:lpstr>
      <vt:lpstr>Nunito</vt:lpstr>
      <vt:lpstr>Söhne</vt:lpstr>
      <vt:lpstr>Söhne Mono</vt:lpstr>
      <vt:lpstr>Source Sans 3</vt:lpstr>
      <vt:lpstr>Times New Roman</vt:lpstr>
      <vt:lpstr>Office Theme</vt:lpstr>
      <vt:lpstr>PowerPoint Presentation</vt:lpstr>
      <vt:lpstr>Introduction</vt:lpstr>
      <vt:lpstr>History</vt:lpstr>
      <vt:lpstr>History</vt:lpstr>
      <vt:lpstr>PowerPoint Presentation</vt:lpstr>
      <vt:lpstr>PowerPoint Presentation</vt:lpstr>
      <vt:lpstr>History</vt:lpstr>
      <vt:lpstr>PowerPoint Presentation</vt:lpstr>
      <vt:lpstr>Running Python scripts</vt:lpstr>
      <vt:lpstr>Running Python scripts</vt:lpstr>
      <vt:lpstr>Running Python scripts</vt:lpstr>
      <vt:lpstr>Example Program</vt:lpstr>
      <vt:lpstr>program to convert height in feet and inches to cm. [1 feet = 12 inch and 1 inch= 2.54 cm</vt:lpstr>
      <vt:lpstr>Comments in python</vt:lpstr>
      <vt:lpstr>Variables</vt:lpstr>
      <vt:lpstr>Cont ..</vt:lpstr>
      <vt:lpstr> Python Identifiers </vt:lpstr>
      <vt:lpstr>Input and output</vt:lpstr>
      <vt:lpstr>Input and output</vt:lpstr>
      <vt:lpstr>Keywords in python</vt:lpstr>
      <vt:lpstr>Indentation in python</vt:lpstr>
      <vt:lpstr>Cont …</vt:lpstr>
      <vt:lpstr>Cont …</vt:lpstr>
      <vt:lpstr>Basic Data types in Python</vt:lpstr>
      <vt:lpstr>Basic Data types in Python</vt:lpstr>
      <vt:lpstr>Data types</vt:lpstr>
      <vt:lpstr> Python Operators </vt:lpstr>
      <vt:lpstr>Arithmetic Operators</vt:lpstr>
      <vt:lpstr>Arithmetic Operators</vt:lpstr>
      <vt:lpstr> Assignment Operators </vt:lpstr>
      <vt:lpstr>Comparison/Relational Operators</vt:lpstr>
      <vt:lpstr>Comparison Operators</vt:lpstr>
      <vt:lpstr>Logical Operators</vt:lpstr>
      <vt:lpstr> Membership operators </vt:lpstr>
      <vt:lpstr> Membership operators </vt:lpstr>
      <vt:lpstr> Bitwise operators </vt:lpstr>
      <vt:lpstr> Bitwise operators </vt:lpstr>
      <vt:lpstr> Bitwise operators </vt:lpstr>
      <vt:lpstr> Identity operators </vt:lpstr>
      <vt:lpstr>Precedence and Associativity of Operators in Python</vt:lpstr>
      <vt:lpstr>Precedence and Associativity of Operators in Python</vt:lpstr>
      <vt:lpstr>Precedence and Associativity of Operators in Python</vt:lpstr>
      <vt:lpstr>PowerPoint Presentation</vt:lpstr>
      <vt:lpstr>PowerPoint Presentation</vt:lpstr>
      <vt:lpstr>PowerPoint Presentation</vt:lpstr>
      <vt:lpstr>Decision making (or) conditional Statements</vt:lpstr>
      <vt:lpstr>if statement</vt:lpstr>
      <vt:lpstr>if statement</vt:lpstr>
      <vt:lpstr> if...else Statement </vt:lpstr>
      <vt:lpstr> if...else Statement </vt:lpstr>
      <vt:lpstr> if...elif...else Statement </vt:lpstr>
      <vt:lpstr> if...elif...else Statement </vt:lpstr>
      <vt:lpstr> if...elif...else Statement </vt:lpstr>
      <vt:lpstr>Nested if statement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Script</dc:title>
  <dc:creator>Santhoshini Banda</dc:creator>
  <cp:lastModifiedBy>T  Seshu Chakravarthy T  Seshu Chakravarthy</cp:lastModifiedBy>
  <cp:revision>421</cp:revision>
  <dcterms:created xsi:type="dcterms:W3CDTF">2017-07-30T13:30:39Z</dcterms:created>
  <dcterms:modified xsi:type="dcterms:W3CDTF">2024-09-14T06:24:56Z</dcterms:modified>
</cp:coreProperties>
</file>