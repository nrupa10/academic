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348" r:id="rId3"/>
    <p:sldId id="350" r:id="rId4"/>
    <p:sldId id="367" r:id="rId5"/>
    <p:sldId id="368" r:id="rId6"/>
    <p:sldId id="369" r:id="rId7"/>
    <p:sldId id="352" r:id="rId8"/>
    <p:sldId id="353" r:id="rId9"/>
    <p:sldId id="354" r:id="rId10"/>
    <p:sldId id="356" r:id="rId11"/>
    <p:sldId id="355" r:id="rId12"/>
    <p:sldId id="370" r:id="rId13"/>
    <p:sldId id="357" r:id="rId14"/>
    <p:sldId id="358" r:id="rId15"/>
    <p:sldId id="359" r:id="rId16"/>
    <p:sldId id="371" r:id="rId17"/>
    <p:sldId id="360" r:id="rId18"/>
    <p:sldId id="378" r:id="rId19"/>
    <p:sldId id="372" r:id="rId20"/>
    <p:sldId id="373" r:id="rId21"/>
    <p:sldId id="374" r:id="rId22"/>
    <p:sldId id="379" r:id="rId23"/>
    <p:sldId id="375" r:id="rId24"/>
    <p:sldId id="376" r:id="rId25"/>
    <p:sldId id="380" r:id="rId26"/>
    <p:sldId id="381" r:id="rId27"/>
    <p:sldId id="377" r:id="rId28"/>
    <p:sldId id="382" r:id="rId29"/>
    <p:sldId id="388" r:id="rId30"/>
    <p:sldId id="384" r:id="rId31"/>
    <p:sldId id="385" r:id="rId32"/>
    <p:sldId id="386" r:id="rId33"/>
    <p:sldId id="387" r:id="rId34"/>
    <p:sldId id="399" r:id="rId35"/>
    <p:sldId id="394" r:id="rId36"/>
    <p:sldId id="389" r:id="rId37"/>
    <p:sldId id="390" r:id="rId38"/>
    <p:sldId id="393" r:id="rId39"/>
    <p:sldId id="397" r:id="rId40"/>
    <p:sldId id="395" r:id="rId41"/>
    <p:sldId id="391" r:id="rId42"/>
    <p:sldId id="396" r:id="rId43"/>
    <p:sldId id="3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9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9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5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5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0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8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7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0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4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8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lis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s://www.programiz.com/python-programming/string" TargetMode="External"/><Relationship Id="rId4" Type="http://schemas.openxmlformats.org/officeDocument/2006/relationships/hyperlink" Target="https://www.programiz.com/python-programming/tupl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tonight.com/python/pattern-program-in-pyth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gex.as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0" y="0"/>
            <a:ext cx="10649131" cy="4907280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Loops and Regular Expressions</a:t>
            </a:r>
            <a:r>
              <a:rPr lang="en-I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Creating Loops with while and for, Different versions of Loops, </a:t>
            </a:r>
            <a:b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Nested Loops, </a:t>
            </a:r>
            <a:b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 Control Statements, </a:t>
            </a:r>
            <a:b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 Modification with break, continue and pass, </a:t>
            </a:r>
            <a:b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Regular Expressions.</a:t>
            </a:r>
            <a:endParaRPr lang="en-IN" sz="2400" dirty="0"/>
          </a:p>
        </p:txBody>
      </p:sp>
      <p:sp>
        <p:nvSpPr>
          <p:cNvPr id="22530" name="AutoShape 2" descr="Image result for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2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Loops in Python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endParaRPr lang="en-US" sz="3200" dirty="0"/>
          </a:p>
          <a:p>
            <a:pPr marL="514350" indent="-514350" algn="just">
              <a:buNone/>
            </a:pPr>
            <a:r>
              <a:rPr lang="en-US" sz="3200" dirty="0"/>
              <a:t>Python has two primitive loops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/>
              <a:t>While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/>
              <a:t>for 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3200" dirty="0">
                <a:solidFill>
                  <a:srgbClr val="FF0000"/>
                </a:solidFill>
              </a:rPr>
              <a:t/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The while Loop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034808"/>
            <a:ext cx="11062063" cy="5340940"/>
          </a:xfrm>
        </p:spPr>
        <p:txBody>
          <a:bodyPr>
            <a:normAutofit lnSpcReduction="10000"/>
          </a:bodyPr>
          <a:lstStyle/>
          <a:p>
            <a:pPr marL="514350" indent="-514350" algn="just">
              <a:buNone/>
            </a:pPr>
            <a:r>
              <a:rPr lang="en-US" sz="3200" dirty="0">
                <a:solidFill>
                  <a:srgbClr val="FF0000"/>
                </a:solidFill>
              </a:rPr>
              <a:t>Syntax:</a:t>
            </a:r>
          </a:p>
          <a:p>
            <a:pPr marL="514350" indent="-514350" algn="just">
              <a:buNone/>
            </a:pPr>
            <a:r>
              <a:rPr lang="en-US" sz="3200" dirty="0"/>
              <a:t>while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 err="1">
                <a:solidFill>
                  <a:srgbClr val="00B050"/>
                </a:solidFill>
              </a:rPr>
              <a:t>test_expression</a:t>
            </a:r>
            <a:r>
              <a:rPr lang="en-US" sz="3200" dirty="0"/>
              <a:t>:</a:t>
            </a:r>
          </a:p>
          <a:p>
            <a:pPr marL="514350" indent="-514350" algn="just">
              <a:buNone/>
            </a:pPr>
            <a:r>
              <a:rPr lang="en-US" sz="3200" dirty="0"/>
              <a:t>    		Body of while </a:t>
            </a:r>
          </a:p>
          <a:p>
            <a:pPr marL="514350" indent="-514350" algn="just">
              <a:buNone/>
            </a:pPr>
            <a:endParaRPr lang="en-US" sz="3200" dirty="0"/>
          </a:p>
          <a:p>
            <a:pPr marL="514350" indent="-514350" algn="just">
              <a:buNone/>
            </a:pPr>
            <a:endParaRPr lang="en-US" sz="3200" dirty="0"/>
          </a:p>
          <a:p>
            <a:pPr marL="514350" indent="-514350" algn="just">
              <a:buNone/>
            </a:pPr>
            <a:endParaRPr lang="en-US" sz="3200" dirty="0"/>
          </a:p>
          <a:p>
            <a:pPr marL="514350" indent="-514350" algn="just"/>
            <a:r>
              <a:rPr lang="en-US" dirty="0"/>
              <a:t>while loop executes a block of statements repeatedly till a given a </a:t>
            </a:r>
            <a:r>
              <a:rPr lang="en-US" dirty="0">
                <a:solidFill>
                  <a:srgbClr val="7030A0"/>
                </a:solidFill>
              </a:rPr>
              <a:t>condition is true</a:t>
            </a:r>
            <a:r>
              <a:rPr lang="en-US" dirty="0"/>
              <a:t>.  when the condition becomes </a:t>
            </a:r>
            <a:r>
              <a:rPr lang="en-US" dirty="0">
                <a:solidFill>
                  <a:srgbClr val="7030A0"/>
                </a:solidFill>
              </a:rPr>
              <a:t>false,</a:t>
            </a:r>
            <a:r>
              <a:rPr lang="en-US" dirty="0"/>
              <a:t> it terminates the body of the loop.</a:t>
            </a:r>
          </a:p>
          <a:p>
            <a:pPr marL="514350" indent="-514350" algn="just"/>
            <a:r>
              <a:rPr lang="en-US" dirty="0"/>
              <a:t>In Python, the body of the while loop is determined through indentation.</a:t>
            </a:r>
          </a:p>
        </p:txBody>
      </p:sp>
      <p:pic>
        <p:nvPicPr>
          <p:cNvPr id="1025" name="Picture 1" descr="C:\Users\Dell\Downloads\ISL\whileLoopFlowchar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5851" y="10160"/>
            <a:ext cx="4601029" cy="40765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3200" dirty="0">
                <a:solidFill>
                  <a:srgbClr val="FF0000"/>
                </a:solidFill>
              </a:rPr>
              <a:t/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loop to print numbers from 1 to 10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</a:t>
            </a:r>
          </a:p>
          <a:p>
            <a:pPr marL="514350" indent="-514350" algn="just">
              <a:buNone/>
            </a:pPr>
            <a:r>
              <a:rPr lang="en-US" sz="24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Use a while loop to print numbers from 1 to 10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&lt;= 10: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=i+1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4F0B124-EFAA-5D6D-60CA-45DA37EE6CA4}"/>
              </a:ext>
            </a:extLst>
          </p:cNvPr>
          <p:cNvSpPr txBox="1"/>
          <p:nvPr/>
        </p:nvSpPr>
        <p:spPr>
          <a:xfrm>
            <a:off x="8905240" y="2637919"/>
            <a:ext cx="16814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2000" dirty="0"/>
              <a:t>1</a:t>
            </a:r>
          </a:p>
          <a:p>
            <a:r>
              <a:rPr lang="en-IN" sz="2000" dirty="0"/>
              <a:t>2</a:t>
            </a:r>
          </a:p>
          <a:p>
            <a:r>
              <a:rPr lang="en-IN" sz="2000" dirty="0"/>
              <a:t>3</a:t>
            </a:r>
          </a:p>
          <a:p>
            <a:r>
              <a:rPr lang="en-IN" sz="2000" dirty="0"/>
              <a:t>4</a:t>
            </a:r>
          </a:p>
          <a:p>
            <a:r>
              <a:rPr lang="en-IN" sz="2000" dirty="0"/>
              <a:t>5</a:t>
            </a:r>
          </a:p>
          <a:p>
            <a:r>
              <a:rPr lang="en-IN" sz="2000" dirty="0"/>
              <a:t>6</a:t>
            </a:r>
          </a:p>
          <a:p>
            <a:r>
              <a:rPr lang="en-IN" sz="2000" dirty="0"/>
              <a:t>7</a:t>
            </a:r>
          </a:p>
          <a:p>
            <a:r>
              <a:rPr lang="en-IN" sz="2000" dirty="0"/>
              <a:t>8</a:t>
            </a:r>
          </a:p>
          <a:p>
            <a:r>
              <a:rPr lang="en-IN" sz="2000" dirty="0"/>
              <a:t>9</a:t>
            </a:r>
          </a:p>
          <a:p>
            <a:r>
              <a:rPr lang="en-IN" sz="2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4948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" y="270456"/>
            <a:ext cx="1127252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2600" dirty="0">
                <a:solidFill>
                  <a:srgbClr val="FF0000"/>
                </a:solidFill>
              </a:rPr>
              <a:t/>
            </a:r>
            <a:br>
              <a:rPr lang="en-US" sz="2600" dirty="0">
                <a:solidFill>
                  <a:srgbClr val="FF0000"/>
                </a:solidFill>
              </a:rPr>
            </a:br>
            <a:r>
              <a:rPr lang="en-US" sz="2600" b="0" i="0" dirty="0">
                <a:solidFill>
                  <a:srgbClr val="FF0000"/>
                </a:solidFill>
                <a:effectLst/>
              </a:rPr>
              <a:t>write a Python program to calculate the sum of the digits of a number</a:t>
            </a:r>
            <a:r>
              <a:rPr lang="en-US" sz="2600" dirty="0">
                <a:solidFill>
                  <a:srgbClr val="FF0000"/>
                </a:solidFill>
              </a:rPr>
              <a:t/>
            </a:r>
            <a:br>
              <a:rPr lang="en-US" sz="26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59902" y="1142976"/>
            <a:ext cx="11062063" cy="3725327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= int(input("Enter a number: "))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= 0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num &gt; 0: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digit = num % 10          </a:t>
            </a:r>
            <a:r>
              <a:rPr lang="en-US" sz="20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Extract the last digit</a:t>
            </a: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sum=sum+digit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num= num//10	      </a:t>
            </a:r>
            <a:r>
              <a:rPr lang="en-US" sz="20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# Remove the last digit from the number</a:t>
            </a: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print("Sum of digits:", sum)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1DEB030-9FAF-A6F4-19E4-2BCAC2CC4811}"/>
              </a:ext>
            </a:extLst>
          </p:cNvPr>
          <p:cNvSpPr txBox="1"/>
          <p:nvPr/>
        </p:nvSpPr>
        <p:spPr>
          <a:xfrm>
            <a:off x="8827951" y="5253634"/>
            <a:ext cx="3364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Enter a number: 127</a:t>
            </a:r>
          </a:p>
          <a:p>
            <a:r>
              <a:rPr lang="en-US" dirty="0"/>
              <a:t>Sum of digits: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39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" y="270456"/>
            <a:ext cx="1127252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2600" dirty="0">
                <a:solidFill>
                  <a:srgbClr val="FF0000"/>
                </a:solidFill>
              </a:rPr>
              <a:t/>
            </a:r>
            <a:br>
              <a:rPr lang="en-US" sz="2600" dirty="0">
                <a:solidFill>
                  <a:srgbClr val="FF0000"/>
                </a:solidFill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</a:rPr>
              <a:t>write a Python program to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check if a number is a palindrome or not</a:t>
            </a:r>
            <a:r>
              <a:rPr lang="en-US" sz="2600" dirty="0">
                <a:solidFill>
                  <a:srgbClr val="FF0000"/>
                </a:solidFill>
              </a:rPr>
              <a:t/>
            </a:r>
            <a:br>
              <a:rPr lang="en-US" sz="26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33680" y="950311"/>
            <a:ext cx="6849938" cy="5232772"/>
          </a:xfrm>
        </p:spPr>
        <p:txBody>
          <a:bodyPr>
            <a:noAutofit/>
          </a:bodyPr>
          <a:lstStyle/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= int(input("Enter a number: "))</a:t>
            </a:r>
          </a:p>
          <a:p>
            <a:pPr marL="514350" indent="-514350"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original_num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num  </a:t>
            </a:r>
          </a:p>
          <a:p>
            <a:pPr marL="514350" indent="-514350"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reversed_num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num &gt; 0: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digit = num % 10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reversed_num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reversed_num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 10 + digit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num = num // 10</a:t>
            </a:r>
          </a:p>
          <a:p>
            <a:pPr marL="514350" indent="-514350"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20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Check if the original number is equal to the reversed number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original_num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reversed_num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print("The number is a palindrome.")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pPr marL="514350" indent="-51435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print("The number is not a palindrome.")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1DEB030-9FAF-A6F4-19E4-2BCAC2CC4811}"/>
              </a:ext>
            </a:extLst>
          </p:cNvPr>
          <p:cNvSpPr txBox="1"/>
          <p:nvPr/>
        </p:nvSpPr>
        <p:spPr>
          <a:xfrm>
            <a:off x="8800351" y="4552594"/>
            <a:ext cx="33640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Enter a number: 1331</a:t>
            </a:r>
          </a:p>
          <a:p>
            <a:r>
              <a:rPr lang="en-US" dirty="0"/>
              <a:t>The number is a palindrome.</a:t>
            </a:r>
          </a:p>
          <a:p>
            <a:endParaRPr lang="en-US" dirty="0"/>
          </a:p>
          <a:p>
            <a:r>
              <a:rPr lang="en-US" dirty="0"/>
              <a:t>Enter a number: 1234The number is not a palindrome.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EA47A57-737B-DC04-95C4-C97E57AECF7A}"/>
              </a:ext>
            </a:extLst>
          </p:cNvPr>
          <p:cNvSpPr txBox="1"/>
          <p:nvPr/>
        </p:nvSpPr>
        <p:spPr>
          <a:xfrm>
            <a:off x="7838440" y="1028811"/>
            <a:ext cx="435355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Note:</a:t>
            </a:r>
          </a:p>
          <a:p>
            <a:r>
              <a:rPr lang="en-US" sz="2000" b="0" i="0" dirty="0">
                <a:effectLst/>
                <a:latin typeface="Söhne"/>
              </a:rPr>
              <a:t>A palindromic number is a number that remains the same when its digits are reversed.</a:t>
            </a:r>
          </a:p>
          <a:p>
            <a:pPr algn="l"/>
            <a:r>
              <a:rPr lang="en-US" sz="2000" dirty="0">
                <a:latin typeface="Söhne"/>
              </a:rPr>
              <a:t> Ex: </a:t>
            </a:r>
            <a:r>
              <a:rPr lang="en-IN" sz="2000" b="0" i="0" dirty="0">
                <a:effectLst/>
                <a:latin typeface="Söhne"/>
              </a:rPr>
              <a:t>121,     1331,   5555,    12321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91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3200" b="1" dirty="0">
                <a:solidFill>
                  <a:srgbClr val="FF0000"/>
                </a:solidFill>
              </a:rPr>
              <a:t>Using else statement with while loops:</a:t>
            </a:r>
            <a:r>
              <a:rPr lang="en-US" sz="3200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/>
              <a:t>The else clause is only executed when your while condition becomes false.</a:t>
            </a:r>
          </a:p>
          <a:p>
            <a:pPr fontAlgn="base"/>
            <a:r>
              <a:rPr lang="en-US" sz="3200" dirty="0"/>
              <a:t> If you</a:t>
            </a:r>
            <a:r>
              <a:rPr lang="en-US" sz="3200" dirty="0">
                <a:solidFill>
                  <a:srgbClr val="FF0000"/>
                </a:solidFill>
              </a:rPr>
              <a:t> break </a:t>
            </a:r>
            <a:r>
              <a:rPr lang="en-US" sz="3200" dirty="0"/>
              <a:t>out of the loop, or if an </a:t>
            </a:r>
            <a:r>
              <a:rPr lang="en-US" sz="3200" dirty="0">
                <a:solidFill>
                  <a:srgbClr val="FF0000"/>
                </a:solidFill>
              </a:rPr>
              <a:t>exception</a:t>
            </a:r>
            <a:r>
              <a:rPr lang="en-US" sz="3200" dirty="0"/>
              <a:t> is raised, it won’t be executed.</a:t>
            </a:r>
          </a:p>
          <a:p>
            <a:pPr fontAlgn="base">
              <a:buNone/>
            </a:pPr>
            <a:r>
              <a:rPr lang="en-US" sz="3200" dirty="0">
                <a:solidFill>
                  <a:srgbClr val="FF0000"/>
                </a:solidFill>
              </a:rPr>
              <a:t>Syntax:</a:t>
            </a:r>
          </a:p>
          <a:p>
            <a:pPr fontAlgn="base">
              <a:buNone/>
            </a:pPr>
            <a:r>
              <a:rPr lang="en-US" sz="3200" dirty="0"/>
              <a:t>while condition:</a:t>
            </a:r>
          </a:p>
          <a:p>
            <a:pPr fontAlgn="base">
              <a:buNone/>
            </a:pPr>
            <a:r>
              <a:rPr lang="en-US" sz="3200" dirty="0"/>
              <a:t>     # execute these statements</a:t>
            </a:r>
          </a:p>
          <a:p>
            <a:pPr fontAlgn="base">
              <a:buNone/>
            </a:pPr>
            <a:r>
              <a:rPr lang="en-US" sz="3200" dirty="0">
                <a:solidFill>
                  <a:srgbClr val="7030A0"/>
                </a:solidFill>
              </a:rPr>
              <a:t>else:</a:t>
            </a:r>
          </a:p>
          <a:p>
            <a:pPr fontAlgn="base">
              <a:buNone/>
            </a:pPr>
            <a:r>
              <a:rPr lang="en-US" sz="3200" dirty="0"/>
              <a:t>     # execute these statement</a:t>
            </a:r>
          </a:p>
          <a:p>
            <a:pPr marL="514350" indent="-51435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3200" b="1" dirty="0">
                <a:solidFill>
                  <a:srgbClr val="FF0000"/>
                </a:solidFill>
              </a:rPr>
              <a:t>for loop</a:t>
            </a:r>
            <a:r>
              <a:rPr lang="en-US" sz="3200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0561" y="836024"/>
            <a:ext cx="11229702" cy="5340940"/>
          </a:xfrm>
        </p:spPr>
        <p:txBody>
          <a:bodyPr>
            <a:normAutofit/>
          </a:bodyPr>
          <a:lstStyle/>
          <a:p>
            <a:pPr marL="514350" indent="-514350" algn="just"/>
            <a:r>
              <a:rPr lang="en-US" sz="2600" dirty="0"/>
              <a:t>A for loop is used for iterating over a sequence(</a:t>
            </a:r>
            <a:r>
              <a:rPr lang="en-US" sz="2600" dirty="0">
                <a:hlinkClick r:id="rId3" tooltip="Python list"/>
              </a:rPr>
              <a:t>list</a:t>
            </a:r>
            <a:r>
              <a:rPr lang="en-US" sz="2600" dirty="0"/>
              <a:t>, </a:t>
            </a:r>
            <a:r>
              <a:rPr lang="en-US" sz="2600" dirty="0" err="1">
                <a:hlinkClick r:id="rId4" tooltip="Python tuple"/>
              </a:rPr>
              <a:t>tuple</a:t>
            </a:r>
            <a:r>
              <a:rPr lang="en-US" sz="2600" dirty="0"/>
              <a:t>, </a:t>
            </a:r>
            <a:r>
              <a:rPr lang="en-US" sz="2600" dirty="0">
                <a:hlinkClick r:id="rId5" tooltip="Python string"/>
              </a:rPr>
              <a:t>string</a:t>
            </a:r>
            <a:r>
              <a:rPr lang="en-US" sz="2600" dirty="0"/>
              <a:t>)</a:t>
            </a:r>
          </a:p>
          <a:p>
            <a:pPr marL="514350" indent="-514350" algn="just"/>
            <a:r>
              <a:rPr lang="en-US" sz="2600" dirty="0"/>
              <a:t>for loop can execute a set of statements(Body), once for each item in a list</a:t>
            </a:r>
          </a:p>
          <a:p>
            <a:pPr marL="514350" indent="-514350" algn="just">
              <a:buNone/>
            </a:pPr>
            <a:endParaRPr lang="en-US" sz="2600" dirty="0"/>
          </a:p>
          <a:p>
            <a:pPr>
              <a:buNone/>
            </a:pPr>
            <a:r>
              <a:rPr lang="en-US" sz="2600" b="1" dirty="0">
                <a:solidFill>
                  <a:srgbClr val="FF0000"/>
                </a:solidFill>
              </a:rPr>
              <a:t>Syntax of for Loop</a:t>
            </a:r>
          </a:p>
          <a:p>
            <a:pPr>
              <a:buNone/>
            </a:pPr>
            <a:r>
              <a:rPr lang="en-US" sz="2600" dirty="0"/>
              <a:t>for </a:t>
            </a:r>
            <a:r>
              <a:rPr lang="en-US" sz="2600" dirty="0">
                <a:solidFill>
                  <a:srgbClr val="7030A0"/>
                </a:solidFill>
              </a:rPr>
              <a:t>variable</a:t>
            </a:r>
            <a:r>
              <a:rPr lang="en-US" sz="2600" dirty="0"/>
              <a:t> in </a:t>
            </a:r>
            <a:r>
              <a:rPr lang="en-US" sz="2600" dirty="0">
                <a:solidFill>
                  <a:srgbClr val="7030A0"/>
                </a:solidFill>
              </a:rPr>
              <a:t>sequence</a:t>
            </a:r>
            <a:r>
              <a:rPr lang="en-US" sz="2600" dirty="0"/>
              <a:t>: </a:t>
            </a:r>
          </a:p>
          <a:p>
            <a:pPr>
              <a:buNone/>
            </a:pPr>
            <a:r>
              <a:rPr lang="en-US" sz="2600" dirty="0"/>
              <a:t>		Body of for</a:t>
            </a:r>
          </a:p>
          <a:p>
            <a:pPr>
              <a:buNone/>
            </a:pPr>
            <a:r>
              <a:rPr lang="en-US" sz="2600" dirty="0"/>
              <a:t> 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r>
              <a:rPr lang="en-US" sz="2600" dirty="0"/>
              <a:t>Here, variable takes the value of the item inside the sequence on each iteration.</a:t>
            </a:r>
          </a:p>
          <a:p>
            <a:r>
              <a:rPr lang="en-US" sz="2600" dirty="0"/>
              <a:t>Loop continues until it reach the last item in the sequence.</a:t>
            </a:r>
          </a:p>
        </p:txBody>
      </p:sp>
      <p:pic>
        <p:nvPicPr>
          <p:cNvPr id="1026" name="Picture 2" descr="C:\Users\Dell\Downloads\ISL\forLoop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93577" y="1672047"/>
            <a:ext cx="3644537" cy="31481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2800" dirty="0">
                <a:solidFill>
                  <a:srgbClr val="FF0000"/>
                </a:solidFill>
              </a:rPr>
              <a:t># Program to find the sum of all numbers stored in a list#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numbers = [6, 5, 3, 8]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= 0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 numbers:	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sum =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sum+i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print("The sum is", sum)</a:t>
            </a:r>
            <a:endParaRPr lang="en-US" sz="2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BA9C568-0C0E-36A7-92DB-0E171EE4CBFC}"/>
              </a:ext>
            </a:extLst>
          </p:cNvPr>
          <p:cNvSpPr txBox="1"/>
          <p:nvPr/>
        </p:nvSpPr>
        <p:spPr>
          <a:xfrm>
            <a:off x="7198360" y="3599543"/>
            <a:ext cx="4363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2000" dirty="0"/>
              <a:t>The sum is 22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Ex: </a:t>
            </a:r>
            <a:r>
              <a:rPr lang="en-US" sz="2800" dirty="0">
                <a:solidFill>
                  <a:srgbClr val="FF0000"/>
                </a:solidFill>
              </a:rPr>
              <a:t>Program to count the vowels in a list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320820"/>
            <a:ext cx="11062063" cy="4856144"/>
          </a:xfrm>
        </p:spPr>
        <p:txBody>
          <a:bodyPr>
            <a:normAutofit/>
          </a:bodyPr>
          <a:lstStyle/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text = “University"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vowels = "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aeiouAEIOU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pPr marL="514350" indent="-514350" algn="just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vowel_count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char in text: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char in vowels: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vowel_count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+= 1</a:t>
            </a:r>
          </a:p>
          <a:p>
            <a:pPr marL="514350" indent="-514350" algn="just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print("Vowel count:",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vowel_count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A23101D-B9E3-5C1D-F109-601A49888DE1}"/>
              </a:ext>
            </a:extLst>
          </p:cNvPr>
          <p:cNvSpPr txBox="1"/>
          <p:nvPr/>
        </p:nvSpPr>
        <p:spPr>
          <a:xfrm>
            <a:off x="9098280" y="4829294"/>
            <a:ext cx="3540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2000" dirty="0"/>
              <a:t>Vowel count: 4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range() function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marL="514350" indent="-514350" algn="just"/>
            <a:r>
              <a:rPr lang="en-US" sz="2400" dirty="0"/>
              <a:t>It generates a </a:t>
            </a:r>
            <a:r>
              <a:rPr lang="en-US" sz="2400" dirty="0">
                <a:solidFill>
                  <a:srgbClr val="7030A0"/>
                </a:solidFill>
              </a:rPr>
              <a:t>sequence of numbers</a:t>
            </a:r>
            <a:r>
              <a:rPr lang="en-US" sz="2400" dirty="0"/>
              <a:t>.</a:t>
            </a:r>
          </a:p>
          <a:p>
            <a:pPr marL="514350" indent="-514350" algn="just"/>
            <a:r>
              <a:rPr lang="en-US" sz="2400" dirty="0"/>
              <a:t>range(10) will generate numbers from </a:t>
            </a:r>
            <a:r>
              <a:rPr lang="en-US" sz="2400" dirty="0">
                <a:solidFill>
                  <a:srgbClr val="7030A0"/>
                </a:solidFill>
              </a:rPr>
              <a:t>0 to 9 </a:t>
            </a:r>
            <a:r>
              <a:rPr lang="en-US" sz="2400" dirty="0"/>
              <a:t>(10 numbers).</a:t>
            </a:r>
          </a:p>
          <a:p>
            <a:pPr marL="514350" indent="-514350" algn="just"/>
            <a:r>
              <a:rPr lang="en-US" sz="2400" dirty="0"/>
              <a:t>We can also define the start, stop and step size as </a:t>
            </a:r>
            <a:r>
              <a:rPr lang="en-US" sz="2400" dirty="0">
                <a:solidFill>
                  <a:srgbClr val="7030A0"/>
                </a:solidFill>
              </a:rPr>
              <a:t>range(</a:t>
            </a:r>
            <a:r>
              <a:rPr lang="en-US" sz="2400" dirty="0" err="1">
                <a:solidFill>
                  <a:srgbClr val="7030A0"/>
                </a:solidFill>
              </a:rPr>
              <a:t>start,stop,step</a:t>
            </a:r>
            <a:r>
              <a:rPr lang="en-US" sz="2400" dirty="0">
                <a:solidFill>
                  <a:srgbClr val="7030A0"/>
                </a:solidFill>
              </a:rPr>
              <a:t> size)</a:t>
            </a:r>
          </a:p>
          <a:p>
            <a:pPr marL="514350" indent="-514350" algn="just"/>
            <a:r>
              <a:rPr lang="en-US" sz="2400" dirty="0"/>
              <a:t> step size defaults to </a:t>
            </a:r>
            <a:r>
              <a:rPr lang="en-US" sz="2400" dirty="0">
                <a:solidFill>
                  <a:srgbClr val="7030A0"/>
                </a:solidFill>
              </a:rPr>
              <a:t>1</a:t>
            </a:r>
            <a:r>
              <a:rPr lang="en-US" sz="2400" dirty="0"/>
              <a:t> if not provided.</a:t>
            </a:r>
          </a:p>
          <a:p>
            <a:pPr marL="514350" indent="-514350" algn="just"/>
            <a:r>
              <a:rPr lang="en-US" sz="2400" dirty="0">
                <a:solidFill>
                  <a:srgbClr val="7030A0"/>
                </a:solidFill>
              </a:rPr>
              <a:t>list() </a:t>
            </a:r>
            <a:r>
              <a:rPr lang="en-US" sz="2400" dirty="0"/>
              <a:t>function output all the items in the range. </a:t>
            </a:r>
          </a:p>
          <a:p>
            <a:pPr marL="0" indent="0" algn="just">
              <a:buNone/>
            </a:pPr>
            <a:endParaRPr lang="en-US" sz="2600" dirty="0"/>
          </a:p>
          <a:p>
            <a:pPr marL="0" indent="0" algn="just">
              <a:buNone/>
            </a:pPr>
            <a:r>
              <a:rPr lang="en-US" sz="2600" dirty="0"/>
              <a:t>print(list(range(10)))	 		# Output: [0, 1, 2, 3, 4, 5, 6, 7, 8, 9</a:t>
            </a:r>
            <a:r>
              <a:rPr lang="en-US" sz="26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en-US" sz="2600" dirty="0"/>
              <a:t>print(list(range(2, 8))) 		# Output: </a:t>
            </a:r>
            <a:r>
              <a:rPr lang="en-US" sz="2600" dirty="0">
                <a:solidFill>
                  <a:srgbClr val="7030A0"/>
                </a:solidFill>
              </a:rPr>
              <a:t>[</a:t>
            </a:r>
            <a:r>
              <a:rPr lang="en-US" sz="2600" dirty="0"/>
              <a:t>2, 3, 4, 5, 6, 7] </a:t>
            </a:r>
          </a:p>
          <a:p>
            <a:pPr marL="0" indent="0" algn="just">
              <a:buNone/>
            </a:pPr>
            <a:r>
              <a:rPr lang="en-US" sz="2600" dirty="0"/>
              <a:t> print(list(range(2, 20, 3)))         	# Output: [2, 5, 8, 11, 14, 17]</a:t>
            </a:r>
          </a:p>
          <a:p>
            <a:pPr marL="514350" indent="-514350" algn="just">
              <a:buNone/>
            </a:pPr>
            <a:endParaRPr lang="en-US" sz="3200" dirty="0"/>
          </a:p>
          <a:p>
            <a:pPr marL="514350" indent="-51435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514350" indent="-514350"/>
            <a:r>
              <a:rPr lang="en-US" sz="2600" dirty="0">
                <a:solidFill>
                  <a:srgbClr val="FF0000"/>
                </a:solidFill>
              </a:rPr>
              <a:t># Python Program </a:t>
            </a:r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find even and odd numbers in between 1 to n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 fontScale="62500" lnSpcReduction="20000"/>
          </a:bodyPr>
          <a:lstStyle/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n=int(input("enter number"))</a:t>
            </a:r>
          </a:p>
          <a:p>
            <a:pPr marL="514350" indent="-514350" algn="just">
              <a:buNone/>
            </a:pPr>
            <a:endParaRPr lang="en-US" sz="3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Initialize empty lists to store even and odd numbers</a:t>
            </a:r>
          </a:p>
          <a:p>
            <a:pPr marL="514350" indent="-514350" algn="just">
              <a:buNone/>
            </a:pP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even_numbers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[]</a:t>
            </a:r>
          </a:p>
          <a:p>
            <a:pPr marL="514350" indent="-514350" algn="just">
              <a:buNone/>
            </a:pP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odd_numbers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[]</a:t>
            </a:r>
          </a:p>
          <a:p>
            <a:pPr marL="514350" indent="-514350" algn="just">
              <a:buNone/>
            </a:pPr>
            <a:endParaRPr lang="en-US" sz="3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Iterate through the list and categorize the numbers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num in range(1,n):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num % 2 == 0: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even_numbers.append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(num)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else: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odd_numbers.append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(num)</a:t>
            </a:r>
          </a:p>
          <a:p>
            <a:pPr marL="514350" indent="-514350" algn="just">
              <a:buNone/>
            </a:pPr>
            <a:endParaRPr lang="en-US" sz="3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print("Even numbers:", </a:t>
            </a: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even_numbers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514350" indent="-514350" algn="just">
              <a:buNone/>
            </a:pP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print("Odd numbers:", </a:t>
            </a:r>
            <a:r>
              <a:rPr lang="en-US" sz="3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odd_numbers</a:t>
            </a:r>
            <a:r>
              <a:rPr lang="en-US" sz="3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53AC5D0-E16C-EC67-DFC5-357DEFB20F3E}"/>
              </a:ext>
            </a:extLst>
          </p:cNvPr>
          <p:cNvSpPr txBox="1"/>
          <p:nvPr/>
        </p:nvSpPr>
        <p:spPr>
          <a:xfrm>
            <a:off x="7797800" y="4976635"/>
            <a:ext cx="4102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Output:</a:t>
            </a:r>
          </a:p>
          <a:p>
            <a:r>
              <a:rPr lang="en-US" dirty="0"/>
              <a:t>enter number     6</a:t>
            </a:r>
          </a:p>
          <a:p>
            <a:r>
              <a:rPr lang="en-US" dirty="0"/>
              <a:t>Even numbers: [2, 4]</a:t>
            </a:r>
          </a:p>
          <a:p>
            <a:r>
              <a:rPr lang="en-US" dirty="0"/>
              <a:t>Odd numbers: [1, 3, 5</a:t>
            </a:r>
            <a:r>
              <a:rPr lang="en-US" dirty="0">
                <a:solidFill>
                  <a:srgbClr val="FF0000"/>
                </a:solidFill>
              </a:rPr>
              <a:t>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6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Python break and continue</a:t>
            </a:r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In Python, break and continue statements can alter the flow of a loop.</a:t>
            </a:r>
            <a:endParaRPr lang="en-US" sz="2400" b="1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Python break statement: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Söhne Mono"/>
              </a:rPr>
              <a:t>break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statement is used to exit a loop prematurely when a certain condition is met.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When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Söhne Mono"/>
              </a:rPr>
              <a:t>break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is encountered inside a loop, the loop is terminated, and the program continues with the next statement after the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C:\Users\Dell\Downloads\ISL\how-break-statement-work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5503" y="3180080"/>
            <a:ext cx="5380445" cy="35814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Python break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FBE224D-D12D-478F-BB31-8CB108E338C0}"/>
              </a:ext>
            </a:extLst>
          </p:cNvPr>
          <p:cNvSpPr txBox="1"/>
          <p:nvPr/>
        </p:nvSpPr>
        <p:spPr>
          <a:xfrm>
            <a:off x="0" y="127816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Example-1:</a:t>
            </a:r>
          </a:p>
          <a:p>
            <a:endParaRPr lang="en-IN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range(1,11):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if i == 4: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break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print(i)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print("It display values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before",i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4C40F3D-0344-5196-0B43-7AF7F43FD47A}"/>
              </a:ext>
            </a:extLst>
          </p:cNvPr>
          <p:cNvSpPr txBox="1"/>
          <p:nvPr/>
        </p:nvSpPr>
        <p:spPr>
          <a:xfrm>
            <a:off x="6690360" y="1432057"/>
            <a:ext cx="54203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Example-2: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 "VVIT-AP": 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if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"A": 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break 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8A63D32-01D3-F9C9-0A03-51270D176EDF}"/>
              </a:ext>
            </a:extLst>
          </p:cNvPr>
          <p:cNvSpPr txBox="1"/>
          <p:nvPr/>
        </p:nvSpPr>
        <p:spPr>
          <a:xfrm>
            <a:off x="91440" y="4134735"/>
            <a:ext cx="33426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2000" dirty="0">
                <a:solidFill>
                  <a:srgbClr val="FF0000"/>
                </a:solidFill>
              </a:rPr>
              <a:t>1</a:t>
            </a:r>
          </a:p>
          <a:p>
            <a:r>
              <a:rPr lang="en-IN" sz="2000" dirty="0">
                <a:solidFill>
                  <a:srgbClr val="FF0000"/>
                </a:solidFill>
              </a:rPr>
              <a:t>2</a:t>
            </a:r>
          </a:p>
          <a:p>
            <a:r>
              <a:rPr lang="en-IN" sz="2000" dirty="0">
                <a:solidFill>
                  <a:srgbClr val="FF0000"/>
                </a:solidFill>
              </a:rPr>
              <a:t>3</a:t>
            </a:r>
          </a:p>
          <a:p>
            <a:r>
              <a:rPr lang="en-IN" sz="2000" dirty="0">
                <a:solidFill>
                  <a:srgbClr val="FF0000"/>
                </a:solidFill>
              </a:rPr>
              <a:t>It display values before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D1C3AAE-A82F-7B49-64E4-A55999395262}"/>
              </a:ext>
            </a:extLst>
          </p:cNvPr>
          <p:cNvSpPr txBox="1"/>
          <p:nvPr/>
        </p:nvSpPr>
        <p:spPr>
          <a:xfrm>
            <a:off x="8051800" y="3794342"/>
            <a:ext cx="1640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Output:</a:t>
            </a:r>
          </a:p>
          <a:p>
            <a:r>
              <a:rPr lang="en-IN" sz="2000" dirty="0">
                <a:solidFill>
                  <a:srgbClr val="FF0000"/>
                </a:solidFill>
              </a:rPr>
              <a:t>V</a:t>
            </a:r>
          </a:p>
          <a:p>
            <a:r>
              <a:rPr lang="en-IN" sz="2000" dirty="0">
                <a:solidFill>
                  <a:srgbClr val="FF0000"/>
                </a:solidFill>
              </a:rPr>
              <a:t>I</a:t>
            </a:r>
          </a:p>
          <a:p>
            <a:r>
              <a:rPr lang="en-IN" sz="2000" dirty="0">
                <a:solidFill>
                  <a:srgbClr val="FF0000"/>
                </a:solidFill>
              </a:rPr>
              <a:t>T</a:t>
            </a:r>
          </a:p>
          <a:p>
            <a:r>
              <a:rPr lang="en-IN" sz="2000" dirty="0">
                <a:solidFill>
                  <a:srgbClr val="FF0000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Python continue statement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Söhne Mono"/>
              </a:rPr>
              <a:t>continue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statement is used to skip the current iteration of a loop and move to the next iteration, without executing the remaining code in the loop for the current iteration.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It's useful when you want to skip certain iterations based on a condition but continue the loop overall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just"/>
            <a:endParaRPr lang="en-US" sz="2400" dirty="0"/>
          </a:p>
          <a:p>
            <a:pPr algn="just">
              <a:buNone/>
            </a:pPr>
            <a:endParaRPr lang="en-US" sz="2400" dirty="0"/>
          </a:p>
        </p:txBody>
      </p:sp>
      <p:pic>
        <p:nvPicPr>
          <p:cNvPr id="2050" name="Picture 2" descr="C:\Users\Dell\Downloads\ISL\how-continue-statment-work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0307" y="2624878"/>
            <a:ext cx="4624251" cy="36514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Python continue statement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26FA0A4-D924-C669-75BA-29238DF1511F}"/>
              </a:ext>
            </a:extLst>
          </p:cNvPr>
          <p:cNvSpPr txBox="1"/>
          <p:nvPr/>
        </p:nvSpPr>
        <p:spPr>
          <a:xfrm>
            <a:off x="1082040" y="1436916"/>
            <a:ext cx="3459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Example-1:</a:t>
            </a:r>
          </a:p>
          <a:p>
            <a:endParaRPr lang="en-IN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range(1,11):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if i == 4: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continue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232D4CA-6536-4196-9C57-2DB6FF336B81}"/>
              </a:ext>
            </a:extLst>
          </p:cNvPr>
          <p:cNvSpPr txBox="1"/>
          <p:nvPr/>
        </p:nvSpPr>
        <p:spPr>
          <a:xfrm>
            <a:off x="7650482" y="1488500"/>
            <a:ext cx="3611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Example-2:</a:t>
            </a:r>
          </a:p>
          <a:p>
            <a:endParaRPr lang="en-IN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 "VVIT-AP":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if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"A":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continue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58C0DDA-0314-1748-8A56-409E4428563D}"/>
              </a:ext>
            </a:extLst>
          </p:cNvPr>
          <p:cNvSpPr txBox="1"/>
          <p:nvPr/>
        </p:nvSpPr>
        <p:spPr>
          <a:xfrm>
            <a:off x="611935" y="3551568"/>
            <a:ext cx="6309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1</a:t>
            </a:r>
          </a:p>
          <a:p>
            <a:r>
              <a:rPr lang="en-IN" sz="2000" dirty="0">
                <a:solidFill>
                  <a:srgbClr val="FF0000"/>
                </a:solidFill>
              </a:rPr>
              <a:t>2</a:t>
            </a:r>
          </a:p>
          <a:p>
            <a:r>
              <a:rPr lang="en-IN" sz="2000" dirty="0">
                <a:solidFill>
                  <a:srgbClr val="FF0000"/>
                </a:solidFill>
              </a:rPr>
              <a:t>3</a:t>
            </a:r>
          </a:p>
          <a:p>
            <a:r>
              <a:rPr lang="en-IN" sz="2000" dirty="0">
                <a:solidFill>
                  <a:srgbClr val="FF0000"/>
                </a:solidFill>
              </a:rPr>
              <a:t>5</a:t>
            </a:r>
          </a:p>
          <a:p>
            <a:r>
              <a:rPr lang="en-IN" sz="2000" dirty="0">
                <a:solidFill>
                  <a:srgbClr val="FF0000"/>
                </a:solidFill>
              </a:rPr>
              <a:t>6</a:t>
            </a:r>
          </a:p>
          <a:p>
            <a:r>
              <a:rPr lang="en-IN" sz="2000" dirty="0">
                <a:solidFill>
                  <a:srgbClr val="FF0000"/>
                </a:solidFill>
              </a:rPr>
              <a:t>7</a:t>
            </a:r>
          </a:p>
          <a:p>
            <a:r>
              <a:rPr lang="en-IN" sz="2000" dirty="0">
                <a:solidFill>
                  <a:srgbClr val="FF0000"/>
                </a:solidFill>
              </a:rPr>
              <a:t>8</a:t>
            </a:r>
          </a:p>
          <a:p>
            <a:r>
              <a:rPr lang="en-IN" sz="2000" dirty="0">
                <a:solidFill>
                  <a:srgbClr val="FF0000"/>
                </a:solidFill>
              </a:rPr>
              <a:t>9</a:t>
            </a:r>
          </a:p>
          <a:p>
            <a:r>
              <a:rPr lang="en-IN" sz="2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70D3E59-CE42-9470-D1BB-1300D3601C24}"/>
              </a:ext>
            </a:extLst>
          </p:cNvPr>
          <p:cNvSpPr txBox="1"/>
          <p:nvPr/>
        </p:nvSpPr>
        <p:spPr>
          <a:xfrm>
            <a:off x="8587945" y="4130894"/>
            <a:ext cx="33703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V</a:t>
            </a:r>
          </a:p>
          <a:p>
            <a:r>
              <a:rPr lang="en-IN" sz="2000" dirty="0">
                <a:solidFill>
                  <a:srgbClr val="FF0000"/>
                </a:solidFill>
              </a:rPr>
              <a:t>I</a:t>
            </a:r>
          </a:p>
          <a:p>
            <a:r>
              <a:rPr lang="en-IN" sz="2000" dirty="0">
                <a:solidFill>
                  <a:srgbClr val="FF0000"/>
                </a:solidFill>
              </a:rPr>
              <a:t>T</a:t>
            </a:r>
          </a:p>
          <a:p>
            <a:r>
              <a:rPr lang="en-IN" sz="2000" dirty="0">
                <a:solidFill>
                  <a:srgbClr val="FF0000"/>
                </a:solidFill>
              </a:rPr>
              <a:t>-</a:t>
            </a:r>
          </a:p>
          <a:p>
            <a:r>
              <a:rPr lang="en-IN" sz="2000" dirty="0">
                <a:solidFill>
                  <a:srgbClr val="FF0000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219972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Python pass statement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 </a:t>
            </a:r>
            <a:r>
              <a:rPr lang="en-US" b="1" dirty="0"/>
              <a:t>pass</a:t>
            </a:r>
            <a:r>
              <a:rPr lang="en-US" dirty="0"/>
              <a:t> statement is a </a:t>
            </a:r>
            <a:r>
              <a:rPr lang="en-US" i="1" dirty="0"/>
              <a:t>null</a:t>
            </a:r>
            <a:r>
              <a:rPr lang="en-US" dirty="0"/>
              <a:t> operation; nothing happens when it executes.</a:t>
            </a:r>
          </a:p>
          <a:p>
            <a:pPr algn="just"/>
            <a:r>
              <a:rPr lang="en-US" dirty="0"/>
              <a:t> It indicates no operation (NOP).</a:t>
            </a:r>
          </a:p>
          <a:p>
            <a:pPr algn="just"/>
            <a:r>
              <a:rPr lang="en-US" dirty="0"/>
              <a:t>So, we use the pass statement to construct a body that does nothing.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Ex: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5142" y="4150864"/>
            <a:ext cx="609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sequence = {‘a', ‘b', ‘c'}</a:t>
            </a:r>
          </a:p>
          <a:p>
            <a:r>
              <a:rPr lang="en-US" sz="3200" dirty="0"/>
              <a:t>for </a:t>
            </a:r>
            <a:r>
              <a:rPr lang="en-US" sz="3200" dirty="0" err="1"/>
              <a:t>val</a:t>
            </a:r>
            <a:r>
              <a:rPr lang="en-US" sz="3200" dirty="0"/>
              <a:t> in sequence: </a:t>
            </a:r>
          </a:p>
          <a:p>
            <a:r>
              <a:rPr lang="en-US" sz="3200" dirty="0"/>
              <a:t>  	 pass</a:t>
            </a:r>
          </a:p>
          <a:p>
            <a:r>
              <a:rPr lang="en-US" sz="3200" dirty="0"/>
              <a:t>print ("good bye")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FF0000"/>
                </a:solidFill>
                <a:effectLst/>
                <a:latin typeface="Source Sans 3"/>
              </a:rPr>
              <a:t>Python Nested Loops</a:t>
            </a:r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836024"/>
            <a:ext cx="11062063" cy="5340940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effectLst/>
              </a:rPr>
              <a:t>Nested loops mean loops inside a loop. </a:t>
            </a:r>
          </a:p>
          <a:p>
            <a:pPr algn="just"/>
            <a:r>
              <a:rPr lang="en-US" sz="2400" b="0" i="0" dirty="0">
                <a:effectLst/>
              </a:rPr>
              <a:t>For example, while loop inside the for loop, for loop inside the for loop, etc.</a:t>
            </a:r>
          </a:p>
          <a:p>
            <a:pPr algn="just"/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unito" pitchFamily="2" charset="0"/>
              </a:rPr>
              <a:t>Python Nested Loops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Outer_loop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Expression: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 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Inner_loop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       Statement inside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inner_loop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/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71CCB19-BF31-9D65-7056-DE3749545A98}"/>
              </a:ext>
            </a:extLst>
          </p:cNvPr>
          <p:cNvSpPr txBox="1"/>
          <p:nvPr/>
        </p:nvSpPr>
        <p:spPr>
          <a:xfrm>
            <a:off x="3689169" y="4029587"/>
            <a:ext cx="3022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(i, j)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B014D02-47A5-CD36-7ED0-B9A11750D99D}"/>
              </a:ext>
            </a:extLst>
          </p:cNvPr>
          <p:cNvSpPr txBox="1"/>
          <p:nvPr/>
        </p:nvSpPr>
        <p:spPr>
          <a:xfrm>
            <a:off x="8005719" y="5125723"/>
            <a:ext cx="3114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1 4</a:t>
            </a:r>
          </a:p>
          <a:p>
            <a:r>
              <a:rPr lang="en-IN" dirty="0">
                <a:solidFill>
                  <a:srgbClr val="FF0000"/>
                </a:solidFill>
              </a:rPr>
              <a:t>1 5</a:t>
            </a:r>
          </a:p>
          <a:p>
            <a:r>
              <a:rPr lang="en-IN" dirty="0">
                <a:solidFill>
                  <a:srgbClr val="FF0000"/>
                </a:solidFill>
              </a:rPr>
              <a:t>2 4</a:t>
            </a:r>
          </a:p>
          <a:p>
            <a:r>
              <a:rPr lang="en-IN" dirty="0">
                <a:solidFill>
                  <a:srgbClr val="FF0000"/>
                </a:solidFill>
              </a:rPr>
              <a:t>2 5</a:t>
            </a:r>
          </a:p>
        </p:txBody>
      </p:sp>
    </p:spTree>
    <p:extLst>
      <p:ext uri="{BB962C8B-B14F-4D97-AF65-F5344CB8AC3E}">
        <p14:creationId xmlns:p14="http://schemas.microsoft.com/office/powerpoint/2010/main" val="4126376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273239"/>
                </a:solidFill>
                <a:effectLst/>
                <a:latin typeface="Nunito" pitchFamily="2" charset="0"/>
              </a:rPr>
              <a:t>Right Half Pyramid Pattern </a:t>
            </a:r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19AE529-FABF-A9B0-1954-CCE56A7F4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5061" y="1110108"/>
            <a:ext cx="2049260" cy="30391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400" y="1379430"/>
            <a:ext cx="6309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n=int(input("enter n"))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n+1):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range(1, i + 1):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j,end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 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07381E1-F4C4-A9FB-6552-5AE8977EA774}"/>
              </a:ext>
            </a:extLst>
          </p:cNvPr>
          <p:cNvSpPr txBox="1"/>
          <p:nvPr/>
        </p:nvSpPr>
        <p:spPr>
          <a:xfrm>
            <a:off x="1112520" y="5478570"/>
            <a:ext cx="8275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Pattern Program in Python (with 30 Examples) (tutorialstonight.com)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723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IN" sz="2800" b="1" i="0" dirty="0">
                <a:solidFill>
                  <a:srgbClr val="273239"/>
                </a:solidFill>
                <a:effectLst/>
                <a:latin typeface="Nunito" pitchFamily="2" charset="0"/>
              </a:rPr>
              <a:t>Right Half Pyramid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star pattern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400" y="1379430"/>
            <a:ext cx="6309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n=int(input("enter n"))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n+1):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range(1, i + 1):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print(“*”,end=" 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5CB41E9-4030-6617-11FB-8E8BC3DAF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400" y="1636998"/>
            <a:ext cx="2263800" cy="281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3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Inverted Right Half Pyramid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star pattern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400" y="1379430"/>
            <a:ext cx="6309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range(n, 0, -1):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range(1, i + 1):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print("* ", end="")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4E8A6DD-C326-0D2B-634E-F8A1C20C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111" y="1257965"/>
            <a:ext cx="1858978" cy="230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71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400" y="1379430"/>
            <a:ext cx="63093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x=0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n+1):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range(1, i + 1):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x=x+1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print(x, end=" ")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print()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E235E77-1BC4-91FE-1CAA-A65D66FAA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061" y="1743749"/>
            <a:ext cx="2341078" cy="216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55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70456"/>
            <a:ext cx="100584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273239"/>
                </a:solidFill>
                <a:effectLst/>
                <a:latin typeface="Nunito" pitchFamily="2" charset="0"/>
              </a:rPr>
              <a:t>Full Pyramid Pattern </a:t>
            </a:r>
            <a:r>
              <a:rPr lang="en-IN" sz="3600" b="1" i="0" dirty="0">
                <a:solidFill>
                  <a:srgbClr val="2B324D"/>
                </a:solidFill>
                <a:effectLst/>
                <a:latin typeface="Arial" panose="020B0604020202020204" pitchFamily="34" charset="0"/>
              </a:rPr>
              <a:t>in python</a:t>
            </a:r>
            <a:r>
              <a:rPr lang="en-US" sz="2800" b="1" dirty="0">
                <a:solidFill>
                  <a:srgbClr val="FF0000"/>
                </a:solidFill>
              </a:rPr>
              <a:t/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468083" y="1237109"/>
            <a:ext cx="63093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n+1):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range(n - i):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print(' ', end='')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k in range(2*i - 1):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print('*', end='')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5B586F6-5B2C-2C3E-F810-1E01452C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79" y="960965"/>
            <a:ext cx="5074920" cy="36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2B324D"/>
                </a:solidFill>
                <a:effectLst/>
                <a:latin typeface="Arial" panose="020B0604020202020204" pitchFamily="34" charset="0"/>
              </a:rPr>
              <a:t>Number Pyramid Pattern Program In Python</a:t>
            </a:r>
            <a:r>
              <a:rPr lang="en-US" sz="3600" b="1" dirty="0">
                <a:solidFill>
                  <a:srgbClr val="FF0000"/>
                </a:solidFill>
              </a:rPr>
              <a:t/>
            </a: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400" y="1379430"/>
            <a:ext cx="63093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n+1):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range(n - i):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print(' ', end='')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k in range(2*i - 1):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print(k+1, end='')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65A9570-F226-EDBE-81A1-48FF3B53B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798" y="1237109"/>
            <a:ext cx="1972962" cy="31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26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960" y="270456"/>
            <a:ext cx="10784840" cy="487190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/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+mn-lt"/>
              </a:rPr>
              <a:t>Python Program to Check Prime Number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+mn-lt"/>
              </a:rPr>
              <a:t/>
            </a:r>
            <a:br>
              <a:rPr lang="en-US" sz="2800" b="0" i="0" dirty="0">
                <a:solidFill>
                  <a:srgbClr val="FF0000"/>
                </a:solidFill>
                <a:effectLst/>
                <a:latin typeface="+mn-lt"/>
              </a:rPr>
            </a:br>
            <a:endParaRPr 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D51F932-ADE7-C6B8-11D0-3770A1DBFC71}"/>
              </a:ext>
            </a:extLst>
          </p:cNvPr>
          <p:cNvSpPr txBox="1"/>
          <p:nvPr/>
        </p:nvSpPr>
        <p:spPr>
          <a:xfrm>
            <a:off x="690880" y="2495679"/>
            <a:ext cx="81889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152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&gt; 1: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i in range(2,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 i) == 0: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"is not a prime number")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break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else: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"is a prime number")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"is not a prime number")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C226C3C-2D20-7D7D-8397-99FAAD425904}"/>
              </a:ext>
            </a:extLst>
          </p:cNvPr>
          <p:cNvSpPr txBox="1"/>
          <p:nvPr/>
        </p:nvSpPr>
        <p:spPr>
          <a:xfrm>
            <a:off x="261620" y="1005951"/>
            <a:ext cx="11399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A positive integer greater than 1 which does not have other factors except 1 and the number itself is called a prime number.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numbers 2, 3, 5, 7, etc. are prime numbers as they do not have any other factors.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2150715-9541-3230-9251-ECE3858577E2}"/>
              </a:ext>
            </a:extLst>
          </p:cNvPr>
          <p:cNvSpPr txBox="1"/>
          <p:nvPr/>
        </p:nvSpPr>
        <p:spPr>
          <a:xfrm>
            <a:off x="6095998" y="5892424"/>
            <a:ext cx="630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152 is not a prime number</a:t>
            </a:r>
          </a:p>
        </p:txBody>
      </p:sp>
    </p:spTree>
    <p:extLst>
      <p:ext uri="{BB962C8B-B14F-4D97-AF65-F5344CB8AC3E}">
        <p14:creationId xmlns:p14="http://schemas.microsoft.com/office/powerpoint/2010/main" val="2185151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960" y="270456"/>
            <a:ext cx="10784840" cy="487190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/>
            </a:r>
            <a:br>
              <a:rPr lang="en-US" sz="3000" dirty="0">
                <a:solidFill>
                  <a:srgbClr val="FF0000"/>
                </a:solidFill>
              </a:rPr>
            </a:br>
            <a:r>
              <a:rPr lang="en-US" sz="2800" i="0" dirty="0">
                <a:solidFill>
                  <a:srgbClr val="FF0000"/>
                </a:solidFill>
                <a:effectLst/>
                <a:latin typeface="+mn-lt"/>
              </a:rPr>
              <a:t>Python Program to Check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Armstrong number </a:t>
            </a:r>
            <a:r>
              <a:rPr lang="en-US" sz="2800" i="0" dirty="0">
                <a:solidFill>
                  <a:srgbClr val="FF0000"/>
                </a:solidFill>
                <a:effectLst/>
                <a:latin typeface="+mn-lt"/>
              </a:rPr>
              <a:t/>
            </a:r>
            <a:br>
              <a:rPr lang="en-US" sz="2800" i="0" dirty="0">
                <a:solidFill>
                  <a:srgbClr val="FF0000"/>
                </a:solidFill>
                <a:effectLst/>
                <a:latin typeface="+mn-lt"/>
              </a:rPr>
            </a:b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C226C3C-2D20-7D7D-8397-99FAAD425904}"/>
              </a:ext>
            </a:extLst>
          </p:cNvPr>
          <p:cNvSpPr txBox="1"/>
          <p:nvPr/>
        </p:nvSpPr>
        <p:spPr>
          <a:xfrm>
            <a:off x="152400" y="1005951"/>
            <a:ext cx="36474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effectLst/>
              </a:rPr>
              <a:t>An Armstrong number is a number that is equal to the sum of its individual digits each raised to the power of the number of digits. </a:t>
            </a:r>
          </a:p>
          <a:p>
            <a:pPr algn="just"/>
            <a:endParaRPr lang="en-US" sz="2000" b="0" i="0" dirty="0">
              <a:effectLst/>
            </a:endParaRPr>
          </a:p>
          <a:p>
            <a:pPr algn="just"/>
            <a:endParaRPr lang="en-US" sz="2000" b="0" i="0" dirty="0">
              <a:effectLst/>
            </a:endParaRPr>
          </a:p>
          <a:p>
            <a:pPr algn="just"/>
            <a:r>
              <a:rPr lang="en-US" sz="2000" b="0" i="0" dirty="0">
                <a:effectLst/>
              </a:rPr>
              <a:t>For example, one of the smallest Armstrong numbers is 153: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number has 3 digits.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sum of each digit raised to the power of 3 is: 1^3 + 5^3 + 3^3 = 1 + 125 + 27 = 153.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3C53BA0-B2E7-E55F-3ED4-1C853546D310}"/>
              </a:ext>
            </a:extLst>
          </p:cNvPr>
          <p:cNvSpPr txBox="1"/>
          <p:nvPr/>
        </p:nvSpPr>
        <p:spPr>
          <a:xfrm>
            <a:off x="4439920" y="1237109"/>
            <a:ext cx="77520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n=int(input()) 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 = n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(str(n))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 = 0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while n != 0: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 = n % 10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sum= sum+(r**d)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 = n//10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s == sum: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print("The given number", s, "is Armstrong number")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print("The given number", s, "is not Armstrong number")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C5A8688-1654-50DB-5F84-F3A8EDE36C6C}"/>
              </a:ext>
            </a:extLst>
          </p:cNvPr>
          <p:cNvSpPr txBox="1"/>
          <p:nvPr/>
        </p:nvSpPr>
        <p:spPr>
          <a:xfrm>
            <a:off x="5618480" y="5132892"/>
            <a:ext cx="6309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    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nlo"/>
              </a:rPr>
              <a:t>153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Source Sans Pro" panose="020B05030304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nlo"/>
              </a:rPr>
              <a:t>The given number 153 is Armstrong number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70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960" y="270456"/>
            <a:ext cx="10784840" cy="487190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/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IN" sz="3000" b="1" i="0" dirty="0">
                <a:solidFill>
                  <a:srgbClr val="2B324D"/>
                </a:solidFill>
                <a:effectLst/>
                <a:latin typeface="Arial" panose="020B0604020202020204" pitchFamily="34" charset="0"/>
              </a:rPr>
              <a:t>Reverse Number Pyramid Pattern Program In Python</a:t>
            </a:r>
            <a:r>
              <a:rPr lang="en-US" sz="3000" b="1" dirty="0">
                <a:solidFill>
                  <a:srgbClr val="FF0000"/>
                </a:solidFill>
              </a:rPr>
              <a:t/>
            </a:r>
            <a:br>
              <a:rPr lang="en-US" sz="3000" b="1" dirty="0">
                <a:solidFill>
                  <a:srgbClr val="FF0000"/>
                </a:solidFill>
              </a:rPr>
            </a:br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399" y="1379430"/>
            <a:ext cx="859737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 = 5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range(size):    		# print spaces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	  for j in range(i):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			print(" ", end="")    		# print numbers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for k in range(2 * (size - i) - 1):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			print(k+1, end="")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print()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9BEE83-9822-3F7A-E059-8A93844E5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775" y="1379430"/>
            <a:ext cx="2007649" cy="29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11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960" y="270456"/>
            <a:ext cx="10784840" cy="487190"/>
          </a:xfrm>
        </p:spPr>
        <p:txBody>
          <a:bodyPr>
            <a:noAutofit/>
          </a:bodyPr>
          <a:lstStyle/>
          <a:p>
            <a:r>
              <a:rPr lang="en-US" sz="3600" b="0" i="0" dirty="0">
                <a:solidFill>
                  <a:srgbClr val="FF0000"/>
                </a:solidFill>
                <a:effectLst/>
                <a:latin typeface="Söhne"/>
              </a:rPr>
              <a:t>Print the multiplication table for a given number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295399" y="1379430"/>
            <a:ext cx="85973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int(input("Enter an integer"))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11):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product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 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print(f"{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 x {i} = {product}")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7A30A63-B882-53DC-87D2-836DCC5BD4E3}"/>
              </a:ext>
            </a:extLst>
          </p:cNvPr>
          <p:cNvSpPr txBox="1"/>
          <p:nvPr/>
        </p:nvSpPr>
        <p:spPr>
          <a:xfrm>
            <a:off x="9250680" y="1317874"/>
            <a:ext cx="2819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Enter an integer</a:t>
            </a:r>
          </a:p>
          <a:p>
            <a:r>
              <a:rPr lang="en-IN" dirty="0">
                <a:solidFill>
                  <a:srgbClr val="FF0000"/>
                </a:solidFill>
              </a:rPr>
              <a:t>5</a:t>
            </a:r>
          </a:p>
          <a:p>
            <a:r>
              <a:rPr lang="en-IN" dirty="0">
                <a:solidFill>
                  <a:srgbClr val="FF0000"/>
                </a:solidFill>
              </a:rPr>
              <a:t>5 x 1 = 5</a:t>
            </a:r>
          </a:p>
          <a:p>
            <a:r>
              <a:rPr lang="en-IN" dirty="0">
                <a:solidFill>
                  <a:srgbClr val="FF0000"/>
                </a:solidFill>
              </a:rPr>
              <a:t>5 x 2 = 10</a:t>
            </a:r>
          </a:p>
          <a:p>
            <a:r>
              <a:rPr lang="en-IN" dirty="0">
                <a:solidFill>
                  <a:srgbClr val="FF0000"/>
                </a:solidFill>
              </a:rPr>
              <a:t>5 x 3 = 15</a:t>
            </a:r>
          </a:p>
          <a:p>
            <a:r>
              <a:rPr lang="en-IN" dirty="0">
                <a:solidFill>
                  <a:srgbClr val="FF0000"/>
                </a:solidFill>
              </a:rPr>
              <a:t>5 x 4 = 20</a:t>
            </a:r>
          </a:p>
          <a:p>
            <a:r>
              <a:rPr lang="en-IN" dirty="0">
                <a:solidFill>
                  <a:srgbClr val="FF0000"/>
                </a:solidFill>
              </a:rPr>
              <a:t>5 x 5 = 25</a:t>
            </a:r>
          </a:p>
          <a:p>
            <a:r>
              <a:rPr lang="en-IN" dirty="0">
                <a:solidFill>
                  <a:srgbClr val="FF0000"/>
                </a:solidFill>
              </a:rPr>
              <a:t>5 x 6 = 30</a:t>
            </a:r>
          </a:p>
          <a:p>
            <a:r>
              <a:rPr lang="en-IN" dirty="0">
                <a:solidFill>
                  <a:srgbClr val="FF0000"/>
                </a:solidFill>
              </a:rPr>
              <a:t>5 x 7 = 35</a:t>
            </a:r>
          </a:p>
          <a:p>
            <a:r>
              <a:rPr lang="en-IN" dirty="0">
                <a:solidFill>
                  <a:srgbClr val="FF0000"/>
                </a:solidFill>
              </a:rPr>
              <a:t>5 x 8 = 40</a:t>
            </a:r>
          </a:p>
          <a:p>
            <a:r>
              <a:rPr lang="en-IN" dirty="0">
                <a:solidFill>
                  <a:srgbClr val="FF0000"/>
                </a:solidFill>
              </a:rPr>
              <a:t>5 x 9 = 45</a:t>
            </a:r>
          </a:p>
          <a:p>
            <a:r>
              <a:rPr lang="en-IN" dirty="0">
                <a:solidFill>
                  <a:srgbClr val="FF0000"/>
                </a:solidFill>
              </a:rPr>
              <a:t>5 x 10 = 50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276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6392F1B1-FCAC-A5E0-0046-AC76A2CDD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8325" y="282723"/>
            <a:ext cx="11523539" cy="461665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Python program to display numbers up to a given value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that are divisible by both 3 and 7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E4C33D6-5B97-65B1-296E-2A891F9837B2}"/>
              </a:ext>
            </a:extLst>
          </p:cNvPr>
          <p:cNvSpPr txBox="1"/>
          <p:nvPr/>
        </p:nvSpPr>
        <p:spPr>
          <a:xfrm>
            <a:off x="1275080" y="1796256"/>
            <a:ext cx="630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int(input("Enter the value of n: "))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 range(1, n + 1):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 3 == 0 and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 7 == 0: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4933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to determine whether a given number is a perfect number or not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242F65E-26BF-A7CC-5A4C-5900B9215C0C}"/>
              </a:ext>
            </a:extLst>
          </p:cNvPr>
          <p:cNvSpPr txBox="1"/>
          <p:nvPr/>
        </p:nvSpPr>
        <p:spPr>
          <a:xfrm>
            <a:off x="259885" y="1237109"/>
            <a:ext cx="1124712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A perfect number is a positive integer that is equal to the sum of its proper divisors (excluding itself).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For example, 6 is a perfect number in Python because 6 is divisible by 1, 2, 3, and 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 So, the sum of these values are 1+2+3 = 6 (Remember, we have to exclude the number itself. That’s why we haven’t added 6 here).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Some of the perfect numbers are 6, 28, 496, etc.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12211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to determine whether a given number is a perfect number or not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D61C66F-27C9-AC14-83F3-807FAFCC7CE7}"/>
              </a:ext>
            </a:extLst>
          </p:cNvPr>
          <p:cNvSpPr txBox="1"/>
          <p:nvPr/>
        </p:nvSpPr>
        <p:spPr>
          <a:xfrm>
            <a:off x="1300480" y="1389847"/>
            <a:ext cx="650848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 = int(input("Enter a number: "))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sum_of_divisors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range(1, num):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num % i == 0: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sum_of_divisors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+= 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sum_of_divisors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== num: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print(f"{num} is a perfect number.")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print(f"{num} is not a perfect number.")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E92ED60-C668-9FDA-3727-7422447A396F}"/>
              </a:ext>
            </a:extLst>
          </p:cNvPr>
          <p:cNvSpPr txBox="1"/>
          <p:nvPr/>
        </p:nvSpPr>
        <p:spPr>
          <a:xfrm>
            <a:off x="8435340" y="4436397"/>
            <a:ext cx="32283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  Output:</a:t>
            </a:r>
          </a:p>
          <a:p>
            <a:r>
              <a:rPr lang="en-IN" dirty="0">
                <a:solidFill>
                  <a:srgbClr val="7030A0"/>
                </a:solidFill>
              </a:rPr>
              <a:t>Enter a number:  6</a:t>
            </a:r>
          </a:p>
          <a:p>
            <a:r>
              <a:rPr lang="en-IN" dirty="0">
                <a:solidFill>
                  <a:srgbClr val="7030A0"/>
                </a:solidFill>
              </a:rPr>
              <a:t>6 is a perfect number.</a:t>
            </a:r>
          </a:p>
          <a:p>
            <a:r>
              <a:rPr lang="en-US" dirty="0">
                <a:solidFill>
                  <a:srgbClr val="7030A0"/>
                </a:solidFill>
              </a:rPr>
              <a:t>  </a:t>
            </a:r>
          </a:p>
          <a:p>
            <a:r>
              <a:rPr lang="en-US" dirty="0">
                <a:solidFill>
                  <a:srgbClr val="7030A0"/>
                </a:solidFill>
              </a:rPr>
              <a:t>Enter a number: 10</a:t>
            </a:r>
          </a:p>
          <a:p>
            <a:r>
              <a:rPr lang="en-US" dirty="0">
                <a:solidFill>
                  <a:srgbClr val="7030A0"/>
                </a:solidFill>
              </a:rPr>
              <a:t>10 is not a perfect number.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417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to print following pattern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CFB26F3-2BF7-AD19-7E94-33D1F69953C3}"/>
              </a:ext>
            </a:extLst>
          </p:cNvPr>
          <p:cNvSpPr txBox="1"/>
          <p:nvPr/>
        </p:nvSpPr>
        <p:spPr>
          <a:xfrm>
            <a:off x="7528150" y="1237109"/>
            <a:ext cx="29542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5 4 3 2 1 </a:t>
            </a:r>
          </a:p>
          <a:p>
            <a:r>
              <a:rPr lang="en-IN" sz="3600" dirty="0"/>
              <a:t>4 3 2 1 </a:t>
            </a:r>
          </a:p>
          <a:p>
            <a:r>
              <a:rPr lang="en-IN" sz="3600" dirty="0"/>
              <a:t>3 2 1 </a:t>
            </a:r>
          </a:p>
          <a:p>
            <a:r>
              <a:rPr lang="en-IN" sz="3600" dirty="0"/>
              <a:t>2 1 </a:t>
            </a:r>
          </a:p>
          <a:p>
            <a:r>
              <a:rPr lang="en-IN" sz="36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D927A40-96DF-992F-7B94-1E3EF00A005D}"/>
              </a:ext>
            </a:extLst>
          </p:cNvPr>
          <p:cNvSpPr txBox="1"/>
          <p:nvPr/>
        </p:nvSpPr>
        <p:spPr>
          <a:xfrm>
            <a:off x="487680" y="1684496"/>
            <a:ext cx="49912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5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range(n+1):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range(n-i,0,-1):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j,end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=' 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626820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to print following pattern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2D197CB-9DCD-1F32-F95A-83066CF8C581}"/>
              </a:ext>
            </a:extLst>
          </p:cNvPr>
          <p:cNvSpPr txBox="1"/>
          <p:nvPr/>
        </p:nvSpPr>
        <p:spPr>
          <a:xfrm>
            <a:off x="624840" y="1038298"/>
            <a:ext cx="6309360" cy="419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5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alpha = 65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range(n+1):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print spaces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range(n - i):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print(" ", end="")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print alphabets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k in range(2 * i -1):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print(chr(alpha + k), end="")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02C38E9-176B-1A3E-3207-82F3FC28C6EA}"/>
              </a:ext>
            </a:extLst>
          </p:cNvPr>
          <p:cNvSpPr txBox="1"/>
          <p:nvPr/>
        </p:nvSpPr>
        <p:spPr>
          <a:xfrm>
            <a:off x="8763000" y="1777034"/>
            <a:ext cx="1640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</a:t>
            </a:r>
          </a:p>
          <a:p>
            <a:r>
              <a:rPr lang="en-IN" sz="2000" dirty="0"/>
              <a:t>    A</a:t>
            </a:r>
          </a:p>
          <a:p>
            <a:r>
              <a:rPr lang="en-IN" sz="2000" dirty="0"/>
              <a:t>   ABC</a:t>
            </a:r>
          </a:p>
          <a:p>
            <a:r>
              <a:rPr lang="en-IN" sz="2000" dirty="0"/>
              <a:t>  ABCDE</a:t>
            </a:r>
          </a:p>
          <a:p>
            <a:r>
              <a:rPr lang="en-IN" sz="2000" dirty="0"/>
              <a:t> ABCDEFG</a:t>
            </a:r>
          </a:p>
          <a:p>
            <a:r>
              <a:rPr lang="en-IN" sz="2000" dirty="0"/>
              <a:t>ABCDEFGHI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66717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to sort list without using built-in methods(Bubble sort)</a:t>
            </a:r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2D197CB-9DCD-1F32-F95A-83066CF8C581}"/>
              </a:ext>
            </a:extLst>
          </p:cNvPr>
          <p:cNvSpPr txBox="1"/>
          <p:nvPr/>
        </p:nvSpPr>
        <p:spPr>
          <a:xfrm>
            <a:off x="624840" y="1038298"/>
            <a:ext cx="6309360" cy="419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= [64, 34, 25, 12, 22, 11, 9]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 = len(a)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range(n):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for j in range(0, n - i - 1):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if a[j] &gt; a[j + 1]: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t=a[j]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a[j] = a[j+1]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a[j+1]=t</a:t>
            </a:r>
          </a:p>
          <a:p>
            <a:pPr>
              <a:lnSpc>
                <a:spcPct val="150000"/>
              </a:lnSpc>
            </a:pP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print("Sorted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array:",a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A41FB2C-ABB5-C6B3-5A00-506033811C93}"/>
              </a:ext>
            </a:extLst>
          </p:cNvPr>
          <p:cNvSpPr txBox="1"/>
          <p:nvPr/>
        </p:nvSpPr>
        <p:spPr>
          <a:xfrm>
            <a:off x="5551068" y="5468421"/>
            <a:ext cx="6314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Sorted array: [9, 11, 12, 22, 25, 34, 64]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53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70456"/>
            <a:ext cx="10627360" cy="487190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Regular Expressions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447DFCB-55F9-A929-3945-890F2CB6AFF2}"/>
              </a:ext>
            </a:extLst>
          </p:cNvPr>
          <p:cNvSpPr txBox="1"/>
          <p:nvPr/>
        </p:nvSpPr>
        <p:spPr>
          <a:xfrm>
            <a:off x="1127760" y="1974334"/>
            <a:ext cx="911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hlinkClick r:id="rId3"/>
              </a:rPr>
              <a:t>Python </a:t>
            </a:r>
            <a:r>
              <a:rPr lang="en-IN" sz="4000" dirty="0" err="1">
                <a:hlinkClick r:id="rId3"/>
              </a:rPr>
              <a:t>RegEx</a:t>
            </a:r>
            <a:r>
              <a:rPr lang="en-IN" sz="4000" dirty="0">
                <a:hlinkClick r:id="rId3"/>
              </a:rPr>
              <a:t> (w3schools.com)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9134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22E97BB-5B2B-6929-2E62-D746D6CC8615}"/>
              </a:ext>
            </a:extLst>
          </p:cNvPr>
          <p:cNvSpPr txBox="1"/>
          <p:nvPr/>
        </p:nvSpPr>
        <p:spPr>
          <a:xfrm>
            <a:off x="86360" y="98475"/>
            <a:ext cx="488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Helvetica" panose="020B0604020202020204" pitchFamily="34" charset="0"/>
              </a:rPr>
              <a:t>Write a Python program that matches a string that has an </a:t>
            </a:r>
            <a:r>
              <a:rPr lang="en-US" b="0" i="1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 </a:t>
            </a:r>
            <a:r>
              <a:rPr lang="en-US" b="0" i="0" dirty="0">
                <a:effectLst/>
                <a:latin typeface="Helvetica" panose="020B0604020202020204" pitchFamily="34" charset="0"/>
              </a:rPr>
              <a:t>followed by zero or more 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b</a:t>
            </a:r>
            <a:r>
              <a:rPr lang="en-US" b="0" i="0" dirty="0">
                <a:effectLst/>
                <a:latin typeface="Helvetica" panose="020B0604020202020204" pitchFamily="34" charset="0"/>
              </a:rPr>
              <a:t>'s.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F14030B-2C80-C84A-4BB8-93A1B0B3EA37}"/>
              </a:ext>
            </a:extLst>
          </p:cNvPr>
          <p:cNvSpPr txBox="1"/>
          <p:nvPr/>
        </p:nvSpPr>
        <p:spPr>
          <a:xfrm>
            <a:off x="401319" y="1309295"/>
            <a:ext cx="43863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"abacus"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patterns= 'ab*'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patterns,txt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print("Found a match!")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print('Not matched!')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5294371-3F81-FB62-917E-B368887A2C64}"/>
              </a:ext>
            </a:extLst>
          </p:cNvPr>
          <p:cNvSpPr txBox="1"/>
          <p:nvPr/>
        </p:nvSpPr>
        <p:spPr>
          <a:xfrm>
            <a:off x="4030978" y="5012879"/>
            <a:ext cx="2065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Found a match!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5BC6B04-3521-BB76-8AFB-5162A049D80B}"/>
              </a:ext>
            </a:extLst>
          </p:cNvPr>
          <p:cNvSpPr txBox="1"/>
          <p:nvPr/>
        </p:nvSpPr>
        <p:spPr>
          <a:xfrm>
            <a:off x="5725160" y="662964"/>
            <a:ext cx="529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Write a Python program to find sequences of lowercase letters joined by an underscore.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1DE029AC-816E-FA14-3142-644FD3B30B7E}"/>
              </a:ext>
            </a:extLst>
          </p:cNvPr>
          <p:cNvSpPr txBox="1"/>
          <p:nvPr/>
        </p:nvSpPr>
        <p:spPr>
          <a:xfrm>
            <a:off x="6095998" y="1835204"/>
            <a:ext cx="52984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text = "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aba_cus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patterns = '[a-z]_[a-z]'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(patterns,  text):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print('Found a match!')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print('Not matched!')</a:t>
            </a:r>
          </a:p>
        </p:txBody>
      </p:sp>
    </p:spTree>
    <p:extLst>
      <p:ext uri="{BB962C8B-B14F-4D97-AF65-F5344CB8AC3E}">
        <p14:creationId xmlns:p14="http://schemas.microsoft.com/office/powerpoint/2010/main" val="1126063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22E97BB-5B2B-6929-2E62-D746D6CC8615}"/>
              </a:ext>
            </a:extLst>
          </p:cNvPr>
          <p:cNvSpPr txBox="1"/>
          <p:nvPr/>
        </p:nvSpPr>
        <p:spPr>
          <a:xfrm>
            <a:off x="86360" y="98475"/>
            <a:ext cx="4881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Helvetica" panose="020B0604020202020204" pitchFamily="34" charset="0"/>
              </a:rPr>
              <a:t>Write a Python program that matches a string that has an '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a</a:t>
            </a:r>
            <a:r>
              <a:rPr lang="en-US" b="0" i="0" dirty="0">
                <a:effectLst/>
                <a:latin typeface="Helvetica" panose="020B0604020202020204" pitchFamily="34" charset="0"/>
              </a:rPr>
              <a:t>' followed by anything ending in '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b</a:t>
            </a:r>
            <a:r>
              <a:rPr lang="en-US" b="0" i="0" dirty="0">
                <a:effectLst/>
                <a:latin typeface="Helvetica" panose="020B0604020202020204" pitchFamily="34" charset="0"/>
              </a:rPr>
              <a:t>'.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F14030B-2C80-C84A-4BB8-93A1B0B3EA37}"/>
              </a:ext>
            </a:extLst>
          </p:cNvPr>
          <p:cNvSpPr txBox="1"/>
          <p:nvPr/>
        </p:nvSpPr>
        <p:spPr>
          <a:xfrm>
            <a:off x="401320" y="1309295"/>
            <a:ext cx="4566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text = "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abaub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patterns = 'a.*b$'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(patterns,  text):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print('Found a match!')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print('Not matched!')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5294371-3F81-FB62-917E-B368887A2C64}"/>
              </a:ext>
            </a:extLst>
          </p:cNvPr>
          <p:cNvSpPr txBox="1"/>
          <p:nvPr/>
        </p:nvSpPr>
        <p:spPr>
          <a:xfrm>
            <a:off x="535940" y="4581185"/>
            <a:ext cx="2065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Found a match!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5BC6B04-3521-BB76-8AFB-5162A049D80B}"/>
              </a:ext>
            </a:extLst>
          </p:cNvPr>
          <p:cNvSpPr txBox="1"/>
          <p:nvPr/>
        </p:nvSpPr>
        <p:spPr>
          <a:xfrm>
            <a:off x="5694680" y="917804"/>
            <a:ext cx="529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Helvetica" panose="020B0604020202020204" pitchFamily="34" charset="0"/>
              </a:rPr>
              <a:t>Write a Python program that matches a word containing '</a:t>
            </a:r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z</a:t>
            </a:r>
            <a:r>
              <a:rPr lang="en-US" b="0" i="0" dirty="0">
                <a:effectLst/>
                <a:latin typeface="Helvetica" panose="020B0604020202020204" pitchFamily="34" charset="0"/>
              </a:rPr>
              <a:t>'.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1DE029AC-816E-FA14-3142-644FD3B30B7E}"/>
              </a:ext>
            </a:extLst>
          </p:cNvPr>
          <p:cNvSpPr txBox="1"/>
          <p:nvPr/>
        </p:nvSpPr>
        <p:spPr>
          <a:xfrm>
            <a:off x="6095998" y="1835204"/>
            <a:ext cx="50698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text = "The quick brown fox jumps over the lazy dog."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patterns = '\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wz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(patterns,  text):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print('Found a match!')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print('Not matched!')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753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269240" y="779195"/>
            <a:ext cx="938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Write a Python program to extract year, month and date from an URL.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F2DF475-2E36-EEC0-3862-010D259AAD3E}"/>
              </a:ext>
            </a:extLst>
          </p:cNvPr>
          <p:cNvSpPr txBox="1"/>
          <p:nvPr/>
        </p:nvSpPr>
        <p:spPr>
          <a:xfrm>
            <a:off x="1244600" y="1821379"/>
            <a:ext cx="8722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url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"https://www.washingtonpost.com/news/wp/2016/09/02/odell/"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d=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re.findall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('/(\d{4})/(\d{1,2})/(\d{1,2})/',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url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8BA18AB-9D4B-DD8A-4722-570570FEAD26}"/>
              </a:ext>
            </a:extLst>
          </p:cNvPr>
          <p:cNvSpPr txBox="1"/>
          <p:nvPr/>
        </p:nvSpPr>
        <p:spPr>
          <a:xfrm>
            <a:off x="4386580" y="4744894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[('2016', '09', '02')]</a:t>
            </a:r>
          </a:p>
        </p:txBody>
      </p:sp>
    </p:spTree>
    <p:extLst>
      <p:ext uri="{BB962C8B-B14F-4D97-AF65-F5344CB8AC3E}">
        <p14:creationId xmlns:p14="http://schemas.microsoft.com/office/powerpoint/2010/main" val="4291184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269240" y="779195"/>
            <a:ext cx="9382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FF0000"/>
                </a:solidFill>
                <a:effectLst/>
                <a:latin typeface="sohne"/>
              </a:rPr>
              <a:t>Validating Mobile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10BB4C9-3734-4F7F-EEC1-4392BFDD38F8}"/>
              </a:ext>
            </a:extLst>
          </p:cNvPr>
          <p:cNvSpPr txBox="1"/>
          <p:nvPr/>
        </p:nvSpPr>
        <p:spPr>
          <a:xfrm>
            <a:off x="1559560" y="1726198"/>
            <a:ext cx="9037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mobile = "9502734525"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 = "[789]\d{9}$"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(pattern, mobile):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print("Valid mobile:")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print("Invalid mobile!")</a:t>
            </a:r>
          </a:p>
        </p:txBody>
      </p:sp>
    </p:spTree>
    <p:extLst>
      <p:ext uri="{BB962C8B-B14F-4D97-AF65-F5344CB8AC3E}">
        <p14:creationId xmlns:p14="http://schemas.microsoft.com/office/powerpoint/2010/main" val="3569079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269240" y="779195"/>
            <a:ext cx="9382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FF0000"/>
                </a:solidFill>
                <a:effectLst/>
                <a:latin typeface="sohne"/>
              </a:rPr>
              <a:t>Validating Email Addresses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10BB4C9-3734-4F7F-EEC1-4392BFDD38F8}"/>
              </a:ext>
            </a:extLst>
          </p:cNvPr>
          <p:cNvSpPr txBox="1"/>
          <p:nvPr/>
        </p:nvSpPr>
        <p:spPr>
          <a:xfrm>
            <a:off x="1559560" y="1726198"/>
            <a:ext cx="9037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email = "chvrr58@gmail.com"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pattern = "^[a-zA-Z0-9]+@[a-zA-Z0-9]+\.[a-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zA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-Z]{2,3}$"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re.search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(pattern, email):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print("Valid email address:")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print("Invalid email address!!")</a:t>
            </a:r>
          </a:p>
        </p:txBody>
      </p:sp>
    </p:spTree>
    <p:extLst>
      <p:ext uri="{BB962C8B-B14F-4D97-AF65-F5344CB8AC3E}">
        <p14:creationId xmlns:p14="http://schemas.microsoft.com/office/powerpoint/2010/main" val="720513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153205" y="137707"/>
            <a:ext cx="11353800" cy="6131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Helvetica" panose="020B0604020202020204" pitchFamily="34" charset="0"/>
              </a:rPr>
              <a:t>to check for a number at the end of a string.</a:t>
            </a:r>
          </a:p>
          <a:p>
            <a:endParaRPr lang="en-US" b="0" i="0" dirty="0">
              <a:effectLst/>
              <a:latin typeface="Helvetica" panose="020B0604020202020204" pitchFamily="34" charset="0"/>
            </a:endParaRPr>
          </a:p>
          <a:p>
            <a:r>
              <a:rPr lang="en-IN" dirty="0">
                <a:solidFill>
                  <a:srgbClr val="FF0000"/>
                </a:solidFill>
              </a:rPr>
              <a:t>patterns ='.*[0-9]$’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matches </a:t>
            </a:r>
            <a:r>
              <a:rPr lang="en-IN" kern="100" dirty="0" err="1">
                <a:solidFill>
                  <a:srgbClr val="C7254E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abc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followed by zero to many digits (0-9).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\d*</a:t>
            </a:r>
            <a:endParaRPr lang="en-IN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matches both </a:t>
            </a:r>
            <a:r>
              <a:rPr lang="en-IN" kern="100" dirty="0">
                <a:solidFill>
                  <a:srgbClr val="C7254E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gray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and </a:t>
            </a:r>
            <a:r>
              <a:rPr lang="en-IN" kern="100" dirty="0">
                <a:solidFill>
                  <a:srgbClr val="C7254E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grey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gr[ae]y</a:t>
            </a:r>
            <a:endParaRPr lang="en-IN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matches </a:t>
            </a:r>
            <a:r>
              <a:rPr lang="en-IN" kern="100" dirty="0" err="1">
                <a:solidFill>
                  <a:srgbClr val="C7254E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followed by any single character except for a new line and then  </a:t>
            </a:r>
            <a:r>
              <a:rPr lang="en-IN" kern="100" dirty="0">
                <a:solidFill>
                  <a:srgbClr val="C7254E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br.3</a:t>
            </a:r>
            <a:endParaRPr lang="en-IN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matches a word that starts with an uppercase letter followed by at least one lowercase letter, like “Apple”, “Banana”, or “Carrot”.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[A-Z][a-z]+</a:t>
            </a:r>
            <a:endParaRPr lang="en-IN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072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218840" y="371387"/>
            <a:ext cx="11754315" cy="5058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750"/>
              </a:spcAf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Construct a regex that matches eight word characters (letter, digit, or underscore).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\w{8}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matches one or more lowercase letters (a-z) followed by a space character and then two to four digits.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[a-z]+\s\d{2,4}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Construct a regex that captures strings that have two digits followed by a period and then four letters from a to z.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\d{2}\.[a-z]{4}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cap="all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OUT ALL OF THE WORDS, WHICH START WITH A CONSONANT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cap="all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b="1" kern="1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'\b[^aeiou0-9 ]\w+'</a:t>
            </a:r>
            <a:endParaRPr lang="en-IN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141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7A2768-F8FB-BF4C-56F8-AD9A37E5CDE2}"/>
              </a:ext>
            </a:extLst>
          </p:cNvPr>
          <p:cNvSpPr txBox="1"/>
          <p:nvPr/>
        </p:nvSpPr>
        <p:spPr>
          <a:xfrm>
            <a:off x="635400" y="1590587"/>
            <a:ext cx="11754315" cy="1971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750"/>
              </a:spcAft>
            </a:pP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</a:t>
            </a:r>
          </a:p>
          <a:p>
            <a:pPr>
              <a:lnSpc>
                <a:spcPct val="107000"/>
              </a:lnSpc>
              <a:spcAft>
                <a:spcPts val="750"/>
              </a:spcAft>
            </a:pPr>
            <a:endParaRPr lang="en-US" kern="10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07000"/>
              </a:lnSpc>
              <a:spcAft>
                <a:spcPts val="750"/>
              </a:spcAft>
            </a:pP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“</a:t>
            </a:r>
            <a:r>
              <a:rPr lang="en-US" kern="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 rain in Spain"</a:t>
            </a:r>
          </a:p>
          <a:p>
            <a:pPr>
              <a:lnSpc>
                <a:spcPct val="107000"/>
              </a:lnSpc>
              <a:spcAft>
                <a:spcPts val="750"/>
              </a:spcAft>
            </a:pP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kern="10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re.findall</a:t>
            </a: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(r"\b[</a:t>
            </a:r>
            <a:r>
              <a:rPr lang="en-US" kern="10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]\w+", txt)</a:t>
            </a:r>
          </a:p>
          <a:p>
            <a:pPr>
              <a:lnSpc>
                <a:spcPct val="107000"/>
              </a:lnSpc>
              <a:spcAft>
                <a:spcPts val="750"/>
              </a:spcAft>
            </a:pPr>
            <a:r>
              <a:rPr lang="en-US" kern="1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  <a:endParaRPr lang="en-IN" kern="10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44F3129-9EEE-0DB7-06A3-54672A2D51E1}"/>
              </a:ext>
            </a:extLst>
          </p:cNvPr>
          <p:cNvSpPr txBox="1"/>
          <p:nvPr/>
        </p:nvSpPr>
        <p:spPr>
          <a:xfrm>
            <a:off x="817880" y="410696"/>
            <a:ext cx="7452360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cap="all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OUT ALL OF THE WORDS, WHICH START WITH A VOWEL.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3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4077</TotalTime>
  <Words>2314</Words>
  <Application>Microsoft Office PowerPoint</Application>
  <PresentationFormat>Widescreen</PresentationFormat>
  <Paragraphs>537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60" baseType="lpstr">
      <vt:lpstr>Arial</vt:lpstr>
      <vt:lpstr>Calibri</vt:lpstr>
      <vt:lpstr>Calibri Light</vt:lpstr>
      <vt:lpstr>Cascadia Code</vt:lpstr>
      <vt:lpstr>Consolas</vt:lpstr>
      <vt:lpstr>Courier New</vt:lpstr>
      <vt:lpstr>Helvetica</vt:lpstr>
      <vt:lpstr>Menlo</vt:lpstr>
      <vt:lpstr>Nunito</vt:lpstr>
      <vt:lpstr>Segoe UI</vt:lpstr>
      <vt:lpstr>sohne</vt:lpstr>
      <vt:lpstr>Söhne</vt:lpstr>
      <vt:lpstr>Söhne Mono</vt:lpstr>
      <vt:lpstr>Source Sans 3</vt:lpstr>
      <vt:lpstr>Source Sans Pro</vt:lpstr>
      <vt:lpstr>Times New Roman</vt:lpstr>
      <vt:lpstr>Office Theme</vt:lpstr>
      <vt:lpstr>Loops and Regular Expressions  Creating Loops with while and for, Different versions of Loops,  Nested Loops,  Loop Control Statements,  Loop Modification with break, continue and pass,  Regular Expressions.</vt:lpstr>
      <vt:lpstr>Loops in Python</vt:lpstr>
      <vt:lpstr> The while Loop </vt:lpstr>
      <vt:lpstr> loop to print numbers from 1 to 10 </vt:lpstr>
      <vt:lpstr> write a Python program to calculate the sum of the digits of a number </vt:lpstr>
      <vt:lpstr> write a Python program to check if a number is a palindrome or not </vt:lpstr>
      <vt:lpstr>Using else statement with while loops: </vt:lpstr>
      <vt:lpstr>for loop </vt:lpstr>
      <vt:lpstr># Program to find the sum of all numbers stored in a list# </vt:lpstr>
      <vt:lpstr>Ex: Program to count the vowels in a list</vt:lpstr>
      <vt:lpstr>range() function</vt:lpstr>
      <vt:lpstr># Python Program find even and odd numbers in between 1 to n</vt:lpstr>
      <vt:lpstr> Python break and continue </vt:lpstr>
      <vt:lpstr> Python break </vt:lpstr>
      <vt:lpstr> Python continue statement </vt:lpstr>
      <vt:lpstr> Python continue statement </vt:lpstr>
      <vt:lpstr> Python pass statement </vt:lpstr>
      <vt:lpstr> Python Nested Loops </vt:lpstr>
      <vt:lpstr> Right Half Pyramid Pattern  </vt:lpstr>
      <vt:lpstr> Right Half Pyramid star pattern  </vt:lpstr>
      <vt:lpstr>  Inverted Right Half Pyramid star pattern  </vt:lpstr>
      <vt:lpstr>PowerPoint Presentation</vt:lpstr>
      <vt:lpstr> Full Pyramid Pattern in python </vt:lpstr>
      <vt:lpstr> Number Pyramid Pattern Program In Python </vt:lpstr>
      <vt:lpstr> Python Program to Check Prime Number </vt:lpstr>
      <vt:lpstr> Python Program to Check Armstrong number  </vt:lpstr>
      <vt:lpstr> Reverse Number Pyramid Pattern Program In Python </vt:lpstr>
      <vt:lpstr>Print the multiplication table for a given number</vt:lpstr>
      <vt:lpstr>Python program to display numbers up to a given value n that are divisible by both 3 and 7 </vt:lpstr>
      <vt:lpstr>Python program to determine whether a given number is a perfect number or not</vt:lpstr>
      <vt:lpstr>Python program to determine whether a given number is a perfect number or not</vt:lpstr>
      <vt:lpstr>Python program to print following pattern</vt:lpstr>
      <vt:lpstr>Python program to print following pattern</vt:lpstr>
      <vt:lpstr>Python program to sort list without using built-in methods(Bubble sort)</vt:lpstr>
      <vt:lpstr>Regular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Santhoshini Banda</dc:creator>
  <cp:lastModifiedBy>Chakravarthy T S</cp:lastModifiedBy>
  <cp:revision>555</cp:revision>
  <dcterms:created xsi:type="dcterms:W3CDTF">2017-07-30T13:30:39Z</dcterms:created>
  <dcterms:modified xsi:type="dcterms:W3CDTF">2024-09-27T05:24:58Z</dcterms:modified>
</cp:coreProperties>
</file>