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sldIdLst>
    <p:sldId id="370" r:id="rId2"/>
    <p:sldId id="263" r:id="rId3"/>
    <p:sldId id="264" r:id="rId4"/>
    <p:sldId id="269" r:id="rId5"/>
    <p:sldId id="270" r:id="rId6"/>
    <p:sldId id="372" r:id="rId7"/>
    <p:sldId id="283" r:id="rId8"/>
    <p:sldId id="282" r:id="rId9"/>
    <p:sldId id="373" r:id="rId10"/>
    <p:sldId id="285" r:id="rId11"/>
    <p:sldId id="402" r:id="rId12"/>
    <p:sldId id="403" r:id="rId13"/>
    <p:sldId id="374" r:id="rId14"/>
    <p:sldId id="378" r:id="rId15"/>
    <p:sldId id="380" r:id="rId16"/>
    <p:sldId id="381" r:id="rId17"/>
    <p:sldId id="382" r:id="rId18"/>
    <p:sldId id="383" r:id="rId19"/>
    <p:sldId id="384" r:id="rId20"/>
    <p:sldId id="406" r:id="rId21"/>
    <p:sldId id="408" r:id="rId22"/>
    <p:sldId id="407" r:id="rId23"/>
    <p:sldId id="388" r:id="rId24"/>
    <p:sldId id="415" r:id="rId25"/>
    <p:sldId id="411" r:id="rId26"/>
    <p:sldId id="413" r:id="rId27"/>
    <p:sldId id="390" r:id="rId28"/>
    <p:sldId id="394" r:id="rId29"/>
    <p:sldId id="417" r:id="rId30"/>
    <p:sldId id="418" r:id="rId31"/>
    <p:sldId id="419" r:id="rId32"/>
    <p:sldId id="420" r:id="rId33"/>
    <p:sldId id="395" r:id="rId34"/>
    <p:sldId id="396" r:id="rId35"/>
    <p:sldId id="397" r:id="rId36"/>
    <p:sldId id="400" r:id="rId37"/>
    <p:sldId id="421" r:id="rId38"/>
    <p:sldId id="416" r:id="rId39"/>
    <p:sldId id="423" r:id="rId40"/>
    <p:sldId id="42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98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89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5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65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09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0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8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7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00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4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3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8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1162594"/>
            <a:ext cx="11166567" cy="5159829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cs typeface="Times New Roman" panose="02020603050405020304" pitchFamily="18" charset="0"/>
              </a:rPr>
              <a:t>In Python, function is a group of related statements that perform a specific task.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A </a:t>
            </a:r>
            <a:r>
              <a:rPr lang="en-US" b="1" dirty="0">
                <a:cs typeface="Times New Roman" panose="02020603050405020304" pitchFamily="18" charset="0"/>
              </a:rPr>
              <a:t>function</a:t>
            </a:r>
            <a:r>
              <a:rPr lang="en-US" dirty="0">
                <a:cs typeface="Times New Roman" panose="02020603050405020304" pitchFamily="18" charset="0"/>
              </a:rPr>
              <a:t> is a piece of code that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groups a set of statements </a:t>
            </a:r>
            <a:r>
              <a:rPr lang="en-US" dirty="0">
                <a:cs typeface="Times New Roman" panose="02020603050405020304" pitchFamily="18" charset="0"/>
              </a:rPr>
              <a:t>so they can be run/called more than once in a program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 function is a block of code which only runs when it is called.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Python has a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DRY</a:t>
            </a:r>
            <a:r>
              <a:rPr lang="en-US" dirty="0">
                <a:cs typeface="Times New Roman" panose="02020603050405020304" pitchFamily="18" charset="0"/>
              </a:rPr>
              <a:t> (</a:t>
            </a:r>
            <a:r>
              <a:rPr lang="en-IN" dirty="0">
                <a:cs typeface="Times New Roman" panose="02020603050405020304" pitchFamily="18" charset="0"/>
              </a:rPr>
              <a:t>Don’t Repeat Yourself</a:t>
            </a:r>
            <a:r>
              <a:rPr lang="en-US" dirty="0">
                <a:cs typeface="Times New Roman" panose="02020603050405020304" pitchFamily="18" charset="0"/>
              </a:rPr>
              <a:t>) principle.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The benefit of using a function is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reusability</a:t>
            </a:r>
            <a:r>
              <a:rPr lang="en-US" dirty="0"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modularity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You can pass </a:t>
            </a:r>
            <a:r>
              <a:rPr lang="en-US" b="1" dirty="0">
                <a:cs typeface="Times New Roman" panose="02020603050405020304" pitchFamily="18" charset="0"/>
              </a:rPr>
              <a:t>data</a:t>
            </a:r>
            <a:r>
              <a:rPr lang="en-US" dirty="0">
                <a:cs typeface="Times New Roman" panose="02020603050405020304" pitchFamily="18" charset="0"/>
              </a:rPr>
              <a:t>, known as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parameters</a:t>
            </a:r>
            <a:r>
              <a:rPr lang="en-US" dirty="0">
                <a:cs typeface="Times New Roman" panose="02020603050405020304" pitchFamily="18" charset="0"/>
              </a:rPr>
              <a:t>, into a function.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A function can </a:t>
            </a:r>
            <a:r>
              <a:rPr lang="en-US" b="1" dirty="0">
                <a:cs typeface="Times New Roman" panose="02020603050405020304" pitchFamily="18" charset="0"/>
              </a:rPr>
              <a:t>return data as a result</a:t>
            </a:r>
            <a:r>
              <a:rPr lang="en-US" dirty="0"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964" y="108671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 two types of functions</a:t>
            </a:r>
          </a:p>
          <a:p>
            <a:pPr marL="1657350" lvl="2" indent="-742950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  <a:p>
            <a:pPr marL="1657350" lvl="2" indent="-742950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User-defined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81364" y="-2213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Functions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68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964" y="1086716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functions which are come along with Python itself are called a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range(), append(), type(), input(), len()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81364" y="-2213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Built-in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en-IN" sz="3600" dirty="0"/>
          </a:p>
        </p:txBody>
      </p:sp>
      <p:sp>
        <p:nvSpPr>
          <p:cNvPr id="6" name="Rectangle 5"/>
          <p:cNvSpPr/>
          <p:nvPr/>
        </p:nvSpPr>
        <p:spPr>
          <a:xfrm>
            <a:off x="2636982" y="3549226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10):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print(i, end=' ')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 Output 1 2 3 4 5 6 7 8 9</a:t>
            </a:r>
            <a:endParaRPr lang="en-I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2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964" y="1086716"/>
            <a:ext cx="1116907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which are created by programmer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explicitly according to the requirement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called a user-defined function.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81364" y="-2213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User-defined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en-IN" sz="3600" dirty="0"/>
          </a:p>
        </p:txBody>
      </p:sp>
      <p:sp>
        <p:nvSpPr>
          <p:cNvPr id="6" name="Rectangle 5"/>
          <p:cNvSpPr/>
          <p:nvPr/>
        </p:nvSpPr>
        <p:spPr>
          <a:xfrm>
            <a:off x="159326" y="2231375"/>
            <a:ext cx="6891714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2100" b="1" dirty="0" err="1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</a:t>
            </a:r>
            <a:r>
              <a:rPr lang="en-US" sz="2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1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function_name</a:t>
            </a:r>
            <a:r>
              <a:rPr lang="en-US" sz="2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1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parameter1, parameter2</a:t>
            </a:r>
            <a:r>
              <a:rPr lang="en-US" sz="2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2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</a:t>
            </a:r>
            <a:r>
              <a:rPr lang="en-US" sz="2100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function body    </a:t>
            </a:r>
          </a:p>
          <a:p>
            <a:r>
              <a:rPr lang="en-US" sz="2100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# write some action</a:t>
            </a:r>
          </a:p>
          <a:p>
            <a:r>
              <a:rPr lang="en-US" sz="21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 return value</a:t>
            </a:r>
            <a:endParaRPr lang="en-IN" sz="21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0448" y="4641494"/>
            <a:ext cx="538803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2200" dirty="0">
                <a:solidFill>
                  <a:srgbClr val="FF0000"/>
                </a:solidFill>
              </a:rPr>
              <a:t>: </a:t>
            </a:r>
            <a:r>
              <a:rPr lang="en-US" sz="2200" dirty="0"/>
              <a:t>Function name is the name of the function. We can give any name to function.</a:t>
            </a:r>
            <a:endParaRPr lang="en-IN" sz="2200" dirty="0"/>
          </a:p>
        </p:txBody>
      </p:sp>
      <p:sp>
        <p:nvSpPr>
          <p:cNvPr id="9" name="Rectangle 8"/>
          <p:cNvSpPr/>
          <p:nvPr/>
        </p:nvSpPr>
        <p:spPr>
          <a:xfrm>
            <a:off x="7820892" y="1797784"/>
            <a:ext cx="42117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Parameter is the </a:t>
            </a:r>
            <a:r>
              <a:rPr lang="en-US" sz="2000" dirty="0">
                <a:solidFill>
                  <a:srgbClr val="7030A0"/>
                </a:solidFill>
              </a:rPr>
              <a:t>value passed to the function</a:t>
            </a:r>
            <a:r>
              <a:rPr lang="en-US" sz="2000" dirty="0"/>
              <a:t>. We can pass any number of parameters. Function body uses the </a:t>
            </a:r>
            <a:r>
              <a:rPr lang="en-US" sz="2000" dirty="0">
                <a:solidFill>
                  <a:srgbClr val="7030A0"/>
                </a:solidFill>
              </a:rPr>
              <a:t>parameter’s value to perform an action</a:t>
            </a:r>
            <a:endParaRPr lang="en-IN" sz="2000" dirty="0">
              <a:solidFill>
                <a:srgbClr val="7030A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86254" y="3563254"/>
            <a:ext cx="42117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function_body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The function body is a block of </a:t>
            </a:r>
            <a:r>
              <a:rPr lang="en-US" sz="2000" dirty="0">
                <a:solidFill>
                  <a:srgbClr val="7030A0"/>
                </a:solidFill>
              </a:rPr>
              <a:t>code that performs some task.</a:t>
            </a:r>
            <a:r>
              <a:rPr lang="en-US" sz="2000" dirty="0"/>
              <a:t> This block of code is nothing but the action you wanted to accomplish.</a:t>
            </a:r>
            <a:endParaRPr lang="en-IN" sz="2000" dirty="0"/>
          </a:p>
        </p:txBody>
      </p:sp>
      <p:sp>
        <p:nvSpPr>
          <p:cNvPr id="13" name="Rectangle 12"/>
          <p:cNvSpPr/>
          <p:nvPr/>
        </p:nvSpPr>
        <p:spPr>
          <a:xfrm>
            <a:off x="7820892" y="5041604"/>
            <a:ext cx="42117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Return value is the </a:t>
            </a:r>
            <a:r>
              <a:rPr lang="en-US" sz="2000" dirty="0">
                <a:solidFill>
                  <a:srgbClr val="7030A0"/>
                </a:solidFill>
              </a:rPr>
              <a:t>output of the function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15" name="Rectangle 14"/>
          <p:cNvSpPr/>
          <p:nvPr/>
        </p:nvSpPr>
        <p:spPr>
          <a:xfrm>
            <a:off x="159326" y="6057221"/>
            <a:ext cx="1194031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Note: While defining a function, we use two keywords, </a:t>
            </a:r>
            <a:r>
              <a:rPr lang="en-US" sz="2400" dirty="0" err="1">
                <a:solidFill>
                  <a:srgbClr val="0070C0"/>
                </a:solidFill>
              </a:rPr>
              <a:t>def</a:t>
            </a:r>
            <a:r>
              <a:rPr lang="en-US" sz="2400" dirty="0"/>
              <a:t> (mandatory) and </a:t>
            </a:r>
            <a:r>
              <a:rPr lang="en-US" sz="2400" dirty="0">
                <a:solidFill>
                  <a:srgbClr val="0070C0"/>
                </a:solidFill>
              </a:rPr>
              <a:t>return</a:t>
            </a:r>
            <a:r>
              <a:rPr lang="en-US" sz="2400" dirty="0"/>
              <a:t> (optional).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6655330-344B-1911-7534-06E44DAEE0D9}"/>
              </a:ext>
            </a:extLst>
          </p:cNvPr>
          <p:cNvSpPr txBox="1"/>
          <p:nvPr/>
        </p:nvSpPr>
        <p:spPr>
          <a:xfrm>
            <a:off x="203893" y="422497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def</a:t>
            </a:r>
            <a:r>
              <a:rPr lang="en-US" sz="2200" dirty="0"/>
              <a:t> keyword is used to define a function. </a:t>
            </a:r>
          </a:p>
        </p:txBody>
      </p:sp>
    </p:spTree>
    <p:extLst>
      <p:ext uri="{BB962C8B-B14F-4D97-AF65-F5344CB8AC3E}">
        <p14:creationId xmlns:p14="http://schemas.microsoft.com/office/powerpoint/2010/main" val="342066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1" grpId="0"/>
      <p:bldP spid="13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553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Example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0208" t="11564" b="14062"/>
          <a:stretch/>
        </p:blipFill>
        <p:spPr>
          <a:xfrm>
            <a:off x="2124361" y="868217"/>
            <a:ext cx="7666183" cy="497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8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/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How to call a function in python?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836024"/>
            <a:ext cx="11416937" cy="548640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To call a function we simply type the </a:t>
            </a:r>
            <a:r>
              <a:rPr lang="en-US" dirty="0">
                <a:solidFill>
                  <a:srgbClr val="7030A0"/>
                </a:solidFill>
              </a:rPr>
              <a:t>function name with appropriate parameters</a:t>
            </a:r>
            <a:r>
              <a:rPr lang="en-US" dirty="0"/>
              <a:t>.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Ex1:</a:t>
            </a:r>
          </a:p>
          <a:p>
            <a:pPr algn="just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greet():</a:t>
            </a:r>
          </a:p>
          <a:p>
            <a:pPr algn="just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print("Hello, Good morning!")</a:t>
            </a:r>
          </a:p>
          <a:p>
            <a:pPr algn="just">
              <a:buNone/>
            </a:pPr>
            <a:r>
              <a:rPr lang="en-US" sz="22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greet()    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#function call</a:t>
            </a: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Ex2:</a:t>
            </a:r>
          </a:p>
          <a:p>
            <a:pPr algn="just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greet2(name):</a:t>
            </a:r>
          </a:p>
          <a:p>
            <a:pPr algn="just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print("Hello, " , name , ". Good morning!")</a:t>
            </a:r>
          </a:p>
          <a:p>
            <a:pPr algn="just">
              <a:buNone/>
            </a:pPr>
            <a:r>
              <a:rPr lang="en-US" sz="22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greet2(“ram”)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80158" y="1629528"/>
            <a:ext cx="8878455" cy="193899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function</a:t>
            </a:r>
          </a:p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message():</a:t>
            </a:r>
          </a:p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print("Welcome to </a:t>
            </a:r>
            <a:r>
              <a:rPr lang="en-US" sz="2400" dirty="0" smtClean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VVIT-AP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message()</a:t>
            </a:r>
            <a:endParaRPr lang="en-IN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838200" y="515912"/>
            <a:ext cx="10515600" cy="650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function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any parameters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3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31998" y="1314568"/>
            <a:ext cx="887845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function</a:t>
            </a:r>
          </a:p>
          <a:p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course_func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(name,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course_name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print("Hello", name, "Welcome to </a:t>
            </a:r>
            <a:r>
              <a:rPr lang="en-US" sz="2200" dirty="0" smtClean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VVIT-AP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print("Your course name is",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course_name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call function</a:t>
            </a:r>
          </a:p>
          <a:p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course_func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(“John”, “Python”)</a:t>
            </a:r>
            <a:endParaRPr lang="en-IN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838200" y="515912"/>
            <a:ext cx="10515600" cy="650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function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parameters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89090" y="486074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Hello John Welcome to </a:t>
            </a:r>
            <a:r>
              <a:rPr lang="en-US" b="1" dirty="0" smtClean="0"/>
              <a:t>VVIT-AP</a:t>
            </a:r>
            <a:endParaRPr lang="en-US" b="1" dirty="0"/>
          </a:p>
          <a:p>
            <a:r>
              <a:rPr lang="en-US" b="1" dirty="0"/>
              <a:t>Your course name is Python</a:t>
            </a:r>
            <a:endParaRPr lang="en-IN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927273" y="4424217"/>
            <a:ext cx="169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781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return statement</a:t>
            </a:r>
            <a:b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17600"/>
            <a:ext cx="11416937" cy="5204824"/>
          </a:xfrm>
        </p:spPr>
        <p:txBody>
          <a:bodyPr>
            <a:normAutofit/>
          </a:bodyPr>
          <a:lstStyle/>
          <a:p>
            <a:r>
              <a:rPr lang="en-US" dirty="0"/>
              <a:t>We can </a:t>
            </a:r>
            <a:r>
              <a:rPr lang="en-US" dirty="0">
                <a:solidFill>
                  <a:srgbClr val="7030A0"/>
                </a:solidFill>
              </a:rPr>
              <a:t>return the result or output from the function </a:t>
            </a:r>
            <a:r>
              <a:rPr lang="en-US" dirty="0"/>
              <a:t>using a '</a:t>
            </a:r>
            <a:r>
              <a:rPr lang="en-US" dirty="0">
                <a:solidFill>
                  <a:srgbClr val="7030A0"/>
                </a:solidFill>
              </a:rPr>
              <a:t>return</a:t>
            </a:r>
            <a:r>
              <a:rPr lang="en-US" dirty="0"/>
              <a:t>' statement in the body of the function</a:t>
            </a:r>
          </a:p>
          <a:p>
            <a:r>
              <a:rPr lang="en-US" dirty="0"/>
              <a:t>If a function does not return any result, we need not write the return statement in the body of the function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Syntax of return :       </a:t>
            </a:r>
            <a:r>
              <a:rPr lang="en-US" dirty="0"/>
              <a:t>return </a:t>
            </a:r>
            <a:r>
              <a:rPr lang="en-US" dirty="0" err="1"/>
              <a:t>expression_list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09401" y="1457601"/>
            <a:ext cx="997619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calculator(a, b):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add = a + b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add 					</a:t>
            </a:r>
            <a:r>
              <a:rPr lang="en-US" sz="22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return the addition</a:t>
            </a:r>
          </a:p>
          <a:p>
            <a:endParaRPr lang="en-US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 = calculator(20, 5)		</a:t>
            </a:r>
            <a:r>
              <a:rPr lang="en-US" sz="22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take return value in variable</a:t>
            </a:r>
          </a:p>
          <a:p>
            <a:endParaRPr lang="en-US" sz="2200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print("Addition :", res)</a:t>
            </a:r>
            <a:endParaRPr lang="en-IN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82782" y="72567"/>
            <a:ext cx="10515600" cy="650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function with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61795" y="6100910"/>
            <a:ext cx="34451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Addition : 25</a:t>
            </a:r>
            <a:endParaRPr lang="en-IN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111670" y="5574343"/>
            <a:ext cx="169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2862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Returning multiple values form a function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056640"/>
            <a:ext cx="11416937" cy="52657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function returns a single value in the programming languages like C or Java. </a:t>
            </a:r>
          </a:p>
          <a:p>
            <a:r>
              <a:rPr lang="en-US" dirty="0"/>
              <a:t>But in python, a function can return </a:t>
            </a:r>
            <a:r>
              <a:rPr lang="en-US" dirty="0">
                <a:solidFill>
                  <a:srgbClr val="7030A0"/>
                </a:solidFill>
              </a:rPr>
              <a:t>multiple values. </a:t>
            </a:r>
          </a:p>
          <a:p>
            <a:r>
              <a:rPr lang="en-US" dirty="0"/>
              <a:t>When a function calculates multiple results and wants to return the results, we can use the return statement as: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>
                <a:solidFill>
                  <a:srgbClr val="7030A0"/>
                </a:solidFill>
              </a:rPr>
              <a:t>return a, b, c</a:t>
            </a:r>
          </a:p>
          <a:p>
            <a:r>
              <a:rPr lang="en-US" dirty="0"/>
              <a:t>Here, three values which are in 'a', 'b', and 'c' are returned. </a:t>
            </a:r>
          </a:p>
          <a:p>
            <a:r>
              <a:rPr lang="en-US" dirty="0"/>
              <a:t>These values are returned by the function as a </a:t>
            </a:r>
            <a:r>
              <a:rPr lang="en-US" dirty="0">
                <a:solidFill>
                  <a:srgbClr val="7030A0"/>
                </a:solidFill>
              </a:rPr>
              <a:t>tuple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To grab these values, we can use three variables at the time of calling the function as: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>
                <a:solidFill>
                  <a:srgbClr val="7030A0"/>
                </a:solidFill>
              </a:rPr>
              <a:t>x, y, z = function()</a:t>
            </a:r>
          </a:p>
          <a:p>
            <a:r>
              <a:rPr lang="en-US" dirty="0"/>
              <a:t>Here, the variables ‘x’, 'y' and 'z' are receiving the three values returned by the function.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582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Returning multiple values form a function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3EF86A8-C6AC-376C-E25F-57567C1AA467}"/>
              </a:ext>
            </a:extLst>
          </p:cNvPr>
          <p:cNvSpPr txBox="1"/>
          <p:nvPr/>
        </p:nvSpPr>
        <p:spPr>
          <a:xfrm>
            <a:off x="2451100" y="1181862"/>
            <a:ext cx="62636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calculator(a, b):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add = a + b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sub = a - b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mul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a * b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</a:t>
            </a:r>
            <a:r>
              <a:rPr lang="en-IN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add,sub,mul</a:t>
            </a:r>
            <a:endParaRPr lang="en-IN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call function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take return value in variable</a:t>
            </a:r>
          </a:p>
          <a:p>
            <a:r>
              <a:rPr lang="en-IN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res1,res2,res3 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calculator(20, 5)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print("Addition :", res1)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print("Subtraction:", res2)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print("Multiplication :", res3)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D1F49A3-108A-969F-9796-C64D4163743F}"/>
              </a:ext>
            </a:extLst>
          </p:cNvPr>
          <p:cNvSpPr txBox="1"/>
          <p:nvPr/>
        </p:nvSpPr>
        <p:spPr>
          <a:xfrm>
            <a:off x="8077200" y="5912503"/>
            <a:ext cx="316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Addition : 25</a:t>
            </a:r>
          </a:p>
          <a:p>
            <a:r>
              <a:rPr lang="en-IN" dirty="0">
                <a:solidFill>
                  <a:srgbClr val="FF0000"/>
                </a:solidFill>
              </a:rPr>
              <a:t>Subtraction: 15</a:t>
            </a:r>
          </a:p>
          <a:p>
            <a:r>
              <a:rPr lang="en-IN" dirty="0">
                <a:solidFill>
                  <a:srgbClr val="FF0000"/>
                </a:solidFill>
              </a:rPr>
              <a:t>Multiplication : 100</a:t>
            </a:r>
          </a:p>
        </p:txBody>
      </p:sp>
    </p:spTree>
    <p:extLst>
      <p:ext uri="{BB962C8B-B14F-4D97-AF65-F5344CB8AC3E}">
        <p14:creationId xmlns:p14="http://schemas.microsoft.com/office/powerpoint/2010/main" val="1819077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Scope of variables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097280"/>
            <a:ext cx="11416937" cy="5225144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a variable is the portion of a program where the variable is visible.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a variable declared outside of the function is known as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means, global variable can be accessed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 or outside of the function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declared inside the function's body is known as 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0925AC0-7967-0CF7-7232-FE5FE13DC3D1}"/>
              </a:ext>
            </a:extLst>
          </p:cNvPr>
          <p:cNvSpPr txBox="1"/>
          <p:nvPr/>
        </p:nvSpPr>
        <p:spPr>
          <a:xfrm>
            <a:off x="2036694" y="3709852"/>
            <a:ext cx="83794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20    			 				#global variable/scope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my_func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x = 10	   						#Local variable/Scope 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print("Value of X inside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function:",x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my_func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print("Value of X outside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function:",x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formal and actual parameters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836024"/>
            <a:ext cx="11416937" cy="5486400"/>
          </a:xfrm>
        </p:spPr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Parameter refers to the information passed to the function.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Parameters are also known as </a:t>
            </a:r>
            <a:r>
              <a:rPr lang="en-US" b="1" i="0" dirty="0">
                <a:solidFill>
                  <a:srgbClr val="C00000"/>
                </a:solidFill>
                <a:effectLst/>
                <a:latin typeface="Rubik"/>
              </a:rPr>
              <a:t>arguments</a:t>
            </a:r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.</a:t>
            </a:r>
          </a:p>
          <a:p>
            <a:r>
              <a:rPr lang="en-US" b="1" i="0" dirty="0">
                <a:solidFill>
                  <a:srgbClr val="C00000"/>
                </a:solidFill>
                <a:effectLst/>
                <a:latin typeface="Rubik"/>
              </a:rPr>
              <a:t>Formal Parameters</a:t>
            </a:r>
            <a:r>
              <a:rPr lang="en-US" b="0" i="0" dirty="0">
                <a:solidFill>
                  <a:srgbClr val="C00000"/>
                </a:solidFill>
                <a:effectLst/>
                <a:latin typeface="Rubik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are the parameters which are specified during the definition of the function.</a:t>
            </a:r>
          </a:p>
          <a:p>
            <a:r>
              <a:rPr lang="en-US" b="1" i="0" dirty="0">
                <a:solidFill>
                  <a:srgbClr val="C00000"/>
                </a:solidFill>
                <a:effectLst/>
                <a:latin typeface="Rubik"/>
              </a:rPr>
              <a:t>Actual Parameters </a:t>
            </a:r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are the parameters which are specified during the function call. </a:t>
            </a:r>
          </a:p>
          <a:p>
            <a:endParaRPr lang="en-US" dirty="0">
              <a:solidFill>
                <a:srgbClr val="333333"/>
              </a:solidFill>
              <a:latin typeface="Rubik"/>
            </a:endParaRPr>
          </a:p>
          <a:p>
            <a:pPr>
              <a:buNone/>
            </a:pPr>
            <a:r>
              <a:rPr lang="en-US" b="0" i="0" dirty="0">
                <a:solidFill>
                  <a:srgbClr val="F92672"/>
                </a:solidFill>
                <a:effectLst/>
                <a:latin typeface="Nunito" pitchFamily="2" charset="0"/>
              </a:rPr>
              <a:t>def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 </a:t>
            </a:r>
            <a:r>
              <a:rPr lang="en-US" b="0" i="0" dirty="0">
                <a:solidFill>
                  <a:srgbClr val="61AEEE"/>
                </a:solidFill>
                <a:effectLst/>
                <a:latin typeface="Nunito" pitchFamily="2" charset="0"/>
              </a:rPr>
              <a:t>sum</a:t>
            </a:r>
            <a:r>
              <a:rPr lang="en-US" b="0" i="0" dirty="0">
                <a:effectLst/>
                <a:latin typeface="Nunito" pitchFamily="2" charset="0"/>
              </a:rPr>
              <a:t>(a, b): </a:t>
            </a:r>
          </a:p>
          <a:p>
            <a:pPr>
              <a:buNone/>
            </a:pPr>
            <a:r>
              <a:rPr lang="en-US" b="0" i="0" dirty="0">
                <a:solidFill>
                  <a:srgbClr val="F92672"/>
                </a:solidFill>
                <a:effectLst/>
                <a:latin typeface="Nunito" pitchFamily="2" charset="0"/>
              </a:rPr>
              <a:t>		return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 </a:t>
            </a:r>
            <a:r>
              <a:rPr lang="en-US" b="0" i="0" dirty="0">
                <a:effectLst/>
                <a:latin typeface="Nunito" pitchFamily="2" charset="0"/>
              </a:rPr>
              <a:t>a + b</a:t>
            </a:r>
          </a:p>
          <a:p>
            <a:pPr>
              <a:buNone/>
            </a:pPr>
            <a:r>
              <a:rPr lang="en-US" dirty="0">
                <a:latin typeface="Nunito" pitchFamily="2" charset="0"/>
              </a:rPr>
              <a:t>sum(5,6)</a:t>
            </a:r>
          </a:p>
          <a:p>
            <a:pPr>
              <a:buNone/>
            </a:pPr>
            <a:endParaRPr lang="en-US" b="0" i="0" dirty="0">
              <a:effectLst/>
              <a:latin typeface="Nunito" pitchFamily="2" charset="0"/>
            </a:endParaRPr>
          </a:p>
          <a:p>
            <a:pPr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In the above code, </a:t>
            </a:r>
            <a:r>
              <a:rPr lang="en-US" b="0" i="0" dirty="0">
                <a:solidFill>
                  <a:srgbClr val="C00000"/>
                </a:solidFill>
                <a:effectLst/>
                <a:latin typeface="Rubik"/>
              </a:rPr>
              <a:t>‘a’ &amp; ‘b’ </a:t>
            </a:r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are formal parameters and </a:t>
            </a:r>
            <a:r>
              <a:rPr lang="en-US" b="0" i="0" dirty="0">
                <a:solidFill>
                  <a:srgbClr val="C00000"/>
                </a:solidFill>
                <a:effectLst/>
                <a:latin typeface="Rubik"/>
              </a:rPr>
              <a:t>‘5’ &amp;’6’ </a:t>
            </a:r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actual parameters</a:t>
            </a:r>
            <a:endParaRPr lang="en-US" dirty="0">
              <a:solidFill>
                <a:srgbClr val="333333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i="0" dirty="0">
                <a:solidFill>
                  <a:srgbClr val="FF0000"/>
                </a:solidFill>
                <a:effectLst/>
                <a:latin typeface="+mn-lt"/>
              </a:rPr>
              <a:t>Actual Parameters  or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Arguments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10342"/>
            <a:ext cx="11416937" cy="521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Rubik"/>
              </a:rPr>
              <a:t>Actual Parameters are four types 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Positional Arguments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Keyword Arguments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Default Arguments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Variable-length Arguments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/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Positional Arguments</a:t>
            </a:r>
            <a:br>
              <a:rPr lang="en-US" sz="3200" dirty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836024"/>
            <a:ext cx="11416937" cy="548640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These are the most common type of parameters.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values are </a:t>
            </a:r>
            <a:r>
              <a:rPr lang="en-US" b="0" i="0" dirty="0">
                <a:solidFill>
                  <a:srgbClr val="7030A0"/>
                </a:solidFill>
                <a:effectLst/>
                <a:latin typeface="Söhne"/>
              </a:rPr>
              <a:t>passed based on the order of parameters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 the function definition.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Example: 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400" b="0" i="0" dirty="0">
                <a:solidFill>
                  <a:srgbClr val="F9267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(name, marks):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print("Name of student : ", name)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cgpa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marks/10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print("CGPA is : ",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cgpa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result("Devansh",95)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E459A2B-5291-5034-319B-833331E8A56C}"/>
              </a:ext>
            </a:extLst>
          </p:cNvPr>
          <p:cNvSpPr txBox="1"/>
          <p:nvPr/>
        </p:nvSpPr>
        <p:spPr>
          <a:xfrm>
            <a:off x="8310674" y="5487405"/>
            <a:ext cx="38813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Name of student :  Devansh</a:t>
            </a:r>
          </a:p>
          <a:p>
            <a:r>
              <a:rPr lang="en-US" sz="2400" dirty="0">
                <a:solidFill>
                  <a:srgbClr val="C00000"/>
                </a:solidFill>
              </a:rPr>
              <a:t>CGPA is :  9.5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Keyword Arguments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836024"/>
            <a:ext cx="11416937" cy="54864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In this type, arguments are identified by their parameter names.</a:t>
            </a:r>
          </a:p>
          <a:p>
            <a:pPr algn="just"/>
            <a:r>
              <a:rPr lang="en-US" dirty="0"/>
              <a:t>you can specify the arguments  by the names of their corresponding parameters with values even in a different order  from their definition in the function</a:t>
            </a:r>
          </a:p>
          <a:p>
            <a:pPr marL="0" indent="0" algn="just"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Example: 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result(name, marks):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print("Name of student : ", name)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cgpa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marks/10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print("CGPA is : ",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cgpa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result(name="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Devansh",marks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=95)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result(marks=90,name="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Havya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89FEA63-445A-CC66-3ADB-7BA161675584}"/>
              </a:ext>
            </a:extLst>
          </p:cNvPr>
          <p:cNvSpPr txBox="1"/>
          <p:nvPr/>
        </p:nvSpPr>
        <p:spPr>
          <a:xfrm>
            <a:off x="8439332" y="5140994"/>
            <a:ext cx="356543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dirty="0">
                <a:solidFill>
                  <a:srgbClr val="C00000"/>
                </a:solidFill>
              </a:rPr>
              <a:t>Name of student :  Devansh</a:t>
            </a:r>
          </a:p>
          <a:p>
            <a:r>
              <a:rPr lang="en-IN" sz="1900" dirty="0">
                <a:solidFill>
                  <a:srgbClr val="C00000"/>
                </a:solidFill>
              </a:rPr>
              <a:t>CGPA is :  9.5</a:t>
            </a:r>
          </a:p>
          <a:p>
            <a:r>
              <a:rPr lang="en-IN" sz="1900" dirty="0">
                <a:solidFill>
                  <a:srgbClr val="C00000"/>
                </a:solidFill>
              </a:rPr>
              <a:t>Name of student :  </a:t>
            </a:r>
            <a:r>
              <a:rPr lang="en-IN" sz="1900" dirty="0" err="1">
                <a:solidFill>
                  <a:srgbClr val="C00000"/>
                </a:solidFill>
              </a:rPr>
              <a:t>Havya</a:t>
            </a:r>
            <a:endParaRPr lang="en-IN" sz="1900" dirty="0">
              <a:solidFill>
                <a:srgbClr val="C00000"/>
              </a:solidFill>
            </a:endParaRPr>
          </a:p>
          <a:p>
            <a:r>
              <a:rPr lang="en-IN" sz="1900" dirty="0">
                <a:solidFill>
                  <a:srgbClr val="C00000"/>
                </a:solidFill>
              </a:rPr>
              <a:t>CGPA is :  9.0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Default Arguments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836024"/>
            <a:ext cx="11416937" cy="5486400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You can set default values for parameters in the function definition.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If a value is not provided for a parameter during the function call, the default value is used.</a:t>
            </a:r>
          </a:p>
          <a:p>
            <a:pPr marL="0" indent="0" algn="l">
              <a:buNone/>
            </a:pPr>
            <a:endParaRPr lang="en-US" b="0" i="0" dirty="0">
              <a:effectLst/>
              <a:latin typeface="Söhne"/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# default Arguments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result(name, </a:t>
            </a:r>
            <a:r>
              <a:rPr lang="en-US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marks=80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print("Name of student : ", name)</a:t>
            </a:r>
          </a:p>
          <a:p>
            <a:pPr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cgpa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marks/10</a:t>
            </a:r>
          </a:p>
          <a:p>
            <a:pPr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print("CGPA is : ",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cgpa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result("Devansh")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3903C6B-74D6-FF1F-6D19-253C0D53A630}"/>
              </a:ext>
            </a:extLst>
          </p:cNvPr>
          <p:cNvSpPr txBox="1"/>
          <p:nvPr/>
        </p:nvSpPr>
        <p:spPr>
          <a:xfrm>
            <a:off x="8013700" y="5569258"/>
            <a:ext cx="4086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Name of student :  Devansh</a:t>
            </a:r>
          </a:p>
          <a:p>
            <a:r>
              <a:rPr lang="en-US" sz="2400" dirty="0">
                <a:solidFill>
                  <a:srgbClr val="C00000"/>
                </a:solidFill>
              </a:rPr>
              <a:t>CGPA is :  8.0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Variable-length arguments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86508"/>
            <a:ext cx="11416937" cy="1262052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b="0" i="0" dirty="0">
                <a:effectLst/>
                <a:latin typeface="Söhne"/>
              </a:rPr>
              <a:t>These are used when you want to pass a variable number of arguments to a function. </a:t>
            </a:r>
          </a:p>
          <a:p>
            <a:pPr algn="just"/>
            <a:r>
              <a:rPr lang="en-US" sz="2400" dirty="0"/>
              <a:t>When * used inside  the function with a parameter then  asterisk groups a variable number of positional arguments into a  tuple of parameter values.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None/>
            </a:pPr>
            <a:endParaRPr lang="en-US" sz="42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8C2AC94-666D-0217-A134-5FEA287122BB}"/>
              </a:ext>
            </a:extLst>
          </p:cNvPr>
          <p:cNvSpPr txBox="1"/>
          <p:nvPr/>
        </p:nvSpPr>
        <p:spPr>
          <a:xfrm>
            <a:off x="919480" y="2961734"/>
            <a:ext cx="55727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result(name, *marks):</a:t>
            </a:r>
          </a:p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print("Name of student : ", name)</a:t>
            </a:r>
          </a:p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total= sum(marks)</a:t>
            </a:r>
          </a:p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nc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=len(marks)</a:t>
            </a:r>
          </a:p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cgpa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=total/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nc</a:t>
            </a:r>
            <a:endParaRPr lang="en-US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buNone/>
            </a:pPr>
            <a:endParaRPr lang="en-US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print("Total Marks : ", total)</a:t>
            </a:r>
          </a:p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print("Total No of courses : ",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nc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print("CGPA is : ",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cgpa</a:t>
            </a: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algn="just">
              <a:buNone/>
            </a:pPr>
            <a:endParaRPr lang="en-US" sz="1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buNone/>
            </a:pPr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result("Devansh",80,90,100)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9B1976E-3C61-B218-DF9D-6BFFEE6E38E4}"/>
              </a:ext>
            </a:extLst>
          </p:cNvPr>
          <p:cNvSpPr txBox="1"/>
          <p:nvPr/>
        </p:nvSpPr>
        <p:spPr>
          <a:xfrm>
            <a:off x="7848600" y="4900726"/>
            <a:ext cx="38963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dirty="0">
                <a:solidFill>
                  <a:srgbClr val="C00000"/>
                </a:solidFill>
              </a:rPr>
              <a:t>Name of student :  Devansh</a:t>
            </a:r>
          </a:p>
          <a:p>
            <a:r>
              <a:rPr lang="en-IN" sz="1900" dirty="0">
                <a:solidFill>
                  <a:srgbClr val="C00000"/>
                </a:solidFill>
              </a:rPr>
              <a:t>Total Marks :  270</a:t>
            </a:r>
          </a:p>
          <a:p>
            <a:r>
              <a:rPr lang="en-IN" sz="1900" dirty="0">
                <a:solidFill>
                  <a:srgbClr val="C00000"/>
                </a:solidFill>
              </a:rPr>
              <a:t>Total No of courses :  3</a:t>
            </a:r>
          </a:p>
          <a:p>
            <a:r>
              <a:rPr lang="en-IN" sz="1900" dirty="0">
                <a:solidFill>
                  <a:srgbClr val="C00000"/>
                </a:solidFill>
              </a:rPr>
              <a:t>CGPA is :  90.0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of list numbers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62594"/>
            <a:ext cx="11416937" cy="51598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sum(numbers):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total = 0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x in numbers: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total += x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total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result=sum([8, 2, 3, 0, 7])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2154035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#Even elements from list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62594"/>
            <a:ext cx="11416937" cy="51598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is_even_num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(l):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enum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[]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n in l: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n % 2 == 0: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enum.append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(n)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enum</a:t>
            </a:r>
            <a:endParaRPr lang="en-US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endParaRPr lang="en-US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is_even_num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([1, 2, 3, 4, 5, 6, 7, 8, 9]))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200AC2A-5620-ED90-4ACD-86E3B46560B8}"/>
              </a:ext>
            </a:extLst>
          </p:cNvPr>
          <p:cNvSpPr txBox="1"/>
          <p:nvPr/>
        </p:nvSpPr>
        <p:spPr>
          <a:xfrm>
            <a:off x="8623300" y="6218212"/>
            <a:ext cx="306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[2, 4, 6, 8]</a:t>
            </a:r>
          </a:p>
        </p:txBody>
      </p:sp>
    </p:spTree>
    <p:extLst>
      <p:ext uri="{BB962C8B-B14F-4D97-AF65-F5344CB8AC3E}">
        <p14:creationId xmlns:p14="http://schemas.microsoft.com/office/powerpoint/2010/main" val="3039942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Write a Python function that takes a list and returns a new list with distinct elements from the first list.</a:t>
            </a:r>
            <a:endParaRPr lang="en-US" sz="24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62594"/>
            <a:ext cx="11416937" cy="51598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unique_list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(numbers):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x=set(numbers)           #unique numbers in set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y=list(x)                #convert set to list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return y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result=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unique_list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([2,3,4,3,5,3])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print(result)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9522607-F06E-7D26-DA10-185439CF094D}"/>
              </a:ext>
            </a:extLst>
          </p:cNvPr>
          <p:cNvSpPr txBox="1"/>
          <p:nvPr/>
        </p:nvSpPr>
        <p:spPr>
          <a:xfrm>
            <a:off x="8911046" y="5752012"/>
            <a:ext cx="2061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[2, 3, 4, 5]</a:t>
            </a:r>
          </a:p>
        </p:txBody>
      </p:sp>
    </p:spTree>
    <p:extLst>
      <p:ext uri="{BB962C8B-B14F-4D97-AF65-F5344CB8AC3E}">
        <p14:creationId xmlns:p14="http://schemas.microsoft.com/office/powerpoint/2010/main" val="3951108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US" sz="32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32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nested functions</a:t>
            </a:r>
            <a:br>
              <a:rPr lang="en-US" sz="32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3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9D149C3-4923-BA2A-5D22-FA50A6CEC665}"/>
              </a:ext>
            </a:extLst>
          </p:cNvPr>
          <p:cNvSpPr txBox="1"/>
          <p:nvPr/>
        </p:nvSpPr>
        <p:spPr>
          <a:xfrm>
            <a:off x="3063240" y="2413338"/>
            <a:ext cx="63093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function1():</a:t>
            </a:r>
          </a:p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function2():</a:t>
            </a:r>
          </a:p>
          <a:p>
            <a:r>
              <a:rPr lang="en-US" sz="24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print("Hello Function-1")</a:t>
            </a:r>
          </a:p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function2()</a:t>
            </a:r>
          </a:p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print("Hello Function-2")</a:t>
            </a:r>
          </a:p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function1()</a:t>
            </a:r>
            <a:endParaRPr lang="en-IN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Recursion 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62594"/>
            <a:ext cx="11416937" cy="515983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 calls itself one or more times in its body is called recursion.</a:t>
            </a:r>
          </a:p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 which calls itself is called a recursive function.</a:t>
            </a:r>
          </a:p>
        </p:txBody>
      </p:sp>
    </p:spTree>
    <p:extLst>
      <p:ext uri="{BB962C8B-B14F-4D97-AF65-F5344CB8AC3E}">
        <p14:creationId xmlns:p14="http://schemas.microsoft.com/office/powerpoint/2010/main" val="155856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b="1" i="0" dirty="0">
                <a:solidFill>
                  <a:srgbClr val="FF0000"/>
                </a:solidFill>
                <a:effectLst/>
                <a:latin typeface="Roboto Condensed" panose="02000000000000000000" pitchFamily="2" charset="0"/>
              </a:rPr>
              <a:t>Example 1: Finding the factorial of a number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62594"/>
            <a:ext cx="11416937" cy="5159830"/>
          </a:xfrm>
        </p:spPr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Libre Franklin" panose="020F0502020204030204" pitchFamily="2" charset="0"/>
              </a:rPr>
              <a:t>In mathematics, the equation for finding the factorial of a number is as follows:   n! = n * (n-1)!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A31E8DB-7473-68B7-B4B9-014FB88871A2}"/>
              </a:ext>
            </a:extLst>
          </p:cNvPr>
          <p:cNvSpPr txBox="1"/>
          <p:nvPr/>
        </p:nvSpPr>
        <p:spPr>
          <a:xfrm>
            <a:off x="1036321" y="2559765"/>
            <a:ext cx="608583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2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fact(n)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if(n==1):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US" sz="22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else: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US" sz="22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n*fact(n-1)</a:t>
            </a:r>
          </a:p>
          <a:p>
            <a:endParaRPr lang="en-US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= int(input("Enter a number: "))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result=</a:t>
            </a:r>
            <a:r>
              <a:rPr lang="en-US" sz="22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fact(num)</a:t>
            </a:r>
          </a:p>
          <a:p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print("Factorial is: ",result)</a:t>
            </a:r>
            <a:endParaRPr lang="en-IN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C276C5A-2338-E35A-4400-EEADB7F041CE}"/>
              </a:ext>
            </a:extLst>
          </p:cNvPr>
          <p:cNvSpPr txBox="1"/>
          <p:nvPr/>
        </p:nvSpPr>
        <p:spPr>
          <a:xfrm>
            <a:off x="8658860" y="5233741"/>
            <a:ext cx="2694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Enter a number:  4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Factorial is:  24</a:t>
            </a:r>
          </a:p>
        </p:txBody>
      </p:sp>
    </p:spTree>
    <p:extLst>
      <p:ext uri="{BB962C8B-B14F-4D97-AF65-F5344CB8AC3E}">
        <p14:creationId xmlns:p14="http://schemas.microsoft.com/office/powerpoint/2010/main" val="2247814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Example 3: Finding the power of a number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A31E8DB-7473-68B7-B4B9-014FB88871A2}"/>
              </a:ext>
            </a:extLst>
          </p:cNvPr>
          <p:cNvSpPr txBox="1"/>
          <p:nvPr/>
        </p:nvSpPr>
        <p:spPr>
          <a:xfrm>
            <a:off x="965201" y="2444929"/>
            <a:ext cx="692911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power(</a:t>
            </a:r>
            <a:r>
              <a:rPr lang="en-US" sz="2000" dirty="0" err="1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base,exp</a:t>
            </a:r>
            <a:r>
              <a:rPr lang="en-US" sz="20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if exp == 0: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US" sz="20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if exp==1: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US" sz="20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else: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US" sz="20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base*power(base,exp-1)</a:t>
            </a:r>
          </a:p>
          <a:p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 = int(input("Enter the base value: "))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 = int(input("Enter the exponent value: "))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print("The result is:", </a:t>
            </a:r>
            <a:r>
              <a:rPr lang="en-US" sz="20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power(</a:t>
            </a:r>
            <a:r>
              <a:rPr lang="en-US" sz="2000" dirty="0" err="1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b,e</a:t>
            </a:r>
            <a:r>
              <a:rPr lang="en-US" sz="2000" dirty="0">
                <a:solidFill>
                  <a:srgbClr val="CC00C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C276C5A-2338-E35A-4400-EEADB7F041CE}"/>
              </a:ext>
            </a:extLst>
          </p:cNvPr>
          <p:cNvSpPr txBox="1"/>
          <p:nvPr/>
        </p:nvSpPr>
        <p:spPr>
          <a:xfrm>
            <a:off x="8771685" y="5010221"/>
            <a:ext cx="34213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Enter the base value:  2</a:t>
            </a:r>
          </a:p>
          <a:p>
            <a:r>
              <a:rPr lang="en-US" dirty="0">
                <a:solidFill>
                  <a:srgbClr val="FF0000"/>
                </a:solidFill>
              </a:rPr>
              <a:t>Enter the exponent value:  3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The result is: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1115856-997C-AD47-7BAA-E7DCCD28DEC3}"/>
              </a:ext>
            </a:extLst>
          </p:cNvPr>
          <p:cNvSpPr txBox="1"/>
          <p:nvPr/>
        </p:nvSpPr>
        <p:spPr>
          <a:xfrm>
            <a:off x="838200" y="976323"/>
            <a:ext cx="10124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mathematical equation for finding the power of a number is as follows: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p(base, exp) = base * p(base, exp-1)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example, 2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p(2, 3) = 2 * p(2,2)</a:t>
            </a:r>
          </a:p>
        </p:txBody>
      </p:sp>
    </p:spTree>
    <p:extLst>
      <p:ext uri="{BB962C8B-B14F-4D97-AF65-F5344CB8AC3E}">
        <p14:creationId xmlns:p14="http://schemas.microsoft.com/office/powerpoint/2010/main" val="1479306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Anonymous Functions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162594"/>
            <a:ext cx="11416937" cy="5159830"/>
          </a:xfrm>
        </p:spPr>
        <p:txBody>
          <a:bodyPr>
            <a:normAutofit fontScale="925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Anonymous functions, also known as lambda functions, are functions that are defined without a name.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Instead of using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def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keyword to define a function with a name, you use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lambda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keyword to create a small, unnamed function.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Anonymous functions are often used for short, simple operations.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effectLst/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Syntax:      </a:t>
            </a:r>
            <a:r>
              <a:rPr lang="en-US" dirty="0">
                <a:solidFill>
                  <a:schemeClr val="accent6"/>
                </a:solidFill>
              </a:rPr>
              <a:t>lambda</a:t>
            </a:r>
            <a:r>
              <a:rPr lang="en-US" dirty="0"/>
              <a:t> arguments: expression</a:t>
            </a:r>
          </a:p>
          <a:p>
            <a:r>
              <a:rPr lang="en-US" dirty="0"/>
              <a:t>Lambda functions can have any number of arguments but only one expression. </a:t>
            </a:r>
          </a:p>
          <a:p>
            <a:r>
              <a:rPr lang="en-US" dirty="0"/>
              <a:t>The expression is evaluated and returned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 = lambda x, y: x + y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 = add(3, 5)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print(result</a:t>
            </a:r>
            <a:r>
              <a:rPr lang="en-US" dirty="0"/>
              <a:t>)  </a:t>
            </a:r>
            <a:r>
              <a:rPr lang="en-US" dirty="0">
                <a:solidFill>
                  <a:srgbClr val="FF0000"/>
                </a:solidFill>
              </a:rPr>
              <a:t># Output: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BDCE37D-D835-C132-24FA-23E46E9331AF}"/>
              </a:ext>
            </a:extLst>
          </p:cNvPr>
          <p:cNvSpPr txBox="1"/>
          <p:nvPr/>
        </p:nvSpPr>
        <p:spPr>
          <a:xfrm>
            <a:off x="6095998" y="4964091"/>
            <a:ext cx="6055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numbers = [1, 2, 3, 4, 5]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squared = list(map(lambda x: x**2, numbers))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print(squared)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A6000FC-7C10-0DC3-AC55-C473CB608A6C}"/>
              </a:ext>
            </a:extLst>
          </p:cNvPr>
          <p:cNvSpPr txBox="1"/>
          <p:nvPr/>
        </p:nvSpPr>
        <p:spPr>
          <a:xfrm>
            <a:off x="9710055" y="5985927"/>
            <a:ext cx="2441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[1, 4, 9, 16, 25]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 Modules  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30" y="914400"/>
            <a:ext cx="10946674" cy="5408024"/>
          </a:xfrm>
        </p:spPr>
        <p:txBody>
          <a:bodyPr>
            <a:normAutofit/>
          </a:bodyPr>
          <a:lstStyle/>
          <a:p>
            <a:pPr algn="just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Python Module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a file that contains </a:t>
            </a:r>
            <a:r>
              <a:rPr lang="en-US" b="0" i="0" dirty="0">
                <a:solidFill>
                  <a:srgbClr val="7030A0"/>
                </a:solidFill>
                <a:effectLst/>
                <a:latin typeface="Nunito" pitchFamily="2" charset="0"/>
              </a:rPr>
              <a:t>built-in functions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</a:t>
            </a:r>
            <a:r>
              <a:rPr lang="en-US" b="0" i="0" dirty="0">
                <a:solidFill>
                  <a:srgbClr val="7030A0"/>
                </a:solidFill>
                <a:effectLst/>
                <a:latin typeface="Nunito" pitchFamily="2" charset="0"/>
              </a:rPr>
              <a:t>classes,  and variables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  <a:endParaRPr lang="en-US" dirty="0"/>
          </a:p>
          <a:p>
            <a:pPr algn="just"/>
            <a:r>
              <a:rPr lang="en-US" dirty="0"/>
              <a:t>Modules refer to a file containing </a:t>
            </a:r>
            <a:r>
              <a:rPr lang="en-US" dirty="0">
                <a:solidFill>
                  <a:srgbClr val="7030A0"/>
                </a:solidFill>
              </a:rPr>
              <a:t>Python statements </a:t>
            </a:r>
            <a:r>
              <a:rPr lang="en-US" dirty="0"/>
              <a:t>and </a:t>
            </a:r>
            <a:r>
              <a:rPr lang="en-US" dirty="0">
                <a:solidFill>
                  <a:srgbClr val="7030A0"/>
                </a:solidFill>
              </a:rPr>
              <a:t>definitions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A module can define </a:t>
            </a:r>
            <a:r>
              <a:rPr lang="en-US" dirty="0">
                <a:solidFill>
                  <a:srgbClr val="7030A0"/>
                </a:solidFill>
              </a:rPr>
              <a:t>functions, classes and variables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Modules provide </a:t>
            </a:r>
            <a:r>
              <a:rPr lang="en-US" dirty="0">
                <a:solidFill>
                  <a:srgbClr val="7030A0"/>
                </a:solidFill>
              </a:rPr>
              <a:t>reusability of code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We can define our most used functions in a module and import it, instead of copying their definitions into different programs.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built-in modules 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30" y="914400"/>
            <a:ext cx="10946674" cy="5408024"/>
          </a:xfrm>
        </p:spPr>
        <p:txBody>
          <a:bodyPr>
            <a:normAutofit/>
          </a:bodyPr>
          <a:lstStyle/>
          <a:p>
            <a:pPr algn="just"/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datetime</a:t>
            </a:r>
          </a:p>
          <a:p>
            <a:pPr algn="just"/>
            <a:r>
              <a:rPr lang="en-IN" dirty="0">
                <a:solidFill>
                  <a:srgbClr val="DC143C"/>
                </a:solidFill>
                <a:latin typeface="Consolas" panose="020B0609020204030204" pitchFamily="49" charset="0"/>
              </a:rPr>
              <a:t>r</a:t>
            </a:r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andom</a:t>
            </a:r>
          </a:p>
          <a:p>
            <a:pPr algn="just"/>
            <a:r>
              <a:rPr lang="en-IN" dirty="0">
                <a:solidFill>
                  <a:srgbClr val="DC143C"/>
                </a:solidFill>
                <a:latin typeface="Consolas" panose="020B0609020204030204" pitchFamily="49" charset="0"/>
              </a:rPr>
              <a:t>m</a:t>
            </a:r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ath</a:t>
            </a:r>
            <a:endParaRPr lang="en-IN" dirty="0">
              <a:solidFill>
                <a:srgbClr val="DC143C"/>
              </a:solidFill>
              <a:latin typeface="Consolas" panose="020B0609020204030204" pitchFamily="49" charset="0"/>
            </a:endParaRPr>
          </a:p>
          <a:p>
            <a:pPr algn="just"/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9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98AC335-F147-D172-AF28-C21597E9BA8B}"/>
              </a:ext>
            </a:extLst>
          </p:cNvPr>
          <p:cNvSpPr txBox="1"/>
          <p:nvPr/>
        </p:nvSpPr>
        <p:spPr>
          <a:xfrm>
            <a:off x="340360" y="732189"/>
            <a:ext cx="55727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#Return factorial of a number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factorial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(3))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factorial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(5))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C59C6650-8DF7-3083-3523-F8A33A5424F5}"/>
              </a:ext>
            </a:extLst>
          </p:cNvPr>
          <p:cNvSpPr txBox="1"/>
          <p:nvPr/>
        </p:nvSpPr>
        <p:spPr>
          <a:xfrm>
            <a:off x="6345727" y="673185"/>
            <a:ext cx="51612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pow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(2, 3))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0EF82A8-376B-4281-AC12-36E21514EFF7}"/>
              </a:ext>
            </a:extLst>
          </p:cNvPr>
          <p:cNvSpPr txBox="1"/>
          <p:nvPr/>
        </p:nvSpPr>
        <p:spPr>
          <a:xfrm>
            <a:off x="340360" y="3712637"/>
            <a:ext cx="4617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sqrt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(9))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sqrt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(25))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249F855-BA53-65BA-7E36-FA96CA54F829}"/>
              </a:ext>
            </a:extLst>
          </p:cNvPr>
          <p:cNvSpPr txBox="1"/>
          <p:nvPr/>
        </p:nvSpPr>
        <p:spPr>
          <a:xfrm>
            <a:off x="6619241" y="3246192"/>
            <a:ext cx="55727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T= (1, 2, 3)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 = (3, 4, 5)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#Return the product of the elements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(T))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(L))</a:t>
            </a:r>
          </a:p>
        </p:txBody>
      </p:sp>
    </p:spTree>
    <p:extLst>
      <p:ext uri="{BB962C8B-B14F-4D97-AF65-F5344CB8AC3E}">
        <p14:creationId xmlns:p14="http://schemas.microsoft.com/office/powerpoint/2010/main" val="1696476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C4E6B9E-0E30-F055-A051-A947DD747627}"/>
              </a:ext>
            </a:extLst>
          </p:cNvPr>
          <p:cNvSpPr txBox="1"/>
          <p:nvPr/>
        </p:nvSpPr>
        <p:spPr>
          <a:xfrm>
            <a:off x="0" y="319929"/>
            <a:ext cx="46075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datetime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datetime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.datetime.now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AB91E08-3C91-E04A-D6D2-FCEAC90F36D1}"/>
              </a:ext>
            </a:extLst>
          </p:cNvPr>
          <p:cNvSpPr txBox="1"/>
          <p:nvPr/>
        </p:nvSpPr>
        <p:spPr>
          <a:xfrm>
            <a:off x="146595" y="2103120"/>
            <a:ext cx="77680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#returns a number between 3 and 9 (both included)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random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random.randint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(3, 9))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1DEC7F7-0D8C-82DF-32C7-4713394A3990}"/>
              </a:ext>
            </a:extLst>
          </p:cNvPr>
          <p:cNvSpPr txBox="1"/>
          <p:nvPr/>
        </p:nvSpPr>
        <p:spPr>
          <a:xfrm>
            <a:off x="146595" y="4408990"/>
            <a:ext cx="63093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statistics 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Calculate average values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statistics.mean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([1, 3, 5, 6]))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statistics.variance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([1, 3, 5, 6]))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statistics.stdev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([1, 3, 5, 6]))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F3A15A1-3AC2-E24E-C073-3DD8BA17A2FB}"/>
              </a:ext>
            </a:extLst>
          </p:cNvPr>
          <p:cNvSpPr txBox="1"/>
          <p:nvPr/>
        </p:nvSpPr>
        <p:spPr>
          <a:xfrm>
            <a:off x="8349785" y="5357796"/>
            <a:ext cx="3435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3.75</a:t>
            </a:r>
          </a:p>
          <a:p>
            <a:r>
              <a:rPr lang="en-IN" dirty="0">
                <a:solidFill>
                  <a:srgbClr val="FF0000"/>
                </a:solidFill>
              </a:rPr>
              <a:t>4.916666666666667</a:t>
            </a:r>
          </a:p>
          <a:p>
            <a:r>
              <a:rPr lang="en-IN" dirty="0">
                <a:solidFill>
                  <a:srgbClr val="FF0000"/>
                </a:solidFill>
              </a:rPr>
              <a:t>2.217355782608345</a:t>
            </a:r>
          </a:p>
        </p:txBody>
      </p:sp>
    </p:spTree>
    <p:extLst>
      <p:ext uri="{BB962C8B-B14F-4D97-AF65-F5344CB8AC3E}">
        <p14:creationId xmlns:p14="http://schemas.microsoft.com/office/powerpoint/2010/main" val="4286378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C4E6B9E-0E30-F055-A051-A947DD747627}"/>
              </a:ext>
            </a:extLst>
          </p:cNvPr>
          <p:cNvSpPr txBox="1"/>
          <p:nvPr/>
        </p:nvSpPr>
        <p:spPr>
          <a:xfrm>
            <a:off x="0" y="319929"/>
            <a:ext cx="4607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platform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platform.system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AB91E08-3C91-E04A-D6D2-FCEAC90F36D1}"/>
              </a:ext>
            </a:extLst>
          </p:cNvPr>
          <p:cNvSpPr txBox="1"/>
          <p:nvPr/>
        </p:nvSpPr>
        <p:spPr>
          <a:xfrm>
            <a:off x="146595" y="2103120"/>
            <a:ext cx="77680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function list all the function names (or variable names) in a module.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math</a:t>
            </a:r>
          </a:p>
          <a:p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(math)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F3A15A1-3AC2-E24E-C073-3DD8BA17A2FB}"/>
              </a:ext>
            </a:extLst>
          </p:cNvPr>
          <p:cNvSpPr txBox="1"/>
          <p:nvPr/>
        </p:nvSpPr>
        <p:spPr>
          <a:xfrm>
            <a:off x="8349785" y="5357796"/>
            <a:ext cx="3435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3.75</a:t>
            </a:r>
          </a:p>
          <a:p>
            <a:r>
              <a:rPr lang="en-IN" dirty="0">
                <a:solidFill>
                  <a:srgbClr val="FF0000"/>
                </a:solidFill>
              </a:rPr>
              <a:t>4.916666666666667</a:t>
            </a:r>
          </a:p>
          <a:p>
            <a:r>
              <a:rPr lang="en-IN" dirty="0">
                <a:solidFill>
                  <a:srgbClr val="FF0000"/>
                </a:solidFill>
              </a:rPr>
              <a:t>2.217355782608345</a:t>
            </a:r>
          </a:p>
        </p:txBody>
      </p:sp>
    </p:spTree>
    <p:extLst>
      <p:ext uri="{BB962C8B-B14F-4D97-AF65-F5344CB8AC3E}">
        <p14:creationId xmlns:p14="http://schemas.microsoft.com/office/powerpoint/2010/main" val="1521992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Create a Module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914400"/>
            <a:ext cx="11416937" cy="540802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create a module just save the code you want in a file with the file extension .</a:t>
            </a:r>
            <a:r>
              <a:rPr lang="en-US" dirty="0" err="1"/>
              <a:t>py</a:t>
            </a:r>
            <a:endParaRPr lang="en-US" dirty="0"/>
          </a:p>
          <a:p>
            <a:pPr algn="just">
              <a:buNone/>
            </a:pPr>
            <a:r>
              <a:rPr lang="en-US" dirty="0"/>
              <a:t>create a module  and save it as </a:t>
            </a:r>
            <a:r>
              <a:rPr lang="en-US" dirty="0">
                <a:solidFill>
                  <a:schemeClr val="accent6"/>
                </a:solidFill>
              </a:rPr>
              <a:t>arithmetic.py.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03B786B-6AB8-EF33-8560-100790CFCE9A}"/>
              </a:ext>
            </a:extLst>
          </p:cNvPr>
          <p:cNvSpPr txBox="1"/>
          <p:nvPr/>
        </p:nvSpPr>
        <p:spPr>
          <a:xfrm>
            <a:off x="1021080" y="3080157"/>
            <a:ext cx="35204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2200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a,b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: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c=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a+b</a:t>
            </a:r>
            <a:endParaRPr lang="en-IN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c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2200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a,b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c=a-b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c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importing modules in Python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914400"/>
            <a:ext cx="11416937" cy="5408024"/>
          </a:xfrm>
        </p:spPr>
        <p:txBody>
          <a:bodyPr>
            <a:normAutofit/>
          </a:bodyPr>
          <a:lstStyle/>
          <a:p>
            <a:r>
              <a:rPr lang="en-US" dirty="0"/>
              <a:t>We can import a module using </a:t>
            </a:r>
            <a:r>
              <a:rPr lang="en-US" dirty="0">
                <a:solidFill>
                  <a:srgbClr val="7030A0"/>
                </a:solidFill>
              </a:rPr>
              <a:t>import</a:t>
            </a:r>
            <a:r>
              <a:rPr lang="en-US" dirty="0"/>
              <a:t> statement and access the definitions inside it using the </a:t>
            </a:r>
            <a:r>
              <a:rPr lang="en-US" dirty="0">
                <a:solidFill>
                  <a:srgbClr val="7030A0"/>
                </a:solidFill>
              </a:rPr>
              <a:t>dot</a:t>
            </a:r>
            <a:r>
              <a:rPr lang="en-US" dirty="0"/>
              <a:t> operator.</a:t>
            </a:r>
          </a:p>
          <a:p>
            <a:pPr>
              <a:buNone/>
            </a:pPr>
            <a:r>
              <a:rPr lang="fr-FR" dirty="0" err="1">
                <a:solidFill>
                  <a:srgbClr val="FF0000"/>
                </a:solidFill>
              </a:rPr>
              <a:t>syntax</a:t>
            </a:r>
            <a:r>
              <a:rPr lang="fr-FR" dirty="0">
                <a:solidFill>
                  <a:srgbClr val="FF0000"/>
                </a:solidFill>
              </a:rPr>
              <a:t> −</a:t>
            </a:r>
          </a:p>
          <a:p>
            <a:pPr>
              <a:buNone/>
            </a:pPr>
            <a:r>
              <a:rPr lang="fr-FR" dirty="0"/>
              <a:t>import module1[, module2[,... </a:t>
            </a:r>
            <a:r>
              <a:rPr lang="fr-FR" dirty="0" err="1"/>
              <a:t>moduleN</a:t>
            </a:r>
            <a:r>
              <a:rPr lang="fr-FR" dirty="0"/>
              <a:t>]</a:t>
            </a:r>
          </a:p>
          <a:p>
            <a:pPr>
              <a:buNone/>
            </a:pPr>
            <a:r>
              <a:rPr lang="fr-FR" dirty="0">
                <a:solidFill>
                  <a:srgbClr val="FF0000"/>
                </a:solidFill>
              </a:rPr>
              <a:t>Ex: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6DEF629-EA35-023D-1454-A6DDEDFEA87A}"/>
              </a:ext>
            </a:extLst>
          </p:cNvPr>
          <p:cNvSpPr txBox="1"/>
          <p:nvPr/>
        </p:nvSpPr>
        <p:spPr>
          <a:xfrm>
            <a:off x="1089297" y="3558904"/>
            <a:ext cx="4922520" cy="2572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arithmetic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d=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arithmetic.add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(5,6)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s=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arithmetic.sub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(5,6)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addition",d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sub",s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/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import with renaming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914400"/>
            <a:ext cx="11416937" cy="5408024"/>
          </a:xfrm>
        </p:spPr>
        <p:txBody>
          <a:bodyPr>
            <a:normAutofit/>
          </a:bodyPr>
          <a:lstStyle/>
          <a:p>
            <a:r>
              <a:rPr lang="en-US" dirty="0"/>
              <a:t>We can import a module by renaming using </a:t>
            </a:r>
            <a:r>
              <a:rPr lang="en-US" i="1" dirty="0">
                <a:solidFill>
                  <a:srgbClr val="FF0000"/>
                </a:solidFill>
              </a:rPr>
              <a:t>as</a:t>
            </a:r>
            <a:r>
              <a:rPr lang="en-US" dirty="0"/>
              <a:t> keyword.</a:t>
            </a:r>
          </a:p>
          <a:p>
            <a:pPr>
              <a:buNone/>
            </a:pPr>
            <a:r>
              <a:rPr lang="fr-FR" dirty="0" err="1">
                <a:solidFill>
                  <a:srgbClr val="FF0000"/>
                </a:solidFill>
              </a:rPr>
              <a:t>syntax</a:t>
            </a:r>
            <a:r>
              <a:rPr lang="fr-FR" dirty="0">
                <a:solidFill>
                  <a:srgbClr val="FF0000"/>
                </a:solidFill>
              </a:rPr>
              <a:t> −</a:t>
            </a:r>
          </a:p>
          <a:p>
            <a:pPr>
              <a:buNone/>
            </a:pPr>
            <a:r>
              <a:rPr lang="fr-FR" dirty="0"/>
              <a:t>import module as </a:t>
            </a:r>
            <a:r>
              <a:rPr lang="fr-FR" dirty="0" err="1"/>
              <a:t>newname</a:t>
            </a:r>
            <a:endParaRPr lang="fr-FR" dirty="0"/>
          </a:p>
          <a:p>
            <a:pPr>
              <a:buNone/>
            </a:pPr>
            <a:r>
              <a:rPr lang="fr-FR" dirty="0">
                <a:solidFill>
                  <a:srgbClr val="FF0000"/>
                </a:solidFill>
              </a:rPr>
              <a:t>Ex: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6A3D320-886A-C0E7-0DAC-72142B529A94}"/>
              </a:ext>
            </a:extLst>
          </p:cNvPr>
          <p:cNvSpPr txBox="1"/>
          <p:nvPr/>
        </p:nvSpPr>
        <p:spPr>
          <a:xfrm>
            <a:off x="2072640" y="3429000"/>
            <a:ext cx="78536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arithmetic as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a=int(input())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b=int(input())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d=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ar.add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a,b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if(d%2==0):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print("Result of addition is a even number")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print("Result of addition is a odd number")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Import From Module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914400"/>
            <a:ext cx="11416937" cy="5408024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choose to import only parts from a module, by using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keyword.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94455A7-1856-DEFB-340C-07C8877652A1}"/>
              </a:ext>
            </a:extLst>
          </p:cNvPr>
          <p:cNvSpPr txBox="1"/>
          <p:nvPr/>
        </p:nvSpPr>
        <p:spPr>
          <a:xfrm>
            <a:off x="5928359" y="3018247"/>
            <a:ext cx="45540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arithmetic </a:t>
            </a:r>
            <a:r>
              <a:rPr lang="en-IN" sz="22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add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d=add(7,6)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addition",d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2723B39-15C3-AEE5-F089-9FA6D23D76AF}"/>
              </a:ext>
            </a:extLst>
          </p:cNvPr>
          <p:cNvSpPr txBox="1"/>
          <p:nvPr/>
        </p:nvSpPr>
        <p:spPr>
          <a:xfrm>
            <a:off x="5623560" y="2476156"/>
            <a:ext cx="3520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u="sng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addonly.py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40F7C40-EF1B-1C66-F6DF-A8873515AD05}"/>
              </a:ext>
            </a:extLst>
          </p:cNvPr>
          <p:cNvSpPr txBox="1"/>
          <p:nvPr/>
        </p:nvSpPr>
        <p:spPr>
          <a:xfrm>
            <a:off x="1021080" y="3080157"/>
            <a:ext cx="35204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2200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a,b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: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c=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a+b</a:t>
            </a:r>
            <a:endParaRPr lang="en-IN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c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2200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a,b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c=a-b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D2F258E-3C1F-2EED-3547-CA72B4E44A48}"/>
              </a:ext>
            </a:extLst>
          </p:cNvPr>
          <p:cNvSpPr txBox="1"/>
          <p:nvPr/>
        </p:nvSpPr>
        <p:spPr>
          <a:xfrm>
            <a:off x="990600" y="2604040"/>
            <a:ext cx="3520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u="sng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arithmetic.py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Import From Module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914400"/>
            <a:ext cx="11416937" cy="5408024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choose to import all parts from a module, by </a:t>
            </a:r>
            <a:r>
              <a:rPr lang="en-US" alt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specifying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94455A7-1856-DEFB-340C-07C8877652A1}"/>
              </a:ext>
            </a:extLst>
          </p:cNvPr>
          <p:cNvSpPr txBox="1"/>
          <p:nvPr/>
        </p:nvSpPr>
        <p:spPr>
          <a:xfrm>
            <a:off x="5928359" y="3018247"/>
            <a:ext cx="45540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arithmetic </a:t>
            </a:r>
            <a:r>
              <a:rPr lang="en-IN" sz="22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*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d=add(7,6)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addition",d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2723B39-15C3-AEE5-F089-9FA6D23D76AF}"/>
              </a:ext>
            </a:extLst>
          </p:cNvPr>
          <p:cNvSpPr txBox="1"/>
          <p:nvPr/>
        </p:nvSpPr>
        <p:spPr>
          <a:xfrm>
            <a:off x="5623560" y="2476156"/>
            <a:ext cx="3520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u="sng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sample.py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40F7C40-EF1B-1C66-F6DF-A8873515AD05}"/>
              </a:ext>
            </a:extLst>
          </p:cNvPr>
          <p:cNvSpPr txBox="1"/>
          <p:nvPr/>
        </p:nvSpPr>
        <p:spPr>
          <a:xfrm>
            <a:off x="1021080" y="3080157"/>
            <a:ext cx="35204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2200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a,b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: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c=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a+b</a:t>
            </a:r>
            <a:endParaRPr lang="en-IN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c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2200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a,b</a:t>
            </a:r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c=a-b</a:t>
            </a:r>
          </a:p>
          <a:p>
            <a:r>
              <a:rPr lang="en-IN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D2F258E-3C1F-2EED-3547-CA72B4E44A48}"/>
              </a:ext>
            </a:extLst>
          </p:cNvPr>
          <p:cNvSpPr txBox="1"/>
          <p:nvPr/>
        </p:nvSpPr>
        <p:spPr>
          <a:xfrm>
            <a:off x="990600" y="2604040"/>
            <a:ext cx="3520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u="sng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arithmetic.py</a:t>
            </a:r>
          </a:p>
        </p:txBody>
      </p:sp>
    </p:spTree>
    <p:extLst>
      <p:ext uri="{BB962C8B-B14F-4D97-AF65-F5344CB8AC3E}">
        <p14:creationId xmlns:p14="http://schemas.microsoft.com/office/powerpoint/2010/main" val="216789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E94E197-5D88-7799-FEA1-80D4E87C0F20}"/>
              </a:ext>
            </a:extLst>
          </p:cNvPr>
          <p:cNvSpPr txBox="1"/>
          <p:nvPr/>
        </p:nvSpPr>
        <p:spPr>
          <a:xfrm>
            <a:off x="370840" y="1866837"/>
            <a:ext cx="45161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C00000"/>
                </a:solidFill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prime.py</a:t>
            </a:r>
          </a:p>
          <a:p>
            <a:endParaRPr lang="en-IN" sz="2400" b="1" u="sng" dirty="0">
              <a:solidFill>
                <a:srgbClr val="C00000"/>
              </a:solidFill>
              <a:latin typeface="+mj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is_prime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 2: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return False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i in range(2,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 i == 0: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return False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True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C8CA26E-CC78-575A-5A76-38E6E81E2ED3}"/>
              </a:ext>
            </a:extLst>
          </p:cNvPr>
          <p:cNvSpPr txBox="1"/>
          <p:nvPr/>
        </p:nvSpPr>
        <p:spPr>
          <a:xfrm>
            <a:off x="6918958" y="1838295"/>
            <a:ext cx="469392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calculate_prime.py:</a:t>
            </a:r>
            <a:endParaRPr lang="en-IN" sz="2000" b="1" dirty="0">
              <a:solidFill>
                <a:srgbClr val="C0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prime as p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numbers=[2,4,7,10,13]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final=[]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numbers: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result=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p.is_prime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result==True: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final.append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(i)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(final)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E9F9F12-9180-D569-B4C5-7C07276852EA}"/>
              </a:ext>
            </a:extLst>
          </p:cNvPr>
          <p:cNvSpPr txBox="1"/>
          <p:nvPr/>
        </p:nvSpPr>
        <p:spPr>
          <a:xfrm>
            <a:off x="228600" y="0"/>
            <a:ext cx="10723880" cy="96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module named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prime.py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one function prime (n) with number as parameter and return that number is prime or not. Create a separate Python program (e.g., calculate_prime.py) to use the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prime.py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module to print the prime numbers in the given list.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EAE8E9F-9BBD-FBCD-6423-DFB0D35C2642}"/>
              </a:ext>
            </a:extLst>
          </p:cNvPr>
          <p:cNvSpPr txBox="1"/>
          <p:nvPr/>
        </p:nvSpPr>
        <p:spPr>
          <a:xfrm>
            <a:off x="7957819" y="5661293"/>
            <a:ext cx="2616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O/P: [2,7,13]</a:t>
            </a:r>
          </a:p>
        </p:txBody>
      </p:sp>
    </p:spTree>
    <p:extLst>
      <p:ext uri="{BB962C8B-B14F-4D97-AF65-F5344CB8AC3E}">
        <p14:creationId xmlns:p14="http://schemas.microsoft.com/office/powerpoint/2010/main" val="34148142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E94E197-5D88-7799-FEA1-80D4E87C0F20}"/>
              </a:ext>
            </a:extLst>
          </p:cNvPr>
          <p:cNvSpPr txBox="1"/>
          <p:nvPr/>
        </p:nvSpPr>
        <p:spPr>
          <a:xfrm>
            <a:off x="320040" y="1438479"/>
            <a:ext cx="45161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C00000"/>
                </a:solidFill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evenodd.py</a:t>
            </a:r>
          </a:p>
          <a:p>
            <a:endParaRPr lang="en-IN" sz="2400" b="1" u="sng" dirty="0">
              <a:solidFill>
                <a:srgbClr val="C00000"/>
              </a:solidFill>
              <a:latin typeface="+mj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evenodd(n):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n % 2 == 0: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return "Even"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else: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return "Odd"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C8CA26E-CC78-575A-5A76-38E6E81E2ED3}"/>
              </a:ext>
            </a:extLst>
          </p:cNvPr>
          <p:cNvSpPr txBox="1"/>
          <p:nvPr/>
        </p:nvSpPr>
        <p:spPr>
          <a:xfrm>
            <a:off x="5171440" y="1392842"/>
            <a:ext cx="67868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guess.py:</a:t>
            </a:r>
            <a:endParaRPr lang="en-IN" sz="2000" b="1" dirty="0">
              <a:solidFill>
                <a:srgbClr val="C0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random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evenodd as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eo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random_number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random.randint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(1, 100)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eo.evenodd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random_number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f"Random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Number: {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random_number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}")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f"The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number is {result}.")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E9F9F12-9180-D569-B4C5-7C07276852EA}"/>
              </a:ext>
            </a:extLst>
          </p:cNvPr>
          <p:cNvSpPr txBox="1"/>
          <p:nvPr/>
        </p:nvSpPr>
        <p:spPr>
          <a:xfrm>
            <a:off x="228600" y="0"/>
            <a:ext cx="10723880" cy="96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module named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evenodd.py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one function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evenodd (n)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number as parameter and return that number is even or odd. Create a separate Python program (e.g., guess.py) to use the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evenodd.py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module to guess the randomly generated number between 1 to 100 is even or odd.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EAE8E9F-9BBD-FBCD-6423-DFB0D35C2642}"/>
              </a:ext>
            </a:extLst>
          </p:cNvPr>
          <p:cNvSpPr txBox="1"/>
          <p:nvPr/>
        </p:nvSpPr>
        <p:spPr>
          <a:xfrm>
            <a:off x="4968240" y="5661293"/>
            <a:ext cx="56057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O/P: 	Random Number: 75</a:t>
            </a:r>
          </a:p>
          <a:p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The number is Odd.</a:t>
            </a:r>
            <a:endParaRPr lang="en-IN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602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C8CA26E-CC78-575A-5A76-38E6E81E2ED3}"/>
              </a:ext>
            </a:extLst>
          </p:cNvPr>
          <p:cNvSpPr txBox="1"/>
          <p:nvPr/>
        </p:nvSpPr>
        <p:spPr>
          <a:xfrm>
            <a:off x="863600" y="970246"/>
            <a:ext cx="8727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random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math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fact(n):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n== 0 or n == 1: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return 1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else: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return n * fact(n - 1)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random_number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random.randint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(1, 20)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print("Random Number:",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random_number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factorial_result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fact(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random_number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f"Factorial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of {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random_number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}: {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factorial_result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}")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E9F9F12-9180-D569-B4C5-7C07276852EA}"/>
              </a:ext>
            </a:extLst>
          </p:cNvPr>
          <p:cNvSpPr txBox="1"/>
          <p:nvPr/>
        </p:nvSpPr>
        <p:spPr>
          <a:xfrm>
            <a:off x="228600" y="195588"/>
            <a:ext cx="10723880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program that generates a random number between 1 and 20 and then prints its factorial.</a:t>
            </a:r>
            <a:endParaRPr lang="en-IN" sz="2000" kern="1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EAE8E9F-9BBD-FBCD-6423-DFB0D35C2642}"/>
              </a:ext>
            </a:extLst>
          </p:cNvPr>
          <p:cNvSpPr txBox="1"/>
          <p:nvPr/>
        </p:nvSpPr>
        <p:spPr>
          <a:xfrm>
            <a:off x="4968240" y="5661293"/>
            <a:ext cx="56057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O/P: 	Random Number: 4</a:t>
            </a:r>
          </a:p>
          <a:p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Factorial of 4: 24.</a:t>
            </a:r>
            <a:endParaRPr lang="en-IN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31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5088</TotalTime>
  <Words>2169</Words>
  <Application>Microsoft Office PowerPoint</Application>
  <PresentationFormat>Widescreen</PresentationFormat>
  <Paragraphs>467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6" baseType="lpstr">
      <vt:lpstr>Arial</vt:lpstr>
      <vt:lpstr>Calibri</vt:lpstr>
      <vt:lpstr>Calibri Light</vt:lpstr>
      <vt:lpstr>Cascadia Code</vt:lpstr>
      <vt:lpstr>Consolas</vt:lpstr>
      <vt:lpstr>Courier New</vt:lpstr>
      <vt:lpstr>Libre Franklin</vt:lpstr>
      <vt:lpstr>Nunito</vt:lpstr>
      <vt:lpstr>Roboto Condensed</vt:lpstr>
      <vt:lpstr>Rubik</vt:lpstr>
      <vt:lpstr>Segoe UI</vt:lpstr>
      <vt:lpstr>Söhne</vt:lpstr>
      <vt:lpstr>Times New Roman</vt:lpstr>
      <vt:lpstr>Verdana</vt:lpstr>
      <vt:lpstr>Wingdings</vt:lpstr>
      <vt:lpstr>Office Theme</vt:lpstr>
      <vt:lpstr>Functions</vt:lpstr>
      <vt:lpstr>PowerPoint Presentation</vt:lpstr>
      <vt:lpstr>PowerPoint Presentation</vt:lpstr>
      <vt:lpstr>PowerPoint Presentation</vt:lpstr>
      <vt:lpstr>Function Example</vt:lpstr>
      <vt:lpstr> How to call a function in python? </vt:lpstr>
      <vt:lpstr>PowerPoint Presentation</vt:lpstr>
      <vt:lpstr>PowerPoint Presentation</vt:lpstr>
      <vt:lpstr> The return statement </vt:lpstr>
      <vt:lpstr>PowerPoint Presentation</vt:lpstr>
      <vt:lpstr>Returning multiple values form a function</vt:lpstr>
      <vt:lpstr>Returning multiple values form a function</vt:lpstr>
      <vt:lpstr> Scope of variables </vt:lpstr>
      <vt:lpstr>formal and actual parameters</vt:lpstr>
      <vt:lpstr>Actual Parameters  or Arguments</vt:lpstr>
      <vt:lpstr> Positional Arguments </vt:lpstr>
      <vt:lpstr> Keyword Arguments </vt:lpstr>
      <vt:lpstr> Default Arguments </vt:lpstr>
      <vt:lpstr> Variable-length arguments </vt:lpstr>
      <vt:lpstr>Sum of list numbers</vt:lpstr>
      <vt:lpstr>#Even elements from list</vt:lpstr>
      <vt:lpstr>Write a Python function that takes a list and returns a new list with distinct elements from the first list.</vt:lpstr>
      <vt:lpstr> Python nested functions  </vt:lpstr>
      <vt:lpstr>Recursion </vt:lpstr>
      <vt:lpstr>Example 1: Finding the factorial of a number</vt:lpstr>
      <vt:lpstr>Example 3: Finding the power of a number</vt:lpstr>
      <vt:lpstr>Anonymous Functions</vt:lpstr>
      <vt:lpstr> Modules  </vt:lpstr>
      <vt:lpstr>  built-in modules </vt:lpstr>
      <vt:lpstr>PowerPoint Presentation</vt:lpstr>
      <vt:lpstr>PowerPoint Presentation</vt:lpstr>
      <vt:lpstr>PowerPoint Presentation</vt:lpstr>
      <vt:lpstr> Create a Module </vt:lpstr>
      <vt:lpstr> importing modules in Python </vt:lpstr>
      <vt:lpstr> import with renaming </vt:lpstr>
      <vt:lpstr>Import From Module</vt:lpstr>
      <vt:lpstr>Import From Module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Santhoshini Banda</dc:creator>
  <cp:lastModifiedBy>Chakravarthy T S</cp:lastModifiedBy>
  <cp:revision>889</cp:revision>
  <dcterms:created xsi:type="dcterms:W3CDTF">2017-07-30T13:30:39Z</dcterms:created>
  <dcterms:modified xsi:type="dcterms:W3CDTF">2024-09-27T05:24:56Z</dcterms:modified>
</cp:coreProperties>
</file>