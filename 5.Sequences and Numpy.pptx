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32" r:id="rId1"/>
  </p:sldMasterIdLst>
  <p:sldIdLst>
    <p:sldId id="256" r:id="rId2"/>
    <p:sldId id="375" r:id="rId3"/>
    <p:sldId id="368" r:id="rId4"/>
    <p:sldId id="370" r:id="rId5"/>
    <p:sldId id="371" r:id="rId6"/>
    <p:sldId id="372" r:id="rId7"/>
    <p:sldId id="449" r:id="rId8"/>
    <p:sldId id="450" r:id="rId9"/>
    <p:sldId id="451" r:id="rId10"/>
    <p:sldId id="444" r:id="rId11"/>
    <p:sldId id="445" r:id="rId12"/>
    <p:sldId id="446" r:id="rId13"/>
    <p:sldId id="448" r:id="rId14"/>
    <p:sldId id="377" r:id="rId15"/>
    <p:sldId id="381" r:id="rId16"/>
    <p:sldId id="382" r:id="rId17"/>
    <p:sldId id="454" r:id="rId18"/>
    <p:sldId id="398" r:id="rId19"/>
    <p:sldId id="447" r:id="rId20"/>
    <p:sldId id="400" r:id="rId21"/>
    <p:sldId id="452" r:id="rId22"/>
    <p:sldId id="384" r:id="rId23"/>
    <p:sldId id="386" r:id="rId24"/>
    <p:sldId id="387" r:id="rId25"/>
    <p:sldId id="388" r:id="rId26"/>
    <p:sldId id="389" r:id="rId27"/>
    <p:sldId id="390" r:id="rId28"/>
    <p:sldId id="391" r:id="rId29"/>
    <p:sldId id="392" r:id="rId30"/>
    <p:sldId id="401" r:id="rId31"/>
    <p:sldId id="402" r:id="rId32"/>
    <p:sldId id="455" r:id="rId33"/>
    <p:sldId id="406" r:id="rId34"/>
    <p:sldId id="410" r:id="rId35"/>
    <p:sldId id="415" r:id="rId36"/>
    <p:sldId id="419" r:id="rId37"/>
    <p:sldId id="420" r:id="rId38"/>
    <p:sldId id="421" r:id="rId39"/>
    <p:sldId id="422" r:id="rId40"/>
    <p:sldId id="428" r:id="rId41"/>
    <p:sldId id="424" r:id="rId42"/>
    <p:sldId id="427" r:id="rId43"/>
    <p:sldId id="429" r:id="rId44"/>
    <p:sldId id="456" r:id="rId45"/>
    <p:sldId id="432" r:id="rId46"/>
    <p:sldId id="433" r:id="rId47"/>
    <p:sldId id="435" r:id="rId48"/>
    <p:sldId id="437" r:id="rId49"/>
    <p:sldId id="457" r:id="rId50"/>
    <p:sldId id="438" r:id="rId51"/>
    <p:sldId id="480" r:id="rId52"/>
    <p:sldId id="440" r:id="rId53"/>
    <p:sldId id="478" r:id="rId54"/>
    <p:sldId id="479" r:id="rId55"/>
    <p:sldId id="477" r:id="rId56"/>
    <p:sldId id="458" r:id="rId57"/>
    <p:sldId id="468" r:id="rId58"/>
    <p:sldId id="469" r:id="rId59"/>
    <p:sldId id="459" r:id="rId60"/>
    <p:sldId id="470" r:id="rId61"/>
    <p:sldId id="460" r:id="rId62"/>
    <p:sldId id="461" r:id="rId63"/>
    <p:sldId id="462" r:id="rId64"/>
    <p:sldId id="463" r:id="rId65"/>
    <p:sldId id="464" r:id="rId66"/>
    <p:sldId id="471" r:id="rId67"/>
    <p:sldId id="465" r:id="rId68"/>
    <p:sldId id="466" r:id="rId69"/>
    <p:sldId id="472" r:id="rId70"/>
    <p:sldId id="467" r:id="rId71"/>
    <p:sldId id="473" r:id="rId72"/>
    <p:sldId id="476" r:id="rId73"/>
    <p:sldId id="481" r:id="rId74"/>
    <p:sldId id="482" r:id="rId75"/>
    <p:sldId id="474" r:id="rId76"/>
    <p:sldId id="475" r:id="rId7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981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893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155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656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095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804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27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889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970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003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143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132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88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programiz.com/python-programming/variables-datatype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gramiz.com/python-programming/for-loop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gramiz.com/python-programming/stri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resource.com/python-exercises/dictionary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10251" y="0"/>
            <a:ext cx="4754880" cy="4754880"/>
          </a:xfrm>
        </p:spPr>
        <p:txBody>
          <a:bodyPr>
            <a:normAutofit/>
          </a:bodyPr>
          <a:lstStyle/>
          <a:p>
            <a:pPr algn="l"/>
            <a:r>
              <a:rPr lang="en-US" sz="5400" i="1" dirty="0">
                <a:solidFill>
                  <a:srgbClr val="FF0000"/>
                </a:solidFill>
              </a:rPr>
              <a:t>Python  Programming Language</a:t>
            </a:r>
            <a:br>
              <a:rPr lang="en-US" sz="3600" dirty="0"/>
            </a:br>
            <a:r>
              <a:rPr lang="en-US" sz="3600" dirty="0"/>
              <a:t> 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22530" name="AutoShape 2" descr="Image result for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2532" name="Picture 4" descr="C:\Users\Dell\Downloads\lozingle_10032014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6821805" cy="68579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37227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162594"/>
            <a:ext cx="10515600" cy="5014369"/>
          </a:xfrm>
        </p:spPr>
        <p:txBody>
          <a:bodyPr>
            <a:normAutofit/>
          </a:bodyPr>
          <a:lstStyle/>
          <a:p>
            <a:r>
              <a:rPr lang="en-US" sz="3200" dirty="0"/>
              <a:t>Data structures are a way of organizing and storing data so that they can be accessed and worked with efficiently.</a:t>
            </a:r>
          </a:p>
          <a:p>
            <a:pPr>
              <a:buNone/>
            </a:pPr>
            <a:endParaRPr lang="en-US" sz="3200" dirty="0"/>
          </a:p>
        </p:txBody>
      </p:sp>
      <p:sp>
        <p:nvSpPr>
          <p:cNvPr id="1026" name="AutoShape 2" descr="C:\Users\Dell\Downloads\ISL2\Template_2_oxrskq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C:\Users\Dell\Downloads\ISL2\Template_2_oxrskq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C:\Users\Dell\Downloads\ISL2\Template_2_oxrskq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2" name="AutoShape 8" descr="C:\Users\Dell\Downloads\ISL2\Template_2_oxrskq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4" name="Picture 10" descr="http://res.cloudinary.com/dyd911kmh/image/upload/c_scale,f_auto,q_auto:best,w_700/v1512740202/Template_2_oxrskq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5874" y="2320063"/>
            <a:ext cx="11669485" cy="4150406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49BF90-0201-32D6-E86B-430F351FA4C7}"/>
              </a:ext>
            </a:extLst>
          </p:cNvPr>
          <p:cNvSpPr txBox="1"/>
          <p:nvPr/>
        </p:nvSpPr>
        <p:spPr>
          <a:xfrm>
            <a:off x="1457960" y="292128"/>
            <a:ext cx="6309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Data structures </a:t>
            </a:r>
            <a:endParaRPr lang="en-IN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2800" dirty="0">
                <a:hlinkClick r:id="rId2"/>
              </a:rPr>
              <a:t>Data Types in Python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162594"/>
            <a:ext cx="10515600" cy="5014369"/>
          </a:xfrm>
        </p:spPr>
        <p:txBody>
          <a:bodyPr>
            <a:normAutofit/>
          </a:bodyPr>
          <a:lstStyle/>
          <a:p>
            <a:r>
              <a:rPr lang="en-US" sz="3200" dirty="0">
                <a:hlinkClick r:id="rId2"/>
              </a:rPr>
              <a:t>Numbers</a:t>
            </a:r>
            <a:endParaRPr lang="en-US" sz="3200" dirty="0"/>
          </a:p>
          <a:p>
            <a:r>
              <a:rPr lang="en-US" sz="3200" dirty="0"/>
              <a:t>Booleans </a:t>
            </a:r>
          </a:p>
          <a:p>
            <a:r>
              <a:rPr lang="en-US" sz="3200" dirty="0">
                <a:hlinkClick r:id="rId2"/>
              </a:rPr>
              <a:t>Strings</a:t>
            </a:r>
            <a:endParaRPr lang="en-US" sz="3200" dirty="0"/>
          </a:p>
          <a:p>
            <a:r>
              <a:rPr lang="en-US" sz="3200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List</a:t>
            </a:r>
            <a:endParaRPr lang="en-US" sz="3200" dirty="0">
              <a:solidFill>
                <a:srgbClr val="FF0000"/>
              </a:solidFill>
            </a:endParaRPr>
          </a:p>
          <a:p>
            <a:r>
              <a:rPr lang="en-US" sz="3200" dirty="0" err="1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Tuple</a:t>
            </a:r>
            <a:endParaRPr lang="en-US" sz="3200" dirty="0">
              <a:solidFill>
                <a:srgbClr val="FF0000"/>
              </a:solidFill>
            </a:endParaRPr>
          </a:p>
          <a:p>
            <a:r>
              <a:rPr lang="en-US" sz="3200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Set</a:t>
            </a:r>
            <a:endParaRPr lang="en-US" sz="3200" dirty="0">
              <a:solidFill>
                <a:srgbClr val="FF0000"/>
              </a:solidFill>
            </a:endParaRPr>
          </a:p>
          <a:p>
            <a:r>
              <a:rPr lang="en-US" sz="3200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Dictionary</a:t>
            </a:r>
            <a:endParaRPr lang="en-US" sz="3200" dirty="0">
              <a:solidFill>
                <a:srgbClr val="FF0000"/>
              </a:solidFill>
            </a:endParaRPr>
          </a:p>
          <a:p>
            <a:pPr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List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199" y="1162594"/>
            <a:ext cx="11166567" cy="5159829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Lists in Python are used to store collection of heterogeneous items.</a:t>
            </a:r>
          </a:p>
          <a:p>
            <a:pPr algn="just">
              <a:spcBef>
                <a:spcPts val="0"/>
              </a:spcBef>
            </a:pPr>
            <a:r>
              <a:rPr lang="en-US" sz="2400" b="0" i="0" dirty="0">
                <a:solidFill>
                  <a:srgbClr val="000000"/>
                </a:solidFill>
                <a:effectLst/>
              </a:rPr>
              <a:t>Lists are used to store multiple items in a single variable.</a:t>
            </a:r>
            <a:endParaRPr lang="en-US" sz="24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List items are ordered, changeable, and allow duplicate values.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List items are indexed, the first item has index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</a:rPr>
              <a:t>[0]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, the second item has index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</a:rPr>
              <a:t>[1]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etc.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just">
              <a:buNone/>
            </a:pPr>
            <a:endParaRPr lang="en-US" dirty="0">
              <a:solidFill>
                <a:srgbClr val="FF0000"/>
              </a:solidFill>
            </a:endParaRPr>
          </a:p>
          <a:p>
            <a:pPr algn="just">
              <a:buNone/>
            </a:pPr>
            <a:r>
              <a:rPr lang="en-US" dirty="0">
                <a:solidFill>
                  <a:srgbClr val="FF0000"/>
                </a:solidFill>
              </a:rPr>
              <a:t>Ex:</a:t>
            </a:r>
          </a:p>
          <a:p>
            <a:pPr algn="just"/>
            <a:r>
              <a:rPr lang="en-US" dirty="0"/>
              <a:t>list1 = ['physics', 'chemistry', 1997, 2000];</a:t>
            </a:r>
          </a:p>
          <a:p>
            <a:pPr algn="just"/>
            <a:r>
              <a:rPr lang="en-US" dirty="0"/>
              <a:t> list2 = [1, 2, 3, 4, 5 ];</a:t>
            </a: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br>
              <a:rPr lang="en-US" sz="2800" b="1" dirty="0">
                <a:solidFill>
                  <a:srgbClr val="FF0000"/>
                </a:solidFill>
              </a:rPr>
            </a:br>
            <a:r>
              <a:rPr lang="en-US" sz="2800" b="1" dirty="0">
                <a:solidFill>
                  <a:srgbClr val="FF0000"/>
                </a:solidFill>
              </a:rPr>
              <a:t>How to create a list?</a:t>
            </a:r>
            <a:br>
              <a:rPr lang="en-US" sz="2800" b="1" dirty="0">
                <a:solidFill>
                  <a:srgbClr val="FF0000"/>
                </a:solidFill>
              </a:rPr>
            </a:b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199" y="1162594"/>
            <a:ext cx="11166567" cy="5159829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In Python programming, a list is created by placing all the items (elements) inside a square bracket [ ], separated by commas.</a:t>
            </a:r>
          </a:p>
          <a:p>
            <a:pPr algn="just"/>
            <a:r>
              <a:rPr lang="en-US" dirty="0"/>
              <a:t>It can have any number of items and they may be of different types (integer, float, string etc.).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list </a:t>
            </a:r>
            <a:r>
              <a:rPr lang="en-US" dirty="0" err="1"/>
              <a:t>my_list</a:t>
            </a:r>
            <a:r>
              <a:rPr lang="en-US" dirty="0"/>
              <a:t> = [] 		</a:t>
            </a:r>
          </a:p>
          <a:p>
            <a:pPr algn="just"/>
            <a:r>
              <a:rPr lang="en-US" dirty="0" err="1"/>
              <a:t>my_list</a:t>
            </a:r>
            <a:r>
              <a:rPr lang="en-US" dirty="0"/>
              <a:t> = [1, 2, 3]					</a:t>
            </a:r>
          </a:p>
          <a:p>
            <a:pPr algn="just"/>
            <a:r>
              <a:rPr lang="en-US" dirty="0" err="1"/>
              <a:t>my_list</a:t>
            </a:r>
            <a:r>
              <a:rPr lang="en-US" dirty="0"/>
              <a:t> = [1, "Hello", 3.4]			</a:t>
            </a:r>
          </a:p>
          <a:p>
            <a:pPr algn="just"/>
            <a:r>
              <a:rPr lang="en-US" dirty="0"/>
              <a:t>Also, a list can even have another list as an item. This is called nested list.</a:t>
            </a:r>
          </a:p>
          <a:p>
            <a:pPr algn="just"/>
            <a:r>
              <a:rPr lang="en-US" dirty="0" err="1"/>
              <a:t>my_list</a:t>
            </a:r>
            <a:r>
              <a:rPr lang="en-US" dirty="0"/>
              <a:t> = ["mouse", [8, 4, 6], ['a']] 			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br>
              <a:rPr lang="en-US" sz="2800" dirty="0">
                <a:solidFill>
                  <a:srgbClr val="FF0000"/>
                </a:solidFill>
              </a:rPr>
            </a:br>
            <a:r>
              <a:rPr lang="en-US" sz="2800" dirty="0">
                <a:solidFill>
                  <a:srgbClr val="FF0000"/>
                </a:solidFill>
              </a:rPr>
              <a:t>How to access elements from a list?</a:t>
            </a:r>
            <a:br>
              <a:rPr lang="en-US" sz="2800" dirty="0">
                <a:solidFill>
                  <a:srgbClr val="FF0000"/>
                </a:solidFill>
              </a:rPr>
            </a:b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199" y="992778"/>
            <a:ext cx="11166567" cy="5329646"/>
          </a:xfrm>
        </p:spPr>
        <p:txBody>
          <a:bodyPr>
            <a:normAutofit/>
          </a:bodyPr>
          <a:lstStyle/>
          <a:p>
            <a:pPr algn="just"/>
            <a:r>
              <a:rPr lang="en-US" sz="2400" b="0" i="0" dirty="0">
                <a:solidFill>
                  <a:srgbClr val="000000"/>
                </a:solidFill>
                <a:effectLst/>
              </a:rPr>
              <a:t>List items are indexed and you can access them by referring to the index number</a:t>
            </a:r>
            <a:endParaRPr lang="en-US" sz="2400" dirty="0"/>
          </a:p>
          <a:p>
            <a:pPr algn="just"/>
            <a:r>
              <a:rPr lang="en-US" sz="2400" dirty="0"/>
              <a:t>We can use the index operator [] to access an item in a list. </a:t>
            </a:r>
          </a:p>
          <a:p>
            <a:pPr algn="just"/>
            <a:r>
              <a:rPr lang="en-US" sz="2400" dirty="0"/>
              <a:t>Index starts from 0. So, a list having 5 elements will have index from 0 to 4.</a:t>
            </a:r>
          </a:p>
          <a:p>
            <a:pPr algn="just"/>
            <a:r>
              <a:rPr lang="en-US" sz="2400" dirty="0"/>
              <a:t>Trying to access an element  out of range index then it will raise an </a:t>
            </a:r>
            <a:r>
              <a:rPr lang="en-US" sz="2400" dirty="0" err="1">
                <a:solidFill>
                  <a:srgbClr val="FF0000"/>
                </a:solidFill>
              </a:rPr>
              <a:t>IndexError</a:t>
            </a:r>
            <a:r>
              <a:rPr lang="en-US" sz="2400" dirty="0"/>
              <a:t>. </a:t>
            </a:r>
          </a:p>
          <a:p>
            <a:pPr algn="just"/>
            <a:r>
              <a:rPr lang="en-US" sz="2400" dirty="0"/>
              <a:t>The index must be an integer. We can't use float or other types, this will result into </a:t>
            </a:r>
            <a:r>
              <a:rPr lang="en-US" sz="2400" dirty="0" err="1">
                <a:solidFill>
                  <a:srgbClr val="FF0000"/>
                </a:solidFill>
              </a:rPr>
              <a:t>TypeError</a:t>
            </a:r>
            <a:r>
              <a:rPr lang="en-US" sz="2400" dirty="0">
                <a:solidFill>
                  <a:srgbClr val="FF0000"/>
                </a:solidFill>
              </a:rPr>
              <a:t>.</a:t>
            </a:r>
          </a:p>
          <a:p>
            <a:pPr algn="just"/>
            <a:endParaRPr lang="en-US" sz="2400" dirty="0">
              <a:solidFill>
                <a:srgbClr val="FF0000"/>
              </a:solidFill>
            </a:endParaRPr>
          </a:p>
          <a:p>
            <a:pPr algn="just"/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6146" name="Picture 2" descr="How to Reverse a Python List (6 Ways) • datagy">
            <a:extLst>
              <a:ext uri="{FF2B5EF4-FFF2-40B4-BE49-F238E27FC236}">
                <a16:creationId xmlns:a16="http://schemas.microsoft.com/office/drawing/2014/main" id="{A344DD02-D338-28D7-4DF2-D5A39B439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086" y="3776344"/>
            <a:ext cx="4297680" cy="2417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1B60F2A-C0DC-578C-CAFD-5501D47A0C6B}"/>
              </a:ext>
            </a:extLst>
          </p:cNvPr>
          <p:cNvSpPr txBox="1"/>
          <p:nvPr/>
        </p:nvSpPr>
        <p:spPr>
          <a:xfrm>
            <a:off x="870857" y="3966756"/>
            <a:ext cx="63093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rgbClr val="FF0000"/>
                </a:solidFill>
              </a:rPr>
              <a:t>Negative indexing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Python allows negative indexing for its sequences.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index of -1 refers to the last item, -2 to the second last item and so on.</a:t>
            </a: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br>
              <a:rPr lang="en-US" sz="2800" dirty="0">
                <a:solidFill>
                  <a:srgbClr val="FF0000"/>
                </a:solidFill>
              </a:rPr>
            </a:br>
            <a:r>
              <a:rPr lang="en-US" sz="2800" dirty="0">
                <a:solidFill>
                  <a:srgbClr val="FF0000"/>
                </a:solidFill>
              </a:rPr>
              <a:t>How to access elements from a list?</a:t>
            </a:r>
            <a:br>
              <a:rPr lang="en-US" sz="2800" dirty="0">
                <a:solidFill>
                  <a:srgbClr val="FF0000"/>
                </a:solidFill>
              </a:rPr>
            </a:b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71CC36-6230-AF2E-B838-C34D242A286D}"/>
              </a:ext>
            </a:extLst>
          </p:cNvPr>
          <p:cNvSpPr txBox="1"/>
          <p:nvPr/>
        </p:nvSpPr>
        <p:spPr>
          <a:xfrm>
            <a:off x="1224280" y="1237109"/>
            <a:ext cx="6309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thislist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"apple"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"banana"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"cherry"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thislist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D9FAF0-FA23-D5C6-463E-A2DBE5A695CF}"/>
              </a:ext>
            </a:extLst>
          </p:cNvPr>
          <p:cNvSpPr txBox="1"/>
          <p:nvPr/>
        </p:nvSpPr>
        <p:spPr>
          <a:xfrm>
            <a:off x="9969500" y="1551296"/>
            <a:ext cx="1671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banana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2C020D-4752-A703-E344-4A3BA244097A}"/>
              </a:ext>
            </a:extLst>
          </p:cNvPr>
          <p:cNvSpPr txBox="1"/>
          <p:nvPr/>
        </p:nvSpPr>
        <p:spPr>
          <a:xfrm>
            <a:off x="1153160" y="2362903"/>
            <a:ext cx="6309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thislist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"apple"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"banana"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"cherry"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thislist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[-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B6369D-3DFD-06A0-E6EC-6DB35D313505}"/>
              </a:ext>
            </a:extLst>
          </p:cNvPr>
          <p:cNvSpPr txBox="1"/>
          <p:nvPr/>
        </p:nvSpPr>
        <p:spPr>
          <a:xfrm>
            <a:off x="10185400" y="2686068"/>
            <a:ext cx="1239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cherry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1EACF6-E9AB-AD93-3368-AF351FCB7A18}"/>
              </a:ext>
            </a:extLst>
          </p:cNvPr>
          <p:cNvSpPr txBox="1"/>
          <p:nvPr/>
        </p:nvSpPr>
        <p:spPr>
          <a:xfrm>
            <a:off x="970280" y="3254361"/>
            <a:ext cx="111099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0" i="0" dirty="0">
                <a:solidFill>
                  <a:srgbClr val="FF0000"/>
                </a:solidFill>
                <a:effectLst/>
              </a:rPr>
              <a:t>Range of Indexes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</a:rPr>
              <a:t>You can specify a range of indexes by specifying where to start and where to end the range.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</a:rPr>
              <a:t>When specifying a range, the return value will be a new list with the specified items.</a:t>
            </a:r>
          </a:p>
          <a:p>
            <a:pPr algn="l"/>
            <a:endParaRPr lang="en-IN" sz="2400" b="0" i="0" dirty="0">
              <a:solidFill>
                <a:srgbClr val="FF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38C61C-EB06-9D1F-18B8-54073025E35E}"/>
              </a:ext>
            </a:extLst>
          </p:cNvPr>
          <p:cNvSpPr txBox="1"/>
          <p:nvPr/>
        </p:nvSpPr>
        <p:spPr>
          <a:xfrm>
            <a:off x="970280" y="5130703"/>
            <a:ext cx="8874760" cy="666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en-IN" sz="17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thislist</a:t>
            </a:r>
            <a:r>
              <a:rPr lang="en-IN" sz="17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["apple", "banana", "cherry", "orange", "kiwi", "melon"]</a:t>
            </a:r>
          </a:p>
          <a:p>
            <a:pPr>
              <a:spcBef>
                <a:spcPts val="400"/>
              </a:spcBef>
            </a:pPr>
            <a:r>
              <a:rPr lang="en-IN" sz="17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IN" sz="17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thislist</a:t>
            </a:r>
            <a:r>
              <a:rPr lang="en-IN" sz="17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[2:5])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0DA4C7-725F-D44D-6C9F-A0C98182DE25}"/>
              </a:ext>
            </a:extLst>
          </p:cNvPr>
          <p:cNvSpPr txBox="1"/>
          <p:nvPr/>
        </p:nvSpPr>
        <p:spPr>
          <a:xfrm>
            <a:off x="9240520" y="5808664"/>
            <a:ext cx="2697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['cherry', 'orange', 'kiwi']</a:t>
            </a:r>
          </a:p>
        </p:txBody>
      </p:sp>
    </p:spTree>
    <p:extLst>
      <p:ext uri="{BB962C8B-B14F-4D97-AF65-F5344CB8AC3E}">
        <p14:creationId xmlns:p14="http://schemas.microsoft.com/office/powerpoint/2010/main" val="29095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br>
              <a:rPr lang="en-US" sz="2800" dirty="0">
                <a:solidFill>
                  <a:srgbClr val="FF0000"/>
                </a:solidFill>
              </a:rPr>
            </a:br>
            <a:r>
              <a:rPr lang="en-US" sz="2800" dirty="0">
                <a:solidFill>
                  <a:srgbClr val="FF0000"/>
                </a:solidFill>
              </a:rPr>
              <a:t>How to access elements from a list?</a:t>
            </a:r>
            <a:br>
              <a:rPr lang="en-US" sz="2800" dirty="0">
                <a:solidFill>
                  <a:srgbClr val="FF0000"/>
                </a:solidFill>
              </a:rPr>
            </a:b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71CC36-6230-AF2E-B838-C34D242A286D}"/>
              </a:ext>
            </a:extLst>
          </p:cNvPr>
          <p:cNvSpPr txBox="1"/>
          <p:nvPr/>
        </p:nvSpPr>
        <p:spPr>
          <a:xfrm>
            <a:off x="411480" y="1070928"/>
            <a:ext cx="9260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thislist</a:t>
            </a:r>
            <a:r>
              <a:rPr lang="en-IN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=[</a:t>
            </a:r>
            <a:r>
              <a:rPr lang="en-IN" b="0" i="0" dirty="0">
                <a:solidFill>
                  <a:srgbClr val="A52A2A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"apple"</a:t>
            </a:r>
            <a:r>
              <a:rPr lang="en-IN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 </a:t>
            </a:r>
            <a:r>
              <a:rPr lang="en-IN" b="0" i="0" dirty="0">
                <a:solidFill>
                  <a:srgbClr val="A52A2A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"banana"</a:t>
            </a:r>
            <a:r>
              <a:rPr lang="en-IN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 </a:t>
            </a:r>
            <a:r>
              <a:rPr lang="en-IN" b="0" i="0" dirty="0">
                <a:solidFill>
                  <a:srgbClr val="A52A2A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"cherry"</a:t>
            </a:r>
            <a:r>
              <a:rPr lang="en-IN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 </a:t>
            </a:r>
            <a:r>
              <a:rPr lang="en-IN" b="0" i="0" dirty="0">
                <a:solidFill>
                  <a:srgbClr val="A52A2A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"orange"</a:t>
            </a:r>
            <a:r>
              <a:rPr lang="en-IN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 </a:t>
            </a:r>
            <a:r>
              <a:rPr lang="en-IN" b="0" i="0" dirty="0">
                <a:solidFill>
                  <a:srgbClr val="A52A2A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"kiwi"</a:t>
            </a:r>
            <a:r>
              <a:rPr lang="en-IN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IN" b="0" i="0" dirty="0">
                <a:solidFill>
                  <a:srgbClr val="0000CD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IN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thislist</a:t>
            </a:r>
            <a:r>
              <a:rPr lang="en-IN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[:</a:t>
            </a:r>
            <a:r>
              <a:rPr lang="en-IN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IN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])</a:t>
            </a:r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D9FAF0-FA23-D5C6-463E-A2DBE5A695CF}"/>
              </a:ext>
            </a:extLst>
          </p:cNvPr>
          <p:cNvSpPr txBox="1"/>
          <p:nvPr/>
        </p:nvSpPr>
        <p:spPr>
          <a:xfrm>
            <a:off x="8883342" y="1594187"/>
            <a:ext cx="31980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['apple', 'banana', 'cherry’,]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2C020D-4752-A703-E344-4A3BA244097A}"/>
              </a:ext>
            </a:extLst>
          </p:cNvPr>
          <p:cNvSpPr txBox="1"/>
          <p:nvPr/>
        </p:nvSpPr>
        <p:spPr>
          <a:xfrm>
            <a:off x="411480" y="2788393"/>
            <a:ext cx="8498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thislist</a:t>
            </a:r>
            <a:r>
              <a:rPr lang="en-US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["apple", "banana", "cherry", "orange", "kiwi"]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thislist</a:t>
            </a:r>
            <a:r>
              <a:rPr lang="en-US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[2:])</a:t>
            </a:r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667D58-00FB-0CF6-2320-C5351E950A25}"/>
              </a:ext>
            </a:extLst>
          </p:cNvPr>
          <p:cNvSpPr txBox="1"/>
          <p:nvPr/>
        </p:nvSpPr>
        <p:spPr>
          <a:xfrm>
            <a:off x="9203225" y="3286337"/>
            <a:ext cx="27728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['cherry', 'orange', 'kiwi']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F62A47-D5F3-50AA-16AA-17C96BEC5200}"/>
              </a:ext>
            </a:extLst>
          </p:cNvPr>
          <p:cNvSpPr txBox="1"/>
          <p:nvPr/>
        </p:nvSpPr>
        <p:spPr>
          <a:xfrm>
            <a:off x="411480" y="4846048"/>
            <a:ext cx="798068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thislist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["apple", "banana", "cherry", "orange", "kiwi"]</a:t>
            </a:r>
          </a:p>
          <a:p>
            <a:pPr>
              <a:spcAft>
                <a:spcPts val="600"/>
              </a:spcAft>
            </a:pP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thislist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[-4:-1])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2A4FB3-07AB-FD9E-BF91-A93EB396A583}"/>
              </a:ext>
            </a:extLst>
          </p:cNvPr>
          <p:cNvSpPr txBox="1"/>
          <p:nvPr/>
        </p:nvSpPr>
        <p:spPr>
          <a:xfrm>
            <a:off x="8778035" y="5294591"/>
            <a:ext cx="31980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['banana', 'cherry', 'orange']</a:t>
            </a:r>
          </a:p>
        </p:txBody>
      </p:sp>
    </p:spTree>
    <p:extLst>
      <p:ext uri="{BB962C8B-B14F-4D97-AF65-F5344CB8AC3E}">
        <p14:creationId xmlns:p14="http://schemas.microsoft.com/office/powerpoint/2010/main" val="1447324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pPr algn="l"/>
            <a:br>
              <a:rPr lang="en-US" sz="3600" dirty="0">
                <a:solidFill>
                  <a:srgbClr val="FF0000"/>
                </a:solidFill>
              </a:rPr>
            </a:br>
            <a:br>
              <a:rPr lang="en-US" sz="3600" dirty="0">
                <a:solidFill>
                  <a:srgbClr val="FF0000"/>
                </a:solidFill>
              </a:rPr>
            </a:br>
            <a:r>
              <a:rPr lang="en-IN" sz="36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Change List Items</a:t>
            </a:r>
            <a:br>
              <a:rPr lang="en-IN" sz="36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</a:br>
            <a:br>
              <a:rPr lang="en-IN" sz="3600" dirty="0">
                <a:solidFill>
                  <a:srgbClr val="FF0000"/>
                </a:solidFill>
              </a:rPr>
            </a:b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71CC36-6230-AF2E-B838-C34D242A286D}"/>
              </a:ext>
            </a:extLst>
          </p:cNvPr>
          <p:cNvSpPr txBox="1"/>
          <p:nvPr/>
        </p:nvSpPr>
        <p:spPr>
          <a:xfrm>
            <a:off x="411480" y="1070928"/>
            <a:ext cx="9260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To change the value of a specific item, refer to the index number:</a:t>
            </a:r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2C020D-4752-A703-E344-4A3BA244097A}"/>
              </a:ext>
            </a:extLst>
          </p:cNvPr>
          <p:cNvSpPr txBox="1"/>
          <p:nvPr/>
        </p:nvSpPr>
        <p:spPr>
          <a:xfrm>
            <a:off x="543560" y="1700662"/>
            <a:ext cx="66192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thislist</a:t>
            </a:r>
            <a:r>
              <a:rPr lang="en-US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["apple", "banana", "cherry"]</a:t>
            </a:r>
          </a:p>
          <a:p>
            <a:r>
              <a:rPr lang="en-US" b="0" i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thislist</a:t>
            </a:r>
            <a:r>
              <a:rPr lang="en-US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[1] = "blackcurrant"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thislist</a:t>
            </a:r>
            <a:r>
              <a:rPr lang="en-US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F62A47-D5F3-50AA-16AA-17C96BEC5200}"/>
              </a:ext>
            </a:extLst>
          </p:cNvPr>
          <p:cNvSpPr txBox="1"/>
          <p:nvPr/>
        </p:nvSpPr>
        <p:spPr>
          <a:xfrm>
            <a:off x="716280" y="4244155"/>
            <a:ext cx="79806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thislist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"apple"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"banana"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"cherry"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"orange"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"kiwi"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"mango"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IN" dirty="0"/>
            </a:b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thislist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[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"blackcurrant"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"watermelon"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IN" dirty="0"/>
            </a:br>
            <a:r>
              <a:rPr lang="en-IN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thislist</a:t>
            </a:r>
            <a:r>
              <a:rPr lang="en-I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8D3A70-727D-7590-750E-3816888F7A07}"/>
              </a:ext>
            </a:extLst>
          </p:cNvPr>
          <p:cNvSpPr txBox="1"/>
          <p:nvPr/>
        </p:nvSpPr>
        <p:spPr>
          <a:xfrm>
            <a:off x="8244840" y="2300826"/>
            <a:ext cx="3947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['apple', 'blackcurrant', 'cherry']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6EB3F7-EFBB-1255-6C16-EC7073F761B7}"/>
              </a:ext>
            </a:extLst>
          </p:cNvPr>
          <p:cNvSpPr txBox="1"/>
          <p:nvPr/>
        </p:nvSpPr>
        <p:spPr>
          <a:xfrm>
            <a:off x="6095998" y="5393820"/>
            <a:ext cx="6314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['apple', 'blackcurrant', 'watermelon', 'orange', 'kiwi', 'mango']</a:t>
            </a:r>
          </a:p>
        </p:txBody>
      </p:sp>
    </p:spTree>
    <p:extLst>
      <p:ext uri="{BB962C8B-B14F-4D97-AF65-F5344CB8AC3E}">
        <p14:creationId xmlns:p14="http://schemas.microsoft.com/office/powerpoint/2010/main" val="3172699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IN" sz="36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Add List Items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199" y="992778"/>
            <a:ext cx="11166567" cy="5329646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400" b="0" i="0" dirty="0">
                <a:solidFill>
                  <a:srgbClr val="FF0000"/>
                </a:solidFill>
                <a:effectLst/>
              </a:rPr>
              <a:t>Append Items:</a:t>
            </a:r>
          </a:p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</a:rPr>
              <a:t>To add an item to the end of the list, use the </a:t>
            </a:r>
            <a:r>
              <a:rPr lang="en-US" sz="2400" b="0" i="0" dirty="0">
                <a:solidFill>
                  <a:srgbClr val="DC143C"/>
                </a:solidFill>
                <a:effectLst/>
              </a:rPr>
              <a:t>append()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 method:</a:t>
            </a:r>
          </a:p>
          <a:p>
            <a:pPr marL="0" indent="0" algn="l">
              <a:buNone/>
            </a:pPr>
            <a:endParaRPr lang="en-US" sz="2400" b="0" i="0" dirty="0">
              <a:solidFill>
                <a:srgbClr val="000000"/>
              </a:solidFill>
              <a:effectLst/>
            </a:endParaRPr>
          </a:p>
          <a:p>
            <a:pPr>
              <a:buNone/>
            </a:pPr>
            <a:r>
              <a:rPr lang="en-US" sz="2000" b="0" i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thislist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[</a:t>
            </a:r>
            <a:r>
              <a:rPr lang="en-US" sz="2000" b="0" i="0" dirty="0">
                <a:solidFill>
                  <a:srgbClr val="A52A2A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"apple"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 </a:t>
            </a:r>
            <a:r>
              <a:rPr lang="en-US" sz="2000" b="0" i="0" dirty="0">
                <a:solidFill>
                  <a:srgbClr val="A52A2A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"banana"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 </a:t>
            </a:r>
            <a:r>
              <a:rPr lang="en-US" sz="2000" b="0" i="0" dirty="0">
                <a:solidFill>
                  <a:srgbClr val="A52A2A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"cherry"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b="0" i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thislist.append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b="0" i="0" dirty="0">
                <a:solidFill>
                  <a:srgbClr val="A52A2A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"orange"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b="0" i="0" dirty="0">
                <a:solidFill>
                  <a:srgbClr val="0000CD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thislist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>
              <a:buNone/>
            </a:pPr>
            <a:endParaRPr lang="en-US" sz="2400" dirty="0">
              <a:solidFill>
                <a:srgbClr val="000000"/>
              </a:solidFill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Segoe UI" panose="020B0502040204020203" pitchFamily="34" charset="0"/>
              </a:rPr>
              <a:t>Insert Items: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</a:rPr>
              <a:t>insert()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method inserts an item at the specified index: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>
              <a:buNone/>
            </a:pPr>
            <a:endParaRPr lang="en-US" sz="2000" dirty="0">
              <a:solidFill>
                <a:srgbClr val="00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endParaRPr lang="en-US" sz="200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AA71E8-51B3-C34A-E7A8-F148F97910EB}"/>
              </a:ext>
            </a:extLst>
          </p:cNvPr>
          <p:cNvSpPr txBox="1"/>
          <p:nvPr/>
        </p:nvSpPr>
        <p:spPr>
          <a:xfrm>
            <a:off x="838199" y="5212695"/>
            <a:ext cx="63093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thislist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[</a:t>
            </a:r>
            <a:r>
              <a:rPr lang="en-US" sz="2000" b="0" i="0" dirty="0">
                <a:solidFill>
                  <a:srgbClr val="A52A2A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"apple"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 </a:t>
            </a:r>
            <a:r>
              <a:rPr lang="en-US" sz="2000" b="0" i="0" dirty="0">
                <a:solidFill>
                  <a:srgbClr val="A52A2A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"banana"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 </a:t>
            </a:r>
            <a:r>
              <a:rPr lang="en-US" sz="2000" b="0" i="0" dirty="0">
                <a:solidFill>
                  <a:srgbClr val="A52A2A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"cherry"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b="0" i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thislist.insert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 </a:t>
            </a:r>
            <a:r>
              <a:rPr lang="en-US" sz="2000" b="0" i="0" dirty="0">
                <a:solidFill>
                  <a:srgbClr val="A52A2A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"orange"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b="0" i="0" dirty="0">
                <a:solidFill>
                  <a:srgbClr val="0000CD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thislist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8383ED-A426-8EA3-6749-2AB57D60BA34}"/>
              </a:ext>
            </a:extLst>
          </p:cNvPr>
          <p:cNvSpPr txBox="1"/>
          <p:nvPr/>
        </p:nvSpPr>
        <p:spPr>
          <a:xfrm>
            <a:off x="8173356" y="5885542"/>
            <a:ext cx="39631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['apple', 'orange', 'banana', 'cherry']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6A0807-D7CB-0B94-876B-93BCB2BA4FEA}"/>
              </a:ext>
            </a:extLst>
          </p:cNvPr>
          <p:cNvSpPr txBox="1"/>
          <p:nvPr/>
        </p:nvSpPr>
        <p:spPr>
          <a:xfrm>
            <a:off x="8219440" y="3288269"/>
            <a:ext cx="40487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['apple', 'banana', 'cherry', 'orange']</a:t>
            </a:r>
          </a:p>
        </p:txBody>
      </p:sp>
    </p:spTree>
    <p:extLst>
      <p:ext uri="{BB962C8B-B14F-4D97-AF65-F5344CB8AC3E}">
        <p14:creationId xmlns:p14="http://schemas.microsoft.com/office/powerpoint/2010/main" val="3857891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99"/>
            <a:ext cx="10515600" cy="487190"/>
          </a:xfrm>
        </p:spPr>
        <p:txBody>
          <a:bodyPr>
            <a:noAutofit/>
          </a:bodyPr>
          <a:lstStyle/>
          <a:p>
            <a:pPr algn="l"/>
            <a:r>
              <a:rPr lang="en-IN" sz="36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Remove List Items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199" y="487389"/>
            <a:ext cx="11166567" cy="5835035"/>
          </a:xfrm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Segoe UI" panose="020B0502040204020203" pitchFamily="34" charset="0"/>
              </a:rPr>
              <a:t>Remove Specified Item: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The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</a:rPr>
              <a:t>remove()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method removes the specified item.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>
              <a:buNone/>
            </a:pPr>
            <a:r>
              <a:rPr lang="en-US" sz="1800" b="0" i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thislist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[</a:t>
            </a:r>
            <a:r>
              <a:rPr lang="en-US" sz="1800" b="0" i="0" dirty="0">
                <a:solidFill>
                  <a:srgbClr val="A52A2A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"apple"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 </a:t>
            </a:r>
            <a:r>
              <a:rPr lang="en-US" sz="1800" b="0" i="0" dirty="0">
                <a:solidFill>
                  <a:srgbClr val="A52A2A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"banana"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 </a:t>
            </a:r>
            <a:r>
              <a:rPr lang="en-US" sz="1800" b="0" i="0" dirty="0">
                <a:solidFill>
                  <a:srgbClr val="A52A2A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"cherry"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b="0" i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thislist.remove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b="0" i="0" dirty="0">
                <a:solidFill>
                  <a:srgbClr val="A52A2A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"banana"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800" b="0" i="0" dirty="0">
                <a:solidFill>
                  <a:srgbClr val="0000CD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b="0" i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thislist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If there are more than one item with the specified value, the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</a:rPr>
              <a:t>remove()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method removes the first occurrence: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Segoe UI" panose="020B0502040204020203" pitchFamily="34" charset="0"/>
              </a:rPr>
              <a:t>Remove Specified Index: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The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</a:rPr>
              <a:t>pop()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method removes the element at specified index.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700" b="0" i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thislist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[</a:t>
            </a:r>
            <a:r>
              <a:rPr lang="en-US" sz="1700" b="0" i="0" dirty="0">
                <a:solidFill>
                  <a:srgbClr val="A52A2A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"apple"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 </a:t>
            </a:r>
            <a:r>
              <a:rPr lang="en-US" sz="1700" b="0" i="0" dirty="0">
                <a:solidFill>
                  <a:srgbClr val="A52A2A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"banana"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 </a:t>
            </a:r>
            <a:r>
              <a:rPr lang="en-US" sz="1700" b="0" i="0" dirty="0">
                <a:solidFill>
                  <a:srgbClr val="A52A2A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"cherry"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 		</a:t>
            </a:r>
            <a:br>
              <a:rPr lang="en-US" sz="17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700" b="0" i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thislist.pop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7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7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700" b="0" i="0" dirty="0">
                <a:solidFill>
                  <a:srgbClr val="0000CD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700" b="0" i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thislist</a:t>
            </a:r>
            <a:r>
              <a:rPr lang="en-US" sz="17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					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['banana', 'cherry’]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If you do not specify the index, the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</a:rPr>
              <a:t>pop()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method removes the last item.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b="0" i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thislist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[</a:t>
            </a:r>
            <a:r>
              <a:rPr lang="en-US" sz="1600" b="0" i="0" dirty="0">
                <a:solidFill>
                  <a:srgbClr val="A52A2A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"apple"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 </a:t>
            </a:r>
            <a:r>
              <a:rPr lang="en-US" sz="1600" b="0" i="0" dirty="0">
                <a:solidFill>
                  <a:srgbClr val="A52A2A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"banana"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 </a:t>
            </a:r>
            <a:r>
              <a:rPr lang="en-US" sz="1600" b="0" i="0" dirty="0">
                <a:solidFill>
                  <a:srgbClr val="A52A2A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"cherry"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600" b="0" i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thislist.pop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br>
              <a: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600" b="0" i="0" dirty="0">
                <a:solidFill>
                  <a:srgbClr val="0000CD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600" b="0" i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thislist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en-US" altLang="en-US" sz="16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>
              <a:buNone/>
            </a:pPr>
            <a:endParaRPr lang="en-US" sz="2000" dirty="0">
              <a:solidFill>
                <a:srgbClr val="000000"/>
              </a:solidFill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endParaRPr lang="en-US" sz="2000" dirty="0">
              <a:solidFill>
                <a:srgbClr val="FF0000"/>
              </a:solidFill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6A0807-D7CB-0B94-876B-93BCB2BA4FEA}"/>
              </a:ext>
            </a:extLst>
          </p:cNvPr>
          <p:cNvSpPr txBox="1"/>
          <p:nvPr/>
        </p:nvSpPr>
        <p:spPr>
          <a:xfrm>
            <a:off x="8055712" y="2007568"/>
            <a:ext cx="27404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IN" sz="2000" dirty="0">
                <a:solidFill>
                  <a:srgbClr val="FF0000"/>
                </a:solidFill>
              </a:rPr>
              <a:t>['apple', 'cherry']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221D0B-C04E-C8DC-78BE-AD3F2CDCCA10}"/>
              </a:ext>
            </a:extLst>
          </p:cNvPr>
          <p:cNvSpPr txBox="1"/>
          <p:nvPr/>
        </p:nvSpPr>
        <p:spPr>
          <a:xfrm>
            <a:off x="9425940" y="5979754"/>
            <a:ext cx="23190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['apple', 'banana']</a:t>
            </a:r>
          </a:p>
        </p:txBody>
      </p:sp>
    </p:spTree>
    <p:extLst>
      <p:ext uri="{BB962C8B-B14F-4D97-AF65-F5344CB8AC3E}">
        <p14:creationId xmlns:p14="http://schemas.microsoft.com/office/powerpoint/2010/main" val="970679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99"/>
            <a:ext cx="10515600" cy="487190"/>
          </a:xfrm>
        </p:spPr>
        <p:txBody>
          <a:bodyPr>
            <a:noAutofit/>
          </a:bodyPr>
          <a:lstStyle/>
          <a:p>
            <a:pPr algn="l"/>
            <a:r>
              <a:rPr lang="en-IN" sz="36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Loop Through a List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5E58F3-EC89-B81F-5CD4-9655AB7D99F1}"/>
              </a:ext>
            </a:extLst>
          </p:cNvPr>
          <p:cNvSpPr txBox="1"/>
          <p:nvPr/>
        </p:nvSpPr>
        <p:spPr>
          <a:xfrm>
            <a:off x="838199" y="892119"/>
            <a:ext cx="10642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You can loop through the list items by using a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loop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079657-3854-5755-C6F5-C2AE1E59282B}"/>
              </a:ext>
            </a:extLst>
          </p:cNvPr>
          <p:cNvSpPr txBox="1"/>
          <p:nvPr/>
        </p:nvSpPr>
        <p:spPr>
          <a:xfrm>
            <a:off x="990600" y="1572885"/>
            <a:ext cx="63093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thislist</a:t>
            </a:r>
            <a:r>
              <a:rPr lang="en-US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[</a:t>
            </a:r>
            <a:r>
              <a:rPr lang="en-US" b="0" i="0" dirty="0">
                <a:solidFill>
                  <a:srgbClr val="A52A2A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"apple"</a:t>
            </a:r>
            <a:r>
              <a:rPr lang="en-US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 </a:t>
            </a:r>
            <a:r>
              <a:rPr lang="en-US" b="0" i="0" dirty="0">
                <a:solidFill>
                  <a:srgbClr val="A52A2A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"banana"</a:t>
            </a:r>
            <a:r>
              <a:rPr lang="en-US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 </a:t>
            </a:r>
            <a:r>
              <a:rPr lang="en-US" b="0" i="0" dirty="0">
                <a:solidFill>
                  <a:srgbClr val="A52A2A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"cherry"</a:t>
            </a:r>
            <a:r>
              <a:rPr lang="en-US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b="0" i="0" dirty="0">
                <a:solidFill>
                  <a:srgbClr val="0000CD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</a:t>
            </a:r>
            <a:r>
              <a:rPr lang="en-US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x </a:t>
            </a:r>
            <a:r>
              <a:rPr lang="en-US" b="0" i="0" dirty="0">
                <a:solidFill>
                  <a:srgbClr val="0000CD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</a:t>
            </a:r>
            <a:r>
              <a:rPr lang="en-US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thislist</a:t>
            </a:r>
            <a:r>
              <a:rPr lang="en-US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b="0" i="0" dirty="0">
                <a:solidFill>
                  <a:srgbClr val="00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(x)</a:t>
            </a:r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154D71-8484-30E0-378C-2ACBBBB82012}"/>
              </a:ext>
            </a:extLst>
          </p:cNvPr>
          <p:cNvSpPr txBox="1"/>
          <p:nvPr/>
        </p:nvSpPr>
        <p:spPr>
          <a:xfrm>
            <a:off x="10441735" y="1518015"/>
            <a:ext cx="1193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apple</a:t>
            </a:r>
          </a:p>
          <a:p>
            <a:r>
              <a:rPr lang="en-IN" sz="2000" dirty="0">
                <a:solidFill>
                  <a:srgbClr val="FF0000"/>
                </a:solidFill>
              </a:rPr>
              <a:t>banana</a:t>
            </a:r>
          </a:p>
          <a:p>
            <a:r>
              <a:rPr lang="en-IN" sz="2000" dirty="0">
                <a:solidFill>
                  <a:srgbClr val="FF0000"/>
                </a:solidFill>
              </a:rPr>
              <a:t>cherry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1F0646-3228-3D14-6DFF-8E72844ECA4C}"/>
              </a:ext>
            </a:extLst>
          </p:cNvPr>
          <p:cNvSpPr txBox="1"/>
          <p:nvPr/>
        </p:nvSpPr>
        <p:spPr>
          <a:xfrm>
            <a:off x="990600" y="2746553"/>
            <a:ext cx="1000252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Segoe UI" panose="020B0502040204020203" pitchFamily="34" charset="0"/>
              </a:rPr>
              <a:t>Loop Through the Index Numbers: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You can also loop through the list items by referring to their index number.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Use the 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</a:rPr>
              <a:t>range()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and 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</a:rPr>
              <a:t>len()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functions to create a suitable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iterable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9AF173-D874-2D90-0A91-534FC184BB94}"/>
              </a:ext>
            </a:extLst>
          </p:cNvPr>
          <p:cNvSpPr txBox="1"/>
          <p:nvPr/>
        </p:nvSpPr>
        <p:spPr>
          <a:xfrm>
            <a:off x="886460" y="4066650"/>
            <a:ext cx="7188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Example: Print all items by referring to their index number: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88369B-B52B-C6A4-6A9C-922A5EA5A23C}"/>
              </a:ext>
            </a:extLst>
          </p:cNvPr>
          <p:cNvSpPr txBox="1"/>
          <p:nvPr/>
        </p:nvSpPr>
        <p:spPr>
          <a:xfrm>
            <a:off x="886460" y="4604485"/>
            <a:ext cx="63093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list = ["apple", "banana", "cherry"]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n=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len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(list)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i in range(n):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print(list[i])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1EF3BD-E284-77B1-74B6-44DA59AEE16A}"/>
              </a:ext>
            </a:extLst>
          </p:cNvPr>
          <p:cNvSpPr txBox="1"/>
          <p:nvPr/>
        </p:nvSpPr>
        <p:spPr>
          <a:xfrm>
            <a:off x="10535715" y="4622705"/>
            <a:ext cx="10058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apple</a:t>
            </a:r>
          </a:p>
          <a:p>
            <a:r>
              <a:rPr lang="en-IN" sz="2000" dirty="0">
                <a:solidFill>
                  <a:srgbClr val="FF0000"/>
                </a:solidFill>
              </a:rPr>
              <a:t>banana</a:t>
            </a:r>
          </a:p>
          <a:p>
            <a:r>
              <a:rPr lang="en-IN" sz="2000" dirty="0">
                <a:solidFill>
                  <a:srgbClr val="FF0000"/>
                </a:solidFill>
              </a:rPr>
              <a:t>cherry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B8E069-58CE-0B26-1276-2705ACA9912E}"/>
              </a:ext>
            </a:extLst>
          </p:cNvPr>
          <p:cNvSpPr txBox="1"/>
          <p:nvPr/>
        </p:nvSpPr>
        <p:spPr>
          <a:xfrm>
            <a:off x="838198" y="6009132"/>
            <a:ext cx="73507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Practice program:  Print all items, using a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 loop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933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8" y="355799"/>
            <a:ext cx="10515600" cy="487190"/>
          </a:xfrm>
        </p:spPr>
        <p:txBody>
          <a:bodyPr>
            <a:noAutofit/>
          </a:bodyPr>
          <a:lstStyle/>
          <a:p>
            <a:pPr algn="l"/>
            <a:r>
              <a:rPr lang="en-US" sz="2200" b="0" i="0" dirty="0">
                <a:solidFill>
                  <a:srgbClr val="C00000"/>
                </a:solidFill>
                <a:effectLst/>
                <a:latin typeface="Inter-Regular"/>
              </a:rPr>
              <a:t>Given a list of numbers. write a program to turn every item of a list into its square.</a:t>
            </a:r>
            <a:endParaRPr lang="en-IN" sz="2200" b="0" i="0" dirty="0">
              <a:solidFill>
                <a:srgbClr val="C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781328-01ED-AFC9-0AB6-6C04E9914537}"/>
              </a:ext>
            </a:extLst>
          </p:cNvPr>
          <p:cNvSpPr txBox="1"/>
          <p:nvPr/>
        </p:nvSpPr>
        <p:spPr>
          <a:xfrm>
            <a:off x="655320" y="1074718"/>
            <a:ext cx="63093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Inter-Regular"/>
              </a:rPr>
              <a:t>Given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Inter-Regular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numbers = [1, 2, 3, 4, 5, 6, 7]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C29EC4-83A7-73DF-5883-77B7F903CD72}"/>
              </a:ext>
            </a:extLst>
          </p:cNvPr>
          <p:cNvSpPr txBox="1"/>
          <p:nvPr/>
        </p:nvSpPr>
        <p:spPr>
          <a:xfrm>
            <a:off x="6775348" y="1006022"/>
            <a:ext cx="38963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Inter-Regular"/>
              </a:rPr>
              <a:t>Expected output: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[1, 4, 9, 16, 25, 36, 49]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44A329-7A7A-D8AB-D852-B2ABA494A765}"/>
              </a:ext>
            </a:extLst>
          </p:cNvPr>
          <p:cNvSpPr txBox="1"/>
          <p:nvPr/>
        </p:nvSpPr>
        <p:spPr>
          <a:xfrm>
            <a:off x="655320" y="2828628"/>
            <a:ext cx="5999480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Program: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numbers = [1, 2, 3, 4, 5, 6, 7]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res=[]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i in numbers: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res.append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(i*i)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Input:",numbers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Output:",res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279C71-9FEA-67E4-F2AA-F703F81201D8}"/>
              </a:ext>
            </a:extLst>
          </p:cNvPr>
          <p:cNvSpPr txBox="1"/>
          <p:nvPr/>
        </p:nvSpPr>
        <p:spPr>
          <a:xfrm>
            <a:off x="7980680" y="5579644"/>
            <a:ext cx="3896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Input: [1, 2, 3, 4, 5, 6, 7]</a:t>
            </a:r>
          </a:p>
          <a:p>
            <a:r>
              <a:rPr lang="en-IN" dirty="0">
                <a:solidFill>
                  <a:srgbClr val="FF0000"/>
                </a:solidFill>
              </a:rPr>
              <a:t>Output: [1, 4, 9, 16, 25, 36, 49]</a:t>
            </a:r>
          </a:p>
        </p:txBody>
      </p:sp>
    </p:spTree>
    <p:extLst>
      <p:ext uri="{BB962C8B-B14F-4D97-AF65-F5344CB8AC3E}">
        <p14:creationId xmlns:p14="http://schemas.microsoft.com/office/powerpoint/2010/main" val="3521257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Methods Of list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199" y="992778"/>
            <a:ext cx="11166567" cy="5329646"/>
          </a:xfrm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en-US" dirty="0"/>
              <a:t>animal = ['cat', 'dog', 'rabbit']</a:t>
            </a:r>
          </a:p>
          <a:p>
            <a:pPr algn="just">
              <a:buNone/>
            </a:pPr>
            <a:r>
              <a:rPr lang="en-US" dirty="0"/>
              <a:t> </a:t>
            </a:r>
            <a:r>
              <a:rPr lang="en-US" b="1" dirty="0">
                <a:solidFill>
                  <a:srgbClr val="FF0000"/>
                </a:solidFill>
              </a:rPr>
              <a:t>len(): </a:t>
            </a:r>
            <a:r>
              <a:rPr lang="en-US" dirty="0"/>
              <a:t>It returns the number of elements in the </a:t>
            </a:r>
            <a:r>
              <a:rPr lang="en-US" i="1" dirty="0"/>
              <a:t>list</a:t>
            </a:r>
            <a:r>
              <a:rPr lang="en-US" dirty="0"/>
              <a:t>.</a:t>
            </a:r>
          </a:p>
          <a:p>
            <a:pPr algn="just">
              <a:buNone/>
            </a:pPr>
            <a:r>
              <a:rPr lang="en-US" dirty="0"/>
              <a:t>Print(len(animal))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b="1" dirty="0">
                <a:solidFill>
                  <a:srgbClr val="FF0000"/>
                </a:solidFill>
              </a:rPr>
              <a:t>extend():</a:t>
            </a:r>
            <a:r>
              <a:rPr lang="en-US" dirty="0"/>
              <a:t>it</a:t>
            </a:r>
            <a:r>
              <a:rPr lang="en-US" b="1" dirty="0"/>
              <a:t> </a:t>
            </a:r>
            <a:r>
              <a:rPr lang="en-US" dirty="0"/>
              <a:t>adds  all items of a one list  to the end of another list.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 syntax:</a:t>
            </a:r>
          </a:p>
          <a:p>
            <a:r>
              <a:rPr lang="en-US" dirty="0"/>
              <a:t>list1.extend(list2)</a:t>
            </a:r>
          </a:p>
          <a:p>
            <a:r>
              <a:rPr lang="en-US" dirty="0"/>
              <a:t>Here, the elements of list2 are added to the end of list1.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language = ['French', 'English', 'German']</a:t>
            </a:r>
          </a:p>
          <a:p>
            <a:pPr>
              <a:buNone/>
            </a:pPr>
            <a:r>
              <a:rPr lang="en-US" dirty="0"/>
              <a:t>language1 = ['Spanish', 'Portuguese']</a:t>
            </a:r>
          </a:p>
          <a:p>
            <a:pPr>
              <a:buNone/>
            </a:pPr>
            <a:r>
              <a:rPr lang="en-US" dirty="0" err="1"/>
              <a:t>language.extend</a:t>
            </a:r>
            <a:r>
              <a:rPr lang="en-US" dirty="0"/>
              <a:t>(language1)</a:t>
            </a:r>
          </a:p>
          <a:p>
            <a:pPr>
              <a:buNone/>
            </a:pPr>
            <a:r>
              <a:rPr lang="en-US" dirty="0"/>
              <a:t>print('Language List: ', language)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784BE3C-9B35-C362-B9F1-854F824F0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7675" y="5768426"/>
            <a:ext cx="602052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Lato" panose="020F0502020204030203" pitchFamily="34" charset="0"/>
              </a:rPr>
              <a:t>Output: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Language List: ['French', 'English', 'German', 'Spanish', 'Portuguese']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86447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Methods Of list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199" y="992778"/>
            <a:ext cx="11166567" cy="5329646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count(): </a:t>
            </a:r>
            <a:r>
              <a:rPr lang="en-US" dirty="0"/>
              <a:t>method returns the number of occurrences of an element in a list</a:t>
            </a:r>
            <a:r>
              <a:rPr lang="en-US" b="1" dirty="0"/>
              <a:t>.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Syntax: </a:t>
            </a:r>
            <a:r>
              <a:rPr lang="en-US" dirty="0" err="1"/>
              <a:t>list.count</a:t>
            </a:r>
            <a:r>
              <a:rPr lang="en-US" dirty="0"/>
              <a:t>(element)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vowels = ["</a:t>
            </a:r>
            <a:r>
              <a:rPr lang="en-US" dirty="0" err="1"/>
              <a:t>C","Python","java","Python</a:t>
            </a:r>
            <a:r>
              <a:rPr lang="en-US" dirty="0"/>
              <a:t>"]</a:t>
            </a:r>
          </a:p>
          <a:p>
            <a:pPr>
              <a:buNone/>
            </a:pPr>
            <a:r>
              <a:rPr lang="en-US" dirty="0"/>
              <a:t>count = </a:t>
            </a:r>
            <a:r>
              <a:rPr lang="en-US" dirty="0" err="1"/>
              <a:t>vowels.count</a:t>
            </a:r>
            <a:r>
              <a:rPr lang="en-US" dirty="0"/>
              <a:t>('Python')</a:t>
            </a:r>
          </a:p>
          <a:p>
            <a:pPr>
              <a:buNone/>
            </a:pPr>
            <a:r>
              <a:rPr lang="en-US" dirty="0"/>
              <a:t>print(count)    #2</a:t>
            </a:r>
          </a:p>
          <a:p>
            <a:pPr>
              <a:buNone/>
            </a:pPr>
            <a:endParaRPr lang="en-US" dirty="0"/>
          </a:p>
          <a:p>
            <a:pPr fontAlgn="base">
              <a:buNone/>
            </a:pPr>
            <a:r>
              <a:rPr lang="en-US" b="1" dirty="0">
                <a:solidFill>
                  <a:srgbClr val="FF0000"/>
                </a:solidFill>
              </a:rPr>
              <a:t>sum() :</a:t>
            </a:r>
            <a:r>
              <a:rPr lang="en-US" dirty="0"/>
              <a:t> Calculates sum of all the elements of List.</a:t>
            </a:r>
            <a:br>
              <a:rPr lang="en-US" dirty="0"/>
            </a:br>
            <a:r>
              <a:rPr lang="en-US" b="1" dirty="0"/>
              <a:t>Syntax:    </a:t>
            </a:r>
            <a:r>
              <a:rPr lang="en-US" dirty="0"/>
              <a:t>sum(List)</a:t>
            </a:r>
          </a:p>
          <a:p>
            <a:pPr fontAlgn="base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dirty="0"/>
              <a:t>List = [1, 2, 3, 4, 5]</a:t>
            </a:r>
          </a:p>
          <a:p>
            <a:pPr marL="0" indent="0" fontAlgn="base">
              <a:buNone/>
            </a:pPr>
            <a:r>
              <a:rPr lang="en-US" dirty="0"/>
              <a:t>print(sum(List))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9CEC1AE-443A-2CA2-9C7A-739A57668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3503713"/>
            <a:ext cx="280416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Lato" panose="020F0502020204030203" pitchFamily="34" charset="0"/>
              </a:rPr>
              <a:t>Output: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2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89577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Methods Of list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199" y="992778"/>
            <a:ext cx="11166567" cy="5329646"/>
          </a:xfrm>
        </p:spPr>
        <p:txBody>
          <a:bodyPr>
            <a:normAutofit lnSpcReduction="10000"/>
          </a:bodyPr>
          <a:lstStyle/>
          <a:p>
            <a:pPr marL="0" indent="0" fontAlgn="base">
              <a:buNone/>
            </a:pPr>
            <a:endParaRPr lang="en-US" dirty="0"/>
          </a:p>
          <a:p>
            <a:pPr fontAlgn="base">
              <a:buNone/>
            </a:pPr>
            <a:r>
              <a:rPr lang="en-US" b="1" dirty="0">
                <a:solidFill>
                  <a:srgbClr val="FF0000"/>
                </a:solidFill>
              </a:rPr>
              <a:t>min() :</a:t>
            </a:r>
            <a:r>
              <a:rPr lang="en-US" b="1" dirty="0"/>
              <a:t> </a:t>
            </a:r>
            <a:r>
              <a:rPr lang="en-US" dirty="0"/>
              <a:t>Calculates minimum of all the elements of List.</a:t>
            </a:r>
            <a:br>
              <a:rPr lang="en-US" dirty="0"/>
            </a:br>
            <a:r>
              <a:rPr lang="en-US" b="1" dirty="0"/>
              <a:t>Syntax:   </a:t>
            </a:r>
            <a:r>
              <a:rPr lang="en-US" dirty="0"/>
              <a:t>min(List)</a:t>
            </a:r>
          </a:p>
          <a:p>
            <a:pPr fontAlgn="base">
              <a:buNone/>
            </a:pPr>
            <a:endParaRPr lang="en-US" dirty="0"/>
          </a:p>
          <a:p>
            <a:pPr fontAlgn="base">
              <a:buNone/>
            </a:pPr>
            <a:r>
              <a:rPr lang="en-US" dirty="0"/>
              <a:t>List = [2, 4, 3, 5, 1, 2.5]</a:t>
            </a:r>
          </a:p>
          <a:p>
            <a:pPr fontAlgn="base">
              <a:buNone/>
            </a:pPr>
            <a:r>
              <a:rPr lang="en-US" dirty="0"/>
              <a:t>print(min(List))   #1</a:t>
            </a:r>
          </a:p>
          <a:p>
            <a:pPr fontAlgn="base">
              <a:buNone/>
            </a:pPr>
            <a:endParaRPr lang="en-US" dirty="0"/>
          </a:p>
          <a:p>
            <a:pPr fontAlgn="base">
              <a:buNone/>
            </a:pPr>
            <a:r>
              <a:rPr lang="en-US" b="1" dirty="0">
                <a:solidFill>
                  <a:srgbClr val="FF0000"/>
                </a:solidFill>
              </a:rPr>
              <a:t>max():</a:t>
            </a:r>
            <a:r>
              <a:rPr lang="en-US" dirty="0"/>
              <a:t> Calculates maximum of all the elements of List.</a:t>
            </a:r>
            <a:br>
              <a:rPr lang="en-US" dirty="0"/>
            </a:br>
            <a:r>
              <a:rPr lang="en-US" b="1" dirty="0"/>
              <a:t>Syntax:   </a:t>
            </a:r>
            <a:r>
              <a:rPr lang="en-US" dirty="0"/>
              <a:t>max(List)</a:t>
            </a:r>
          </a:p>
          <a:p>
            <a:pPr fontAlgn="base">
              <a:buNone/>
            </a:pPr>
            <a:r>
              <a:rPr lang="en-US" dirty="0"/>
              <a:t>List = [2, 4, 3, 5, 1, 2.5]</a:t>
            </a:r>
          </a:p>
          <a:p>
            <a:pPr fontAlgn="base">
              <a:buNone/>
            </a:pPr>
            <a:r>
              <a:rPr lang="en-US" dirty="0"/>
              <a:t>print(max(List))   #5.</a:t>
            </a:r>
          </a:p>
          <a:p>
            <a:pPr fontAlgn="base"/>
            <a:endParaRPr lang="en-US" dirty="0"/>
          </a:p>
          <a:p>
            <a:pPr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617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Methods Of list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199" y="992778"/>
            <a:ext cx="11166567" cy="5329646"/>
          </a:xfrm>
        </p:spPr>
        <p:txBody>
          <a:bodyPr>
            <a:normAutofit/>
          </a:bodyPr>
          <a:lstStyle/>
          <a:p>
            <a:pPr fontAlgn="base"/>
            <a:r>
              <a:rPr lang="en-US" sz="2600" b="1" i="0" dirty="0">
                <a:solidFill>
                  <a:srgbClr val="FF0000"/>
                </a:solidFill>
                <a:effectLst/>
              </a:rPr>
              <a:t>sort() </a:t>
            </a:r>
            <a:r>
              <a:rPr lang="en-US" sz="2600" b="0" i="0" dirty="0">
                <a:solidFill>
                  <a:srgbClr val="273239"/>
                </a:solidFill>
                <a:effectLst/>
              </a:rPr>
              <a:t>method can be used to sort List with Python in ascending</a:t>
            </a:r>
            <a:r>
              <a:rPr lang="en-US" sz="2600" dirty="0">
                <a:solidFill>
                  <a:srgbClr val="273239"/>
                </a:solidFill>
              </a:rPr>
              <a:t> or </a:t>
            </a:r>
            <a:r>
              <a:rPr lang="en-US" sz="2600" b="0" i="0" dirty="0">
                <a:solidFill>
                  <a:srgbClr val="273239"/>
                </a:solidFill>
                <a:effectLst/>
              </a:rPr>
              <a:t>descending order.</a:t>
            </a:r>
          </a:p>
          <a:p>
            <a:pPr fontAlgn="base"/>
            <a:endParaRPr lang="en-US" sz="2400" dirty="0">
              <a:solidFill>
                <a:srgbClr val="273239"/>
              </a:solidFill>
            </a:endParaRPr>
          </a:p>
          <a:p>
            <a:pPr fontAlgn="base"/>
            <a:endParaRPr lang="en-US" sz="2400" b="0" i="0" dirty="0">
              <a:solidFill>
                <a:srgbClr val="273239"/>
              </a:solidFill>
              <a:effectLst/>
            </a:endParaRPr>
          </a:p>
          <a:p>
            <a:pPr fontAlgn="base"/>
            <a:endParaRPr lang="en-US" sz="2400" dirty="0">
              <a:solidFill>
                <a:srgbClr val="273239"/>
              </a:solidFill>
            </a:endParaRPr>
          </a:p>
          <a:p>
            <a:pPr fontAlgn="base"/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E1FDC4-BAAB-5C93-BB42-BC144978A0A9}"/>
              </a:ext>
            </a:extLst>
          </p:cNvPr>
          <p:cNvSpPr txBox="1"/>
          <p:nvPr/>
        </p:nvSpPr>
        <p:spPr>
          <a:xfrm>
            <a:off x="311330" y="2138588"/>
            <a:ext cx="630936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/>
              <a:t>numbers = [1, 3, 4, 2]</a:t>
            </a:r>
          </a:p>
          <a:p>
            <a:endParaRPr lang="en-IN" sz="2200" dirty="0"/>
          </a:p>
          <a:p>
            <a:r>
              <a:rPr lang="en-IN" sz="2200" dirty="0">
                <a:solidFill>
                  <a:srgbClr val="7030A0"/>
                </a:solidFill>
              </a:rPr>
              <a:t># Sorting list of Integers in ascending</a:t>
            </a:r>
          </a:p>
          <a:p>
            <a:r>
              <a:rPr lang="en-IN" sz="2200" dirty="0"/>
              <a:t>print(</a:t>
            </a:r>
            <a:r>
              <a:rPr lang="en-IN" sz="2200" dirty="0" err="1"/>
              <a:t>numbers.sort</a:t>
            </a:r>
            <a:r>
              <a:rPr lang="en-IN" sz="2200" dirty="0"/>
              <a:t>()) </a:t>
            </a:r>
          </a:p>
          <a:p>
            <a:r>
              <a:rPr lang="en-IN" sz="2200" dirty="0"/>
              <a:t>print(numbers)					 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E02C52BD-6A3C-7395-55EF-E470F3D70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6123" y="2364097"/>
            <a:ext cx="5475876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strs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+mn-lt"/>
              </a:rPr>
              <a:t>=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+mn-lt"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[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n-lt"/>
              </a:rPr>
              <a:t>"geeks"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,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n-lt"/>
              </a:rPr>
              <a:t>"code"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,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n-lt"/>
              </a:rPr>
              <a:t>"ide"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,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n-lt"/>
              </a:rPr>
              <a:t>"practice"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]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strs.sort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()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defTabSz="914400"/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FF1493"/>
                </a:solidFill>
                <a:effectLst/>
                <a:latin typeface="+mn-lt"/>
              </a:rPr>
              <a:t>print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(strs)  </a:t>
            </a:r>
          </a:p>
          <a:p>
            <a:pPr defTabSz="914400"/>
            <a:endParaRPr lang="en-US" altLang="en-US" sz="2200" dirty="0">
              <a:solidFill>
                <a:srgbClr val="000000"/>
              </a:solidFill>
              <a:latin typeface="+mn-lt"/>
            </a:endParaRPr>
          </a:p>
          <a:p>
            <a:pPr defTabSz="914400"/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defTabSz="914400"/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#['code', 'geeks', 'ide', 'practice']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CB9CAE-0DCC-5125-28D0-AE56FF817134}"/>
              </a:ext>
            </a:extLst>
          </p:cNvPr>
          <p:cNvSpPr txBox="1"/>
          <p:nvPr/>
        </p:nvSpPr>
        <p:spPr>
          <a:xfrm>
            <a:off x="455749" y="4616917"/>
            <a:ext cx="399796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/>
              <a:t>numbers = [1, 3, 4, 2]</a:t>
            </a:r>
          </a:p>
          <a:p>
            <a:r>
              <a:rPr lang="en-IN" sz="2200" dirty="0" err="1"/>
              <a:t>numbers.sort</a:t>
            </a:r>
            <a:r>
              <a:rPr lang="en-IN" sz="2200" dirty="0"/>
              <a:t>(reverse=True)</a:t>
            </a:r>
          </a:p>
          <a:p>
            <a:endParaRPr lang="en-IN" sz="2200" dirty="0"/>
          </a:p>
          <a:p>
            <a:r>
              <a:rPr lang="en-IN" sz="2200" dirty="0"/>
              <a:t>print(numbers)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A04165-F841-7569-2347-5A7B5B6C826C}"/>
              </a:ext>
            </a:extLst>
          </p:cNvPr>
          <p:cNvSpPr txBox="1"/>
          <p:nvPr/>
        </p:nvSpPr>
        <p:spPr>
          <a:xfrm>
            <a:off x="3489961" y="5663849"/>
            <a:ext cx="215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#  [4, 3, 2, 1]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F6CB47-DB58-52C2-DFD0-C914C445326D}"/>
              </a:ext>
            </a:extLst>
          </p:cNvPr>
          <p:cNvSpPr txBox="1"/>
          <p:nvPr/>
        </p:nvSpPr>
        <p:spPr>
          <a:xfrm>
            <a:off x="3243580" y="3555088"/>
            <a:ext cx="2179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# [1, 2, 3, 4]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6256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04" y="48386"/>
            <a:ext cx="11166567" cy="487190"/>
          </a:xfrm>
        </p:spPr>
        <p:txBody>
          <a:bodyPr>
            <a:noAutofit/>
          </a:bodyPr>
          <a:lstStyle/>
          <a:p>
            <a:br>
              <a:rPr lang="en-US" sz="2800" dirty="0">
                <a:solidFill>
                  <a:srgbClr val="FF0000"/>
                </a:solidFill>
              </a:rPr>
            </a:br>
            <a:r>
              <a:rPr lang="en-US" sz="2600" dirty="0">
                <a:solidFill>
                  <a:srgbClr val="FF0000"/>
                </a:solidFill>
              </a:rPr>
              <a:t>Write a python program to read items from the user and display items in the list?</a:t>
            </a:r>
            <a:br>
              <a:rPr lang="en-US" sz="2800" dirty="0">
                <a:solidFill>
                  <a:srgbClr val="FF0000"/>
                </a:solidFill>
              </a:rPr>
            </a:b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199" y="992778"/>
            <a:ext cx="11166567" cy="5329646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US" dirty="0"/>
              <a:t>L=[]</a:t>
            </a:r>
          </a:p>
          <a:p>
            <a:pPr algn="just">
              <a:buNone/>
            </a:pPr>
            <a:r>
              <a:rPr lang="en-US" dirty="0"/>
              <a:t>n=</a:t>
            </a:r>
            <a:r>
              <a:rPr lang="en-US" dirty="0" err="1"/>
              <a:t>int</a:t>
            </a:r>
            <a:r>
              <a:rPr lang="en-US" dirty="0"/>
              <a:t>(input("enter size of list"))</a:t>
            </a:r>
          </a:p>
          <a:p>
            <a:pPr algn="just">
              <a:buNone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algn="just">
              <a:buNone/>
            </a:pPr>
            <a:r>
              <a:rPr lang="en-US" dirty="0"/>
              <a:t>while(</a:t>
            </a:r>
            <a:r>
              <a:rPr lang="en-US" dirty="0" err="1"/>
              <a:t>i</a:t>
            </a:r>
            <a:r>
              <a:rPr lang="en-US" dirty="0"/>
              <a:t>&lt;n):</a:t>
            </a:r>
          </a:p>
          <a:p>
            <a:pPr algn="just">
              <a:buNone/>
            </a:pPr>
            <a:r>
              <a:rPr lang="en-US" dirty="0"/>
              <a:t>	a=</a:t>
            </a:r>
            <a:r>
              <a:rPr lang="en-US" dirty="0" err="1"/>
              <a:t>int</a:t>
            </a:r>
            <a:r>
              <a:rPr lang="en-US" dirty="0"/>
              <a:t>(input())</a:t>
            </a:r>
          </a:p>
          <a:p>
            <a:pPr algn="just">
              <a:buNone/>
            </a:pPr>
            <a:r>
              <a:rPr lang="en-US" dirty="0"/>
              <a:t>	</a:t>
            </a:r>
            <a:r>
              <a:rPr lang="en-US" dirty="0" err="1"/>
              <a:t>L.append</a:t>
            </a:r>
            <a:r>
              <a:rPr lang="en-US" dirty="0"/>
              <a:t>(a)</a:t>
            </a:r>
          </a:p>
          <a:p>
            <a:pPr algn="just">
              <a:buNone/>
            </a:pPr>
            <a:r>
              <a:rPr lang="en-US" dirty="0"/>
              <a:t>	</a:t>
            </a:r>
            <a:r>
              <a:rPr lang="en-US" dirty="0" err="1"/>
              <a:t>i</a:t>
            </a:r>
            <a:r>
              <a:rPr lang="en-US" dirty="0"/>
              <a:t>=i+1</a:t>
            </a:r>
          </a:p>
          <a:p>
            <a:pPr algn="just">
              <a:buNone/>
            </a:pPr>
            <a:r>
              <a:rPr lang="en-US" dirty="0"/>
              <a:t>for j in L:</a:t>
            </a:r>
          </a:p>
          <a:p>
            <a:pPr algn="just">
              <a:buNone/>
            </a:pPr>
            <a:r>
              <a:rPr lang="en-US" dirty="0"/>
              <a:t>	print(j)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8" y="355799"/>
            <a:ext cx="10515600" cy="487190"/>
          </a:xfrm>
        </p:spPr>
        <p:txBody>
          <a:bodyPr>
            <a:noAutofit/>
          </a:bodyPr>
          <a:lstStyle/>
          <a:p>
            <a:pPr algn="l"/>
            <a:r>
              <a:rPr lang="en-US" sz="2600" b="0" i="0" dirty="0">
                <a:solidFill>
                  <a:srgbClr val="FF0000"/>
                </a:solidFill>
                <a:effectLst/>
                <a:latin typeface="Söhne"/>
              </a:rPr>
              <a:t>Python program that search for  a specific element in a list </a:t>
            </a:r>
            <a:endParaRPr lang="en-IN" sz="2600" b="0" i="0" dirty="0">
              <a:solidFill>
                <a:srgbClr val="FF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446A2C-17FE-DE9E-E1A7-62854A647F37}"/>
              </a:ext>
            </a:extLst>
          </p:cNvPr>
          <p:cNvSpPr txBox="1"/>
          <p:nvPr/>
        </p:nvSpPr>
        <p:spPr>
          <a:xfrm>
            <a:off x="1569720" y="1530515"/>
            <a:ext cx="696468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list=[5,6,7,8,9]</a:t>
            </a:r>
          </a:p>
          <a:p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=int(input("enter element to search"))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i in list: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if i==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print(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,"found in the list")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break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else: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,"not found in the list")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AA1E6A-CC7B-0F59-7CC6-D1E1FBE333BB}"/>
              </a:ext>
            </a:extLst>
          </p:cNvPr>
          <p:cNvSpPr txBox="1"/>
          <p:nvPr/>
        </p:nvSpPr>
        <p:spPr>
          <a:xfrm>
            <a:off x="7401560" y="4697815"/>
            <a:ext cx="4648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C00000"/>
                </a:solidFill>
              </a:rPr>
              <a:t>enter element to search 8</a:t>
            </a:r>
          </a:p>
          <a:p>
            <a:r>
              <a:rPr lang="en-IN" sz="2000" dirty="0">
                <a:solidFill>
                  <a:srgbClr val="C00000"/>
                </a:solidFill>
              </a:rPr>
              <a:t>8 found in the list</a:t>
            </a:r>
          </a:p>
          <a:p>
            <a:endParaRPr lang="en-IN" sz="2000" dirty="0">
              <a:solidFill>
                <a:srgbClr val="FF0000"/>
              </a:solidFill>
            </a:endParaRPr>
          </a:p>
          <a:p>
            <a:r>
              <a:rPr lang="en-IN" sz="2000" dirty="0">
                <a:solidFill>
                  <a:srgbClr val="FF0000"/>
                </a:solidFill>
              </a:rPr>
              <a:t>enter element to search 20</a:t>
            </a:r>
          </a:p>
          <a:p>
            <a:r>
              <a:rPr lang="en-IN" sz="2000" dirty="0">
                <a:solidFill>
                  <a:srgbClr val="FF0000"/>
                </a:solidFill>
              </a:rPr>
              <a:t>20 not found in the list</a:t>
            </a:r>
          </a:p>
          <a:p>
            <a:endParaRPr lang="en-IN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70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40" y="148291"/>
            <a:ext cx="10515600" cy="487190"/>
          </a:xfrm>
        </p:spPr>
        <p:txBody>
          <a:bodyPr>
            <a:noAutofit/>
          </a:bodyPr>
          <a:lstStyle/>
          <a:p>
            <a:br>
              <a:rPr lang="en-US" sz="2400" dirty="0">
                <a:solidFill>
                  <a:srgbClr val="FF0000"/>
                </a:solidFill>
              </a:rPr>
            </a:br>
            <a:r>
              <a:rPr lang="en-US" sz="2400" dirty="0">
                <a:solidFill>
                  <a:srgbClr val="FF0000"/>
                </a:solidFill>
              </a:rPr>
              <a:t>Write a python program to find the largest  element in a list without using method</a:t>
            </a:r>
            <a:br>
              <a:rPr lang="en-US" sz="2400" dirty="0">
                <a:solidFill>
                  <a:srgbClr val="FF0000"/>
                </a:solidFill>
              </a:rPr>
            </a:b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199" y="992778"/>
            <a:ext cx="11166567" cy="5329646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US" sz="2400" dirty="0"/>
              <a:t>list=[1,2,4,7,3]</a:t>
            </a:r>
          </a:p>
          <a:p>
            <a:pPr algn="just">
              <a:buNone/>
            </a:pPr>
            <a:r>
              <a:rPr lang="en-US" sz="2400" dirty="0"/>
              <a:t>max=list[0]</a:t>
            </a:r>
          </a:p>
          <a:p>
            <a:pPr algn="just">
              <a:buNone/>
            </a:pPr>
            <a:r>
              <a:rPr lang="en-US" sz="2400" dirty="0"/>
              <a:t>for a in list:</a:t>
            </a:r>
          </a:p>
          <a:p>
            <a:pPr algn="just">
              <a:buNone/>
            </a:pPr>
            <a:r>
              <a:rPr lang="en-US" sz="2400" dirty="0"/>
              <a:t>	if a &gt; max:</a:t>
            </a:r>
          </a:p>
          <a:p>
            <a:pPr algn="just">
              <a:buNone/>
            </a:pPr>
            <a:r>
              <a:rPr lang="en-US" sz="2400" dirty="0"/>
              <a:t>		max = a</a:t>
            </a:r>
          </a:p>
          <a:p>
            <a:pPr algn="just">
              <a:buNone/>
            </a:pPr>
            <a:r>
              <a:rPr lang="en-US" sz="2400" dirty="0"/>
              <a:t>print("</a:t>
            </a:r>
            <a:r>
              <a:rPr lang="en-US" sz="2400" dirty="0" err="1"/>
              <a:t>largets</a:t>
            </a:r>
            <a:r>
              <a:rPr lang="en-US" sz="2400" dirty="0"/>
              <a:t> </a:t>
            </a:r>
            <a:r>
              <a:rPr lang="en-US" sz="2400" dirty="0" err="1"/>
              <a:t>is",max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233" y="270456"/>
            <a:ext cx="10744927" cy="487190"/>
          </a:xfrm>
        </p:spPr>
        <p:txBody>
          <a:bodyPr>
            <a:noAutofit/>
          </a:bodyPr>
          <a:lstStyle/>
          <a:p>
            <a:r>
              <a:rPr lang="en-US" sz="2000" b="0" i="0" dirty="0">
                <a:solidFill>
                  <a:srgbClr val="FF0000"/>
                </a:solidFill>
                <a:effectLst/>
                <a:latin typeface="Söhne"/>
              </a:rPr>
              <a:t>create a Python program to count the number of strings in a list that have a length of 3 or more and where the first and last characters are the same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199" y="1879600"/>
            <a:ext cx="11166567" cy="4442824"/>
          </a:xfrm>
        </p:spPr>
        <p:txBody>
          <a:bodyPr>
            <a:normAutofit/>
          </a:bodyPr>
          <a:lstStyle/>
          <a:p>
            <a:pPr fontAlgn="base">
              <a:buNone/>
            </a:pP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string_list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["level", "python", "radar", "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hh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", "noon"]</a:t>
            </a:r>
          </a:p>
          <a:p>
            <a:pPr fontAlgn="base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count = 0</a:t>
            </a:r>
          </a:p>
          <a:p>
            <a:pPr fontAlgn="base">
              <a:buNone/>
            </a:pPr>
            <a:endParaRPr lang="en-US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fontAlgn="base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word in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string_list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pPr fontAlgn="base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	if len(word) &gt;= 3 and word[0] == word[-1]:</a:t>
            </a:r>
          </a:p>
          <a:p>
            <a:pPr fontAlgn="base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   count += 1</a:t>
            </a:r>
          </a:p>
          <a:p>
            <a:pPr fontAlgn="base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print("Count is:", count)</a:t>
            </a:r>
          </a:p>
        </p:txBody>
      </p:sp>
    </p:spTree>
    <p:extLst>
      <p:ext uri="{BB962C8B-B14F-4D97-AF65-F5344CB8AC3E}">
        <p14:creationId xmlns:p14="http://schemas.microsoft.com/office/powerpoint/2010/main" val="39022088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br>
              <a:rPr lang="en-US" sz="2800" b="1" dirty="0">
                <a:solidFill>
                  <a:srgbClr val="FF0000"/>
                </a:solidFill>
              </a:rPr>
            </a:br>
            <a:r>
              <a:rPr lang="en-US" sz="2800" b="1" dirty="0">
                <a:solidFill>
                  <a:srgbClr val="FF0000"/>
                </a:solidFill>
              </a:rPr>
              <a:t>List Comprehension:</a:t>
            </a:r>
            <a:br>
              <a:rPr lang="en-US" sz="2800" b="1" dirty="0">
                <a:solidFill>
                  <a:srgbClr val="FF0000"/>
                </a:solidFill>
              </a:rPr>
            </a:b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199" y="992778"/>
            <a:ext cx="11166567" cy="5329646"/>
          </a:xfrm>
        </p:spPr>
        <p:txBody>
          <a:bodyPr>
            <a:normAutofit/>
          </a:bodyPr>
          <a:lstStyle/>
          <a:p>
            <a:r>
              <a:rPr lang="en-US" dirty="0"/>
              <a:t>List comprehension is an elegant and concise way to create new list from an existing list in Python.</a:t>
            </a:r>
          </a:p>
          <a:p>
            <a:r>
              <a:rPr lang="en-US" dirty="0"/>
              <a:t>List comprehension consists of an expression followed by </a:t>
            </a:r>
            <a:r>
              <a:rPr lang="en-US" dirty="0">
                <a:hlinkClick r:id="rId3" tooltip="Python for Loop"/>
              </a:rPr>
              <a:t>for statement</a:t>
            </a:r>
            <a:r>
              <a:rPr lang="en-US" dirty="0"/>
              <a:t> inside square brackets.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dirty="0"/>
              <a:t>pow2 = [2 ** x for x in range(10)]</a:t>
            </a:r>
          </a:p>
          <a:p>
            <a:pPr algn="just">
              <a:buNone/>
            </a:pPr>
            <a:r>
              <a:rPr lang="en-US" dirty="0"/>
              <a:t>print(pow2)</a:t>
            </a:r>
          </a:p>
          <a:p>
            <a:pPr algn="just">
              <a:buNone/>
            </a:pPr>
            <a:r>
              <a:rPr lang="en-US" dirty="0"/>
              <a:t># Output: [1, 2, 4, 8, 16, 32, 64, 128, 256, 512]</a:t>
            </a:r>
          </a:p>
          <a:p>
            <a:pPr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tuple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199" y="1534160"/>
            <a:ext cx="11166567" cy="4788264"/>
          </a:xfrm>
        </p:spPr>
        <p:txBody>
          <a:bodyPr>
            <a:normAutofit/>
          </a:bodyPr>
          <a:lstStyle/>
          <a:p>
            <a:pPr algn="just"/>
            <a:r>
              <a:rPr lang="en-US" sz="2600" dirty="0"/>
              <a:t>A tuple is a collection of elements separated by commas.</a:t>
            </a:r>
          </a:p>
          <a:p>
            <a:pPr algn="just"/>
            <a:r>
              <a:rPr lang="en-US" sz="2600" b="0" i="0" dirty="0">
                <a:solidFill>
                  <a:srgbClr val="000000"/>
                </a:solidFill>
                <a:effectLst/>
              </a:rPr>
              <a:t>Tuple items are ordered, unchangeable, and allow duplicate values.</a:t>
            </a:r>
          </a:p>
          <a:p>
            <a:pPr algn="just"/>
            <a:r>
              <a:rPr lang="en-US" sz="2600" dirty="0"/>
              <a:t>Since tuple are </a:t>
            </a:r>
            <a:r>
              <a:rPr lang="en-US" sz="2600" b="0" i="0" dirty="0">
                <a:solidFill>
                  <a:srgbClr val="000000"/>
                </a:solidFill>
                <a:effectLst/>
              </a:rPr>
              <a:t>unchangeable</a:t>
            </a:r>
            <a:r>
              <a:rPr lang="en-US" sz="2600" dirty="0"/>
              <a:t>, iterating through tuple is faster than with list. </a:t>
            </a:r>
          </a:p>
          <a:p>
            <a:pPr marL="0" indent="0" algn="just">
              <a:buNone/>
            </a:pPr>
            <a:endParaRPr lang="en-US" sz="2600" dirty="0"/>
          </a:p>
          <a:p>
            <a:pPr marL="514350" indent="-514350" algn="just">
              <a:buFont typeface="+mj-lt"/>
              <a:buAutoNum type="arabicPeriod"/>
            </a:pPr>
            <a:endParaRPr lang="en-US" dirty="0"/>
          </a:p>
          <a:p>
            <a:pPr marL="514350" indent="-514350" algn="just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br>
              <a:rPr lang="en-US" sz="2800" b="1" dirty="0">
                <a:solidFill>
                  <a:srgbClr val="FF0000"/>
                </a:solidFill>
              </a:rPr>
            </a:br>
            <a:r>
              <a:rPr lang="en-US" sz="2800" b="1" dirty="0">
                <a:solidFill>
                  <a:srgbClr val="FF0000"/>
                </a:solidFill>
              </a:rPr>
              <a:t>Creating a </a:t>
            </a:r>
            <a:r>
              <a:rPr lang="en-US" sz="2800" b="1" dirty="0" err="1">
                <a:solidFill>
                  <a:srgbClr val="FF0000"/>
                </a:solidFill>
              </a:rPr>
              <a:t>Tuple</a:t>
            </a:r>
            <a:br>
              <a:rPr lang="en-US" sz="2800" b="1" dirty="0">
                <a:solidFill>
                  <a:srgbClr val="FF0000"/>
                </a:solidFill>
              </a:rPr>
            </a:b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199" y="992778"/>
            <a:ext cx="11166567" cy="5329646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dirty="0" err="1"/>
              <a:t>tuple</a:t>
            </a:r>
            <a:r>
              <a:rPr lang="en-US" dirty="0"/>
              <a:t> is created by placing all the items (elements) inside a parentheses (), separated by comma. </a:t>
            </a:r>
          </a:p>
          <a:p>
            <a:r>
              <a:rPr lang="en-US" dirty="0"/>
              <a:t>A tuple can have any number of items and they may be of different types (integer, float, list, </a:t>
            </a:r>
            <a:r>
              <a:rPr lang="en-US" dirty="0">
                <a:hlinkClick r:id="rId3" tooltip="Python string"/>
              </a:rPr>
              <a:t>string</a:t>
            </a:r>
            <a:r>
              <a:rPr lang="en-US" dirty="0"/>
              <a:t> etc.).</a:t>
            </a:r>
          </a:p>
          <a:p>
            <a:endParaRPr lang="en-US" dirty="0"/>
          </a:p>
          <a:p>
            <a:r>
              <a:rPr lang="en-US" dirty="0" err="1"/>
              <a:t>my_tuple</a:t>
            </a:r>
            <a:r>
              <a:rPr lang="en-US" dirty="0"/>
              <a:t> = ()</a:t>
            </a:r>
          </a:p>
          <a:p>
            <a:r>
              <a:rPr lang="en-US" dirty="0" err="1"/>
              <a:t>my_tuple</a:t>
            </a:r>
            <a:r>
              <a:rPr lang="en-US" dirty="0"/>
              <a:t> = (1, 2, 3)</a:t>
            </a:r>
          </a:p>
          <a:p>
            <a:r>
              <a:rPr lang="en-US" dirty="0" err="1"/>
              <a:t>my_tuple</a:t>
            </a:r>
            <a:r>
              <a:rPr lang="en-US" dirty="0"/>
              <a:t> = (1, "Hello", 3.4)</a:t>
            </a:r>
          </a:p>
          <a:p>
            <a:r>
              <a:rPr lang="en-US" dirty="0" err="1"/>
              <a:t>my_tuple</a:t>
            </a:r>
            <a:r>
              <a:rPr lang="en-US" dirty="0"/>
              <a:t> = ("mouse", [8, 4, 6], (1, 2, 3))</a:t>
            </a:r>
          </a:p>
          <a:p>
            <a:r>
              <a:rPr lang="en-US" dirty="0" err="1"/>
              <a:t>my_tuple</a:t>
            </a:r>
            <a:r>
              <a:rPr lang="en-US" dirty="0"/>
              <a:t> = 3, 4.6, "dog"</a:t>
            </a:r>
          </a:p>
          <a:p>
            <a:pPr marL="514350" indent="-514350" algn="just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br>
              <a:rPr lang="en-US" sz="2800" b="1" dirty="0">
                <a:solidFill>
                  <a:srgbClr val="FF0000"/>
                </a:solidFill>
              </a:rPr>
            </a:br>
            <a:r>
              <a:rPr lang="en-US" sz="2800" b="1" dirty="0">
                <a:solidFill>
                  <a:srgbClr val="FF0000"/>
                </a:solidFill>
              </a:rPr>
              <a:t>Accessing Elements in a </a:t>
            </a:r>
            <a:r>
              <a:rPr lang="en-US" sz="2800" b="1" dirty="0" err="1">
                <a:solidFill>
                  <a:srgbClr val="FF0000"/>
                </a:solidFill>
              </a:rPr>
              <a:t>Tuple</a:t>
            </a:r>
            <a:br>
              <a:rPr lang="en-US" sz="2800" b="1" dirty="0">
                <a:solidFill>
                  <a:srgbClr val="FF0000"/>
                </a:solidFill>
              </a:rPr>
            </a:b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199" y="992778"/>
            <a:ext cx="11166567" cy="532964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Indexing:</a:t>
            </a:r>
          </a:p>
          <a:p>
            <a:r>
              <a:rPr lang="en-US" dirty="0"/>
              <a:t>We can use the index operator [] to access an item in a </a:t>
            </a:r>
            <a:r>
              <a:rPr lang="en-US" dirty="0" err="1"/>
              <a:t>tuple</a:t>
            </a:r>
            <a:r>
              <a:rPr lang="en-US" dirty="0"/>
              <a:t> where the index starts from 0.</a:t>
            </a:r>
          </a:p>
          <a:p>
            <a:r>
              <a:rPr lang="en-US" dirty="0"/>
              <a:t>The index must be an integer, so we cannot use float or other types. This will result into </a:t>
            </a:r>
            <a:r>
              <a:rPr lang="en-US" dirty="0" err="1"/>
              <a:t>TypeError</a:t>
            </a:r>
            <a:endParaRPr lang="en-US" dirty="0"/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Negative Indexing</a:t>
            </a:r>
          </a:p>
          <a:p>
            <a:r>
              <a:rPr lang="en-US" dirty="0"/>
              <a:t>Python allows negative indexing for its sequences.</a:t>
            </a:r>
          </a:p>
          <a:p>
            <a:r>
              <a:rPr lang="en-US" dirty="0"/>
              <a:t>The index of -1 refers to the last item, -2 to the second last item and so on.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Slicing</a:t>
            </a:r>
          </a:p>
          <a:p>
            <a:r>
              <a:rPr lang="en-US" dirty="0"/>
              <a:t>We can access a range of items in a </a:t>
            </a:r>
            <a:r>
              <a:rPr lang="en-US" dirty="0" err="1"/>
              <a:t>tuple</a:t>
            </a:r>
            <a:r>
              <a:rPr lang="en-US" dirty="0"/>
              <a:t> by using the slicing operator - colon "</a:t>
            </a:r>
            <a:r>
              <a:rPr lang="en-US" dirty="0">
                <a:solidFill>
                  <a:srgbClr val="7030A0"/>
                </a:solidFill>
              </a:rPr>
              <a:t>:</a:t>
            </a:r>
            <a:r>
              <a:rPr lang="en-US" dirty="0"/>
              <a:t>".</a:t>
            </a:r>
          </a:p>
          <a:p>
            <a:pPr marL="514350" indent="-514350" algn="just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br>
              <a:rPr lang="en-US" sz="2800" b="1" dirty="0">
                <a:solidFill>
                  <a:srgbClr val="FF0000"/>
                </a:solidFill>
              </a:rPr>
            </a:br>
            <a:r>
              <a:rPr lang="en-US" sz="2800" b="1" dirty="0">
                <a:solidFill>
                  <a:srgbClr val="FF0000"/>
                </a:solidFill>
              </a:rPr>
              <a:t>Accessing Elements in a tuple</a:t>
            </a:r>
            <a:br>
              <a:rPr lang="en-US" sz="2800" b="1" dirty="0">
                <a:solidFill>
                  <a:srgbClr val="FF0000"/>
                </a:solidFill>
              </a:rPr>
            </a:b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199" y="992778"/>
            <a:ext cx="11166567" cy="5329646"/>
          </a:xfrm>
        </p:spPr>
        <p:txBody>
          <a:bodyPr>
            <a:normAutofit fontScale="70000" lnSpcReduction="20000"/>
          </a:bodyPr>
          <a:lstStyle/>
          <a:p>
            <a:pPr marL="514350" indent="-514350" algn="just">
              <a:buNone/>
            </a:pPr>
            <a:r>
              <a:rPr lang="en-US" dirty="0" err="1"/>
              <a:t>my_tuple</a:t>
            </a:r>
            <a:r>
              <a:rPr lang="en-US" dirty="0"/>
              <a:t> = ('</a:t>
            </a:r>
            <a:r>
              <a:rPr lang="en-US" dirty="0" err="1"/>
              <a:t>python','java','C','C</a:t>
            </a:r>
            <a:r>
              <a:rPr lang="en-US" dirty="0"/>
              <a:t>++’)</a:t>
            </a:r>
          </a:p>
          <a:p>
            <a:pPr marL="514350" indent="-514350" algn="just">
              <a:buNone/>
            </a:pPr>
            <a:endParaRPr lang="en-US" dirty="0"/>
          </a:p>
          <a:p>
            <a:pPr marL="514350" indent="-514350" algn="just">
              <a:buNone/>
            </a:pPr>
            <a:r>
              <a:rPr lang="en-US" dirty="0"/>
              <a:t>print(</a:t>
            </a:r>
            <a:r>
              <a:rPr lang="en-US" dirty="0" err="1"/>
              <a:t>my_tuple</a:t>
            </a:r>
            <a:r>
              <a:rPr lang="en-US" dirty="0"/>
              <a:t>[3])</a:t>
            </a:r>
          </a:p>
          <a:p>
            <a:pPr marL="514350" indent="-514350" algn="just">
              <a:buNone/>
            </a:pPr>
            <a:r>
              <a:rPr lang="en-US" dirty="0"/>
              <a:t>print(</a:t>
            </a:r>
            <a:r>
              <a:rPr lang="en-US" dirty="0" err="1"/>
              <a:t>my_tuple</a:t>
            </a:r>
            <a:r>
              <a:rPr lang="en-US" dirty="0"/>
              <a:t>[-2])</a:t>
            </a:r>
          </a:p>
          <a:p>
            <a:pPr marL="514350" indent="-514350" algn="just">
              <a:buNone/>
            </a:pPr>
            <a:r>
              <a:rPr lang="en-US" dirty="0"/>
              <a:t>print(</a:t>
            </a:r>
            <a:r>
              <a:rPr lang="en-US" dirty="0" err="1"/>
              <a:t>my_tuple</a:t>
            </a:r>
            <a:r>
              <a:rPr lang="en-US" dirty="0"/>
              <a:t>[1:3])</a:t>
            </a:r>
          </a:p>
          <a:p>
            <a:pPr marL="514350" indent="-514350" algn="just">
              <a:buNone/>
            </a:pPr>
            <a:r>
              <a:rPr lang="en-US" dirty="0"/>
              <a:t>print(</a:t>
            </a:r>
            <a:r>
              <a:rPr lang="en-US" dirty="0" err="1"/>
              <a:t>my_tuple</a:t>
            </a:r>
            <a:r>
              <a:rPr lang="en-US" dirty="0"/>
              <a:t>[:])</a:t>
            </a:r>
          </a:p>
          <a:p>
            <a:pPr marL="514350" indent="-514350" algn="just">
              <a:buNone/>
            </a:pPr>
            <a:endParaRPr lang="en-US" dirty="0"/>
          </a:p>
          <a:p>
            <a:pPr marL="514350" indent="-514350" algn="just">
              <a:buNone/>
            </a:pPr>
            <a:r>
              <a:rPr lang="en-US" dirty="0"/>
              <a:t>t=(1,2,3)</a:t>
            </a:r>
          </a:p>
          <a:p>
            <a:pPr marL="514350" indent="-514350" algn="just">
              <a:buNone/>
            </a:pPr>
            <a:r>
              <a:rPr lang="en-US" dirty="0"/>
              <a:t>t[0] = 5</a:t>
            </a:r>
          </a:p>
          <a:p>
            <a:pPr marL="514350" indent="-514350" algn="just">
              <a:buNone/>
            </a:pPr>
            <a:endParaRPr lang="fr-FR" dirty="0"/>
          </a:p>
          <a:p>
            <a:pPr marL="514350" indent="-514350" algn="just">
              <a:buNone/>
            </a:pPr>
            <a:r>
              <a:rPr lang="fr-FR" dirty="0" err="1"/>
              <a:t>n_tuple</a:t>
            </a:r>
            <a:r>
              <a:rPr lang="fr-FR" dirty="0"/>
              <a:t> = ("mouse", [8, 4, 6], (1, 2, 3))</a:t>
            </a:r>
          </a:p>
          <a:p>
            <a:pPr marL="514350" indent="-514350" algn="just">
              <a:buNone/>
            </a:pPr>
            <a:endParaRPr lang="fr-FR" dirty="0"/>
          </a:p>
          <a:p>
            <a:pPr marL="514350" indent="-514350" algn="just">
              <a:buNone/>
            </a:pP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n_tuple</a:t>
            </a:r>
            <a:r>
              <a:rPr lang="fr-FR" dirty="0"/>
              <a:t>[1])</a:t>
            </a:r>
          </a:p>
          <a:p>
            <a:pPr marL="514350" indent="-514350" algn="just">
              <a:buNone/>
            </a:pP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n_tuple</a:t>
            </a:r>
            <a:r>
              <a:rPr lang="fr-FR" dirty="0"/>
              <a:t>[0][1])</a:t>
            </a:r>
          </a:p>
          <a:p>
            <a:pPr marL="514350" indent="-514350" algn="just">
              <a:buNone/>
            </a:pP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n_tuple</a:t>
            </a:r>
            <a:r>
              <a:rPr lang="fr-FR" dirty="0"/>
              <a:t>[2][2])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br>
              <a:rPr lang="en-US" sz="2800" dirty="0">
                <a:solidFill>
                  <a:srgbClr val="FF0000"/>
                </a:solidFill>
              </a:rPr>
            </a:br>
            <a:br>
              <a:rPr lang="en-US" sz="2800" dirty="0">
                <a:solidFill>
                  <a:srgbClr val="FF0000"/>
                </a:solidFill>
              </a:rPr>
            </a:br>
            <a:r>
              <a:rPr lang="en-US" sz="2800" dirty="0">
                <a:solidFill>
                  <a:srgbClr val="FF0000"/>
                </a:solidFill>
              </a:rPr>
              <a:t>Basic tuple Operations</a:t>
            </a:r>
            <a:br>
              <a:rPr lang="en-US" sz="2800" dirty="0">
                <a:solidFill>
                  <a:srgbClr val="FF0000"/>
                </a:solidFill>
              </a:rPr>
            </a:br>
            <a:br>
              <a:rPr lang="en-US" sz="2800" dirty="0">
                <a:solidFill>
                  <a:srgbClr val="FF0000"/>
                </a:solidFill>
              </a:rPr>
            </a:b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567637" y="1410789"/>
            <a:ext cx="10405163" cy="4519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br>
              <a:rPr lang="en-US" sz="2800" dirty="0">
                <a:solidFill>
                  <a:srgbClr val="FF0000"/>
                </a:solidFill>
              </a:rPr>
            </a:br>
            <a:br>
              <a:rPr lang="en-US" sz="2800" dirty="0">
                <a:solidFill>
                  <a:srgbClr val="FF0000"/>
                </a:solidFill>
              </a:rPr>
            </a:br>
            <a:r>
              <a:rPr lang="en-US" sz="2800" b="1" dirty="0">
                <a:solidFill>
                  <a:srgbClr val="FF0000"/>
                </a:solidFill>
              </a:rPr>
              <a:t>Methods</a:t>
            </a:r>
            <a:br>
              <a:rPr lang="en-US" sz="2800" dirty="0">
                <a:solidFill>
                  <a:srgbClr val="FF0000"/>
                </a:solidFill>
              </a:rPr>
            </a:br>
            <a:br>
              <a:rPr lang="en-US" sz="2800" dirty="0">
                <a:solidFill>
                  <a:srgbClr val="FF0000"/>
                </a:solidFill>
              </a:rPr>
            </a:b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901337"/>
            <a:ext cx="10515600" cy="52756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dirty="0"/>
              <a:t>t=(1,4,5,3,8)</a:t>
            </a:r>
          </a:p>
          <a:p>
            <a:pPr>
              <a:buNone/>
            </a:pP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>
                <a:solidFill>
                  <a:srgbClr val="00B050"/>
                </a:solidFill>
              </a:rPr>
              <a:t>sum</a:t>
            </a:r>
            <a:r>
              <a:rPr lang="fr-FR" dirty="0"/>
              <a:t>(t))</a:t>
            </a:r>
          </a:p>
          <a:p>
            <a:pPr>
              <a:buNone/>
            </a:pP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>
                <a:solidFill>
                  <a:srgbClr val="00B050"/>
                </a:solidFill>
              </a:rPr>
              <a:t>max</a:t>
            </a:r>
            <a:r>
              <a:rPr lang="fr-FR" dirty="0"/>
              <a:t>(t))</a:t>
            </a:r>
          </a:p>
          <a:p>
            <a:pPr>
              <a:buNone/>
            </a:pP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>
                <a:solidFill>
                  <a:srgbClr val="00B050"/>
                </a:solidFill>
              </a:rPr>
              <a:t>min</a:t>
            </a:r>
            <a:r>
              <a:rPr lang="fr-FR" dirty="0"/>
              <a:t>(t))</a:t>
            </a:r>
          </a:p>
          <a:p>
            <a:pPr>
              <a:buNone/>
            </a:pPr>
            <a:endParaRPr lang="fr-FR" dirty="0">
              <a:solidFill>
                <a:srgbClr val="FF0000"/>
              </a:solidFill>
            </a:endParaRPr>
          </a:p>
          <a:p>
            <a:pPr>
              <a:buNone/>
            </a:pPr>
            <a:endParaRPr lang="fr-FR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/>
              <a:t>T=(1,5,3,2,5)</a:t>
            </a:r>
          </a:p>
          <a:p>
            <a:pPr>
              <a:buNone/>
            </a:pPr>
            <a:r>
              <a:rPr lang="en-US" dirty="0"/>
              <a:t>print(T. </a:t>
            </a:r>
            <a:r>
              <a:rPr lang="en-US" dirty="0">
                <a:solidFill>
                  <a:srgbClr val="00B050"/>
                </a:solidFill>
              </a:rPr>
              <a:t>count</a:t>
            </a:r>
            <a:r>
              <a:rPr lang="en-US" dirty="0"/>
              <a:t>(5))   # 2</a:t>
            </a:r>
          </a:p>
          <a:p>
            <a:pPr>
              <a:buNone/>
            </a:pPr>
            <a:endParaRPr lang="fr-FR" dirty="0">
              <a:solidFill>
                <a:srgbClr val="FF0000"/>
              </a:solidFill>
            </a:endParaRPr>
          </a:p>
          <a:p>
            <a:pPr>
              <a:buNone/>
            </a:pP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br>
              <a:rPr lang="en-US" sz="2800" dirty="0">
                <a:solidFill>
                  <a:srgbClr val="FF0000"/>
                </a:solidFill>
              </a:rPr>
            </a:br>
            <a:br>
              <a:rPr lang="en-US" sz="2800" dirty="0">
                <a:solidFill>
                  <a:srgbClr val="FF0000"/>
                </a:solidFill>
              </a:rPr>
            </a:br>
            <a:r>
              <a:rPr lang="en-US" sz="2800" dirty="0">
                <a:solidFill>
                  <a:srgbClr val="FF0000"/>
                </a:solidFill>
              </a:rPr>
              <a:t>Methods</a:t>
            </a:r>
            <a:br>
              <a:rPr lang="en-US" sz="2800" dirty="0">
                <a:solidFill>
                  <a:srgbClr val="FF0000"/>
                </a:solidFill>
              </a:rPr>
            </a:br>
            <a:br>
              <a:rPr lang="en-US" sz="2800" dirty="0">
                <a:solidFill>
                  <a:srgbClr val="FF0000"/>
                </a:solidFill>
              </a:rPr>
            </a:b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901337"/>
            <a:ext cx="10931434" cy="5275626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tuple():</a:t>
            </a:r>
            <a:r>
              <a:rPr lang="en-US" dirty="0"/>
              <a:t> converts a list of items into tuples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fr-FR" dirty="0"/>
              <a:t>L=[1,5,3]</a:t>
            </a:r>
          </a:p>
          <a:p>
            <a:pPr>
              <a:buNone/>
            </a:pPr>
            <a:r>
              <a:rPr lang="fr-FR" dirty="0"/>
              <a:t>T=</a:t>
            </a:r>
            <a:r>
              <a:rPr lang="fr-FR" dirty="0">
                <a:solidFill>
                  <a:srgbClr val="00B050"/>
                </a:solidFill>
              </a:rPr>
              <a:t>tuple</a:t>
            </a:r>
            <a:r>
              <a:rPr lang="fr-FR" dirty="0"/>
              <a:t>( L )</a:t>
            </a:r>
          </a:p>
          <a:p>
            <a:pPr>
              <a:buNone/>
            </a:pPr>
            <a:r>
              <a:rPr lang="fr-FR" dirty="0" err="1"/>
              <a:t>print</a:t>
            </a:r>
            <a:r>
              <a:rPr lang="fr-FR" dirty="0"/>
              <a:t>(T)</a:t>
            </a: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None/>
            </a:pPr>
            <a:r>
              <a:rPr lang="en-US" dirty="0">
                <a:solidFill>
                  <a:srgbClr val="FF0000"/>
                </a:solidFill>
              </a:rPr>
              <a:t>Sorted():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p = ('e', 'a', 'u', 'o', 'i')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print(</a:t>
            </a:r>
            <a:r>
              <a:rPr lang="en-US" dirty="0">
                <a:solidFill>
                  <a:srgbClr val="00B050"/>
                </a:solidFill>
              </a:rPr>
              <a:t>sorted</a:t>
            </a:r>
            <a:r>
              <a:rPr lang="en-US" dirty="0"/>
              <a:t>(p))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print(</a:t>
            </a:r>
            <a:r>
              <a:rPr lang="en-US" dirty="0">
                <a:solidFill>
                  <a:srgbClr val="00B050"/>
                </a:solidFill>
              </a:rPr>
              <a:t>sorted</a:t>
            </a:r>
            <a:r>
              <a:rPr lang="en-US" dirty="0"/>
              <a:t>(</a:t>
            </a:r>
            <a:r>
              <a:rPr lang="en-US" dirty="0" err="1"/>
              <a:t>p,reverse</a:t>
            </a:r>
            <a:r>
              <a:rPr lang="en-US" dirty="0"/>
              <a:t>=True))</a:t>
            </a:r>
          </a:p>
          <a:p>
            <a:pPr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7F5BEBD3-AB75-584A-1EA8-8566BC718EEF}"/>
              </a:ext>
            </a:extLst>
          </p:cNvPr>
          <p:cNvSpPr txBox="1">
            <a:spLocks/>
          </p:cNvSpPr>
          <p:nvPr/>
        </p:nvSpPr>
        <p:spPr>
          <a:xfrm>
            <a:off x="990600" y="4013199"/>
            <a:ext cx="10931434" cy="2316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60C2B08-D940-1FA3-B9A4-061CFA970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3114" y="4927807"/>
            <a:ext cx="421132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['a', 'e', 'i', 'o', 'u’]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['u', 'o', 'i', 'e', 'a']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Even and Odd sum in a </a:t>
            </a:r>
            <a:r>
              <a:rPr lang="en-US" sz="2800" dirty="0" err="1">
                <a:solidFill>
                  <a:srgbClr val="FF0000"/>
                </a:solidFill>
              </a:rPr>
              <a:t>tuple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901337"/>
            <a:ext cx="10931434" cy="52756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t=(1,2,3,4,5)</a:t>
            </a:r>
          </a:p>
          <a:p>
            <a:pPr>
              <a:buNone/>
            </a:pPr>
            <a:r>
              <a:rPr lang="en-US" dirty="0" err="1"/>
              <a:t>sume</a:t>
            </a:r>
            <a:r>
              <a:rPr lang="en-US" dirty="0"/>
              <a:t>=0</a:t>
            </a:r>
          </a:p>
          <a:p>
            <a:pPr>
              <a:buNone/>
            </a:pPr>
            <a:r>
              <a:rPr lang="en-US" dirty="0"/>
              <a:t>sumo=0</a:t>
            </a:r>
          </a:p>
          <a:p>
            <a:pPr>
              <a:buNone/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t:</a:t>
            </a:r>
          </a:p>
          <a:p>
            <a:pPr>
              <a:buNone/>
            </a:pPr>
            <a:r>
              <a:rPr lang="en-US" dirty="0"/>
              <a:t>	if(i%2==0):</a:t>
            </a:r>
          </a:p>
          <a:p>
            <a:pPr>
              <a:buNone/>
            </a:pPr>
            <a:r>
              <a:rPr lang="en-US" dirty="0"/>
              <a:t>		</a:t>
            </a:r>
            <a:r>
              <a:rPr lang="en-US" dirty="0" err="1"/>
              <a:t>sume</a:t>
            </a:r>
            <a:r>
              <a:rPr lang="en-US" dirty="0"/>
              <a:t>=</a:t>
            </a:r>
            <a:r>
              <a:rPr lang="en-US" dirty="0" err="1"/>
              <a:t>sume+i</a:t>
            </a:r>
            <a:endParaRPr lang="en-US" dirty="0"/>
          </a:p>
          <a:p>
            <a:pPr>
              <a:buNone/>
            </a:pPr>
            <a:r>
              <a:rPr lang="en-US" dirty="0"/>
              <a:t>	else:</a:t>
            </a:r>
          </a:p>
          <a:p>
            <a:pPr>
              <a:buNone/>
            </a:pPr>
            <a:r>
              <a:rPr lang="en-US" dirty="0"/>
              <a:t>		sumo=</a:t>
            </a:r>
            <a:r>
              <a:rPr lang="en-US" dirty="0" err="1"/>
              <a:t>sumo+i</a:t>
            </a:r>
            <a:endParaRPr lang="en-US" dirty="0"/>
          </a:p>
          <a:p>
            <a:pPr>
              <a:buNone/>
            </a:pPr>
            <a:r>
              <a:rPr lang="en-US" dirty="0"/>
              <a:t>print(</a:t>
            </a:r>
            <a:r>
              <a:rPr lang="en-US" dirty="0" err="1"/>
              <a:t>sume</a:t>
            </a:r>
            <a:r>
              <a:rPr lang="en-US" dirty="0"/>
              <a:t>)</a:t>
            </a:r>
          </a:p>
          <a:p>
            <a:pPr>
              <a:buNone/>
            </a:pPr>
            <a:r>
              <a:rPr lang="en-US" dirty="0"/>
              <a:t>print(sumo)</a:t>
            </a: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br>
              <a:rPr lang="en-US" dirty="0">
                <a:solidFill>
                  <a:srgbClr val="FF0000"/>
                </a:solidFill>
              </a:rPr>
            </a:b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python set</a:t>
            </a:r>
            <a:br>
              <a:rPr lang="en-US" dirty="0">
                <a:solidFill>
                  <a:srgbClr val="FF0000"/>
                </a:solidFill>
              </a:rPr>
            </a:b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188719"/>
            <a:ext cx="10931434" cy="4988243"/>
          </a:xfrm>
        </p:spPr>
        <p:txBody>
          <a:bodyPr>
            <a:noAutofit/>
          </a:bodyPr>
          <a:lstStyle/>
          <a:p>
            <a:r>
              <a:rPr lang="en-US" sz="2400" dirty="0"/>
              <a:t>A set is an </a:t>
            </a:r>
            <a:r>
              <a:rPr lang="en-US" sz="2400" dirty="0">
                <a:solidFill>
                  <a:srgbClr val="7030A0"/>
                </a:solidFill>
              </a:rPr>
              <a:t>unordered collection </a:t>
            </a:r>
            <a:r>
              <a:rPr lang="en-US" sz="2400" dirty="0"/>
              <a:t>of items.</a:t>
            </a:r>
          </a:p>
          <a:p>
            <a:r>
              <a:rPr lang="en-US" sz="2400" dirty="0"/>
              <a:t>All the  elements in the set are  </a:t>
            </a:r>
            <a:r>
              <a:rPr lang="en-US" sz="2400" dirty="0">
                <a:solidFill>
                  <a:srgbClr val="7030A0"/>
                </a:solidFill>
              </a:rPr>
              <a:t>unique</a:t>
            </a:r>
            <a:r>
              <a:rPr lang="en-US" sz="2400" dirty="0"/>
              <a:t>.</a:t>
            </a:r>
          </a:p>
          <a:p>
            <a:r>
              <a:rPr lang="en-US" sz="2400" dirty="0"/>
              <a:t>Sets can be used to perform mathematical set operations like </a:t>
            </a:r>
            <a:r>
              <a:rPr lang="en-US" sz="2400" dirty="0">
                <a:solidFill>
                  <a:srgbClr val="7030A0"/>
                </a:solidFill>
              </a:rPr>
              <a:t>union, intersection, symmetric difference</a:t>
            </a:r>
            <a:r>
              <a:rPr lang="en-US" sz="2400" dirty="0"/>
              <a:t> etc.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How to create a set:</a:t>
            </a:r>
            <a:endParaRPr lang="en-US" sz="2400" dirty="0"/>
          </a:p>
          <a:p>
            <a:r>
              <a:rPr lang="en-US" sz="2400" dirty="0"/>
              <a:t>A set is created by placing all the elements inside curly braces {}, separated by comma or by using the built-in function </a:t>
            </a:r>
            <a:r>
              <a:rPr lang="en-US" sz="2400" dirty="0">
                <a:solidFill>
                  <a:srgbClr val="7030A0"/>
                </a:solidFill>
              </a:rPr>
              <a:t>set().</a:t>
            </a:r>
          </a:p>
          <a:p>
            <a:r>
              <a:rPr lang="en-US" sz="2400" dirty="0"/>
              <a:t>It can have any number of items and they may be of different types (integer, float, tuple, string etc.).</a:t>
            </a:r>
          </a:p>
          <a:p>
            <a:pPr marL="0" indent="0">
              <a:buNone/>
            </a:pPr>
            <a:r>
              <a:rPr lang="en-US" sz="2400" dirty="0" err="1"/>
              <a:t>my_set</a:t>
            </a:r>
            <a:r>
              <a:rPr lang="en-US" sz="2400" dirty="0"/>
              <a:t> = {1, 2, 3}</a:t>
            </a:r>
          </a:p>
          <a:p>
            <a:pPr>
              <a:buNone/>
            </a:pPr>
            <a:r>
              <a:rPr lang="en-US" sz="2400" dirty="0" err="1"/>
              <a:t>my_set</a:t>
            </a:r>
            <a:r>
              <a:rPr lang="en-US" sz="2400" dirty="0"/>
              <a:t> = set([1,2,3]) </a:t>
            </a:r>
          </a:p>
          <a:p>
            <a:pPr>
              <a:buNone/>
            </a:pPr>
            <a:r>
              <a:rPr lang="en-US" sz="2400" dirty="0" err="1"/>
              <a:t>my_set</a:t>
            </a:r>
            <a:r>
              <a:rPr lang="en-US" sz="2400" dirty="0"/>
              <a:t> = {1,2,3,4,3,2}        # {1,2,3,4}</a:t>
            </a: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pPr algn="l"/>
            <a:r>
              <a:rPr lang="en-IN" sz="36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Access Items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901337"/>
            <a:ext cx="10931434" cy="5275626"/>
          </a:xfrm>
        </p:spPr>
        <p:txBody>
          <a:bodyPr>
            <a:normAutofit/>
          </a:bodyPr>
          <a:lstStyle/>
          <a:p>
            <a:r>
              <a:rPr lang="en-US" sz="2400" dirty="0"/>
              <a:t>We cannot access or change an element of set using indexing or slicing.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But you can loop through the set items using a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</a:rPr>
              <a:t>for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loop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0BA715-E666-3681-81FA-2C05D3F10054}"/>
              </a:ext>
            </a:extLst>
          </p:cNvPr>
          <p:cNvSpPr txBox="1"/>
          <p:nvPr/>
        </p:nvSpPr>
        <p:spPr>
          <a:xfrm>
            <a:off x="1254760" y="2238699"/>
            <a:ext cx="63093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 err="1"/>
              <a:t>thisset</a:t>
            </a:r>
            <a:r>
              <a:rPr lang="en-IN" sz="2400" dirty="0"/>
              <a:t> = {"apple", "banana", "cherry"}</a:t>
            </a:r>
          </a:p>
          <a:p>
            <a:endParaRPr lang="en-IN" sz="2400" dirty="0"/>
          </a:p>
          <a:p>
            <a:r>
              <a:rPr lang="en-IN" sz="2400" dirty="0"/>
              <a:t>for x in </a:t>
            </a:r>
            <a:r>
              <a:rPr lang="en-IN" sz="2400" dirty="0" err="1"/>
              <a:t>thisset</a:t>
            </a:r>
            <a:r>
              <a:rPr lang="en-IN" sz="2400" dirty="0"/>
              <a:t>:</a:t>
            </a:r>
          </a:p>
          <a:p>
            <a:r>
              <a:rPr lang="en-IN" sz="2400" dirty="0"/>
              <a:t>  print(x)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64DFBC-940A-4989-2598-E7F592DE2BD1}"/>
              </a:ext>
            </a:extLst>
          </p:cNvPr>
          <p:cNvSpPr txBox="1"/>
          <p:nvPr/>
        </p:nvSpPr>
        <p:spPr>
          <a:xfrm>
            <a:off x="7980680" y="3372144"/>
            <a:ext cx="391668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cherry</a:t>
            </a:r>
            <a:br>
              <a:rPr lang="en-IN" sz="2200" dirty="0">
                <a:solidFill>
                  <a:srgbClr val="FF0000"/>
                </a:solidFill>
              </a:rPr>
            </a:br>
            <a:r>
              <a:rPr lang="en-IN" sz="2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banana</a:t>
            </a:r>
            <a:br>
              <a:rPr lang="en-IN" sz="2200" dirty="0">
                <a:solidFill>
                  <a:srgbClr val="FF0000"/>
                </a:solidFill>
              </a:rPr>
            </a:br>
            <a:r>
              <a:rPr lang="en-IN" sz="22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apple</a:t>
            </a:r>
            <a:endParaRPr lang="en-IN" sz="2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2781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IN" sz="28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Join Two Sets or </a:t>
            </a:r>
            <a:r>
              <a:rPr lang="en-US" sz="2800" b="1" dirty="0">
                <a:solidFill>
                  <a:srgbClr val="FF0000"/>
                </a:solidFill>
              </a:rPr>
              <a:t>Python Set Operations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901337"/>
            <a:ext cx="11353800" cy="5275626"/>
          </a:xfrm>
        </p:spPr>
        <p:txBody>
          <a:bodyPr>
            <a:no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ts val="600"/>
              </a:spcBef>
            </a:pPr>
            <a:r>
              <a:rPr lang="en-US" altLang="en-US" sz="2200" dirty="0">
                <a:solidFill>
                  <a:srgbClr val="000000"/>
                </a:solidFill>
              </a:rPr>
              <a:t>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he 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</a:rPr>
              <a:t>union()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method that returns a new set containing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</a:rPr>
              <a:t>all items from both sets </a:t>
            </a:r>
          </a:p>
          <a:p>
            <a:pPr algn="just">
              <a:spcBef>
                <a:spcPts val="600"/>
              </a:spcBef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The 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</a:rPr>
              <a:t>intersection()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method will return a 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new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set, that only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</a:rPr>
              <a:t>contains the items that are present in both sets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.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algn="just">
              <a:spcBef>
                <a:spcPts val="600"/>
              </a:spcBef>
            </a:pPr>
            <a:r>
              <a:rPr lang="en-US" sz="2200" dirty="0">
                <a:solidFill>
                  <a:srgbClr val="FF0000"/>
                </a:solidFill>
              </a:rPr>
              <a:t>Difference</a:t>
            </a:r>
            <a:r>
              <a:rPr lang="en-US" sz="2200" dirty="0"/>
              <a:t> of A and B (A - B) is a set of elements that are only </a:t>
            </a:r>
            <a:r>
              <a:rPr lang="en-US" sz="2200" dirty="0">
                <a:solidFill>
                  <a:srgbClr val="7030A0"/>
                </a:solidFill>
              </a:rPr>
              <a:t>in A but not in B</a:t>
            </a:r>
          </a:p>
          <a:p>
            <a:pPr algn="just">
              <a:spcBef>
                <a:spcPts val="600"/>
              </a:spcBef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The 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</a:rPr>
              <a:t>symmetric_difference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</a:rPr>
              <a:t>()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method will return a new set, that contains only the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</a:rPr>
              <a:t>elements that are NOT present in both sets. </a:t>
            </a:r>
          </a:p>
          <a:p>
            <a:pPr>
              <a:spcBef>
                <a:spcPts val="600"/>
              </a:spcBef>
            </a:pPr>
            <a:endParaRPr lang="en-US" sz="220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2200" dirty="0">
                <a:solidFill>
                  <a:srgbClr val="FF0000"/>
                </a:solidFill>
              </a:rPr>
              <a:t>Program:</a:t>
            </a:r>
          </a:p>
          <a:p>
            <a:pPr marL="0" indent="0">
              <a:spcBef>
                <a:spcPts val="600"/>
              </a:spcBef>
              <a:buNone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= {1, 2, 3, 4, 5}    </a:t>
            </a:r>
          </a:p>
          <a:p>
            <a:pPr marL="0" indent="0">
              <a:spcBef>
                <a:spcPts val="600"/>
              </a:spcBef>
              <a:buNone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 = {4, 5, 6, 7, 8}</a:t>
            </a:r>
          </a:p>
          <a:p>
            <a:pPr>
              <a:spcBef>
                <a:spcPts val="600"/>
              </a:spcBef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>
              <a:spcBef>
                <a:spcPts val="600"/>
              </a:spcBef>
              <a:buNone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print(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A.union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(B))        			 #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{1, 2, 3, 4, 5, 6, 7, 8}</a:t>
            </a:r>
          </a:p>
          <a:p>
            <a:pPr marL="0" indent="0">
              <a:spcBef>
                <a:spcPts val="600"/>
              </a:spcBef>
              <a:buNone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print(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A.intersection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(B)) 			#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{4, 5} </a:t>
            </a:r>
          </a:p>
          <a:p>
            <a:pPr marL="0" indent="0">
              <a:spcBef>
                <a:spcPts val="600"/>
              </a:spcBef>
              <a:buNone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print(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A.difference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(B)) 			#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{1, 2, 3}</a:t>
            </a:r>
          </a:p>
          <a:p>
            <a:pPr marL="0" indent="0">
              <a:spcBef>
                <a:spcPts val="600"/>
              </a:spcBef>
              <a:buNone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print(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A.symmetric_difference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(B))   	  #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{1, 2, 3, 6, 7, 8} 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>
              <a:spcBef>
                <a:spcPts val="600"/>
              </a:spcBef>
            </a:pPr>
            <a:endParaRPr lang="en-US" sz="2200" dirty="0"/>
          </a:p>
          <a:p>
            <a:pPr>
              <a:spcBef>
                <a:spcPts val="600"/>
              </a:spcBef>
            </a:pPr>
            <a:endParaRPr lang="en-US" sz="2200" dirty="0"/>
          </a:p>
          <a:p>
            <a:pPr>
              <a:spcBef>
                <a:spcPts val="600"/>
              </a:spcBef>
            </a:pPr>
            <a:endParaRPr lang="en-US" sz="2200" dirty="0"/>
          </a:p>
        </p:txBody>
      </p:sp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Python Set Methods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901337"/>
            <a:ext cx="10931434" cy="5275626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n-US" dirty="0">
                <a:solidFill>
                  <a:srgbClr val="FF0000"/>
                </a:solidFill>
              </a:rPr>
              <a:t>add() : </a:t>
            </a:r>
            <a:r>
              <a:rPr lang="en-US" dirty="0"/>
              <a:t>It  adds a given element to a set. If the element is already present, it doesn't add any element.</a:t>
            </a:r>
          </a:p>
          <a:p>
            <a:pPr algn="just">
              <a:buNone/>
            </a:pPr>
            <a:r>
              <a:rPr lang="en-US" dirty="0"/>
              <a:t>v = {'a', 'e', 'i', 'u'}</a:t>
            </a:r>
          </a:p>
          <a:p>
            <a:pPr algn="just">
              <a:buNone/>
            </a:pPr>
            <a:r>
              <a:rPr lang="en-US" dirty="0" err="1"/>
              <a:t>v.add</a:t>
            </a:r>
            <a:r>
              <a:rPr lang="en-US" dirty="0"/>
              <a:t>('o')</a:t>
            </a:r>
          </a:p>
          <a:p>
            <a:pPr algn="just">
              <a:buNone/>
            </a:pPr>
            <a:r>
              <a:rPr lang="en-US" dirty="0"/>
              <a:t>print('Vowels are:', v)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dirty="0">
                <a:solidFill>
                  <a:srgbClr val="FF0000"/>
                </a:solidFill>
              </a:rPr>
              <a:t>remove(): </a:t>
            </a:r>
            <a:r>
              <a:rPr lang="en-US" dirty="0"/>
              <a:t>method searches for the given element in the set and removes it.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Ex:</a:t>
            </a:r>
          </a:p>
          <a:p>
            <a:pPr>
              <a:buNone/>
            </a:pPr>
            <a:r>
              <a:rPr lang="en-US" dirty="0"/>
              <a:t>language = {'English', 'French', German'}</a:t>
            </a:r>
          </a:p>
          <a:p>
            <a:pPr>
              <a:buNone/>
            </a:pPr>
            <a:r>
              <a:rPr lang="en-US" dirty="0" err="1"/>
              <a:t>language.remove</a:t>
            </a:r>
            <a:r>
              <a:rPr lang="en-US" dirty="0"/>
              <a:t>('German')</a:t>
            </a:r>
          </a:p>
          <a:p>
            <a:pPr>
              <a:buNone/>
            </a:pPr>
            <a:r>
              <a:rPr lang="en-US" dirty="0"/>
              <a:t>print(language)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Output: </a:t>
            </a:r>
            <a:r>
              <a:rPr lang="en-US" dirty="0"/>
              <a:t>{'English', 'French'}</a:t>
            </a:r>
          </a:p>
          <a:p>
            <a:pPr algn="just">
              <a:buNone/>
            </a:pPr>
            <a:endParaRPr lang="en-US" dirty="0"/>
          </a:p>
        </p:txBody>
      </p:sp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Python Set Methods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901337"/>
            <a:ext cx="10931434" cy="52756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numbers = {2.5, 3, 4, -5}</a:t>
            </a:r>
          </a:p>
          <a:p>
            <a:pPr>
              <a:buNone/>
            </a:pPr>
            <a:r>
              <a:rPr lang="en-US" dirty="0"/>
              <a:t>print(</a:t>
            </a:r>
            <a:r>
              <a:rPr lang="en-US" dirty="0">
                <a:solidFill>
                  <a:srgbClr val="00B050"/>
                </a:solidFill>
              </a:rPr>
              <a:t>sum</a:t>
            </a:r>
            <a:r>
              <a:rPr lang="en-US" dirty="0"/>
              <a:t>(numbers))	 </a:t>
            </a:r>
            <a:r>
              <a:rPr lang="en-US" dirty="0">
                <a:solidFill>
                  <a:srgbClr val="FF0000"/>
                </a:solidFill>
              </a:rPr>
              <a:t>#   4.5</a:t>
            </a:r>
          </a:p>
          <a:p>
            <a:pPr>
              <a:buNone/>
            </a:pPr>
            <a:r>
              <a:rPr lang="en-US" dirty="0"/>
              <a:t>print(</a:t>
            </a:r>
            <a:r>
              <a:rPr lang="en-US" dirty="0">
                <a:solidFill>
                  <a:srgbClr val="00B050"/>
                </a:solidFill>
              </a:rPr>
              <a:t>max</a:t>
            </a:r>
            <a:r>
              <a:rPr lang="en-US" dirty="0"/>
              <a:t>(numbers))	</a:t>
            </a:r>
            <a:r>
              <a:rPr lang="en-US" dirty="0">
                <a:solidFill>
                  <a:srgbClr val="FF0000"/>
                </a:solidFill>
              </a:rPr>
              <a:t>#4</a:t>
            </a:r>
          </a:p>
          <a:p>
            <a:pPr>
              <a:buNone/>
            </a:pPr>
            <a:r>
              <a:rPr lang="en-US" dirty="0"/>
              <a:t>print(</a:t>
            </a:r>
            <a:r>
              <a:rPr lang="en-US" dirty="0">
                <a:solidFill>
                  <a:srgbClr val="00B050"/>
                </a:solidFill>
              </a:rPr>
              <a:t>min</a:t>
            </a:r>
            <a:r>
              <a:rPr lang="en-US" dirty="0"/>
              <a:t>(numbers))	</a:t>
            </a:r>
            <a:r>
              <a:rPr lang="en-US" dirty="0">
                <a:solidFill>
                  <a:srgbClr val="FF0000"/>
                </a:solidFill>
              </a:rPr>
              <a:t># -5</a:t>
            </a:r>
          </a:p>
          <a:p>
            <a:pPr>
              <a:buNone/>
            </a:pPr>
            <a:r>
              <a:rPr lang="en-US" dirty="0"/>
              <a:t>print(</a:t>
            </a:r>
            <a:r>
              <a:rPr lang="en-US" dirty="0">
                <a:solidFill>
                  <a:srgbClr val="00B050"/>
                </a:solidFill>
              </a:rPr>
              <a:t>len</a:t>
            </a:r>
            <a:r>
              <a:rPr lang="en-US" dirty="0"/>
              <a:t>(numbers))		</a:t>
            </a:r>
            <a:r>
              <a:rPr lang="en-US" dirty="0">
                <a:solidFill>
                  <a:srgbClr val="FF0000"/>
                </a:solidFill>
              </a:rPr>
              <a:t>#4</a:t>
            </a:r>
          </a:p>
          <a:p>
            <a:pPr>
              <a:buNone/>
            </a:pPr>
            <a:r>
              <a:rPr lang="en-US" dirty="0"/>
              <a:t>print (</a:t>
            </a:r>
            <a:r>
              <a:rPr lang="en-IN" b="0" i="0" dirty="0">
                <a:solidFill>
                  <a:srgbClr val="FF1493"/>
                </a:solidFill>
                <a:effectLst/>
                <a:latin typeface="Consolas" panose="020B0609020204030204" pitchFamily="49" charset="0"/>
              </a:rPr>
              <a:t>sorted</a:t>
            </a:r>
            <a:r>
              <a:rPr lang="en-US" dirty="0"/>
              <a:t>(numbers))             </a:t>
            </a:r>
          </a:p>
        </p:txBody>
      </p:sp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270FE9-5D78-4960-D0DD-81FE785BF068}"/>
              </a:ext>
            </a:extLst>
          </p:cNvPr>
          <p:cNvSpPr txBox="1"/>
          <p:nvPr/>
        </p:nvSpPr>
        <p:spPr>
          <a:xfrm>
            <a:off x="5288280" y="3524300"/>
            <a:ext cx="6309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# [-5, 2.5, 3, 4]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Dictionaries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412239"/>
            <a:ext cx="10931434" cy="4764723"/>
          </a:xfrm>
        </p:spPr>
        <p:txBody>
          <a:bodyPr>
            <a:normAutofit/>
          </a:bodyPr>
          <a:lstStyle/>
          <a:p>
            <a:pPr algn="just"/>
            <a:r>
              <a:rPr lang="en-US" sz="2600" b="0" i="0" dirty="0">
                <a:solidFill>
                  <a:srgbClr val="000000"/>
                </a:solidFill>
                <a:effectLst/>
              </a:rPr>
              <a:t>Dictionaries are used to store data as </a:t>
            </a:r>
            <a:r>
              <a:rPr lang="en-US" sz="2600" b="0" i="0" dirty="0" err="1">
                <a:solidFill>
                  <a:srgbClr val="7030A0"/>
                </a:solidFill>
                <a:effectLst/>
              </a:rPr>
              <a:t>key:value</a:t>
            </a:r>
            <a:r>
              <a:rPr lang="en-US" sz="2600" b="0" i="0" dirty="0">
                <a:solidFill>
                  <a:srgbClr val="7030A0"/>
                </a:solidFill>
                <a:effectLst/>
              </a:rPr>
              <a:t> </a:t>
            </a:r>
            <a:r>
              <a:rPr lang="en-US" sz="2600" b="0" i="0" dirty="0">
                <a:solidFill>
                  <a:srgbClr val="000000"/>
                </a:solidFill>
                <a:effectLst/>
              </a:rPr>
              <a:t>pairs.</a:t>
            </a:r>
          </a:p>
          <a:p>
            <a:pPr algn="just"/>
            <a:r>
              <a:rPr lang="en-US" sz="2600" b="0" i="0" dirty="0">
                <a:solidFill>
                  <a:srgbClr val="000000"/>
                </a:solidFill>
                <a:effectLst/>
              </a:rPr>
              <a:t>Dictionaries are written with curly brackets, and have keys and values</a:t>
            </a:r>
          </a:p>
          <a:p>
            <a:pPr algn="just"/>
            <a:r>
              <a:rPr lang="en-US" sz="2600" b="0" i="0" dirty="0">
                <a:solidFill>
                  <a:srgbClr val="000000"/>
                </a:solidFill>
                <a:effectLst/>
              </a:rPr>
              <a:t>A dictionary is a collection which is </a:t>
            </a:r>
            <a:r>
              <a:rPr lang="en-US" sz="2600" b="0" i="0" dirty="0">
                <a:solidFill>
                  <a:srgbClr val="7030A0"/>
                </a:solidFill>
                <a:effectLst/>
              </a:rPr>
              <a:t>changeable</a:t>
            </a:r>
            <a:r>
              <a:rPr lang="en-US" sz="2600" b="0" i="0" dirty="0">
                <a:solidFill>
                  <a:srgbClr val="000000"/>
                </a:solidFill>
                <a:effectLst/>
              </a:rPr>
              <a:t> and do not allow </a:t>
            </a:r>
            <a:r>
              <a:rPr lang="en-US" sz="2600" b="0" i="0" dirty="0">
                <a:solidFill>
                  <a:srgbClr val="7030A0"/>
                </a:solidFill>
                <a:effectLst/>
              </a:rPr>
              <a:t>duplicates</a:t>
            </a:r>
            <a:r>
              <a:rPr lang="en-US" sz="2600" b="0" i="0" dirty="0">
                <a:solidFill>
                  <a:srgbClr val="000000"/>
                </a:solidFill>
                <a:effectLst/>
              </a:rPr>
              <a:t>.</a:t>
            </a:r>
          </a:p>
          <a:p>
            <a:pPr algn="just"/>
            <a:r>
              <a:rPr lang="en-US" sz="2600" b="0" i="0" dirty="0">
                <a:solidFill>
                  <a:srgbClr val="000000"/>
                </a:solidFill>
                <a:effectLst/>
              </a:rPr>
              <a:t>Dictionaries cannot have two items with the same key:</a:t>
            </a:r>
          </a:p>
          <a:p>
            <a:pPr algn="just"/>
            <a:r>
              <a:rPr lang="en-US" sz="2600" dirty="0"/>
              <a:t>The value can be accessed by unique key in the dictionary.</a:t>
            </a:r>
          </a:p>
          <a:p>
            <a:pPr algn="just">
              <a:buNone/>
            </a:pPr>
            <a:r>
              <a:rPr lang="en-US" dirty="0">
                <a:solidFill>
                  <a:srgbClr val="FF0000"/>
                </a:solidFill>
              </a:rPr>
              <a:t>Ex:</a:t>
            </a:r>
          </a:p>
          <a:p>
            <a:pPr algn="just">
              <a:buNone/>
            </a:pP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my_dict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{1: 'apple', 2: 'ball'}</a:t>
            </a:r>
          </a:p>
        </p:txBody>
      </p:sp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creating a dictionary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901337"/>
            <a:ext cx="10931434" cy="527562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Creating a dictionary is as simple as placing items inside curly braces {} separated by comma.</a:t>
            </a:r>
          </a:p>
          <a:p>
            <a:pPr algn="just"/>
            <a:r>
              <a:rPr lang="en-US" dirty="0"/>
              <a:t>An item expressed as a </a:t>
            </a:r>
            <a:r>
              <a:rPr lang="en-US" dirty="0">
                <a:solidFill>
                  <a:srgbClr val="7030A0"/>
                </a:solidFill>
              </a:rPr>
              <a:t>key: value </a:t>
            </a:r>
            <a:r>
              <a:rPr lang="en-US" dirty="0"/>
              <a:t>pair, 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my_dict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{}          #empty dictionary</a:t>
            </a:r>
          </a:p>
          <a:p>
            <a:pPr marL="0" indent="0" algn="just">
              <a:buNone/>
            </a:pP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my_dict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{1: 'apple', 2: 'ball’}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>
                <a:solidFill>
                  <a:srgbClr val="FF0000"/>
                </a:solidFill>
              </a:rPr>
              <a:t>using </a:t>
            </a:r>
            <a:r>
              <a:rPr lang="en-US" dirty="0" err="1">
                <a:solidFill>
                  <a:srgbClr val="FF0000"/>
                </a:solidFill>
              </a:rPr>
              <a:t>dict</a:t>
            </a:r>
            <a:r>
              <a:rPr lang="en-US" dirty="0">
                <a:solidFill>
                  <a:srgbClr val="FF0000"/>
                </a:solidFill>
              </a:rPr>
              <a:t>():</a:t>
            </a:r>
          </a:p>
          <a:p>
            <a:pPr algn="just">
              <a:buNone/>
            </a:pP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my_dict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dict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({1:'apple', 2:'ball'}) </a:t>
            </a:r>
          </a:p>
          <a:p>
            <a:pPr algn="just"/>
            <a:endParaRPr lang="en-US" b="1" dirty="0"/>
          </a:p>
        </p:txBody>
      </p:sp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 accessing  elements from a dictionary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27017" y="901337"/>
            <a:ext cx="11338559" cy="5275626"/>
          </a:xfrm>
        </p:spPr>
        <p:txBody>
          <a:bodyPr>
            <a:normAutofit/>
          </a:bodyPr>
          <a:lstStyle/>
          <a:p>
            <a:r>
              <a:rPr lang="en-US" sz="2600" b="0" i="0" dirty="0">
                <a:solidFill>
                  <a:srgbClr val="000000"/>
                </a:solidFill>
                <a:effectLst/>
              </a:rPr>
              <a:t>You can access the items of a dictionary by referring to its key name, inside square brackets</a:t>
            </a:r>
            <a:endParaRPr lang="en-US" sz="2600" dirty="0"/>
          </a:p>
          <a:p>
            <a:r>
              <a:rPr lang="en-US" sz="2600" dirty="0"/>
              <a:t>By using </a:t>
            </a:r>
            <a:r>
              <a:rPr lang="en-US" sz="2600" dirty="0">
                <a:solidFill>
                  <a:srgbClr val="7030A0"/>
                </a:solidFill>
              </a:rPr>
              <a:t>get() </a:t>
            </a:r>
            <a:r>
              <a:rPr lang="en-US" sz="2600" dirty="0"/>
              <a:t>method also you can access the elements of a dictionary.</a:t>
            </a:r>
          </a:p>
          <a:p>
            <a:pPr marL="0" indent="0">
              <a:buNone/>
            </a:pPr>
            <a:endParaRPr lang="en-US" sz="2600" dirty="0"/>
          </a:p>
          <a:p>
            <a:endParaRPr lang="en-US" dirty="0"/>
          </a:p>
          <a:p>
            <a:pPr marL="0" indent="0">
              <a:buNone/>
            </a:pP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my_dict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{'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name':'Jack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', 'age': 26}</a:t>
            </a:r>
          </a:p>
          <a:p>
            <a:pPr marL="0" indent="0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my_dict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['name’])      	</a:t>
            </a:r>
            <a:r>
              <a:rPr lang="en-US" sz="20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//  Jack</a:t>
            </a:r>
          </a:p>
          <a:p>
            <a:pPr marL="0" indent="0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print(my_dict.get('age'))   </a:t>
            </a: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//26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br>
              <a:rPr lang="en-US" sz="2800" b="1" dirty="0">
                <a:solidFill>
                  <a:srgbClr val="FF0000"/>
                </a:solidFill>
              </a:rPr>
            </a:br>
            <a:r>
              <a:rPr lang="en-US" sz="2800" b="1" dirty="0">
                <a:solidFill>
                  <a:srgbClr val="FF0000"/>
                </a:solidFill>
              </a:rPr>
              <a:t>Adding or  changing elements in a dictionary?</a:t>
            </a:r>
            <a:br>
              <a:rPr lang="en-US" sz="2800" b="1" dirty="0">
                <a:solidFill>
                  <a:srgbClr val="FF0000"/>
                </a:solidFill>
              </a:rPr>
            </a:b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27017" y="901337"/>
            <a:ext cx="11338559" cy="5275626"/>
          </a:xfrm>
        </p:spPr>
        <p:txBody>
          <a:bodyPr>
            <a:normAutofit/>
          </a:bodyPr>
          <a:lstStyle/>
          <a:p>
            <a:r>
              <a:rPr lang="en-US" dirty="0"/>
              <a:t>We can add new items or change the value of existing items using assignment operator.</a:t>
            </a:r>
          </a:p>
          <a:p>
            <a:r>
              <a:rPr lang="en-US" dirty="0"/>
              <a:t>If the key is already present, value gets updated, else a new key: value pair is added to the dictionary.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Ex:</a:t>
            </a:r>
          </a:p>
          <a:p>
            <a:pPr marL="457200" lvl="1" indent="0">
              <a:buNone/>
            </a:pP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my_dict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{'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name':'Jack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', 'age': 26}</a:t>
            </a:r>
          </a:p>
          <a:p>
            <a:pPr marL="457200" lvl="1" indent="0">
              <a:buNone/>
            </a:pP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my_dict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['age'] = 27</a:t>
            </a:r>
            <a:r>
              <a:rPr lang="en-US" sz="20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		</a:t>
            </a:r>
          </a:p>
          <a:p>
            <a:pPr marL="457200" lvl="1" indent="0">
              <a:buNone/>
            </a:pP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my_dict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['address'] = 'Downtown'  	</a:t>
            </a:r>
          </a:p>
          <a:p>
            <a:pPr marL="457200" lvl="1" indent="0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my_dict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     </a:t>
            </a: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# Output: {'address': 'Downtown', 'age': 27, 'name': 'Jack’}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br>
              <a:rPr lang="en-US" sz="2800" b="1" dirty="0">
                <a:solidFill>
                  <a:srgbClr val="FF0000"/>
                </a:solidFill>
              </a:rPr>
            </a:br>
            <a:r>
              <a:rPr lang="en-US" sz="2800" b="1" dirty="0">
                <a:solidFill>
                  <a:srgbClr val="FF0000"/>
                </a:solidFill>
              </a:rPr>
              <a:t>Python Dictionary Methods</a:t>
            </a:r>
            <a:br>
              <a:rPr lang="en-US" sz="2800" b="1" dirty="0">
                <a:solidFill>
                  <a:srgbClr val="FF0000"/>
                </a:solidFill>
              </a:rPr>
            </a:b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27017" y="901337"/>
            <a:ext cx="11338559" cy="527562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get()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pop()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clear()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Items()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update()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keys()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values()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copy()</a:t>
            </a:r>
          </a:p>
          <a:p>
            <a:pPr marL="514350" indent="-51435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27017" y="901337"/>
            <a:ext cx="11338559" cy="52756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pop():</a:t>
            </a:r>
          </a:p>
          <a:p>
            <a:r>
              <a:rPr lang="en-US" dirty="0"/>
              <a:t>The pop() method removes and returns an element from a dictionary having the given key.</a:t>
            </a:r>
          </a:p>
          <a:p>
            <a:endParaRPr lang="en-US" dirty="0"/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Ex:</a:t>
            </a:r>
          </a:p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sales = { 'apple': 2, 'orange': 3, 'grapes': 4 }</a:t>
            </a:r>
          </a:p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element =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sales.pop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('apple')</a:t>
            </a:r>
          </a:p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print('The popped element is:', element)     </a:t>
            </a:r>
            <a:r>
              <a:rPr lang="en-US" dirty="0"/>
              <a:t># 2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27017" y="901337"/>
            <a:ext cx="11338559" cy="5275626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del:</a:t>
            </a:r>
          </a:p>
          <a:p>
            <a:r>
              <a:rPr lang="en-US" dirty="0"/>
              <a:t> </a:t>
            </a:r>
            <a:r>
              <a:rPr lang="en-US" dirty="0">
                <a:solidFill>
                  <a:srgbClr val="FF0000"/>
                </a:solidFill>
              </a:rPr>
              <a:t>del</a:t>
            </a:r>
            <a:r>
              <a:rPr lang="en-US" dirty="0"/>
              <a:t> keyword is used to remove individual items or the entire dictionary itself.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Ex:</a:t>
            </a:r>
          </a:p>
          <a:p>
            <a:pPr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squares = {1:1, 2:4, 3:9, 4:16, 5:25}</a:t>
            </a:r>
          </a:p>
          <a:p>
            <a:pPr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del squares[5]</a:t>
            </a:r>
          </a:p>
          <a:p>
            <a:pPr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print(squares)</a:t>
            </a:r>
          </a:p>
          <a:p>
            <a:pPr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del  squares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clear():</a:t>
            </a:r>
          </a:p>
          <a:p>
            <a:r>
              <a:rPr lang="en-US" dirty="0"/>
              <a:t>It is used to remove all the items at once.</a:t>
            </a:r>
          </a:p>
          <a:p>
            <a:endParaRPr lang="en-US" sz="22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sz="2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squares.clear</a:t>
            </a: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>
              <a:buNone/>
            </a:pPr>
            <a:r>
              <a:rPr lang="en-US" sz="2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print(squares) </a:t>
            </a:r>
            <a:r>
              <a:rPr lang="en-US" dirty="0"/>
              <a:t>			# Output: {}</a:t>
            </a:r>
          </a:p>
        </p:txBody>
      </p:sp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br>
              <a:rPr lang="en-US" sz="2800" dirty="0">
                <a:solidFill>
                  <a:srgbClr val="FF0000"/>
                </a:solidFill>
              </a:rPr>
            </a:br>
            <a:r>
              <a:rPr lang="en-US" sz="2800" dirty="0">
                <a:solidFill>
                  <a:srgbClr val="FF0000"/>
                </a:solidFill>
              </a:rPr>
              <a:t>update()</a:t>
            </a:r>
            <a:br>
              <a:rPr lang="en-US" sz="2800" dirty="0">
                <a:solidFill>
                  <a:srgbClr val="FF0000"/>
                </a:solidFill>
              </a:rPr>
            </a:b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27017" y="901337"/>
            <a:ext cx="11338559" cy="5275626"/>
          </a:xfrm>
        </p:spPr>
        <p:txBody>
          <a:bodyPr>
            <a:normAutofit fontScale="85000" lnSpcReduction="20000"/>
          </a:bodyPr>
          <a:lstStyle/>
          <a:p>
            <a:pPr marL="514350" indent="-514350"/>
            <a:r>
              <a:rPr lang="en-US" dirty="0"/>
              <a:t>It is used to update or add  elements to dictionary.</a:t>
            </a:r>
          </a:p>
          <a:p>
            <a:pPr marL="514350" indent="-514350"/>
            <a:r>
              <a:rPr lang="en-US" dirty="0"/>
              <a:t>The update() method adds element(s) to the dictionary if the key is not in the dictionary. </a:t>
            </a:r>
          </a:p>
          <a:p>
            <a:pPr marL="514350" indent="-514350"/>
            <a:r>
              <a:rPr lang="en-US" dirty="0"/>
              <a:t>If the key is in the dictionary, it updates the key with the new value.</a:t>
            </a:r>
          </a:p>
          <a:p>
            <a:pPr marL="514350" indent="-514350">
              <a:buNone/>
            </a:pPr>
            <a:endParaRPr lang="en-US" dirty="0"/>
          </a:p>
          <a:p>
            <a:pPr marL="514350" indent="-514350">
              <a:buNone/>
            </a:pPr>
            <a:r>
              <a:rPr lang="en-US" dirty="0">
                <a:solidFill>
                  <a:srgbClr val="FF0000"/>
                </a:solidFill>
              </a:rPr>
              <a:t>Ex:</a:t>
            </a:r>
          </a:p>
          <a:p>
            <a:pPr marL="514350" indent="-514350">
              <a:buNone/>
            </a:pP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thisdict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{</a:t>
            </a:r>
          </a:p>
          <a:p>
            <a:pPr marL="514350" indent="-514350"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"brand": "Ford",</a:t>
            </a:r>
          </a:p>
          <a:p>
            <a:pPr marL="514350" indent="-514350"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"model": "Mustang",</a:t>
            </a:r>
          </a:p>
          <a:p>
            <a:pPr marL="514350" indent="-514350"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"year": 1964</a:t>
            </a:r>
          </a:p>
          <a:p>
            <a:pPr marL="514350" indent="-514350"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  <a:p>
            <a:pPr marL="514350" indent="-514350">
              <a:buNone/>
            </a:pP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thisdict.update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({"color": "red"})</a:t>
            </a:r>
          </a:p>
          <a:p>
            <a:pPr marL="514350" indent="-514350">
              <a:buNone/>
            </a:pPr>
            <a:endParaRPr lang="en-US" sz="2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514350" indent="-514350">
              <a:buNone/>
            </a:pP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thisdict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br>
              <a:rPr lang="en-US" sz="2800" dirty="0">
                <a:solidFill>
                  <a:srgbClr val="FF0000"/>
                </a:solidFill>
              </a:rPr>
            </a:br>
            <a:r>
              <a:rPr lang="en-US" sz="2800" dirty="0">
                <a:solidFill>
                  <a:srgbClr val="FF0000"/>
                </a:solidFill>
              </a:rPr>
              <a:t>update()</a:t>
            </a:r>
            <a:br>
              <a:rPr lang="en-US" sz="2800" dirty="0">
                <a:solidFill>
                  <a:srgbClr val="FF0000"/>
                </a:solidFill>
              </a:rPr>
            </a:b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27017" y="901337"/>
            <a:ext cx="11338559" cy="5275626"/>
          </a:xfrm>
        </p:spPr>
        <p:txBody>
          <a:bodyPr>
            <a:normAutofit/>
          </a:bodyPr>
          <a:lstStyle/>
          <a:p>
            <a:pPr marL="514350" indent="-514350"/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The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</a:rPr>
              <a:t>items()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method returns key-value pairs of the dictionary, as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</a:rPr>
              <a:t>tuples in a list.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</a:endParaRPr>
          </a:p>
          <a:p>
            <a:pPr marL="514350" indent="-514350"/>
            <a:endParaRPr lang="en-US" dirty="0"/>
          </a:p>
        </p:txBody>
      </p:sp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3BCC20-2E53-4164-8A69-70EC34073EF7}"/>
              </a:ext>
            </a:extLst>
          </p:cNvPr>
          <p:cNvSpPr txBox="1"/>
          <p:nvPr/>
        </p:nvSpPr>
        <p:spPr>
          <a:xfrm>
            <a:off x="909320" y="2246488"/>
            <a:ext cx="63093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car = {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"brand": "Ford",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"model": "Mustang",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"year": 1964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  <a:p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= 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car.items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print(x)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BBBC8C-C69A-BBA6-F4A0-54BDA672A652}"/>
              </a:ext>
            </a:extLst>
          </p:cNvPr>
          <p:cNvSpPr txBox="1"/>
          <p:nvPr/>
        </p:nvSpPr>
        <p:spPr>
          <a:xfrm>
            <a:off x="4439920" y="5437167"/>
            <a:ext cx="752565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 err="1">
                <a:solidFill>
                  <a:srgbClr val="FF0000"/>
                </a:solidFill>
              </a:rPr>
              <a:t>dict_items</a:t>
            </a:r>
            <a:r>
              <a:rPr lang="en-US" sz="2200" dirty="0">
                <a:solidFill>
                  <a:srgbClr val="FF0000"/>
                </a:solidFill>
              </a:rPr>
              <a:t>([('brand', 'Ford'), ('model', 'Mustang'), ('year', 1964)])</a:t>
            </a:r>
            <a:endParaRPr lang="en-IN" sz="2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12946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keys() and values()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27017" y="901337"/>
            <a:ext cx="11338559" cy="5275626"/>
          </a:xfrm>
        </p:spPr>
        <p:txBody>
          <a:bodyPr>
            <a:normAutofit/>
          </a:bodyPr>
          <a:lstStyle/>
          <a:p>
            <a:pPr marL="514350" indent="-514350"/>
            <a:r>
              <a:rPr lang="en-US" dirty="0"/>
              <a:t>The keys() method returns a list of all the keys in the dictionary</a:t>
            </a:r>
          </a:p>
          <a:p>
            <a:pPr marL="514350" indent="-514350">
              <a:buNone/>
            </a:pPr>
            <a:r>
              <a:rPr lang="en-US" dirty="0">
                <a:solidFill>
                  <a:srgbClr val="FF0000"/>
                </a:solidFill>
              </a:rPr>
              <a:t>Syntax: </a:t>
            </a:r>
            <a:r>
              <a:rPr lang="en-US" dirty="0"/>
              <a:t>	 </a:t>
            </a:r>
            <a:r>
              <a:rPr lang="en-US" dirty="0" err="1"/>
              <a:t>dict.keys</a:t>
            </a:r>
            <a:r>
              <a:rPr lang="en-US" dirty="0"/>
              <a:t>()</a:t>
            </a:r>
          </a:p>
          <a:p>
            <a:pPr marL="514350" indent="-514350"/>
            <a:r>
              <a:rPr lang="en-US" dirty="0"/>
              <a:t>The values() method returns a  list of all the values in the dictionary.</a:t>
            </a:r>
          </a:p>
          <a:p>
            <a:pPr marL="514350" indent="-514350">
              <a:buNone/>
            </a:pPr>
            <a:r>
              <a:rPr lang="en-US" dirty="0">
                <a:solidFill>
                  <a:srgbClr val="FF0000"/>
                </a:solidFill>
              </a:rPr>
              <a:t>Syntax: </a:t>
            </a:r>
            <a:r>
              <a:rPr lang="en-US" dirty="0"/>
              <a:t>	</a:t>
            </a:r>
            <a:r>
              <a:rPr lang="en-US" dirty="0" err="1"/>
              <a:t>dict.values</a:t>
            </a:r>
            <a:r>
              <a:rPr lang="en-US" dirty="0"/>
              <a:t>()</a:t>
            </a:r>
          </a:p>
          <a:p>
            <a:pPr marL="514350" indent="-514350">
              <a:buNone/>
            </a:pPr>
            <a:r>
              <a:rPr lang="en-US" dirty="0">
                <a:solidFill>
                  <a:srgbClr val="FF0000"/>
                </a:solidFill>
              </a:rPr>
              <a:t>Example:</a:t>
            </a:r>
          </a:p>
          <a:p>
            <a:pPr marL="514350" indent="-51435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514350" indent="-514350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sales = { 'apple': 2, 'orange': 3, 'grapes': 4}</a:t>
            </a:r>
          </a:p>
          <a:p>
            <a:pPr marL="514350" indent="-514350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sales.keys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())     		</a:t>
            </a:r>
          </a:p>
          <a:p>
            <a:pPr marL="514350" indent="-514350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sales.values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()) </a:t>
            </a:r>
            <a:r>
              <a:rPr lang="en-US" dirty="0"/>
              <a:t>		</a:t>
            </a:r>
          </a:p>
        </p:txBody>
      </p:sp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576559-888A-DE15-BBA0-681DFCE622E3}"/>
              </a:ext>
            </a:extLst>
          </p:cNvPr>
          <p:cNvSpPr txBox="1"/>
          <p:nvPr/>
        </p:nvSpPr>
        <p:spPr>
          <a:xfrm>
            <a:off x="6664958" y="5398299"/>
            <a:ext cx="476504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 err="1">
                <a:solidFill>
                  <a:srgbClr val="FF0000"/>
                </a:solidFill>
              </a:rPr>
              <a:t>dict_keys</a:t>
            </a:r>
            <a:r>
              <a:rPr lang="en-US" sz="2200" dirty="0">
                <a:solidFill>
                  <a:srgbClr val="FF0000"/>
                </a:solidFill>
              </a:rPr>
              <a:t>(['apple', 'orange', 'grapes'])</a:t>
            </a:r>
          </a:p>
          <a:p>
            <a:r>
              <a:rPr lang="en-US" sz="2200" dirty="0" err="1">
                <a:solidFill>
                  <a:srgbClr val="FF0000"/>
                </a:solidFill>
              </a:rPr>
              <a:t>dict_values</a:t>
            </a:r>
            <a:r>
              <a:rPr lang="en-US" sz="2200" dirty="0">
                <a:solidFill>
                  <a:srgbClr val="FF0000"/>
                </a:solidFill>
              </a:rPr>
              <a:t>([2, 3, 4])</a:t>
            </a:r>
            <a:endParaRPr lang="en-IN" sz="2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br>
              <a:rPr lang="en-US" sz="2800" dirty="0">
                <a:solidFill>
                  <a:srgbClr val="FF0000"/>
                </a:solidFill>
              </a:rPr>
            </a:br>
            <a:r>
              <a:rPr lang="en-US" sz="2800" dirty="0">
                <a:solidFill>
                  <a:srgbClr val="FF0000"/>
                </a:solidFill>
              </a:rPr>
              <a:t>copy()</a:t>
            </a:r>
            <a:br>
              <a:rPr lang="en-US" sz="2800" dirty="0">
                <a:solidFill>
                  <a:srgbClr val="FF0000"/>
                </a:solidFill>
              </a:rPr>
            </a:b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27017" y="901337"/>
            <a:ext cx="11338559" cy="5275626"/>
          </a:xfrm>
        </p:spPr>
        <p:txBody>
          <a:bodyPr>
            <a:normAutofit/>
          </a:bodyPr>
          <a:lstStyle/>
          <a:p>
            <a:pPr marL="514350" indent="-514350"/>
            <a:r>
              <a:rPr lang="en-US" dirty="0"/>
              <a:t>copy() method returns a shallow copy of the dictionary.</a:t>
            </a:r>
          </a:p>
          <a:p>
            <a:pPr marL="514350" indent="-514350"/>
            <a:r>
              <a:rPr lang="en-US" dirty="0"/>
              <a:t> It doesn't modify the original dictionary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syntax :      </a:t>
            </a:r>
            <a:r>
              <a:rPr lang="en-US" dirty="0" err="1"/>
              <a:t>dict.copy</a:t>
            </a:r>
            <a:r>
              <a:rPr lang="en-US" dirty="0"/>
              <a:t>()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Ex:</a:t>
            </a:r>
          </a:p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original = {1:'one', 2:'two'}</a:t>
            </a:r>
          </a:p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new =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original.copy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print(new)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br>
              <a:rPr lang="en-US" sz="2800" dirty="0">
                <a:solidFill>
                  <a:srgbClr val="FF0000"/>
                </a:solidFill>
              </a:rPr>
            </a:br>
            <a:r>
              <a:rPr lang="en-US" sz="2800" dirty="0">
                <a:solidFill>
                  <a:srgbClr val="FF0000"/>
                </a:solidFill>
              </a:rPr>
              <a:t>sorted()</a:t>
            </a:r>
            <a:br>
              <a:rPr lang="en-US" sz="2800" dirty="0">
                <a:solidFill>
                  <a:srgbClr val="FF0000"/>
                </a:solidFill>
              </a:rPr>
            </a:b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110343"/>
            <a:ext cx="10515600" cy="5066620"/>
          </a:xfrm>
        </p:spPr>
        <p:txBody>
          <a:bodyPr/>
          <a:lstStyle/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jersey = {10:'sachin',5:'Dravid',45:'Rohith',18:'Kohli'}</a:t>
            </a:r>
          </a:p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print(sorted(jersey))</a:t>
            </a:r>
          </a:p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print(sorted(jersey. Keys()))</a:t>
            </a:r>
          </a:p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print(sorted(jersey.values()))</a:t>
            </a:r>
          </a:p>
          <a:p>
            <a:pPr>
              <a:buNone/>
            </a:pPr>
            <a:r>
              <a:rPr lang="en-US" dirty="0"/>
              <a:t>print(len(jersey))                                              </a:t>
            </a:r>
            <a:r>
              <a:rPr lang="en-US" dirty="0">
                <a:solidFill>
                  <a:srgbClr val="FF0000"/>
                </a:solidFill>
              </a:rPr>
              <a:t># 4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BC509A-67C2-50EE-9718-CF641478D67E}"/>
              </a:ext>
            </a:extLst>
          </p:cNvPr>
          <p:cNvSpPr txBox="1"/>
          <p:nvPr/>
        </p:nvSpPr>
        <p:spPr>
          <a:xfrm>
            <a:off x="7726679" y="1720433"/>
            <a:ext cx="417068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[5, 10, 18, 45]</a:t>
            </a:r>
          </a:p>
          <a:p>
            <a:r>
              <a:rPr lang="en-IN" sz="2000" dirty="0">
                <a:solidFill>
                  <a:srgbClr val="FF0000"/>
                </a:solidFill>
              </a:rPr>
              <a:t>[5, 10, 18, 45]</a:t>
            </a:r>
          </a:p>
          <a:p>
            <a:r>
              <a:rPr lang="en-IN" sz="2000" dirty="0">
                <a:solidFill>
                  <a:srgbClr val="FF0000"/>
                </a:solidFill>
              </a:rPr>
              <a:t>['Dravid', 'Kohli', 'Rohith', '</a:t>
            </a:r>
            <a:r>
              <a:rPr lang="en-IN" sz="2000" dirty="0" err="1">
                <a:solidFill>
                  <a:srgbClr val="FF0000"/>
                </a:solidFill>
              </a:rPr>
              <a:t>sachin</a:t>
            </a:r>
            <a:r>
              <a:rPr lang="en-IN" sz="2000" dirty="0">
                <a:solidFill>
                  <a:srgbClr val="FF0000"/>
                </a:solidFill>
              </a:rPr>
              <a:t>']</a:t>
            </a: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br>
              <a:rPr lang="en-US" sz="2800" b="1" dirty="0">
                <a:solidFill>
                  <a:srgbClr val="FF0000"/>
                </a:solidFill>
              </a:rPr>
            </a:br>
            <a:r>
              <a:rPr lang="en-US" sz="2800" b="1" dirty="0">
                <a:solidFill>
                  <a:srgbClr val="FF0000"/>
                </a:solidFill>
              </a:rPr>
              <a:t>Loop Through a Dictionary</a:t>
            </a:r>
            <a:br>
              <a:rPr lang="en-US" sz="2800" b="1" dirty="0">
                <a:solidFill>
                  <a:srgbClr val="FF0000"/>
                </a:solidFill>
              </a:rPr>
            </a:b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110343"/>
            <a:ext cx="10515600" cy="50666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for</a:t>
            </a:r>
            <a:r>
              <a:rPr lang="en-US" dirty="0"/>
              <a:t> loop  can be used to iterate though each key in a dictionary.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Ex:</a:t>
            </a:r>
          </a:p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jersey = {10:'sachin',5:'Dravid',45:'Rohith',18:'Kohli'}</a:t>
            </a:r>
          </a:p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x in jersey:</a:t>
            </a:r>
          </a:p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print(x)</a:t>
            </a:r>
          </a:p>
          <a:p>
            <a:pPr>
              <a:buNone/>
            </a:pPr>
            <a:endParaRPr lang="en-US" b="0" i="0" dirty="0">
              <a:solidFill>
                <a:srgbClr val="FF0000"/>
              </a:solidFill>
              <a:effectLst/>
              <a:latin typeface="Verdana" panose="020B0604030504040204" pitchFamily="34" charset="0"/>
            </a:endParaRPr>
          </a:p>
          <a:p>
            <a:pPr>
              <a:buNone/>
            </a:pPr>
            <a:r>
              <a:rPr lang="en-US" sz="24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Print all </a:t>
            </a:r>
            <a:r>
              <a:rPr lang="en-US" sz="2400" b="0" i="1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values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 in the dictionary, one by one:</a:t>
            </a:r>
          </a:p>
          <a:p>
            <a:pPr>
              <a:buNone/>
            </a:pPr>
            <a:endParaRPr lang="en-US" sz="2400" b="0" i="0" dirty="0">
              <a:solidFill>
                <a:srgbClr val="FF0000"/>
              </a:solidFill>
              <a:effectLst/>
              <a:latin typeface="Verdana" panose="020B0604030504040204" pitchFamily="34" charset="0"/>
            </a:endParaRPr>
          </a:p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jersey= {10:'sachin',5:'Dravid',45:'Rohith',18:'Kohli'}</a:t>
            </a:r>
          </a:p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x in jersey:</a:t>
            </a:r>
          </a:p>
          <a:p>
            <a:pPr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print(jersey[x])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EF0655-EA36-76E5-9C78-E3B82A130D21}"/>
              </a:ext>
            </a:extLst>
          </p:cNvPr>
          <p:cNvSpPr txBox="1"/>
          <p:nvPr/>
        </p:nvSpPr>
        <p:spPr>
          <a:xfrm>
            <a:off x="7150100" y="5076026"/>
            <a:ext cx="9474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rgbClr val="FF0000"/>
                </a:solidFill>
              </a:rPr>
              <a:t>sachin</a:t>
            </a:r>
            <a:endParaRPr lang="en-IN" dirty="0">
              <a:solidFill>
                <a:srgbClr val="FF0000"/>
              </a:solidFill>
            </a:endParaRPr>
          </a:p>
          <a:p>
            <a:r>
              <a:rPr lang="en-IN" dirty="0">
                <a:solidFill>
                  <a:srgbClr val="FF0000"/>
                </a:solidFill>
              </a:rPr>
              <a:t>Dravid</a:t>
            </a:r>
          </a:p>
          <a:p>
            <a:r>
              <a:rPr lang="en-IN" dirty="0">
                <a:solidFill>
                  <a:srgbClr val="FF0000"/>
                </a:solidFill>
              </a:rPr>
              <a:t>Rohith</a:t>
            </a:r>
          </a:p>
          <a:p>
            <a:r>
              <a:rPr lang="en-IN" dirty="0">
                <a:solidFill>
                  <a:srgbClr val="FF0000"/>
                </a:solidFill>
              </a:rPr>
              <a:t>Kohli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8BB056-9C7F-4C04-BC2F-C418D98FC33E}"/>
              </a:ext>
            </a:extLst>
          </p:cNvPr>
          <p:cNvSpPr txBox="1"/>
          <p:nvPr/>
        </p:nvSpPr>
        <p:spPr>
          <a:xfrm>
            <a:off x="8745220" y="2558334"/>
            <a:ext cx="7747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10</a:t>
            </a:r>
          </a:p>
          <a:p>
            <a:r>
              <a:rPr lang="en-IN" dirty="0">
                <a:solidFill>
                  <a:srgbClr val="FF0000"/>
                </a:solidFill>
              </a:rPr>
              <a:t>5</a:t>
            </a:r>
          </a:p>
          <a:p>
            <a:r>
              <a:rPr lang="en-IN" dirty="0">
                <a:solidFill>
                  <a:srgbClr val="FF0000"/>
                </a:solidFill>
              </a:rPr>
              <a:t>45</a:t>
            </a:r>
          </a:p>
          <a:p>
            <a:r>
              <a:rPr lang="en-IN" dirty="0">
                <a:solidFill>
                  <a:srgbClr val="FF0000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br>
              <a:rPr lang="en-US" sz="2800" b="1" dirty="0">
                <a:solidFill>
                  <a:srgbClr val="FF0000"/>
                </a:solidFill>
              </a:rPr>
            </a:br>
            <a:r>
              <a:rPr lang="en-US" sz="2800" b="1" dirty="0">
                <a:solidFill>
                  <a:srgbClr val="FF0000"/>
                </a:solidFill>
              </a:rPr>
              <a:t>Loop Through a Dictionary</a:t>
            </a:r>
            <a:br>
              <a:rPr lang="en-US" sz="2800" b="1" dirty="0">
                <a:solidFill>
                  <a:srgbClr val="FF0000"/>
                </a:solidFill>
              </a:rPr>
            </a:b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110343"/>
            <a:ext cx="10515600" cy="5066620"/>
          </a:xfrm>
        </p:spPr>
        <p:txBody>
          <a:bodyPr>
            <a:normAutofit/>
          </a:bodyPr>
          <a:lstStyle/>
          <a:p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You can also use the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values()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method to return values of a dictionary: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en-US" sz="3200" dirty="0">
              <a:latin typeface="Arial" panose="020B0604020202020204" pitchFamily="34" charset="0"/>
            </a:endParaRPr>
          </a:p>
          <a:p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en-US" sz="3200" dirty="0">
              <a:latin typeface="Arial" panose="020B0604020202020204" pitchFamily="34" charset="0"/>
            </a:endParaRPr>
          </a:p>
          <a:p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Loop through both 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effectLst/>
              </a:rPr>
              <a:t>keys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 and 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effectLst/>
              </a:rPr>
              <a:t>values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, by using the items() method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jersey = {10:'sachin',5:'Dravid',45:'Rohith',18:'Kohli'}</a:t>
            </a:r>
          </a:p>
          <a:p>
            <a:pPr marL="0" indent="0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x,y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in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jersey.items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():</a:t>
            </a:r>
          </a:p>
          <a:p>
            <a:pPr marL="0" indent="0">
              <a:buNone/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print(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x,y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9CC2C4-1FD1-ACC3-E296-218EBD2F60E0}"/>
              </a:ext>
            </a:extLst>
          </p:cNvPr>
          <p:cNvSpPr txBox="1"/>
          <p:nvPr/>
        </p:nvSpPr>
        <p:spPr>
          <a:xfrm>
            <a:off x="838200" y="1881366"/>
            <a:ext cx="86410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jersey = {10:'sachin',5:'Dravid',45:'Rohith',18:'Kohli'}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x in 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jersey.values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():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print(x)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F3F3E1-AE0C-0EB1-7E30-1C18198A4AB8}"/>
              </a:ext>
            </a:extLst>
          </p:cNvPr>
          <p:cNvSpPr txBox="1"/>
          <p:nvPr/>
        </p:nvSpPr>
        <p:spPr>
          <a:xfrm>
            <a:off x="10132060" y="1638534"/>
            <a:ext cx="9474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rgbClr val="FF0000"/>
                </a:solidFill>
              </a:rPr>
              <a:t>sachin</a:t>
            </a:r>
            <a:endParaRPr lang="en-IN" dirty="0">
              <a:solidFill>
                <a:srgbClr val="FF0000"/>
              </a:solidFill>
            </a:endParaRPr>
          </a:p>
          <a:p>
            <a:r>
              <a:rPr lang="en-IN" dirty="0">
                <a:solidFill>
                  <a:srgbClr val="FF0000"/>
                </a:solidFill>
              </a:rPr>
              <a:t>Dravid</a:t>
            </a:r>
          </a:p>
          <a:p>
            <a:r>
              <a:rPr lang="en-IN" dirty="0">
                <a:solidFill>
                  <a:srgbClr val="FF0000"/>
                </a:solidFill>
              </a:rPr>
              <a:t>Rohith</a:t>
            </a:r>
          </a:p>
          <a:p>
            <a:r>
              <a:rPr lang="en-IN" dirty="0">
                <a:solidFill>
                  <a:srgbClr val="FF0000"/>
                </a:solidFill>
              </a:rPr>
              <a:t>Kohli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CCB203-D39E-8231-DDCD-32B258BA1FFF}"/>
              </a:ext>
            </a:extLst>
          </p:cNvPr>
          <p:cNvSpPr txBox="1"/>
          <p:nvPr/>
        </p:nvSpPr>
        <p:spPr>
          <a:xfrm>
            <a:off x="8356394" y="4976634"/>
            <a:ext cx="27230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10 sachin</a:t>
            </a:r>
          </a:p>
          <a:p>
            <a:r>
              <a:rPr lang="de-DE" dirty="0">
                <a:solidFill>
                  <a:srgbClr val="FF0000"/>
                </a:solidFill>
              </a:rPr>
              <a:t>5 Dravid</a:t>
            </a:r>
          </a:p>
          <a:p>
            <a:r>
              <a:rPr lang="de-DE" dirty="0">
                <a:solidFill>
                  <a:srgbClr val="FF0000"/>
                </a:solidFill>
              </a:rPr>
              <a:t>45 Rohith</a:t>
            </a:r>
          </a:p>
          <a:p>
            <a:r>
              <a:rPr lang="de-DE" dirty="0">
                <a:solidFill>
                  <a:srgbClr val="FF0000"/>
                </a:solidFill>
              </a:rPr>
              <a:t>18 Kohli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9298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br>
              <a:rPr lang="en-US" sz="2800" dirty="0">
                <a:solidFill>
                  <a:srgbClr val="FF0000"/>
                </a:solidFill>
              </a:rPr>
            </a:br>
            <a:r>
              <a:rPr lang="en-US" sz="2800" dirty="0">
                <a:solidFill>
                  <a:srgbClr val="FF0000"/>
                </a:solidFill>
              </a:rPr>
              <a:t>Dictionary Membership Test</a:t>
            </a:r>
            <a:br>
              <a:rPr lang="en-US" sz="2800" dirty="0">
                <a:solidFill>
                  <a:srgbClr val="FF0000"/>
                </a:solidFill>
              </a:rPr>
            </a:b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110343"/>
            <a:ext cx="10515600" cy="5066620"/>
          </a:xfrm>
        </p:spPr>
        <p:txBody>
          <a:bodyPr>
            <a:normAutofit/>
          </a:bodyPr>
          <a:lstStyle/>
          <a:p>
            <a:r>
              <a:rPr lang="en-US" dirty="0"/>
              <a:t>We can test if a key is in a dictionary or not using the keyword </a:t>
            </a:r>
            <a:r>
              <a:rPr lang="en-US" dirty="0">
                <a:solidFill>
                  <a:srgbClr val="FF0000"/>
                </a:solidFill>
              </a:rPr>
              <a:t>in</a:t>
            </a:r>
            <a:r>
              <a:rPr lang="en-US" dirty="0"/>
              <a:t>.</a:t>
            </a:r>
          </a:p>
          <a:p>
            <a:r>
              <a:rPr lang="en-US" dirty="0"/>
              <a:t>Membership test is for keys only, not for values.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Example:</a:t>
            </a:r>
          </a:p>
          <a:p>
            <a:pPr>
              <a:buNone/>
            </a:pPr>
            <a:r>
              <a:rPr lang="en-US" dirty="0"/>
              <a:t>squares = {1: 1, 3: 9, 5: 25, 7: 49, 9: 81}</a:t>
            </a:r>
          </a:p>
          <a:p>
            <a:pPr>
              <a:buNone/>
            </a:pPr>
            <a:r>
              <a:rPr lang="en-US" dirty="0"/>
              <a:t>print(1 in squares) 		# Output: True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print(2 in squares)		# Output: False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9880600" cy="487190"/>
          </a:xfrm>
        </p:spPr>
        <p:txBody>
          <a:bodyPr>
            <a:noAutofit/>
          </a:bodyPr>
          <a:lstStyle/>
          <a:p>
            <a:br>
              <a:rPr lang="en-US" sz="1800" b="1" dirty="0">
                <a:solidFill>
                  <a:srgbClr val="FF0000"/>
                </a:solidFill>
                <a:latin typeface="+mn-lt"/>
              </a:rPr>
            </a:br>
            <a:r>
              <a:rPr lang="en-US" sz="1800" b="0" i="0" dirty="0">
                <a:solidFill>
                  <a:srgbClr val="FF0000"/>
                </a:solidFill>
                <a:effectLst/>
                <a:latin typeface="Helvetica" panose="020B0604020202020204" pitchFamily="34" charset="0"/>
              </a:rPr>
              <a:t>Write a Python script to print a dictionary where the keys are numbers between 1 and 15 (both included) and the values are the square of the keys.</a:t>
            </a:r>
            <a:br>
              <a:rPr lang="en-US" sz="1800" b="1" dirty="0">
                <a:solidFill>
                  <a:srgbClr val="FF0000"/>
                </a:solidFill>
                <a:latin typeface="+mn-lt"/>
              </a:rPr>
            </a:br>
            <a:endParaRPr lang="en-US" sz="18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5F9611-BA18-DC31-59A5-BDD4438989D9}"/>
              </a:ext>
            </a:extLst>
          </p:cNvPr>
          <p:cNvSpPr txBox="1"/>
          <p:nvPr/>
        </p:nvSpPr>
        <p:spPr>
          <a:xfrm>
            <a:off x="1529080" y="1642795"/>
            <a:ext cx="83972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 =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dict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endParaRPr lang="en-US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Iterate through numbers from 1 to 15 (inclusive).</a:t>
            </a:r>
          </a:p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x in range(1, 16):</a:t>
            </a:r>
          </a:p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d[x] = x ** 2</a:t>
            </a:r>
          </a:p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print(d)</a:t>
            </a:r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9BF933-B399-6F29-BC52-FA0F2DB69A5F}"/>
              </a:ext>
            </a:extLst>
          </p:cNvPr>
          <p:cNvSpPr txBox="1"/>
          <p:nvPr/>
        </p:nvSpPr>
        <p:spPr>
          <a:xfrm>
            <a:off x="665478" y="4466936"/>
            <a:ext cx="10861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{1: 1, 2: 4, 3: 9, 4: 16, 5: 25, 6: 36, 7: 49, 8: 64, 9: 81, 10: 100, 11: 121, 12: 144, 13: 169, 14: 196, 15: 225}</a:t>
            </a:r>
          </a:p>
        </p:txBody>
      </p:sp>
    </p:spTree>
    <p:extLst>
      <p:ext uri="{BB962C8B-B14F-4D97-AF65-F5344CB8AC3E}">
        <p14:creationId xmlns:p14="http://schemas.microsoft.com/office/powerpoint/2010/main" val="2946183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br>
              <a:rPr lang="en-US" sz="2200" b="1" dirty="0">
                <a:solidFill>
                  <a:srgbClr val="FF0000"/>
                </a:solidFill>
                <a:latin typeface="+mn-lt"/>
              </a:rPr>
            </a:br>
            <a:r>
              <a:rPr lang="en-US" sz="2200" b="0" i="0" dirty="0">
                <a:solidFill>
                  <a:srgbClr val="FF0000"/>
                </a:solidFill>
                <a:effectLst/>
                <a:latin typeface="+mn-lt"/>
              </a:rPr>
              <a:t>Write a Python program to sum all the items in a dictionary with out using methods</a:t>
            </a:r>
            <a:br>
              <a:rPr lang="en-US" sz="2200" b="1" dirty="0">
                <a:solidFill>
                  <a:srgbClr val="FF0000"/>
                </a:solidFill>
                <a:latin typeface="+mn-lt"/>
              </a:rPr>
            </a:br>
            <a:endParaRPr lang="en-US" sz="22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5F9611-BA18-DC31-59A5-BDD4438989D9}"/>
              </a:ext>
            </a:extLst>
          </p:cNvPr>
          <p:cNvSpPr txBox="1"/>
          <p:nvPr/>
        </p:nvSpPr>
        <p:spPr>
          <a:xfrm>
            <a:off x="1529080" y="1642795"/>
            <a:ext cx="73914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my_dict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{'data1': 10, 'data2': 4, 'data3': 2}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sum=0;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i in 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my_dict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    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sum=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sum+my_dict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[i]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print(“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sum:”,sum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B56FF9-709E-8CA0-62F1-EBF71FE0E704}"/>
              </a:ext>
            </a:extLst>
          </p:cNvPr>
          <p:cNvSpPr txBox="1"/>
          <p:nvPr/>
        </p:nvSpPr>
        <p:spPr>
          <a:xfrm>
            <a:off x="6934200" y="3553212"/>
            <a:ext cx="414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Sum : 16</a:t>
            </a:r>
          </a:p>
        </p:txBody>
      </p:sp>
    </p:spTree>
    <p:extLst>
      <p:ext uri="{BB962C8B-B14F-4D97-AF65-F5344CB8AC3E}">
        <p14:creationId xmlns:p14="http://schemas.microsoft.com/office/powerpoint/2010/main" val="39341646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338"/>
            <a:ext cx="10515600" cy="597308"/>
          </a:xfrm>
        </p:spPr>
        <p:txBody>
          <a:bodyPr>
            <a:noAutofit/>
          </a:bodyPr>
          <a:lstStyle/>
          <a:p>
            <a:br>
              <a:rPr lang="en-US" sz="2200" dirty="0">
                <a:solidFill>
                  <a:srgbClr val="FF0000"/>
                </a:solidFill>
                <a:latin typeface="+mn-lt"/>
              </a:rPr>
            </a:br>
            <a:r>
              <a:rPr lang="en-US" sz="2200" i="0" dirty="0">
                <a:solidFill>
                  <a:srgbClr val="FF0000"/>
                </a:solidFill>
                <a:effectLst/>
                <a:latin typeface="+mn-lt"/>
              </a:rPr>
              <a:t>Write a Python program to </a:t>
            </a:r>
            <a:r>
              <a:rPr lang="en-US" sz="2200" dirty="0">
                <a:solidFill>
                  <a:srgbClr val="FF0000"/>
                </a:solidFill>
                <a:latin typeface="+mn-lt"/>
              </a:rPr>
              <a:t>r</a:t>
            </a:r>
            <a:r>
              <a:rPr lang="en-US" sz="2200" i="0" dirty="0">
                <a:solidFill>
                  <a:srgbClr val="FF0000"/>
                </a:solidFill>
                <a:effectLst/>
                <a:latin typeface="+mn-lt"/>
              </a:rPr>
              <a:t>emove a key from a dictionary</a:t>
            </a:r>
            <a:br>
              <a:rPr lang="en-US" sz="2200" i="0" dirty="0">
                <a:solidFill>
                  <a:srgbClr val="FF0000"/>
                </a:solidFill>
                <a:effectLst/>
                <a:latin typeface="+mn-lt"/>
              </a:rPr>
            </a:br>
            <a:br>
              <a:rPr lang="en-US" sz="2200" dirty="0">
                <a:solidFill>
                  <a:srgbClr val="FF0000"/>
                </a:solidFill>
                <a:latin typeface="+mn-lt"/>
              </a:rPr>
            </a:br>
            <a:endParaRPr lang="en-US" sz="22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5F9611-BA18-DC31-59A5-BDD4438989D9}"/>
              </a:ext>
            </a:extLst>
          </p:cNvPr>
          <p:cNvSpPr txBox="1"/>
          <p:nvPr/>
        </p:nvSpPr>
        <p:spPr>
          <a:xfrm>
            <a:off x="1529080" y="1642795"/>
            <a:ext cx="73914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myDict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{'a': 1, 'b': 2, 'c': 3, 'd': 4}</a:t>
            </a:r>
          </a:p>
          <a:p>
            <a:endParaRPr lang="en-US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Print the original dictionary '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myDict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'.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myDict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endParaRPr lang="en-US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if 'a' in 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myDict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del 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myDict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['a']</a:t>
            </a:r>
          </a:p>
          <a:p>
            <a:endParaRPr lang="en-US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myDict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BCDD4C-AD31-F661-9E55-F8717157AE3B}"/>
              </a:ext>
            </a:extLst>
          </p:cNvPr>
          <p:cNvSpPr txBox="1"/>
          <p:nvPr/>
        </p:nvSpPr>
        <p:spPr>
          <a:xfrm>
            <a:off x="5882639" y="4790101"/>
            <a:ext cx="368808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{'a': 1, 'b': 2, 'c': 3, 'd': 4}</a:t>
            </a:r>
          </a:p>
          <a:p>
            <a:endParaRPr lang="en-IN" sz="2000" dirty="0">
              <a:solidFill>
                <a:srgbClr val="FF0000"/>
              </a:solidFill>
            </a:endParaRPr>
          </a:p>
          <a:p>
            <a:r>
              <a:rPr lang="en-IN" sz="2000" dirty="0">
                <a:solidFill>
                  <a:srgbClr val="FF0000"/>
                </a:solidFill>
              </a:rPr>
              <a:t>{'b': 2, 'c': 3, 'd': 4}</a:t>
            </a:r>
          </a:p>
        </p:txBody>
      </p:sp>
    </p:spTree>
    <p:extLst>
      <p:ext uri="{BB962C8B-B14F-4D97-AF65-F5344CB8AC3E}">
        <p14:creationId xmlns:p14="http://schemas.microsoft.com/office/powerpoint/2010/main" val="20717481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F3E6D3-BE79-67D7-F469-52A3947283EB}"/>
              </a:ext>
            </a:extLst>
          </p:cNvPr>
          <p:cNvSpPr txBox="1"/>
          <p:nvPr/>
        </p:nvSpPr>
        <p:spPr>
          <a:xfrm>
            <a:off x="736600" y="650717"/>
            <a:ext cx="9008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0000"/>
                </a:solidFill>
                <a:effectLst/>
                <a:latin typeface="Helvetica" panose="020B0604020202020204" pitchFamily="34" charset="0"/>
              </a:rPr>
              <a:t>Write a Python program to get the maximum and minimum values of a dictionary.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D1223E-208A-F534-5716-19B6C49EA70C}"/>
              </a:ext>
            </a:extLst>
          </p:cNvPr>
          <p:cNvSpPr txBox="1"/>
          <p:nvPr/>
        </p:nvSpPr>
        <p:spPr>
          <a:xfrm>
            <a:off x="736600" y="1240970"/>
            <a:ext cx="7574280" cy="1290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my_dict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{'x': 500, 'y': 5874, 'z': 560}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print("maximum value 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is",max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my_dict.values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()))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print("minimum value 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is",min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my_dict.values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()))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4C13D6-9AD4-E99B-AA81-07023F1796C9}"/>
              </a:ext>
            </a:extLst>
          </p:cNvPr>
          <p:cNvSpPr txBox="1"/>
          <p:nvPr/>
        </p:nvSpPr>
        <p:spPr>
          <a:xfrm>
            <a:off x="1051560" y="3805258"/>
            <a:ext cx="74117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my_dict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{'x': 500, 'y': 5874, 'z': 500}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result = {}</a:t>
            </a:r>
          </a:p>
          <a:p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key, value in 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my_dict.items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():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if value not in 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result.values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():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result[key] = value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print(result)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1B89FD-7717-2AEF-8145-4AC3CEFFC851}"/>
              </a:ext>
            </a:extLst>
          </p:cNvPr>
          <p:cNvSpPr txBox="1"/>
          <p:nvPr/>
        </p:nvSpPr>
        <p:spPr>
          <a:xfrm>
            <a:off x="939800" y="3215005"/>
            <a:ext cx="6309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A69A8"/>
                </a:solidFill>
                <a:effectLst/>
                <a:latin typeface="Roboto" panose="02000000000000000000" pitchFamily="2" charset="0"/>
              </a:rPr>
              <a:t>Python: Remove duplicates from Dictionary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A0E546-611A-330F-930F-AE77AF2EBE68}"/>
              </a:ext>
            </a:extLst>
          </p:cNvPr>
          <p:cNvSpPr txBox="1"/>
          <p:nvPr/>
        </p:nvSpPr>
        <p:spPr>
          <a:xfrm>
            <a:off x="7559040" y="5723940"/>
            <a:ext cx="386270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FF0000"/>
                </a:solidFill>
              </a:rPr>
              <a:t>{'x': 500, 'y': 5874}</a:t>
            </a:r>
          </a:p>
        </p:txBody>
      </p:sp>
    </p:spTree>
    <p:extLst>
      <p:ext uri="{BB962C8B-B14F-4D97-AF65-F5344CB8AC3E}">
        <p14:creationId xmlns:p14="http://schemas.microsoft.com/office/powerpoint/2010/main" val="276171034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br>
              <a:rPr lang="en-US" sz="2800" b="1" dirty="0">
                <a:solidFill>
                  <a:srgbClr val="FF0000"/>
                </a:solidFill>
              </a:rPr>
            </a:br>
            <a:r>
              <a:rPr lang="en-US" sz="2800" b="1" dirty="0">
                <a:solidFill>
                  <a:srgbClr val="FF0000"/>
                </a:solidFill>
              </a:rPr>
              <a:t>Link For programs on Dictionaries in python</a:t>
            </a:r>
            <a:br>
              <a:rPr lang="en-US" sz="2800" b="1" dirty="0">
                <a:solidFill>
                  <a:srgbClr val="FF0000"/>
                </a:solidFill>
              </a:rPr>
            </a:b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110343"/>
            <a:ext cx="10515600" cy="5066620"/>
          </a:xfrm>
        </p:spPr>
        <p:txBody>
          <a:bodyPr>
            <a:normAutofit/>
          </a:bodyPr>
          <a:lstStyle/>
          <a:p>
            <a:r>
              <a:rPr lang="en-US" dirty="0">
                <a:hlinkClick r:id="rId3"/>
              </a:rPr>
              <a:t>https://www.w3resource.com/python-exercises/dictionary/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5031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IN" sz="36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Numpy Array in python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110343"/>
            <a:ext cx="10515600" cy="5066620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</a:rPr>
              <a:t>An </a:t>
            </a:r>
            <a:r>
              <a:rPr lang="en-IN" sz="2400" b="0" i="0" dirty="0">
                <a:effectLst/>
              </a:rPr>
              <a:t>NumPy array</a:t>
            </a:r>
            <a:r>
              <a:rPr lang="en-IN" sz="2400" b="0" i="0" dirty="0">
                <a:solidFill>
                  <a:srgbClr val="666666"/>
                </a:solidFill>
                <a:effectLst/>
              </a:rPr>
              <a:t>/</a:t>
            </a:r>
            <a:r>
              <a:rPr lang="en-US" sz="2400" dirty="0">
                <a:solidFill>
                  <a:schemeClr val="tx1"/>
                </a:solidFill>
              </a:rPr>
              <a:t>ndarray is a multidimensional container for  collection of homogeneous data; that is, all of the elements must be the same type.</a:t>
            </a:r>
          </a:p>
          <a:p>
            <a:pPr algn="just"/>
            <a:r>
              <a:rPr lang="en-US" sz="2400" b="0" i="0" dirty="0">
                <a:solidFill>
                  <a:srgbClr val="273239"/>
                </a:solidFill>
                <a:effectLst/>
              </a:rPr>
              <a:t>Numpy arrays are </a:t>
            </a:r>
            <a:r>
              <a:rPr lang="en-US" sz="2400" b="0" i="0" dirty="0">
                <a:solidFill>
                  <a:srgbClr val="7030A0"/>
                </a:solidFill>
                <a:effectLst/>
              </a:rPr>
              <a:t>faster, more efficient </a:t>
            </a:r>
            <a:r>
              <a:rPr lang="en-US" sz="2400" b="0" i="0" dirty="0">
                <a:solidFill>
                  <a:srgbClr val="273239"/>
                </a:solidFill>
                <a:effectLst/>
              </a:rPr>
              <a:t>than lists.</a:t>
            </a:r>
            <a:endParaRPr lang="en-US" sz="2400" b="0" i="0" dirty="0">
              <a:solidFill>
                <a:srgbClr val="0F0F0F"/>
              </a:solidFill>
              <a:effectLst/>
            </a:endParaRPr>
          </a:p>
          <a:p>
            <a:pPr marL="0" indent="0" algn="just">
              <a:buNone/>
            </a:pPr>
            <a:r>
              <a:rPr lang="en-IN" sz="2400" b="1" i="0" dirty="0">
                <a:solidFill>
                  <a:srgbClr val="FF0000"/>
                </a:solidFill>
                <a:effectLst/>
              </a:rPr>
              <a:t>NumPy package:</a:t>
            </a:r>
          </a:p>
          <a:p>
            <a:pPr algn="just"/>
            <a:r>
              <a:rPr lang="en-US" sz="2400" b="0" i="0" dirty="0">
                <a:solidFill>
                  <a:srgbClr val="000000"/>
                </a:solidFill>
                <a:effectLst/>
              </a:rPr>
              <a:t>NumPy is a Python library used for working with arrays.</a:t>
            </a:r>
          </a:p>
          <a:p>
            <a:pPr algn="just"/>
            <a:r>
              <a:rPr lang="en-US" sz="2400" b="0" i="0" dirty="0">
                <a:solidFill>
                  <a:srgbClr val="0F0F0F"/>
                </a:solidFill>
                <a:effectLst/>
              </a:rPr>
              <a:t>It provides support for large, multi-dimensional arrays and matrices, along with mathematical functions to operate on these arrays. </a:t>
            </a:r>
          </a:p>
          <a:p>
            <a:pPr algn="just"/>
            <a:r>
              <a:rPr lang="en-US" sz="2400" b="0" i="0" dirty="0">
                <a:solidFill>
                  <a:srgbClr val="0F0F0F"/>
                </a:solidFill>
                <a:effectLst/>
              </a:rPr>
              <a:t>NumPy is a fundamental package for scientific computing with Python.</a:t>
            </a:r>
          </a:p>
          <a:p>
            <a:pPr marL="0" indent="0" algn="just">
              <a:buNone/>
            </a:pPr>
            <a:endParaRPr lang="en-US" sz="2400" b="0" i="0" dirty="0">
              <a:solidFill>
                <a:srgbClr val="000000"/>
              </a:solidFill>
              <a:effectLst/>
            </a:endParaRPr>
          </a:p>
          <a:p>
            <a:pPr marL="0" indent="0" algn="just">
              <a:buNone/>
            </a:pPr>
            <a:r>
              <a:rPr lang="en-US" sz="2400" dirty="0">
                <a:solidFill>
                  <a:srgbClr val="FF0000"/>
                </a:solidFill>
              </a:rPr>
              <a:t>Importing NumPy:</a:t>
            </a:r>
          </a:p>
          <a:p>
            <a:pPr marL="0" indent="0" algn="just">
              <a:buNone/>
            </a:pPr>
            <a:r>
              <a:rPr lang="en-IN" sz="2400" b="0" i="0" dirty="0">
                <a:solidFill>
                  <a:srgbClr val="0000CD"/>
                </a:solidFill>
                <a:effectLst/>
              </a:rPr>
              <a:t>import</a:t>
            </a:r>
            <a:r>
              <a:rPr lang="en-IN" sz="2400" b="0" i="0" dirty="0">
                <a:solidFill>
                  <a:srgbClr val="000000"/>
                </a:solidFill>
                <a:effectLst/>
              </a:rPr>
              <a:t> numpy</a:t>
            </a:r>
            <a:endParaRPr lang="en-US" sz="2400" dirty="0"/>
          </a:p>
          <a:p>
            <a:pPr algn="just"/>
            <a:endParaRPr lang="en-US" sz="2400" dirty="0">
              <a:solidFill>
                <a:schemeClr val="tx1"/>
              </a:solidFill>
            </a:endParaRP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985208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pPr algn="l"/>
            <a:r>
              <a:rPr lang="en-US" sz="30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Create a NumPy ndarray Object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110343"/>
            <a:ext cx="10515600" cy="5066620"/>
          </a:xfrm>
        </p:spPr>
        <p:txBody>
          <a:bodyPr>
            <a:normAutofit/>
          </a:bodyPr>
          <a:lstStyle/>
          <a:p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We can create a NumPy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</a:rPr>
              <a:t>ndarray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object by using 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</a:rPr>
              <a:t>array()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function.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1C4953-87AB-C294-C4B3-89B2FAC85B8D}"/>
              </a:ext>
            </a:extLst>
          </p:cNvPr>
          <p:cNvSpPr txBox="1"/>
          <p:nvPr/>
        </p:nvSpPr>
        <p:spPr>
          <a:xfrm>
            <a:off x="1275080" y="2551035"/>
            <a:ext cx="84277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numpy as np</a:t>
            </a:r>
          </a:p>
          <a:p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np.array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([1, 2, 3, 4, 5])    </a:t>
            </a:r>
            <a:r>
              <a:rPr lang="en-IN" sz="20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</a:t>
            </a:r>
            <a:r>
              <a:rPr lang="en-IN" sz="2000" b="0" i="0" dirty="0">
                <a:solidFill>
                  <a:srgbClr val="FF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1-D Array</a:t>
            </a:r>
          </a:p>
          <a:p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print(type(</a:t>
            </a:r>
            <a:r>
              <a:rPr lang="en-IN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I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AB89C1-07F5-9742-6BFC-232B30A1BC30}"/>
              </a:ext>
            </a:extLst>
          </p:cNvPr>
          <p:cNvSpPr txBox="1"/>
          <p:nvPr/>
        </p:nvSpPr>
        <p:spPr>
          <a:xfrm>
            <a:off x="8244840" y="5246093"/>
            <a:ext cx="3530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[1 2 3 4 5]</a:t>
            </a:r>
          </a:p>
          <a:p>
            <a:r>
              <a:rPr lang="en-IN" sz="2400" dirty="0">
                <a:solidFill>
                  <a:srgbClr val="FF0000"/>
                </a:solidFill>
              </a:rPr>
              <a:t>&lt;class '</a:t>
            </a:r>
            <a:r>
              <a:rPr lang="en-IN" sz="2400" dirty="0" err="1">
                <a:solidFill>
                  <a:srgbClr val="FF0000"/>
                </a:solidFill>
              </a:rPr>
              <a:t>numpy.ndarray</a:t>
            </a:r>
            <a:r>
              <a:rPr lang="en-IN" sz="2400" dirty="0">
                <a:solidFill>
                  <a:srgbClr val="FF0000"/>
                </a:solidFill>
              </a:rPr>
              <a:t>'&gt;</a:t>
            </a:r>
          </a:p>
        </p:txBody>
      </p:sp>
    </p:spTree>
    <p:extLst>
      <p:ext uri="{BB962C8B-B14F-4D97-AF65-F5344CB8AC3E}">
        <p14:creationId xmlns:p14="http://schemas.microsoft.com/office/powerpoint/2010/main" val="20193781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pPr algn="l"/>
            <a:r>
              <a:rPr lang="en-IN" sz="30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2-D Arrays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110343"/>
            <a:ext cx="10515600" cy="5066620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rgbClr val="000000"/>
                </a:solidFill>
              </a:rPr>
              <a:t>2</a:t>
            </a:r>
            <a:r>
              <a:rPr lang="en-IN" sz="2400" b="0" i="0" dirty="0">
                <a:solidFill>
                  <a:srgbClr val="000000"/>
                </a:solidFill>
                <a:effectLst/>
              </a:rPr>
              <a:t>-D array is used to represent matrix </a:t>
            </a:r>
            <a:endParaRPr lang="en-US" sz="2400" b="0" i="0" dirty="0">
              <a:effectLst/>
            </a:endParaRPr>
          </a:p>
          <a:p>
            <a:r>
              <a:rPr lang="en-US" sz="2400" b="0" i="0" dirty="0">
                <a:effectLst/>
              </a:rPr>
              <a:t>A matrix is a two-dimensional data structure where numbers are arranged into rows and columns. </a:t>
            </a:r>
            <a:endParaRPr lang="en-US" sz="2400" dirty="0"/>
          </a:p>
          <a:p>
            <a:endParaRPr lang="en-US" dirty="0"/>
          </a:p>
        </p:txBody>
      </p:sp>
      <p:pic>
        <p:nvPicPr>
          <p:cNvPr id="3" name="Picture 2" descr="NumPy Matrix">
            <a:extLst>
              <a:ext uri="{FF2B5EF4-FFF2-40B4-BE49-F238E27FC236}">
                <a16:creationId xmlns:a16="http://schemas.microsoft.com/office/drawing/2014/main" id="{48097230-478C-DE95-925F-9B0595829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0557" y="3011035"/>
            <a:ext cx="4378803" cy="2881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068078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br>
              <a:rPr lang="en-IN" sz="3000" b="1" i="0" dirty="0">
                <a:solidFill>
                  <a:srgbClr val="FF0000"/>
                </a:solidFill>
                <a:effectLst/>
                <a:latin typeface="euclid_circular_a"/>
              </a:rPr>
            </a:br>
            <a:r>
              <a:rPr lang="en-IN" sz="3000" b="1" i="0" dirty="0">
                <a:solidFill>
                  <a:srgbClr val="FF0000"/>
                </a:solidFill>
                <a:effectLst/>
                <a:latin typeface="euclid_circular_a"/>
              </a:rPr>
              <a:t>Create Matrix in NumPy</a:t>
            </a:r>
            <a:br>
              <a:rPr lang="en-IN" sz="3000" b="1" i="0" dirty="0">
                <a:solidFill>
                  <a:srgbClr val="FF0000"/>
                </a:solidFill>
                <a:effectLst/>
                <a:latin typeface="euclid_circular_a"/>
              </a:rPr>
            </a:b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A6C195-521E-C14E-8FF0-1E4995279FDA}"/>
              </a:ext>
            </a:extLst>
          </p:cNvPr>
          <p:cNvSpPr txBox="1"/>
          <p:nvPr/>
        </p:nvSpPr>
        <p:spPr>
          <a:xfrm>
            <a:off x="1234440" y="1237109"/>
            <a:ext cx="630936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numpy as np</a:t>
            </a:r>
          </a:p>
          <a:p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create a 2x2 matrix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matrix1 = 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np.</a:t>
            </a:r>
            <a:r>
              <a:rPr lang="en-IN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array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([[1, 3], 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      [5, 7]])</a:t>
            </a:r>
          </a:p>
          <a:p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print("2x2 Matrix:\n",matrix1)</a:t>
            </a:r>
          </a:p>
          <a:p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create a 3x3  matrix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matrix2 = 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np.</a:t>
            </a:r>
            <a:r>
              <a:rPr lang="en-IN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array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([[2, 3, 5],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	    [7, 14, 21],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       [1, 3, 5]])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       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print("\n3x3 Matrix:\n",matrix2)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ABAD1E-2C8C-84C3-027F-7285B53BB2B4}"/>
              </a:ext>
            </a:extLst>
          </p:cNvPr>
          <p:cNvSpPr txBox="1"/>
          <p:nvPr/>
        </p:nvSpPr>
        <p:spPr>
          <a:xfrm>
            <a:off x="9372395" y="3328760"/>
            <a:ext cx="221996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FF0000"/>
                </a:solidFill>
              </a:rPr>
              <a:t>2x2 Matrix:</a:t>
            </a:r>
          </a:p>
          <a:p>
            <a:r>
              <a:rPr lang="en-IN" sz="2200" dirty="0">
                <a:solidFill>
                  <a:srgbClr val="FF0000"/>
                </a:solidFill>
              </a:rPr>
              <a:t>[[1 3]</a:t>
            </a:r>
          </a:p>
          <a:p>
            <a:r>
              <a:rPr lang="en-IN" sz="2200" dirty="0">
                <a:solidFill>
                  <a:srgbClr val="FF0000"/>
                </a:solidFill>
              </a:rPr>
              <a:t> [5 7]]</a:t>
            </a:r>
          </a:p>
          <a:p>
            <a:endParaRPr lang="en-IN" sz="2200" dirty="0">
              <a:solidFill>
                <a:srgbClr val="FF0000"/>
              </a:solidFill>
            </a:endParaRPr>
          </a:p>
          <a:p>
            <a:r>
              <a:rPr lang="en-IN" sz="2200" dirty="0">
                <a:solidFill>
                  <a:srgbClr val="FF0000"/>
                </a:solidFill>
              </a:rPr>
              <a:t>3x3 Matrix:</a:t>
            </a:r>
          </a:p>
          <a:p>
            <a:r>
              <a:rPr lang="en-IN" sz="2200" dirty="0">
                <a:solidFill>
                  <a:srgbClr val="FF0000"/>
                </a:solidFill>
              </a:rPr>
              <a:t> [[ 2  3  5]</a:t>
            </a:r>
          </a:p>
          <a:p>
            <a:r>
              <a:rPr lang="en-IN" sz="2200" dirty="0">
                <a:solidFill>
                  <a:srgbClr val="FF0000"/>
                </a:solidFill>
              </a:rPr>
              <a:t> [ 7 14 21]</a:t>
            </a:r>
          </a:p>
          <a:p>
            <a:r>
              <a:rPr lang="en-IN" sz="2200" dirty="0">
                <a:solidFill>
                  <a:srgbClr val="FF0000"/>
                </a:solidFill>
              </a:rPr>
              <a:t> [ 1  3  5]]</a:t>
            </a:r>
          </a:p>
        </p:txBody>
      </p:sp>
    </p:spTree>
    <p:extLst>
      <p:ext uri="{BB962C8B-B14F-4D97-AF65-F5344CB8AC3E}">
        <p14:creationId xmlns:p14="http://schemas.microsoft.com/office/powerpoint/2010/main" val="15104686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br>
              <a:rPr lang="en-IN" sz="3000" b="1" i="0" dirty="0">
                <a:solidFill>
                  <a:srgbClr val="FF0000"/>
                </a:solidFill>
                <a:effectLst/>
                <a:latin typeface="euclid_circular_a"/>
              </a:rPr>
            </a:br>
            <a:br>
              <a:rPr lang="en-IN" sz="3000" b="1" i="0" dirty="0">
                <a:solidFill>
                  <a:srgbClr val="FF0000"/>
                </a:solidFill>
                <a:effectLst/>
                <a:latin typeface="euclid_circular_a"/>
              </a:rPr>
            </a:br>
            <a:r>
              <a:rPr lang="en-IN" sz="3000" b="1" i="0" dirty="0">
                <a:solidFill>
                  <a:srgbClr val="FF0000"/>
                </a:solidFill>
                <a:effectLst/>
                <a:latin typeface="euclid_circular_a"/>
              </a:rPr>
              <a:t>NumPy Array Attributes</a:t>
            </a:r>
            <a:br>
              <a:rPr lang="en-IN" sz="3000" b="1" i="0" dirty="0">
                <a:solidFill>
                  <a:srgbClr val="FF0000"/>
                </a:solidFill>
                <a:effectLst/>
                <a:latin typeface="euclid_circular_a"/>
              </a:rPr>
            </a:br>
            <a:br>
              <a:rPr lang="en-IN" sz="3000" b="1" i="0" dirty="0">
                <a:solidFill>
                  <a:srgbClr val="FF0000"/>
                </a:solidFill>
                <a:effectLst/>
                <a:latin typeface="euclid_circular_a"/>
              </a:rPr>
            </a:b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A6C195-521E-C14E-8FF0-1E4995279FDA}"/>
              </a:ext>
            </a:extLst>
          </p:cNvPr>
          <p:cNvSpPr txBox="1"/>
          <p:nvPr/>
        </p:nvSpPr>
        <p:spPr>
          <a:xfrm>
            <a:off x="838200" y="904992"/>
            <a:ext cx="758444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numpy as np</a:t>
            </a:r>
          </a:p>
          <a:p>
            <a:endParaRPr lang="en-US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create a 2-D array 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array1 = 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np.array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([[2, 4, 6],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     [1, 3, 5]])</a:t>
            </a:r>
          </a:p>
          <a:p>
            <a:endParaRPr lang="en-US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check the dimension of array1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print(array1.</a:t>
            </a:r>
            <a:r>
              <a:rPr lang="en-US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ndim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 </a:t>
            </a:r>
          </a:p>
          <a:p>
            <a:endParaRPr lang="en-US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return total number of elements in array1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print(array1.</a:t>
            </a:r>
            <a:r>
              <a:rPr lang="en-US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size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endParaRPr lang="en-US" dirty="0">
              <a:solidFill>
                <a:srgbClr val="00B05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return a tuple that gives size of array in each dimension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print(array1.</a:t>
            </a:r>
            <a:r>
              <a:rPr lang="en-US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shape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endParaRPr lang="en-US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check the data type of array1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print(array1.</a:t>
            </a:r>
            <a:r>
              <a:rPr lang="en-US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dtype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 </a:t>
            </a:r>
          </a:p>
          <a:p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121A33-F66D-1EFA-96A8-7C4BDFAEAAAA}"/>
              </a:ext>
            </a:extLst>
          </p:cNvPr>
          <p:cNvSpPr txBox="1"/>
          <p:nvPr/>
        </p:nvSpPr>
        <p:spPr>
          <a:xfrm>
            <a:off x="9575492" y="4608973"/>
            <a:ext cx="181376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FF0000"/>
                </a:solidFill>
              </a:rPr>
              <a:t>2</a:t>
            </a:r>
          </a:p>
          <a:p>
            <a:r>
              <a:rPr lang="en-IN" sz="2200" dirty="0">
                <a:solidFill>
                  <a:srgbClr val="FF0000"/>
                </a:solidFill>
              </a:rPr>
              <a:t>6</a:t>
            </a:r>
          </a:p>
          <a:p>
            <a:r>
              <a:rPr lang="en-IN" sz="2200" dirty="0">
                <a:solidFill>
                  <a:srgbClr val="FF0000"/>
                </a:solidFill>
              </a:rPr>
              <a:t>(2, 3)</a:t>
            </a:r>
          </a:p>
          <a:p>
            <a:r>
              <a:rPr lang="en-IN" sz="2200" dirty="0">
                <a:solidFill>
                  <a:srgbClr val="FF0000"/>
                </a:solidFill>
              </a:rPr>
              <a:t>int64</a:t>
            </a:r>
          </a:p>
        </p:txBody>
      </p:sp>
    </p:spTree>
    <p:extLst>
      <p:ext uri="{BB962C8B-B14F-4D97-AF65-F5344CB8AC3E}">
        <p14:creationId xmlns:p14="http://schemas.microsoft.com/office/powerpoint/2010/main" val="26458815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US" sz="3000" b="1" i="0" dirty="0">
                <a:solidFill>
                  <a:srgbClr val="FF0000"/>
                </a:solidFill>
                <a:effectLst/>
                <a:latin typeface="+mn-lt"/>
              </a:rPr>
              <a:t>Accessing the Elements of the Matrix</a:t>
            </a:r>
            <a:endParaRPr lang="en-US" sz="3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8830B2-2EA0-949B-7FF2-339588E9B769}"/>
              </a:ext>
            </a:extLst>
          </p:cNvPr>
          <p:cNvSpPr txBox="1"/>
          <p:nvPr/>
        </p:nvSpPr>
        <p:spPr>
          <a:xfrm>
            <a:off x="307975" y="1707566"/>
            <a:ext cx="11660506" cy="2808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</a:t>
            </a:r>
            <a:r>
              <a:rPr lang="en-US" sz="20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numpy as np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A=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np.array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 [ [ 4, 5, 6 ], [ 7, 8, 9 ], [ 10, 11, 12 ] ] 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 ( "2nd element of 1st row of the matrix = “, </a:t>
            </a:r>
            <a:r>
              <a:rPr lang="en-US" sz="20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 [0] [1] 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 ( "3rd element of 2nd row of the matrix = ", </a:t>
            </a:r>
            <a:r>
              <a:rPr lang="en-US" sz="20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 [1] [2] 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 ( "Second row of the matrix = ",</a:t>
            </a:r>
            <a:r>
              <a:rPr lang="en-US" sz="20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A[1]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 ( "last element of the last row of the matrix =", </a:t>
            </a:r>
            <a:r>
              <a:rPr lang="en-US" sz="20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A[-1] [-1] 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en-IN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0FB5AD-BB54-B9A0-D08D-B1DCB006752D}"/>
              </a:ext>
            </a:extLst>
          </p:cNvPr>
          <p:cNvSpPr txBox="1"/>
          <p:nvPr/>
        </p:nvSpPr>
        <p:spPr>
          <a:xfrm>
            <a:off x="7005320" y="5031907"/>
            <a:ext cx="500379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2nd element of 1st row of the matrix =  5</a:t>
            </a:r>
          </a:p>
          <a:p>
            <a:r>
              <a:rPr lang="en-IN" sz="2000" dirty="0">
                <a:solidFill>
                  <a:srgbClr val="FF0000"/>
                </a:solidFill>
              </a:rPr>
              <a:t>3rd element of 2nd row of the matrix =  9</a:t>
            </a:r>
          </a:p>
          <a:p>
            <a:r>
              <a:rPr lang="en-IN" sz="2000" dirty="0">
                <a:solidFill>
                  <a:srgbClr val="FF0000"/>
                </a:solidFill>
              </a:rPr>
              <a:t>Second row of the matrix =  [7 8 9]</a:t>
            </a:r>
          </a:p>
          <a:p>
            <a:r>
              <a:rPr lang="en-IN" sz="2000" dirty="0">
                <a:solidFill>
                  <a:srgbClr val="FF0000"/>
                </a:solidFill>
              </a:rPr>
              <a:t>last element of the last row of the matrix = 12</a:t>
            </a:r>
          </a:p>
        </p:txBody>
      </p:sp>
    </p:spTree>
    <p:extLst>
      <p:ext uri="{BB962C8B-B14F-4D97-AF65-F5344CB8AC3E}">
        <p14:creationId xmlns:p14="http://schemas.microsoft.com/office/powerpoint/2010/main" val="27762357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r>
              <a:rPr lang="en-IN" sz="3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Matrix Operations using Numpy</a:t>
            </a:r>
            <a:endParaRPr lang="en-US" sz="3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419D6-5C26-D60D-1089-E84F8F389EF2}"/>
              </a:ext>
            </a:extLst>
          </p:cNvPr>
          <p:cNvSpPr txBox="1"/>
          <p:nvPr/>
        </p:nvSpPr>
        <p:spPr>
          <a:xfrm>
            <a:off x="939800" y="1496259"/>
            <a:ext cx="63093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sz="2400" b="0" i="0" dirty="0">
                <a:effectLst/>
              </a:rPr>
              <a:t>Basic Matrix Operations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2400" b="0" i="0" dirty="0">
                <a:effectLst/>
              </a:rPr>
              <a:t>Addition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2400" b="0" i="0" dirty="0">
                <a:effectLst/>
              </a:rPr>
              <a:t>Subtraction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2400" b="0" i="0" dirty="0">
                <a:effectLst/>
              </a:rPr>
              <a:t>Multiplication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2400" b="0" i="0" dirty="0">
                <a:effectLst/>
              </a:rPr>
              <a:t>Division</a:t>
            </a:r>
          </a:p>
          <a:p>
            <a:pPr algn="l">
              <a:buFont typeface="+mj-lt"/>
              <a:buAutoNum type="arabicPeriod"/>
            </a:pPr>
            <a:r>
              <a:rPr lang="en-US" sz="2400" b="0" i="0" dirty="0">
                <a:effectLst/>
              </a:rPr>
              <a:t>Advanced Matrix Operations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2400" b="0" i="0" dirty="0">
                <a:effectLst/>
              </a:rPr>
              <a:t>Transpose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sz="2400" b="0" i="0" dirty="0">
                <a:effectLst/>
              </a:rPr>
              <a:t>Inverse</a:t>
            </a:r>
          </a:p>
        </p:txBody>
      </p:sp>
    </p:spTree>
    <p:extLst>
      <p:ext uri="{BB962C8B-B14F-4D97-AF65-F5344CB8AC3E}">
        <p14:creationId xmlns:p14="http://schemas.microsoft.com/office/powerpoint/2010/main" val="20969028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pPr algn="l"/>
            <a:r>
              <a:rPr lang="en-US" sz="3000" b="1" i="0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  <a:t>Addition of Matrices</a:t>
            </a:r>
            <a:endParaRPr lang="en-US" sz="3000" b="0" i="0" dirty="0">
              <a:solidFill>
                <a:srgbClr val="FF0000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78D8EF-36BC-7044-8360-F133898FBF9D}"/>
              </a:ext>
            </a:extLst>
          </p:cNvPr>
          <p:cNvSpPr txBox="1"/>
          <p:nvPr/>
        </p:nvSpPr>
        <p:spPr>
          <a:xfrm>
            <a:off x="1026159" y="2100501"/>
            <a:ext cx="1018032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numpy as np</a:t>
            </a:r>
          </a:p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=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np.array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( [ [ 8, 10 ], [ -5, 9 ] ] )</a:t>
            </a:r>
          </a:p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 =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np.array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( [ [ 2, 6 ], [ 7, 9 ] ] )</a:t>
            </a:r>
          </a:p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Z = </a:t>
            </a:r>
            <a:r>
              <a:rPr lang="en-US" sz="2000" b="0" i="0" dirty="0">
                <a:solidFill>
                  <a:srgbClr val="7030A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+ Y     </a:t>
            </a:r>
            <a:r>
              <a:rPr lang="en-US" sz="2000" b="0" i="0" dirty="0">
                <a:solidFill>
                  <a:srgbClr val="00B05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#np.add(X,Y)</a:t>
            </a:r>
          </a:p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 (“Addition of Two Matrix : \n ", Z)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328A66-EB9C-3D2D-62A4-1031445E4E25}"/>
              </a:ext>
            </a:extLst>
          </p:cNvPr>
          <p:cNvSpPr txBox="1"/>
          <p:nvPr/>
        </p:nvSpPr>
        <p:spPr>
          <a:xfrm>
            <a:off x="7650480" y="4471015"/>
            <a:ext cx="37033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0" i="0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  <a:t> Addition of Two Matrix :</a:t>
            </a:r>
          </a:p>
          <a:p>
            <a:pPr algn="l"/>
            <a:r>
              <a:rPr lang="en-US" sz="2200" b="0" i="0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  <a:t>  [[10 16]</a:t>
            </a:r>
          </a:p>
          <a:p>
            <a:pPr algn="l"/>
            <a:r>
              <a:rPr lang="en-US" sz="2200" b="0" i="0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  <a:t> [ 2 18]]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04C918-09D0-F1AF-B029-C9DB3A82F527}"/>
              </a:ext>
            </a:extLst>
          </p:cNvPr>
          <p:cNvSpPr txBox="1"/>
          <p:nvPr/>
        </p:nvSpPr>
        <p:spPr>
          <a:xfrm>
            <a:off x="1026160" y="1092718"/>
            <a:ext cx="9083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Plus, operator (+) is used to add the elements of two matrices.</a:t>
            </a:r>
          </a:p>
        </p:txBody>
      </p:sp>
    </p:spTree>
    <p:extLst>
      <p:ext uri="{BB962C8B-B14F-4D97-AF65-F5344CB8AC3E}">
        <p14:creationId xmlns:p14="http://schemas.microsoft.com/office/powerpoint/2010/main" val="307148779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pPr algn="l"/>
            <a:r>
              <a:rPr lang="en-US" sz="3200" b="1" i="0" dirty="0">
                <a:solidFill>
                  <a:srgbClr val="FF0000"/>
                </a:solidFill>
                <a:effectLst/>
                <a:latin typeface="+mn-lt"/>
              </a:rPr>
              <a:t>Subtraction of Matrices</a:t>
            </a:r>
            <a:endParaRPr lang="en-US" sz="3200" b="0" i="0" dirty="0">
              <a:solidFill>
                <a:srgbClr val="FF0000"/>
              </a:solidFill>
              <a:effectLst/>
              <a:latin typeface="+mn-lt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78D8EF-36BC-7044-8360-F133898FBF9D}"/>
              </a:ext>
            </a:extLst>
          </p:cNvPr>
          <p:cNvSpPr txBox="1"/>
          <p:nvPr/>
        </p:nvSpPr>
        <p:spPr>
          <a:xfrm>
            <a:off x="1026159" y="2100501"/>
            <a:ext cx="1018032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numpy as np</a:t>
            </a:r>
          </a:p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=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np.array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( [ [ 8, 10 ], [ -5, 9 ] ] )</a:t>
            </a:r>
          </a:p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 =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np.array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( [ [ 2, 6 ], [ 7, 9 ] ] )</a:t>
            </a:r>
          </a:p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Z = </a:t>
            </a:r>
            <a:r>
              <a:rPr lang="en-US" sz="2000" b="0" i="0" dirty="0">
                <a:solidFill>
                  <a:srgbClr val="7030A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– Y         </a:t>
            </a:r>
            <a:r>
              <a:rPr lang="en-US" sz="2000" b="0" i="0" dirty="0">
                <a:solidFill>
                  <a:srgbClr val="00B05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#np.</a:t>
            </a:r>
            <a:r>
              <a:rPr lang="en-IN" sz="2000" b="0" i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subtract(X,Y)</a:t>
            </a:r>
            <a:endParaRPr lang="en-US" sz="2000" b="0" i="0" dirty="0">
              <a:solidFill>
                <a:srgbClr val="00B05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 (“Subtraction of Two Matrix : \n ", Z)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328A66-EB9C-3D2D-62A4-1031445E4E25}"/>
              </a:ext>
            </a:extLst>
          </p:cNvPr>
          <p:cNvSpPr txBox="1"/>
          <p:nvPr/>
        </p:nvSpPr>
        <p:spPr>
          <a:xfrm>
            <a:off x="7650480" y="4471015"/>
            <a:ext cx="37033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  <a:t> </a:t>
            </a:r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 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Substraction</a:t>
            </a:r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of Two Matrix :</a:t>
            </a:r>
          </a:p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  [[  6   4]</a:t>
            </a:r>
          </a:p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 [-12   0]]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04C918-09D0-F1AF-B029-C9DB3A82F527}"/>
              </a:ext>
            </a:extLst>
          </p:cNvPr>
          <p:cNvSpPr txBox="1"/>
          <p:nvPr/>
        </p:nvSpPr>
        <p:spPr>
          <a:xfrm>
            <a:off x="1026160" y="1092718"/>
            <a:ext cx="9011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22222"/>
                </a:solidFill>
                <a:effectLst/>
              </a:rPr>
              <a:t>Minus operator (-) is used to subtract the elements of two matrices</a:t>
            </a:r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507370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pPr algn="l"/>
            <a:r>
              <a:rPr lang="en-US" sz="3000" b="1" i="0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  <a:t>Multiplication of Matrices</a:t>
            </a:r>
            <a:endParaRPr lang="en-US" sz="3000" b="0" i="0" dirty="0">
              <a:solidFill>
                <a:srgbClr val="FF0000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78D8EF-36BC-7044-8360-F133898FBF9D}"/>
              </a:ext>
            </a:extLst>
          </p:cNvPr>
          <p:cNvSpPr txBox="1"/>
          <p:nvPr/>
        </p:nvSpPr>
        <p:spPr>
          <a:xfrm>
            <a:off x="1026159" y="2100501"/>
            <a:ext cx="793496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numpy as np</a:t>
            </a:r>
          </a:p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=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np.array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( [ [ 8, 10 ], [ -5, 9 ] ] )</a:t>
            </a:r>
          </a:p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 =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np.array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( [ [ 2, 6 ], [ 7, 9 ] ] )</a:t>
            </a:r>
          </a:p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Z = </a:t>
            </a:r>
            <a:r>
              <a:rPr lang="en-US" sz="2000" b="0" i="0" dirty="0">
                <a:solidFill>
                  <a:srgbClr val="7030A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* Y			</a:t>
            </a:r>
            <a:r>
              <a:rPr lang="en-US" sz="2000" b="0" i="0" dirty="0">
                <a:solidFill>
                  <a:srgbClr val="00B05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#np.</a:t>
            </a:r>
            <a:r>
              <a:rPr lang="en-IN" sz="2000" b="0" i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multiply(X,Y)</a:t>
            </a:r>
            <a:endParaRPr lang="en-US" sz="2000" b="0" i="0" dirty="0">
              <a:solidFill>
                <a:srgbClr val="00B05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 ("Multiplication of Two Matrix : \n ", Z)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04C918-09D0-F1AF-B029-C9DB3A82F527}"/>
              </a:ext>
            </a:extLst>
          </p:cNvPr>
          <p:cNvSpPr txBox="1"/>
          <p:nvPr/>
        </p:nvSpPr>
        <p:spPr>
          <a:xfrm>
            <a:off x="1026160" y="1092718"/>
            <a:ext cx="103276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22222"/>
                </a:solidFill>
                <a:effectLst/>
              </a:rPr>
              <a:t>Multiplication operator (*) is used to multiply the elements of two matrices element wise.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20DC6A-EB46-EAED-5B24-0BA4DFE64901}"/>
              </a:ext>
            </a:extLst>
          </p:cNvPr>
          <p:cNvSpPr txBox="1"/>
          <p:nvPr/>
        </p:nvSpPr>
        <p:spPr>
          <a:xfrm>
            <a:off x="7564120" y="4973281"/>
            <a:ext cx="4140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  <a:t>Multiplication of Two Matrix :</a:t>
            </a:r>
          </a:p>
          <a:p>
            <a:pPr algn="l"/>
            <a:r>
              <a:rPr lang="en-US" b="0" i="0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  <a:t>  [[ 16  60]</a:t>
            </a:r>
          </a:p>
          <a:p>
            <a:pPr algn="l"/>
            <a:r>
              <a:rPr lang="en-US" b="0" i="0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  <a:t> [-35  81]]</a:t>
            </a:r>
          </a:p>
        </p:txBody>
      </p:sp>
    </p:spTree>
    <p:extLst>
      <p:ext uri="{BB962C8B-B14F-4D97-AF65-F5344CB8AC3E}">
        <p14:creationId xmlns:p14="http://schemas.microsoft.com/office/powerpoint/2010/main" val="87877530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pPr algn="l"/>
            <a:r>
              <a:rPr lang="en-US" sz="3000" b="1" i="0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  <a:t>Division of Matrices</a:t>
            </a:r>
            <a:endParaRPr lang="en-US" sz="3000" b="0" i="0" dirty="0">
              <a:solidFill>
                <a:srgbClr val="FF0000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78D8EF-36BC-7044-8360-F133898FBF9D}"/>
              </a:ext>
            </a:extLst>
          </p:cNvPr>
          <p:cNvSpPr txBox="1"/>
          <p:nvPr/>
        </p:nvSpPr>
        <p:spPr>
          <a:xfrm>
            <a:off x="1026159" y="2100501"/>
            <a:ext cx="793496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numpy as np</a:t>
            </a:r>
          </a:p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=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np.array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( [ [ 8, 10 ], [ -5, 9 ] ] )</a:t>
            </a:r>
          </a:p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 =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np.array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( [ [ 2, 6 ], [ 7, 9 ] ] )</a:t>
            </a:r>
          </a:p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Z = </a:t>
            </a:r>
            <a:r>
              <a:rPr lang="en-US" sz="2000" b="0" i="0" dirty="0">
                <a:solidFill>
                  <a:srgbClr val="7030A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/ Y			</a:t>
            </a:r>
            <a:r>
              <a:rPr lang="en-US" sz="2000" b="0" i="0" dirty="0">
                <a:solidFill>
                  <a:srgbClr val="00B05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#np.</a:t>
            </a:r>
            <a:r>
              <a:rPr lang="en-IN" sz="2000" b="0" i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 Divide(X,Y)</a:t>
            </a:r>
            <a:endParaRPr lang="en-US" sz="2000" b="0" i="0" dirty="0">
              <a:solidFill>
                <a:srgbClr val="00B05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 ("Division of Two Matrix : \n ", Z)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04C918-09D0-F1AF-B029-C9DB3A82F527}"/>
              </a:ext>
            </a:extLst>
          </p:cNvPr>
          <p:cNvSpPr txBox="1"/>
          <p:nvPr/>
        </p:nvSpPr>
        <p:spPr>
          <a:xfrm>
            <a:off x="1026160" y="1092718"/>
            <a:ext cx="103276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22222"/>
                </a:solidFill>
                <a:effectLst/>
              </a:rPr>
              <a:t>Division operator (/) is used to divide the elements of two matrices element wise.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20DC6A-EB46-EAED-5B24-0BA4DFE64901}"/>
              </a:ext>
            </a:extLst>
          </p:cNvPr>
          <p:cNvSpPr txBox="1"/>
          <p:nvPr/>
        </p:nvSpPr>
        <p:spPr>
          <a:xfrm>
            <a:off x="7564120" y="4973281"/>
            <a:ext cx="4140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  <a:t>Multiplication of Two Matrix :</a:t>
            </a:r>
          </a:p>
          <a:p>
            <a:pPr algn="l"/>
            <a:r>
              <a:rPr lang="en-US" b="0" i="0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  <a:t>  [[ </a:t>
            </a:r>
            <a:r>
              <a:rPr lang="en-US" dirty="0">
                <a:solidFill>
                  <a:srgbClr val="FF0000"/>
                </a:solidFill>
                <a:latin typeface="Open Sans" panose="020B0606030504020204" pitchFamily="34" charset="0"/>
              </a:rPr>
              <a:t>4.0</a:t>
            </a:r>
            <a:r>
              <a:rPr lang="en-US" b="0" i="0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  <a:t>  1.66],</a:t>
            </a:r>
          </a:p>
          <a:p>
            <a:pPr algn="l"/>
            <a:r>
              <a:rPr lang="en-US" b="0" i="0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  <a:t> [-</a:t>
            </a:r>
            <a:r>
              <a:rPr lang="en-US" dirty="0">
                <a:solidFill>
                  <a:srgbClr val="FF0000"/>
                </a:solidFill>
                <a:latin typeface="Open Sans" panose="020B0606030504020204" pitchFamily="34" charset="0"/>
              </a:rPr>
              <a:t>0.71</a:t>
            </a:r>
            <a:r>
              <a:rPr lang="en-US" b="0" i="0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  <a:t>  1.0]]</a:t>
            </a:r>
          </a:p>
        </p:txBody>
      </p:sp>
    </p:spTree>
    <p:extLst>
      <p:ext uri="{BB962C8B-B14F-4D97-AF65-F5344CB8AC3E}">
        <p14:creationId xmlns:p14="http://schemas.microsoft.com/office/powerpoint/2010/main" val="190464203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pPr algn="l"/>
            <a:r>
              <a:rPr lang="en-IN" sz="3000" b="1" i="0" dirty="0">
                <a:solidFill>
                  <a:srgbClr val="FF0000"/>
                </a:solidFill>
                <a:effectLst/>
              </a:rPr>
              <a:t>Matrix Dot Products Calculation</a:t>
            </a:r>
            <a:endParaRPr lang="en-US" sz="3000" b="0" i="0" dirty="0">
              <a:solidFill>
                <a:srgbClr val="FF0000"/>
              </a:solidFill>
              <a:effectLst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78D8EF-36BC-7044-8360-F133898FBF9D}"/>
              </a:ext>
            </a:extLst>
          </p:cNvPr>
          <p:cNvSpPr txBox="1"/>
          <p:nvPr/>
        </p:nvSpPr>
        <p:spPr>
          <a:xfrm>
            <a:off x="1026159" y="2100501"/>
            <a:ext cx="1018032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numpy as np</a:t>
            </a:r>
          </a:p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=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np.array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( [ [ 8, 1 ], [ 5, 2 ] ] )</a:t>
            </a:r>
          </a:p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 =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np.array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( [ [ 2, 6 ], [ 7, 9 ] ] )</a:t>
            </a:r>
          </a:p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Z =</a:t>
            </a:r>
            <a:r>
              <a:rPr lang="en-US" sz="2000" b="0" i="0" dirty="0">
                <a:solidFill>
                  <a:srgbClr val="7030A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X @ Y</a:t>
            </a:r>
          </a:p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 ("dot product of Two Matrix : \n ", Z)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04C918-09D0-F1AF-B029-C9DB3A82F527}"/>
              </a:ext>
            </a:extLst>
          </p:cNvPr>
          <p:cNvSpPr txBox="1"/>
          <p:nvPr/>
        </p:nvSpPr>
        <p:spPr>
          <a:xfrm>
            <a:off x="1026159" y="1092718"/>
            <a:ext cx="94562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i="0" dirty="0">
                <a:effectLst/>
              </a:rPr>
              <a:t>@/dot() method is used to </a:t>
            </a:r>
            <a:r>
              <a:rPr lang="en-US" sz="2400" dirty="0"/>
              <a:t>calculate </a:t>
            </a:r>
            <a:r>
              <a:rPr lang="en-IN" sz="2400" dirty="0"/>
              <a:t>d</a:t>
            </a:r>
            <a:r>
              <a:rPr lang="en-IN" sz="2400" i="0" dirty="0">
                <a:effectLst/>
              </a:rPr>
              <a:t>ot Product of two matrices</a:t>
            </a:r>
            <a:r>
              <a:rPr lang="en-US" sz="2400" dirty="0"/>
              <a:t> </a:t>
            </a:r>
            <a:r>
              <a:rPr lang="en-US" sz="2400" i="0" dirty="0">
                <a:effectLst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772C09-A604-B2BE-8663-B5B8B858B4EA}"/>
              </a:ext>
            </a:extLst>
          </p:cNvPr>
          <p:cNvSpPr txBox="1"/>
          <p:nvPr/>
        </p:nvSpPr>
        <p:spPr>
          <a:xfrm>
            <a:off x="7325154" y="4352302"/>
            <a:ext cx="43994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dot product of Two Matrix : 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[[23 57]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[24 48]]</a:t>
            </a:r>
            <a:endParaRPr lang="en-I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42473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pPr algn="l"/>
            <a:r>
              <a:rPr lang="en-IN" sz="3000" b="1" i="0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  <a:t>Transpose of a Matrix</a:t>
            </a:r>
            <a:endParaRPr lang="en-US" sz="3000" b="0" i="0" dirty="0">
              <a:solidFill>
                <a:srgbClr val="FF0000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78D8EF-36BC-7044-8360-F133898FBF9D}"/>
              </a:ext>
            </a:extLst>
          </p:cNvPr>
          <p:cNvSpPr txBox="1"/>
          <p:nvPr/>
        </p:nvSpPr>
        <p:spPr>
          <a:xfrm>
            <a:off x="1026159" y="2100501"/>
            <a:ext cx="1018032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numpy as np</a:t>
            </a:r>
          </a:p>
          <a:p>
            <a:pPr algn="l"/>
            <a:r>
              <a:rPr lang="en-IN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= </a:t>
            </a:r>
            <a:r>
              <a:rPr lang="en-IN" sz="2000" b="0" i="0" dirty="0" err="1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np.array</a:t>
            </a:r>
            <a:r>
              <a:rPr lang="en-IN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( [ [ 8, 1 ], [ 5, 2 ] ] )</a:t>
            </a:r>
          </a:p>
          <a:p>
            <a:pPr algn="l"/>
            <a:endParaRPr lang="en-IN" sz="2000" b="0" i="0" dirty="0">
              <a:solidFill>
                <a:srgbClr val="222222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algn="l"/>
            <a:r>
              <a:rPr lang="en-IN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 ( " Original Matrix is : \n ", X)</a:t>
            </a:r>
          </a:p>
          <a:p>
            <a:pPr algn="l"/>
            <a:r>
              <a:rPr lang="en-IN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 ( " Transpose Matrix is : \n ", </a:t>
            </a:r>
            <a:r>
              <a:rPr lang="en-IN" sz="2000" b="0" i="0" dirty="0" err="1">
                <a:solidFill>
                  <a:srgbClr val="7030A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np.transpose</a:t>
            </a:r>
            <a:r>
              <a:rPr lang="en-IN" sz="2000" b="0" i="0" dirty="0">
                <a:solidFill>
                  <a:srgbClr val="7030A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(X))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04C918-09D0-F1AF-B029-C9DB3A82F527}"/>
              </a:ext>
            </a:extLst>
          </p:cNvPr>
          <p:cNvSpPr txBox="1"/>
          <p:nvPr/>
        </p:nvSpPr>
        <p:spPr>
          <a:xfrm>
            <a:off x="1026160" y="1092718"/>
            <a:ext cx="96926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It is nothing but the interchange the rows and columns of a Matrix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ECB559-8B35-20F5-82D4-857C6B4F409A}"/>
              </a:ext>
            </a:extLst>
          </p:cNvPr>
          <p:cNvSpPr txBox="1"/>
          <p:nvPr/>
        </p:nvSpPr>
        <p:spPr>
          <a:xfrm>
            <a:off x="9286035" y="4160361"/>
            <a:ext cx="260116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200" dirty="0">
                <a:solidFill>
                  <a:srgbClr val="FF0000"/>
                </a:solidFill>
              </a:rPr>
              <a:t> Original Matrix </a:t>
            </a:r>
            <a:r>
              <a:rPr lang="fr-FR" sz="2200" dirty="0" err="1">
                <a:solidFill>
                  <a:srgbClr val="FF0000"/>
                </a:solidFill>
              </a:rPr>
              <a:t>is</a:t>
            </a:r>
            <a:r>
              <a:rPr lang="fr-FR" sz="2200" dirty="0">
                <a:solidFill>
                  <a:srgbClr val="FF0000"/>
                </a:solidFill>
              </a:rPr>
              <a:t> : </a:t>
            </a:r>
          </a:p>
          <a:p>
            <a:r>
              <a:rPr lang="fr-FR" sz="2200" dirty="0">
                <a:solidFill>
                  <a:srgbClr val="FF0000"/>
                </a:solidFill>
              </a:rPr>
              <a:t>  [[8 1]</a:t>
            </a:r>
          </a:p>
          <a:p>
            <a:r>
              <a:rPr lang="fr-FR" sz="2200" dirty="0">
                <a:solidFill>
                  <a:srgbClr val="FF0000"/>
                </a:solidFill>
              </a:rPr>
              <a:t> [5 2]]</a:t>
            </a:r>
          </a:p>
          <a:p>
            <a:r>
              <a:rPr lang="fr-FR" sz="2200" dirty="0">
                <a:solidFill>
                  <a:srgbClr val="FF0000"/>
                </a:solidFill>
              </a:rPr>
              <a:t> Transpose Matrix </a:t>
            </a:r>
            <a:r>
              <a:rPr lang="fr-FR" sz="2200" dirty="0" err="1">
                <a:solidFill>
                  <a:srgbClr val="FF0000"/>
                </a:solidFill>
              </a:rPr>
              <a:t>is</a:t>
            </a:r>
            <a:r>
              <a:rPr lang="fr-FR" sz="2200" dirty="0">
                <a:solidFill>
                  <a:srgbClr val="FF0000"/>
                </a:solidFill>
              </a:rPr>
              <a:t> : </a:t>
            </a:r>
          </a:p>
          <a:p>
            <a:r>
              <a:rPr lang="fr-FR" sz="2200" dirty="0">
                <a:solidFill>
                  <a:srgbClr val="FF0000"/>
                </a:solidFill>
              </a:rPr>
              <a:t>  [[8 5]</a:t>
            </a:r>
          </a:p>
          <a:p>
            <a:r>
              <a:rPr lang="fr-FR" sz="2200" dirty="0">
                <a:solidFill>
                  <a:srgbClr val="FF0000"/>
                </a:solidFill>
              </a:rPr>
              <a:t> [1 2]]</a:t>
            </a:r>
            <a:endParaRPr lang="en-IN" sz="2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502961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487190"/>
          </a:xfrm>
        </p:spPr>
        <p:txBody>
          <a:bodyPr>
            <a:noAutofit/>
          </a:bodyPr>
          <a:lstStyle/>
          <a:p>
            <a:br>
              <a:rPr lang="en-US" sz="3000" b="1" i="0" dirty="0">
                <a:solidFill>
                  <a:srgbClr val="FF0000"/>
                </a:solidFill>
                <a:effectLst/>
                <a:latin typeface="euclid_circular_a"/>
              </a:rPr>
            </a:br>
            <a:r>
              <a:rPr lang="en-US" sz="3000" b="1" i="0" dirty="0">
                <a:solidFill>
                  <a:srgbClr val="FF0000"/>
                </a:solidFill>
                <a:effectLst/>
                <a:latin typeface="euclid_circular_a"/>
              </a:rPr>
              <a:t>Determinant of a Matrix in NumPy</a:t>
            </a:r>
            <a:br>
              <a:rPr lang="en-US" sz="3000" b="1" i="0" dirty="0">
                <a:solidFill>
                  <a:srgbClr val="FF0000"/>
                </a:solidFill>
                <a:effectLst/>
                <a:latin typeface="euclid_circular_a"/>
              </a:rPr>
            </a:br>
            <a:endParaRPr lang="en-US" sz="3000" b="0" i="0" dirty="0">
              <a:solidFill>
                <a:srgbClr val="FF0000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78D8EF-36BC-7044-8360-F133898FBF9D}"/>
              </a:ext>
            </a:extLst>
          </p:cNvPr>
          <p:cNvSpPr txBox="1"/>
          <p:nvPr/>
        </p:nvSpPr>
        <p:spPr>
          <a:xfrm>
            <a:off x="1026159" y="2100501"/>
            <a:ext cx="1018032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numpy as np</a:t>
            </a:r>
          </a:p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 =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np.array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( [ [ 8, 1 ], [ 5, 2 ] ] )</a:t>
            </a:r>
          </a:p>
          <a:p>
            <a:r>
              <a:rPr lang="en-US" sz="2000" dirty="0">
                <a:solidFill>
                  <a:srgbClr val="22222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 ( " Original Matrix is : \n ", A)</a:t>
            </a:r>
          </a:p>
          <a:p>
            <a:r>
              <a:rPr lang="en-US" sz="2000" dirty="0">
                <a:solidFill>
                  <a:srgbClr val="22222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 Determinant Matrix is : \n ",</a:t>
            </a:r>
            <a:r>
              <a:rPr lang="en-US" sz="2000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np.linalg.det</a:t>
            </a:r>
            <a:r>
              <a:rPr lang="en-US" sz="20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(A))</a:t>
            </a:r>
            <a:endParaRPr lang="en-IN" sz="2000" dirty="0">
              <a:solidFill>
                <a:srgbClr val="7030A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algn="l"/>
            <a:endParaRPr lang="en-US" sz="2000" b="0" i="0" dirty="0">
              <a:solidFill>
                <a:srgbClr val="222222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04C918-09D0-F1AF-B029-C9DB3A82F527}"/>
              </a:ext>
            </a:extLst>
          </p:cNvPr>
          <p:cNvSpPr txBox="1"/>
          <p:nvPr/>
        </p:nvSpPr>
        <p:spPr>
          <a:xfrm>
            <a:off x="1026160" y="1092718"/>
            <a:ext cx="96926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It is nothing but the interchange the rows and columns of a Matrix</a:t>
            </a:r>
          </a:p>
        </p:txBody>
      </p:sp>
    </p:spTree>
    <p:extLst>
      <p:ext uri="{BB962C8B-B14F-4D97-AF65-F5344CB8AC3E}">
        <p14:creationId xmlns:p14="http://schemas.microsoft.com/office/powerpoint/2010/main" val="316341946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080" y="270456"/>
            <a:ext cx="11511280" cy="487190"/>
          </a:xfrm>
        </p:spPr>
        <p:txBody>
          <a:bodyPr>
            <a:noAutofit/>
          </a:bodyPr>
          <a:lstStyle/>
          <a:p>
            <a:r>
              <a:rPr lang="en-US" sz="3000" b="1" i="0" dirty="0">
                <a:solidFill>
                  <a:srgbClr val="FF0000"/>
                </a:solidFill>
                <a:effectLst/>
              </a:rPr>
              <a:t>Inverse </a:t>
            </a:r>
            <a:r>
              <a:rPr lang="en-IN" sz="3000" b="1" i="0" dirty="0">
                <a:solidFill>
                  <a:srgbClr val="FF0000"/>
                </a:solidFill>
                <a:effectLst/>
              </a:rPr>
              <a:t> of a Matrix</a:t>
            </a:r>
            <a:endParaRPr lang="en-US" sz="3000" b="1" i="0" dirty="0">
              <a:solidFill>
                <a:srgbClr val="FF0000"/>
              </a:solidFill>
              <a:effectLst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78D8EF-36BC-7044-8360-F133898FBF9D}"/>
              </a:ext>
            </a:extLst>
          </p:cNvPr>
          <p:cNvSpPr txBox="1"/>
          <p:nvPr/>
        </p:nvSpPr>
        <p:spPr>
          <a:xfrm>
            <a:off x="1026159" y="2100501"/>
            <a:ext cx="835152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numpy as np</a:t>
            </a:r>
          </a:p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 = </a:t>
            </a:r>
            <a:r>
              <a:rPr lang="en-US" sz="2000" b="0" i="0" dirty="0" err="1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np.array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( [ [ 8, 1 ], [ 5, 2 ] ] )</a:t>
            </a:r>
          </a:p>
          <a:p>
            <a:pPr algn="l"/>
            <a:endParaRPr lang="en-US" sz="2000" b="0" i="0" dirty="0">
              <a:solidFill>
                <a:srgbClr val="222222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 ( " Original Matrix is : \n ", A)</a:t>
            </a:r>
          </a:p>
          <a:p>
            <a:pPr algn="l"/>
            <a:r>
              <a:rPr lang="en-US" sz="2000" b="0" i="0" dirty="0">
                <a:solidFill>
                  <a:srgbClr val="222222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 Inverse Matrix is : \n ",</a:t>
            </a:r>
            <a:r>
              <a:rPr lang="en-US" sz="2000" b="0" i="0" dirty="0" err="1">
                <a:solidFill>
                  <a:srgbClr val="7030A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np.linalg.inv</a:t>
            </a:r>
            <a:r>
              <a:rPr lang="en-US" sz="2000" b="0" i="0" dirty="0">
                <a:solidFill>
                  <a:srgbClr val="7030A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(A))</a:t>
            </a:r>
            <a:endParaRPr lang="en-IN" sz="2000" b="0" i="0" dirty="0">
              <a:solidFill>
                <a:srgbClr val="7030A0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3BA9D2-D53F-5D67-AEA4-14DBBD53A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8886" y="1076134"/>
            <a:ext cx="2378474" cy="167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01C091-9C6B-C7B9-86A1-D848D86B9DEF}"/>
              </a:ext>
            </a:extLst>
          </p:cNvPr>
          <p:cNvSpPr txBox="1"/>
          <p:nvPr/>
        </p:nvSpPr>
        <p:spPr>
          <a:xfrm>
            <a:off x="7292340" y="4197409"/>
            <a:ext cx="33045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 Original Matrix is : </a:t>
            </a:r>
          </a:p>
          <a:p>
            <a:r>
              <a:rPr lang="en-IN" sz="2000" dirty="0">
                <a:solidFill>
                  <a:srgbClr val="FF0000"/>
                </a:solidFill>
              </a:rPr>
              <a:t>  [[8 1]</a:t>
            </a:r>
          </a:p>
          <a:p>
            <a:r>
              <a:rPr lang="en-IN" sz="2000" dirty="0">
                <a:solidFill>
                  <a:srgbClr val="FF0000"/>
                </a:solidFill>
              </a:rPr>
              <a:t> [5 2]]</a:t>
            </a:r>
          </a:p>
          <a:p>
            <a:r>
              <a:rPr lang="en-IN" sz="2000" dirty="0">
                <a:solidFill>
                  <a:srgbClr val="FF0000"/>
                </a:solidFill>
              </a:rPr>
              <a:t> Inverse Matrix is : </a:t>
            </a:r>
          </a:p>
          <a:p>
            <a:r>
              <a:rPr lang="en-IN" sz="2000" dirty="0">
                <a:solidFill>
                  <a:srgbClr val="FF0000"/>
                </a:solidFill>
              </a:rPr>
              <a:t>  [[ 0.18181818 -0.09090909]</a:t>
            </a:r>
          </a:p>
          <a:p>
            <a:r>
              <a:rPr lang="en-IN" sz="2000" dirty="0">
                <a:solidFill>
                  <a:srgbClr val="FF0000"/>
                </a:solidFill>
              </a:rPr>
              <a:t> [-0.45454545  0.72727273]]</a:t>
            </a:r>
          </a:p>
        </p:txBody>
      </p:sp>
    </p:spTree>
    <p:extLst>
      <p:ext uri="{BB962C8B-B14F-4D97-AF65-F5344CB8AC3E}">
        <p14:creationId xmlns:p14="http://schemas.microsoft.com/office/powerpoint/2010/main" val="123265594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080" y="270456"/>
            <a:ext cx="11511280" cy="487190"/>
          </a:xfrm>
        </p:spPr>
        <p:txBody>
          <a:bodyPr>
            <a:noAutofit/>
          </a:bodyPr>
          <a:lstStyle/>
          <a:p>
            <a:pPr algn="l"/>
            <a:r>
              <a:rPr lang="en-IN" sz="30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Reshaping arrays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78D8EF-36BC-7044-8360-F133898FBF9D}"/>
              </a:ext>
            </a:extLst>
          </p:cNvPr>
          <p:cNvSpPr txBox="1"/>
          <p:nvPr/>
        </p:nvSpPr>
        <p:spPr>
          <a:xfrm>
            <a:off x="1026159" y="2100501"/>
            <a:ext cx="973328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0" i="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numpy as np</a:t>
            </a:r>
          </a:p>
          <a:p>
            <a:pPr algn="l"/>
            <a:endParaRPr lang="en-IN" sz="2000" b="0" i="0" dirty="0"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algn="l"/>
            <a:r>
              <a:rPr lang="en-IN" sz="2000" b="0" i="0" dirty="0" err="1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IN" sz="2000" b="0" i="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IN" sz="2000" b="0" i="0" dirty="0" err="1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np.array</a:t>
            </a:r>
            <a:r>
              <a:rPr lang="en-IN" sz="2000" b="0" i="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([1, 2, 3, 4, 5, 6, 7, 8, 9, 10, 11, 12])</a:t>
            </a:r>
          </a:p>
          <a:p>
            <a:pPr algn="l"/>
            <a:endParaRPr lang="en-IN" sz="2000" b="0" i="0" dirty="0"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algn="l"/>
            <a:r>
              <a:rPr lang="en-IN" sz="2000" b="0" i="0" dirty="0" err="1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newarr</a:t>
            </a:r>
            <a:r>
              <a:rPr lang="en-IN" sz="2000" b="0" i="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IN" sz="2000" b="0" i="0" dirty="0" err="1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arr.reshape</a:t>
            </a:r>
            <a:r>
              <a:rPr lang="en-IN" sz="2000" b="0" i="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(4,3)</a:t>
            </a:r>
          </a:p>
          <a:p>
            <a:pPr algn="l"/>
            <a:endParaRPr lang="en-IN" sz="2000" b="0" i="0" dirty="0"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algn="l"/>
            <a:r>
              <a:rPr lang="en-IN" sz="2000" b="0" i="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</a:t>
            </a:r>
            <a:r>
              <a:rPr lang="en-IN" sz="2000" b="0" i="0" dirty="0" err="1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newarr</a:t>
            </a:r>
            <a:r>
              <a:rPr lang="en-IN" sz="2000" b="0" i="0" dirty="0"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4D4FF6-B153-74A5-218B-A8A3B49CE435}"/>
              </a:ext>
            </a:extLst>
          </p:cNvPr>
          <p:cNvSpPr txBox="1"/>
          <p:nvPr/>
        </p:nvSpPr>
        <p:spPr>
          <a:xfrm>
            <a:off x="1353206" y="1156331"/>
            <a:ext cx="102495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Reshaping means changing the shape of an array.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shape of an array is the number of elements in each dimension.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B43D66-7B63-4A80-4A5A-6F2E1194B8BC}"/>
              </a:ext>
            </a:extLst>
          </p:cNvPr>
          <p:cNvSpPr txBox="1"/>
          <p:nvPr/>
        </p:nvSpPr>
        <p:spPr>
          <a:xfrm>
            <a:off x="7678420" y="4645109"/>
            <a:ext cx="160782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FF0000"/>
                </a:solidFill>
              </a:rPr>
              <a:t>[[ 1  2  3]</a:t>
            </a:r>
          </a:p>
          <a:p>
            <a:r>
              <a:rPr lang="en-IN" sz="2200" dirty="0">
                <a:solidFill>
                  <a:srgbClr val="FF0000"/>
                </a:solidFill>
              </a:rPr>
              <a:t> [ 4  5  6]</a:t>
            </a:r>
          </a:p>
          <a:p>
            <a:r>
              <a:rPr lang="en-IN" sz="2200" dirty="0">
                <a:solidFill>
                  <a:srgbClr val="FF0000"/>
                </a:solidFill>
              </a:rPr>
              <a:t> [ 7  8  9]</a:t>
            </a:r>
          </a:p>
          <a:p>
            <a:r>
              <a:rPr lang="en-IN" sz="2200" dirty="0">
                <a:solidFill>
                  <a:srgbClr val="FF0000"/>
                </a:solidFill>
              </a:rPr>
              <a:t> [10 11 12]]</a:t>
            </a:r>
          </a:p>
        </p:txBody>
      </p:sp>
    </p:spTree>
    <p:extLst>
      <p:ext uri="{BB962C8B-B14F-4D97-AF65-F5344CB8AC3E}">
        <p14:creationId xmlns:p14="http://schemas.microsoft.com/office/powerpoint/2010/main" val="9532768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975" y="7937"/>
            <a:ext cx="11511280" cy="487190"/>
          </a:xfrm>
        </p:spPr>
        <p:txBody>
          <a:bodyPr>
            <a:noAutofit/>
          </a:bodyPr>
          <a:lstStyle/>
          <a:p>
            <a:pPr algn="l"/>
            <a:r>
              <a:rPr lang="en-IN" sz="22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Write a python program to apply basic matrix operations on matrices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0AA785-43D3-A412-3DF9-3A9CCA21E413}"/>
              </a:ext>
            </a:extLst>
          </p:cNvPr>
          <p:cNvSpPr txBox="1"/>
          <p:nvPr/>
        </p:nvSpPr>
        <p:spPr>
          <a:xfrm>
            <a:off x="155575" y="1026726"/>
            <a:ext cx="7533640" cy="419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numpy as np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= 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np.array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( [ [ 8, 10 ], [ -5, 9 ] ] )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 = 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np.array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( [ [ 2, 6 ], [ 7, 9 ] ] )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 (“Addition of Two Matrix : \n ", X+Y)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 ("Subtraction of Two Matrix : \n ", X-Y)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 ("Multiplication of Two Matrix : \n ", X*Y)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 ("Division of Two Matrix : \n ", X/Y)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 ("dot product of Two Matrix : \n ", X@Y)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 ( " Transpose Matrix is : \n ", 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np.transpose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(X))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print(" Inverse Matrix is : \n ",</a:t>
            </a:r>
            <a:r>
              <a:rPr lang="en-IN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np.linalg.inv</a:t>
            </a:r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(X))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5472FB-DED3-3B62-DC5D-54B8A134D68E}"/>
              </a:ext>
            </a:extLst>
          </p:cNvPr>
          <p:cNvSpPr txBox="1"/>
          <p:nvPr/>
        </p:nvSpPr>
        <p:spPr>
          <a:xfrm>
            <a:off x="7960360" y="313388"/>
            <a:ext cx="371348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Addition of Two Matrix : </a:t>
            </a:r>
          </a:p>
          <a:p>
            <a:r>
              <a:rPr lang="en-IN" dirty="0">
                <a:solidFill>
                  <a:srgbClr val="C00000"/>
                </a:solidFill>
              </a:rPr>
              <a:t> [[10 16]</a:t>
            </a:r>
          </a:p>
          <a:p>
            <a:r>
              <a:rPr lang="en-IN" dirty="0">
                <a:solidFill>
                  <a:srgbClr val="C00000"/>
                </a:solidFill>
              </a:rPr>
              <a:t> [ 2 18]]</a:t>
            </a:r>
          </a:p>
          <a:p>
            <a:r>
              <a:rPr lang="en-IN" dirty="0">
                <a:solidFill>
                  <a:srgbClr val="C00000"/>
                </a:solidFill>
              </a:rPr>
              <a:t>Subtraction of Two Matrix : </a:t>
            </a:r>
          </a:p>
          <a:p>
            <a:r>
              <a:rPr lang="en-IN" dirty="0">
                <a:solidFill>
                  <a:srgbClr val="C00000"/>
                </a:solidFill>
              </a:rPr>
              <a:t>  [[  6   4]</a:t>
            </a:r>
          </a:p>
          <a:p>
            <a:r>
              <a:rPr lang="en-IN" dirty="0">
                <a:solidFill>
                  <a:srgbClr val="C00000"/>
                </a:solidFill>
              </a:rPr>
              <a:t> [-12   0]]</a:t>
            </a:r>
          </a:p>
          <a:p>
            <a:r>
              <a:rPr lang="en-IN" dirty="0">
                <a:solidFill>
                  <a:srgbClr val="C00000"/>
                </a:solidFill>
              </a:rPr>
              <a:t>Multiplication of Two Matrix : </a:t>
            </a:r>
          </a:p>
          <a:p>
            <a:r>
              <a:rPr lang="en-IN" dirty="0">
                <a:solidFill>
                  <a:srgbClr val="C00000"/>
                </a:solidFill>
              </a:rPr>
              <a:t>  [[ 16  60]</a:t>
            </a:r>
          </a:p>
          <a:p>
            <a:r>
              <a:rPr lang="en-IN" dirty="0">
                <a:solidFill>
                  <a:srgbClr val="C00000"/>
                </a:solidFill>
              </a:rPr>
              <a:t> [-35  81]]</a:t>
            </a:r>
          </a:p>
          <a:p>
            <a:r>
              <a:rPr lang="en-IN" dirty="0">
                <a:solidFill>
                  <a:srgbClr val="C00000"/>
                </a:solidFill>
              </a:rPr>
              <a:t>Division of Two Matrix : </a:t>
            </a:r>
          </a:p>
          <a:p>
            <a:r>
              <a:rPr lang="en-IN" dirty="0">
                <a:solidFill>
                  <a:srgbClr val="C00000"/>
                </a:solidFill>
              </a:rPr>
              <a:t>  [[ 4.          1.66666667]</a:t>
            </a:r>
          </a:p>
          <a:p>
            <a:r>
              <a:rPr lang="en-IN" dirty="0">
                <a:solidFill>
                  <a:srgbClr val="C00000"/>
                </a:solidFill>
              </a:rPr>
              <a:t> [-0.71428571  1.        ]]</a:t>
            </a:r>
          </a:p>
          <a:p>
            <a:r>
              <a:rPr lang="en-IN" dirty="0">
                <a:solidFill>
                  <a:srgbClr val="C00000"/>
                </a:solidFill>
              </a:rPr>
              <a:t>dot product of Two Matrix : </a:t>
            </a:r>
          </a:p>
          <a:p>
            <a:r>
              <a:rPr lang="en-IN" dirty="0">
                <a:solidFill>
                  <a:srgbClr val="C00000"/>
                </a:solidFill>
              </a:rPr>
              <a:t>  [[ 86 138]</a:t>
            </a:r>
          </a:p>
          <a:p>
            <a:r>
              <a:rPr lang="en-IN" dirty="0">
                <a:solidFill>
                  <a:srgbClr val="C00000"/>
                </a:solidFill>
              </a:rPr>
              <a:t> [ 53  51]]</a:t>
            </a:r>
          </a:p>
          <a:p>
            <a:r>
              <a:rPr lang="en-IN" dirty="0">
                <a:solidFill>
                  <a:srgbClr val="C00000"/>
                </a:solidFill>
              </a:rPr>
              <a:t> Transpose Matrix is : </a:t>
            </a:r>
          </a:p>
          <a:p>
            <a:r>
              <a:rPr lang="en-IN" dirty="0">
                <a:solidFill>
                  <a:srgbClr val="C00000"/>
                </a:solidFill>
              </a:rPr>
              <a:t> [[ 8 -5]</a:t>
            </a:r>
          </a:p>
          <a:p>
            <a:r>
              <a:rPr lang="en-IN" dirty="0">
                <a:solidFill>
                  <a:srgbClr val="C00000"/>
                </a:solidFill>
              </a:rPr>
              <a:t> [10  9]]</a:t>
            </a:r>
          </a:p>
          <a:p>
            <a:r>
              <a:rPr lang="en-IN" dirty="0">
                <a:solidFill>
                  <a:srgbClr val="C00000"/>
                </a:solidFill>
              </a:rPr>
              <a:t>Inverse Matrix is : </a:t>
            </a:r>
          </a:p>
          <a:p>
            <a:r>
              <a:rPr lang="en-IN" dirty="0">
                <a:solidFill>
                  <a:srgbClr val="C00000"/>
                </a:solidFill>
              </a:rPr>
              <a:t> [[ 0.07377049 -0.08196721]</a:t>
            </a:r>
          </a:p>
          <a:p>
            <a:r>
              <a:rPr lang="en-IN" dirty="0">
                <a:solidFill>
                  <a:srgbClr val="C00000"/>
                </a:solidFill>
              </a:rPr>
              <a:t> [ 0.04098361  0.06557377]]</a:t>
            </a:r>
          </a:p>
        </p:txBody>
      </p:sp>
    </p:spTree>
    <p:extLst>
      <p:ext uri="{BB962C8B-B14F-4D97-AF65-F5344CB8AC3E}">
        <p14:creationId xmlns:p14="http://schemas.microsoft.com/office/powerpoint/2010/main" val="269980876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975" y="7937"/>
            <a:ext cx="11511280" cy="487190"/>
          </a:xfrm>
        </p:spPr>
        <p:txBody>
          <a:bodyPr>
            <a:noAutofit/>
          </a:bodyPr>
          <a:lstStyle/>
          <a:p>
            <a:pPr algn="l"/>
            <a:r>
              <a:rPr lang="en-IN" sz="22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Write a python program to apply basic matrix operations on matrices with looping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0AA785-43D3-A412-3DF9-3A9CCA21E413}"/>
              </a:ext>
            </a:extLst>
          </p:cNvPr>
          <p:cNvSpPr txBox="1"/>
          <p:nvPr/>
        </p:nvSpPr>
        <p:spPr>
          <a:xfrm>
            <a:off x="155575" y="528662"/>
            <a:ext cx="10085705" cy="611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numpy as np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= </a:t>
            </a:r>
            <a:r>
              <a:rPr lang="en-IN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np.array</a:t>
            </a:r>
            <a:r>
              <a:rPr lang="en-IN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( [ [ 8, 10 ], 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    [ -5, 9 ] ] )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 = </a:t>
            </a:r>
            <a:r>
              <a:rPr lang="en-IN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np.array</a:t>
            </a:r>
            <a:r>
              <a:rPr lang="en-IN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( [ [ 2, 6 ], 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      [ 7, 9 ] ] )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Create a result matrix with the same dimensions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 = [[0, 0],[0, 0]]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 = [[0, 0],[0, 0]]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 = [[0, 0],[0, 0]]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 = [[0, 0],[0, 0]]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i in range(len(X)):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for j in range(len(Y)):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A[i][j] = X[i][j] + Y[i][j]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S[i][j] = X[i][j] - Y[i][j]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M[i][j] = X[i][j] * Y[i][j]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D[i][j] = X[i][j] / Y[i][j]</a:t>
            </a:r>
          </a:p>
          <a:p>
            <a:pPr>
              <a:lnSpc>
                <a:spcPct val="150000"/>
              </a:lnSpc>
            </a:pPr>
            <a:endParaRPr lang="en-IN" sz="12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</a:pPr>
            <a:r>
              <a:rPr lang="en-IN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 (“Addition of Two Matrix : \n ", A)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 ("Subtraction of Two Matrix : \n ", S)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 ("Multiplication of Two Matrix : \n ", M)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 ("Division of Two Matrix : \n ", D)</a:t>
            </a:r>
          </a:p>
          <a:p>
            <a:pPr>
              <a:lnSpc>
                <a:spcPct val="150000"/>
              </a:lnSpc>
            </a:pPr>
            <a:endParaRPr lang="en-IN" sz="1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58952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975" y="7937"/>
            <a:ext cx="11511280" cy="487190"/>
          </a:xfrm>
        </p:spPr>
        <p:txBody>
          <a:bodyPr>
            <a:noAutofit/>
          </a:bodyPr>
          <a:lstStyle/>
          <a:p>
            <a:br>
              <a:rPr lang="en-IN" sz="18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IN" sz="18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Program to transpose a matrix using a nested loop</a:t>
            </a:r>
            <a:br>
              <a:rPr lang="en-IN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IN" sz="22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70AC5CB-691C-6B1F-EA10-3A06AD2A0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383B4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7C5BF3-85C9-7269-71BA-6E1B9453D896}"/>
              </a:ext>
            </a:extLst>
          </p:cNvPr>
          <p:cNvSpPr txBox="1"/>
          <p:nvPr/>
        </p:nvSpPr>
        <p:spPr>
          <a:xfrm>
            <a:off x="3063240" y="1028343"/>
            <a:ext cx="630936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 = [[12,7],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[4 ,5],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[3 ,8]]</a:t>
            </a:r>
          </a:p>
          <a:p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result = [[0,0,0],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[0,0,0]]</a:t>
            </a:r>
          </a:p>
          <a:p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iterate through rows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i in range(len(X)):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# iterate through columns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for j in range(len(X[0])):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result[j][i] = X[i][j]</a:t>
            </a:r>
          </a:p>
          <a:p>
            <a:endParaRPr lang="en-IN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 r in result:</a:t>
            </a:r>
          </a:p>
          <a:p>
            <a:r>
              <a:rPr lang="en-IN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print(r)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47037A-BBBE-901E-844A-E6F1D0579144}"/>
              </a:ext>
            </a:extLst>
          </p:cNvPr>
          <p:cNvSpPr txBox="1"/>
          <p:nvPr/>
        </p:nvSpPr>
        <p:spPr>
          <a:xfrm>
            <a:off x="6863080" y="5552658"/>
            <a:ext cx="4292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[12, 4, 3]</a:t>
            </a:r>
          </a:p>
          <a:p>
            <a:r>
              <a:rPr lang="en-IN" sz="2000" dirty="0">
                <a:solidFill>
                  <a:srgbClr val="FF0000"/>
                </a:solidFill>
              </a:rPr>
              <a:t>[7, 5, 8]</a:t>
            </a:r>
          </a:p>
        </p:txBody>
      </p:sp>
    </p:spTree>
    <p:extLst>
      <p:ext uri="{BB962C8B-B14F-4D97-AF65-F5344CB8AC3E}">
        <p14:creationId xmlns:p14="http://schemas.microsoft.com/office/powerpoint/2010/main" val="301724225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080" y="270456"/>
            <a:ext cx="11511280" cy="487190"/>
          </a:xfrm>
        </p:spPr>
        <p:txBody>
          <a:bodyPr>
            <a:noAutofit/>
          </a:bodyPr>
          <a:lstStyle/>
          <a:p>
            <a:pPr algn="l"/>
            <a:r>
              <a:rPr lang="en-IN" sz="3000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Mathematical methods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4D4FF6-B153-74A5-218B-A8A3B49CE435}"/>
              </a:ext>
            </a:extLst>
          </p:cNvPr>
          <p:cNvSpPr txBox="1"/>
          <p:nvPr/>
        </p:nvSpPr>
        <p:spPr>
          <a:xfrm>
            <a:off x="1353206" y="1156331"/>
            <a:ext cx="10249514" cy="4652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</a:rPr>
              <a:t>sum(): </a:t>
            </a:r>
            <a:r>
              <a:rPr lang="en-US" sz="2400" dirty="0"/>
              <a:t> </a:t>
            </a:r>
            <a:r>
              <a:rPr lang="en-US" sz="2400" dirty="0">
                <a:solidFill>
                  <a:schemeClr val="tx1"/>
                </a:solidFill>
              </a:rPr>
              <a:t>It returns the sum of array elements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.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C00000"/>
                </a:solidFill>
              </a:rPr>
              <a:t>max(): </a:t>
            </a:r>
            <a:r>
              <a:rPr lang="en-US" sz="2400" dirty="0">
                <a:solidFill>
                  <a:schemeClr val="tx1"/>
                </a:solidFill>
              </a:rPr>
              <a:t>It finds the maximum element in an array</a:t>
            </a:r>
            <a:endParaRPr lang="en-US" sz="2400" dirty="0">
              <a:solidFill>
                <a:srgbClr val="000000"/>
              </a:solidFill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C00000"/>
                </a:solidFill>
              </a:rPr>
              <a:t>min():   </a:t>
            </a:r>
            <a:r>
              <a:rPr lang="en-US" sz="2400" dirty="0">
                <a:solidFill>
                  <a:schemeClr val="tx1"/>
                </a:solidFill>
              </a:rPr>
              <a:t>It finds the minimum element in an array</a:t>
            </a:r>
            <a:endParaRPr lang="en-US" sz="2400" dirty="0">
              <a:solidFill>
                <a:srgbClr val="000000"/>
              </a:solidFill>
            </a:endParaRPr>
          </a:p>
          <a:p>
            <a:pPr marL="0" indent="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C00000"/>
                </a:solidFill>
              </a:rPr>
              <a:t>mean():   </a:t>
            </a:r>
            <a:r>
              <a:rPr lang="en-US" sz="2400" dirty="0">
                <a:solidFill>
                  <a:schemeClr val="tx1"/>
                </a:solidFill>
              </a:rPr>
              <a:t>It computes the arithmetic mean (average) of the given data</a:t>
            </a:r>
            <a:endParaRPr lang="en-US" sz="2400" dirty="0">
              <a:solidFill>
                <a:srgbClr val="000000"/>
              </a:solidFill>
            </a:endParaRPr>
          </a:p>
          <a:p>
            <a:pPr marL="0" indent="0" algn="just" fontAlgn="base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C00000"/>
                </a:solidFill>
              </a:rPr>
              <a:t>var() : I</a:t>
            </a:r>
            <a:r>
              <a:rPr lang="en-US" sz="2400" dirty="0">
                <a:solidFill>
                  <a:schemeClr val="tx1"/>
                </a:solidFill>
              </a:rPr>
              <a:t>t Compute the variance of the given data</a:t>
            </a:r>
          </a:p>
          <a:p>
            <a:pPr marL="0" indent="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C00000"/>
                </a:solidFill>
              </a:rPr>
              <a:t>std():   </a:t>
            </a:r>
            <a:r>
              <a:rPr lang="en-US" sz="2400" dirty="0">
                <a:solidFill>
                  <a:schemeClr val="tx1"/>
                </a:solidFill>
              </a:rPr>
              <a:t>It computes the standard deviation of the given data</a:t>
            </a:r>
          </a:p>
          <a:p>
            <a:pPr algn="just" fontAlgn="base">
              <a:lnSpc>
                <a:spcPct val="150000"/>
              </a:lnSpc>
              <a:buClr>
                <a:srgbClr val="C00000"/>
              </a:buClr>
            </a:pPr>
            <a:r>
              <a:rPr lang="en-US" sz="2400" b="1" dirty="0" err="1">
                <a:solidFill>
                  <a:srgbClr val="C00000"/>
                </a:solidFill>
              </a:rPr>
              <a:t>np.sort</a:t>
            </a:r>
            <a:r>
              <a:rPr lang="en-US" sz="2400" b="1" dirty="0">
                <a:solidFill>
                  <a:srgbClr val="C00000"/>
                </a:solidFill>
              </a:rPr>
              <a:t>() </a:t>
            </a:r>
            <a:r>
              <a:rPr lang="en-US" sz="2400" dirty="0">
                <a:solidFill>
                  <a:srgbClr val="FF0000"/>
                </a:solidFill>
              </a:rPr>
              <a:t>: </a:t>
            </a:r>
            <a:r>
              <a:rPr lang="en-US" sz="2400" dirty="0">
                <a:solidFill>
                  <a:schemeClr val="tx1"/>
                </a:solidFill>
              </a:rPr>
              <a:t>This function returns a sorted copy of an array.</a:t>
            </a:r>
          </a:p>
          <a:p>
            <a:pPr algn="just" fontAlgn="base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</a:pPr>
            <a:endParaRPr lang="en-US" sz="18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Clr>
                <a:srgbClr val="C00000"/>
              </a:buClr>
            </a:pPr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20079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080" y="270456"/>
            <a:ext cx="11511280" cy="487190"/>
          </a:xfrm>
        </p:spPr>
        <p:txBody>
          <a:bodyPr>
            <a:noAutofit/>
          </a:bodyPr>
          <a:lstStyle/>
          <a:p>
            <a:pPr algn="l"/>
            <a:r>
              <a:rPr lang="en-IN" sz="2000" b="0" i="0" dirty="0">
                <a:solidFill>
                  <a:srgbClr val="FF0000"/>
                </a:solidFill>
                <a:effectLst/>
                <a:latin typeface="+mn-lt"/>
              </a:rPr>
              <a:t>Write a python program to create an array with marks of 10 students . Find </a:t>
            </a:r>
            <a:r>
              <a:rPr lang="en-IN" sz="2000" b="0" i="0" dirty="0" err="1">
                <a:solidFill>
                  <a:srgbClr val="FF0000"/>
                </a:solidFill>
                <a:effectLst/>
                <a:latin typeface="+mn-lt"/>
              </a:rPr>
              <a:t>minimum,maximum,average,variance</a:t>
            </a:r>
            <a:r>
              <a:rPr lang="en-IN" sz="2000" b="0" i="0" dirty="0">
                <a:solidFill>
                  <a:srgbClr val="FF0000"/>
                </a:solidFill>
                <a:effectLst/>
                <a:latin typeface="+mn-lt"/>
              </a:rPr>
              <a:t>, standard deviation of marks. Print in ascending order also.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-2" y="6375748"/>
            <a:ext cx="12192001" cy="482252"/>
          </a:xfrm>
          <a:prstGeom prst="rect">
            <a:avLst/>
          </a:prstGeom>
          <a:solidFill>
            <a:srgbClr val="000080"/>
          </a:solidFill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 </a:t>
            </a:r>
            <a:r>
              <a:rPr lang="en-US" sz="2800" b="0" kern="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Seshu</a:t>
            </a:r>
            <a:r>
              <a:rPr lang="en-US" sz="2800" b="0" kern="0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Chakravarthy		 Department Of Computer Science and Engineering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1505" name="Picture 1" descr="C:\Users\Dell\Downloads\opengraph-icon-200x20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82375" y="-209007"/>
            <a:ext cx="2049260" cy="1449977"/>
          </a:xfrm>
          <a:prstGeom prst="rect">
            <a:avLst/>
          </a:prstGeom>
          <a:noFill/>
        </p:spPr>
      </p:pic>
      <p:sp>
        <p:nvSpPr>
          <p:cNvPr id="1026" name="AutoShape 2" descr="Set Union in Pyth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4D4FF6-B153-74A5-218B-A8A3B49CE435}"/>
              </a:ext>
            </a:extLst>
          </p:cNvPr>
          <p:cNvSpPr txBox="1"/>
          <p:nvPr/>
        </p:nvSpPr>
        <p:spPr>
          <a:xfrm>
            <a:off x="1353206" y="1156331"/>
            <a:ext cx="1024951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0"/>
              </a:spcBef>
              <a:buClr>
                <a:srgbClr val="C00000"/>
              </a:buClr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import numpy as np</a:t>
            </a:r>
          </a:p>
          <a:p>
            <a:pPr fontAlgn="base">
              <a:spcBef>
                <a:spcPts val="0"/>
              </a:spcBef>
              <a:buClr>
                <a:srgbClr val="C00000"/>
              </a:buClr>
            </a:pPr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fontAlgn="base">
              <a:spcBef>
                <a:spcPts val="0"/>
              </a:spcBef>
              <a:buClr>
                <a:srgbClr val="C00000"/>
              </a:buClr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np.array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([15, 25, 36, 47, 58, 60, 75, 85, 95])</a:t>
            </a:r>
          </a:p>
          <a:p>
            <a:pPr fontAlgn="base">
              <a:spcBef>
                <a:spcPts val="0"/>
              </a:spcBef>
              <a:buClr>
                <a:srgbClr val="C00000"/>
              </a:buClr>
            </a:pPr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fontAlgn="base">
              <a:spcBef>
                <a:spcPts val="0"/>
              </a:spcBef>
              <a:buClr>
                <a:srgbClr val="C00000"/>
              </a:buClr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print("Max is:",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np.max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(a))</a:t>
            </a:r>
          </a:p>
          <a:p>
            <a:pPr fontAlgn="base">
              <a:spcBef>
                <a:spcPts val="0"/>
              </a:spcBef>
              <a:buClr>
                <a:srgbClr val="C00000"/>
              </a:buClr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print("Min is:",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np.min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(a))</a:t>
            </a:r>
          </a:p>
          <a:p>
            <a:pPr fontAlgn="base">
              <a:spcBef>
                <a:spcPts val="0"/>
              </a:spcBef>
              <a:buClr>
                <a:srgbClr val="C00000"/>
              </a:buClr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print("Average is:",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np.mean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(a))</a:t>
            </a:r>
          </a:p>
          <a:p>
            <a:pPr fontAlgn="base">
              <a:spcBef>
                <a:spcPts val="0"/>
              </a:spcBef>
              <a:buClr>
                <a:srgbClr val="C00000"/>
              </a:buClr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print("variance is:",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np.var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(a))</a:t>
            </a:r>
          </a:p>
          <a:p>
            <a:pPr fontAlgn="base">
              <a:spcBef>
                <a:spcPts val="0"/>
              </a:spcBef>
              <a:buClr>
                <a:srgbClr val="C00000"/>
              </a:buClr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print("SD is:",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np.std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(a))</a:t>
            </a:r>
          </a:p>
          <a:p>
            <a:pPr fontAlgn="base">
              <a:spcBef>
                <a:spcPts val="0"/>
              </a:spcBef>
              <a:buClr>
                <a:srgbClr val="C00000"/>
              </a:buClr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print("After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sortng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:",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np.sort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(a))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0B6896-81A5-482E-89E3-16536327C4C8}"/>
              </a:ext>
            </a:extLst>
          </p:cNvPr>
          <p:cNvSpPr txBox="1"/>
          <p:nvPr/>
        </p:nvSpPr>
        <p:spPr>
          <a:xfrm>
            <a:off x="6838485" y="4071490"/>
            <a:ext cx="46685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Max is: 95</a:t>
            </a:r>
          </a:p>
          <a:p>
            <a:r>
              <a:rPr lang="en-IN" dirty="0">
                <a:solidFill>
                  <a:srgbClr val="C00000"/>
                </a:solidFill>
              </a:rPr>
              <a:t>Min is: 15</a:t>
            </a:r>
          </a:p>
          <a:p>
            <a:r>
              <a:rPr lang="en-IN" dirty="0">
                <a:solidFill>
                  <a:srgbClr val="C00000"/>
                </a:solidFill>
              </a:rPr>
              <a:t>Average is: 55.111111111111114</a:t>
            </a:r>
          </a:p>
          <a:p>
            <a:r>
              <a:rPr lang="en-IN" dirty="0">
                <a:solidFill>
                  <a:srgbClr val="C00000"/>
                </a:solidFill>
              </a:rPr>
              <a:t>variance is: 650.9876543209876</a:t>
            </a:r>
          </a:p>
          <a:p>
            <a:r>
              <a:rPr lang="en-IN" dirty="0">
                <a:solidFill>
                  <a:srgbClr val="C00000"/>
                </a:solidFill>
              </a:rPr>
              <a:t>SD is: 25.514459710544287</a:t>
            </a:r>
          </a:p>
          <a:p>
            <a:r>
              <a:rPr lang="en-IN" dirty="0">
                <a:solidFill>
                  <a:srgbClr val="C00000"/>
                </a:solidFill>
              </a:rPr>
              <a:t>After </a:t>
            </a:r>
            <a:r>
              <a:rPr lang="en-IN" dirty="0" err="1">
                <a:solidFill>
                  <a:srgbClr val="C00000"/>
                </a:solidFill>
              </a:rPr>
              <a:t>sortng</a:t>
            </a:r>
            <a:r>
              <a:rPr lang="en-IN" dirty="0">
                <a:solidFill>
                  <a:srgbClr val="C00000"/>
                </a:solidFill>
              </a:rPr>
              <a:t> : [15 25 36 47 58 60 75 85 95]</a:t>
            </a:r>
          </a:p>
        </p:txBody>
      </p:sp>
    </p:spTree>
    <p:extLst>
      <p:ext uri="{BB962C8B-B14F-4D97-AF65-F5344CB8AC3E}">
        <p14:creationId xmlns:p14="http://schemas.microsoft.com/office/powerpoint/2010/main" val="1494524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4710</TotalTime>
  <Words>7972</Words>
  <Application>Microsoft Office PowerPoint</Application>
  <PresentationFormat>Widescreen</PresentationFormat>
  <Paragraphs>942</Paragraphs>
  <Slides>76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94" baseType="lpstr">
      <vt:lpstr>Arial Unicode MS</vt:lpstr>
      <vt:lpstr>Arial</vt:lpstr>
      <vt:lpstr>Calibri</vt:lpstr>
      <vt:lpstr>Calibri Light</vt:lpstr>
      <vt:lpstr>Cascadia Code</vt:lpstr>
      <vt:lpstr>consolas</vt:lpstr>
      <vt:lpstr>consolas</vt:lpstr>
      <vt:lpstr>euclid_circular_a</vt:lpstr>
      <vt:lpstr>Helvetica</vt:lpstr>
      <vt:lpstr>Inter-Regular</vt:lpstr>
      <vt:lpstr>Lato</vt:lpstr>
      <vt:lpstr>Open Sans</vt:lpstr>
      <vt:lpstr>Roboto</vt:lpstr>
      <vt:lpstr>Segoe UI</vt:lpstr>
      <vt:lpstr>Söhne</vt:lpstr>
      <vt:lpstr>Times New Roman</vt:lpstr>
      <vt:lpstr>Verdana</vt:lpstr>
      <vt:lpstr>Office Theme</vt:lpstr>
      <vt:lpstr>Python  Programming Language   </vt:lpstr>
      <vt:lpstr>PowerPoint Presentation</vt:lpstr>
      <vt:lpstr>Data Types in Python</vt:lpstr>
      <vt:lpstr>List</vt:lpstr>
      <vt:lpstr> How to create a list? </vt:lpstr>
      <vt:lpstr> How to access elements from a list? </vt:lpstr>
      <vt:lpstr> How to access elements from a list? </vt:lpstr>
      <vt:lpstr> How to access elements from a list? </vt:lpstr>
      <vt:lpstr>  Change List Items  </vt:lpstr>
      <vt:lpstr>Add List Items</vt:lpstr>
      <vt:lpstr>Remove List Items</vt:lpstr>
      <vt:lpstr>Loop Through a List</vt:lpstr>
      <vt:lpstr>Given a list of numbers. write a program to turn every item of a list into its square.</vt:lpstr>
      <vt:lpstr>Methods Of list</vt:lpstr>
      <vt:lpstr>Methods Of list</vt:lpstr>
      <vt:lpstr>Methods Of list</vt:lpstr>
      <vt:lpstr>Methods Of list</vt:lpstr>
      <vt:lpstr> Write a python program to read items from the user and display items in the list? </vt:lpstr>
      <vt:lpstr>Python program that search for  a specific element in a list </vt:lpstr>
      <vt:lpstr> Write a python program to find the largest  element in a list without using method </vt:lpstr>
      <vt:lpstr>create a Python program to count the number of strings in a list that have a length of 3 or more and where the first and last characters are the same</vt:lpstr>
      <vt:lpstr> List Comprehension: </vt:lpstr>
      <vt:lpstr>tuple</vt:lpstr>
      <vt:lpstr> Creating a Tuple </vt:lpstr>
      <vt:lpstr> Accessing Elements in a Tuple </vt:lpstr>
      <vt:lpstr> Accessing Elements in a tuple </vt:lpstr>
      <vt:lpstr>  Basic tuple Operations  </vt:lpstr>
      <vt:lpstr>  Methods  </vt:lpstr>
      <vt:lpstr>  Methods  </vt:lpstr>
      <vt:lpstr>Even and Odd sum in a tuple</vt:lpstr>
      <vt:lpstr>  python set  </vt:lpstr>
      <vt:lpstr>Access Items</vt:lpstr>
      <vt:lpstr>Join Two Sets or Python Set Operations</vt:lpstr>
      <vt:lpstr>Python Set Methods</vt:lpstr>
      <vt:lpstr>Python Set Methods</vt:lpstr>
      <vt:lpstr>Python Dictionaries</vt:lpstr>
      <vt:lpstr>creating a dictionary</vt:lpstr>
      <vt:lpstr> accessing  elements from a dictionary</vt:lpstr>
      <vt:lpstr> Adding or  changing elements in a dictionary? </vt:lpstr>
      <vt:lpstr> Python Dictionary Methods </vt:lpstr>
      <vt:lpstr>PowerPoint Presentation</vt:lpstr>
      <vt:lpstr>PowerPoint Presentation</vt:lpstr>
      <vt:lpstr> update() </vt:lpstr>
      <vt:lpstr> update() </vt:lpstr>
      <vt:lpstr>keys() and values()</vt:lpstr>
      <vt:lpstr> copy() </vt:lpstr>
      <vt:lpstr> sorted() </vt:lpstr>
      <vt:lpstr> Loop Through a Dictionary </vt:lpstr>
      <vt:lpstr> Loop Through a Dictionary </vt:lpstr>
      <vt:lpstr> Dictionary Membership Test </vt:lpstr>
      <vt:lpstr> Write a Python script to print a dictionary where the keys are numbers between 1 and 15 (both included) and the values are the square of the keys. </vt:lpstr>
      <vt:lpstr> Write a Python program to sum all the items in a dictionary with out using methods </vt:lpstr>
      <vt:lpstr> Write a Python program to remove a key from a dictionary  </vt:lpstr>
      <vt:lpstr>PowerPoint Presentation</vt:lpstr>
      <vt:lpstr> Link For programs on Dictionaries in python </vt:lpstr>
      <vt:lpstr>Numpy Array in python</vt:lpstr>
      <vt:lpstr>Create a NumPy ndarray Object</vt:lpstr>
      <vt:lpstr>2-D Arrays</vt:lpstr>
      <vt:lpstr> Create Matrix in NumPy </vt:lpstr>
      <vt:lpstr>  NumPy Array Attributes  </vt:lpstr>
      <vt:lpstr>Accessing the Elements of the Matrix</vt:lpstr>
      <vt:lpstr>Matrix Operations using Numpy</vt:lpstr>
      <vt:lpstr>Addition of Matrices</vt:lpstr>
      <vt:lpstr>Subtraction of Matrices</vt:lpstr>
      <vt:lpstr>Multiplication of Matrices</vt:lpstr>
      <vt:lpstr>Division of Matrices</vt:lpstr>
      <vt:lpstr>Matrix Dot Products Calculation</vt:lpstr>
      <vt:lpstr>Transpose of a Matrix</vt:lpstr>
      <vt:lpstr> Determinant of a Matrix in NumPy </vt:lpstr>
      <vt:lpstr>Inverse  of a Matrix</vt:lpstr>
      <vt:lpstr>Reshaping arrays</vt:lpstr>
      <vt:lpstr>Write a python program to apply basic matrix operations on matrices</vt:lpstr>
      <vt:lpstr>Write a python program to apply basic matrix operations on matrices with looping</vt:lpstr>
      <vt:lpstr> # Program to transpose a matrix using a nested loop  </vt:lpstr>
      <vt:lpstr>Mathematical methods</vt:lpstr>
      <vt:lpstr>Write a python program to create an array with marks of 10 students . Find minimum,maximum,average,variance, standard deviation of marks. Print in ascending order also.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Script</dc:title>
  <dc:creator>Santhoshini Banda</dc:creator>
  <cp:lastModifiedBy>T  Seshu Chakravarthy T  Seshu Chakravarthy</cp:lastModifiedBy>
  <cp:revision>809</cp:revision>
  <dcterms:created xsi:type="dcterms:W3CDTF">2017-07-30T13:30:39Z</dcterms:created>
  <dcterms:modified xsi:type="dcterms:W3CDTF">2024-09-14T06:33:01Z</dcterms:modified>
</cp:coreProperties>
</file>