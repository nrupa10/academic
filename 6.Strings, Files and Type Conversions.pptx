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sldIdLst>
    <p:sldId id="256" r:id="rId2"/>
    <p:sldId id="322" r:id="rId3"/>
    <p:sldId id="369" r:id="rId4"/>
    <p:sldId id="370" r:id="rId5"/>
    <p:sldId id="371" r:id="rId6"/>
    <p:sldId id="386" r:id="rId7"/>
    <p:sldId id="387" r:id="rId8"/>
    <p:sldId id="388" r:id="rId9"/>
    <p:sldId id="418" r:id="rId10"/>
    <p:sldId id="419" r:id="rId11"/>
    <p:sldId id="420" r:id="rId12"/>
    <p:sldId id="368" r:id="rId13"/>
    <p:sldId id="323" r:id="rId14"/>
    <p:sldId id="373" r:id="rId15"/>
    <p:sldId id="374" r:id="rId16"/>
    <p:sldId id="375" r:id="rId17"/>
    <p:sldId id="372" r:id="rId18"/>
    <p:sldId id="376" r:id="rId19"/>
    <p:sldId id="326" r:id="rId20"/>
    <p:sldId id="377" r:id="rId21"/>
    <p:sldId id="325" r:id="rId22"/>
    <p:sldId id="327" r:id="rId23"/>
    <p:sldId id="379" r:id="rId24"/>
    <p:sldId id="381" r:id="rId25"/>
    <p:sldId id="382" r:id="rId26"/>
    <p:sldId id="383" r:id="rId27"/>
    <p:sldId id="384" r:id="rId28"/>
    <p:sldId id="385" r:id="rId29"/>
    <p:sldId id="330" r:id="rId30"/>
    <p:sldId id="421" r:id="rId31"/>
    <p:sldId id="438" r:id="rId32"/>
    <p:sldId id="426" r:id="rId33"/>
    <p:sldId id="440" r:id="rId34"/>
    <p:sldId id="448" r:id="rId35"/>
    <p:sldId id="439" r:id="rId36"/>
    <p:sldId id="428" r:id="rId37"/>
    <p:sldId id="429" r:id="rId38"/>
    <p:sldId id="430" r:id="rId39"/>
    <p:sldId id="431" r:id="rId40"/>
    <p:sldId id="441" r:id="rId41"/>
    <p:sldId id="442" r:id="rId42"/>
    <p:sldId id="433" r:id="rId43"/>
    <p:sldId id="434" r:id="rId44"/>
    <p:sldId id="435" r:id="rId45"/>
    <p:sldId id="436" r:id="rId46"/>
    <p:sldId id="437" r:id="rId47"/>
    <p:sldId id="443" r:id="rId48"/>
    <p:sldId id="444" r:id="rId49"/>
    <p:sldId id="445" r:id="rId50"/>
    <p:sldId id="446" r:id="rId51"/>
    <p:sldId id="447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98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89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55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65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09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0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88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7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003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14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3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8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random_randint.as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python/ref_random_random.asp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programiz.com/python-programming/strin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programiz.com/python-programming/examples/remove-punctuation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programiz.com/python-programming/examples/remove-punctuation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string_upper.as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python/ref_string_lower.asp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hyperlink" Target="https://en.wikipedia.org/wiki/Rich_Text_Format" TargetMode="External"/><Relationship Id="rId18" Type="http://schemas.openxmlformats.org/officeDocument/2006/relationships/hyperlink" Target="https://en.wikipedia.org/wiki/Portable_Network_Graphics" TargetMode="External"/><Relationship Id="rId26" Type="http://schemas.openxmlformats.org/officeDocument/2006/relationships/hyperlink" Target="https://en.wikipedia.org/wiki/MP3" TargetMode="External"/><Relationship Id="rId3" Type="http://schemas.openxmlformats.org/officeDocument/2006/relationships/hyperlink" Target="https://en.wikipedia.org/wiki/HTML" TargetMode="External"/><Relationship Id="rId21" Type="http://schemas.openxmlformats.org/officeDocument/2006/relationships/hyperlink" Target="https://en.wikipedia.org/wiki/Tagged_Image_File_Format" TargetMode="External"/><Relationship Id="rId34" Type="http://schemas.openxmlformats.org/officeDocument/2006/relationships/hyperlink" Target="https://en.wikipedia.org/wiki/Dynamic-link_library" TargetMode="External"/><Relationship Id="rId7" Type="http://schemas.openxmlformats.org/officeDocument/2006/relationships/hyperlink" Target="https://en.wikipedia.org/wiki/C++" TargetMode="External"/><Relationship Id="rId12" Type="http://schemas.openxmlformats.org/officeDocument/2006/relationships/hyperlink" Target="https://en.wikipedia.org/wiki/TeX" TargetMode="External"/><Relationship Id="rId17" Type="http://schemas.openxmlformats.org/officeDocument/2006/relationships/hyperlink" Target="https://en.wikipedia.org/wiki/JPEG" TargetMode="External"/><Relationship Id="rId25" Type="http://schemas.openxmlformats.org/officeDocument/2006/relationships/hyperlink" Target="https://en.wikipedia.org/wiki/MPEG-1" TargetMode="External"/><Relationship Id="rId33" Type="http://schemas.openxmlformats.org/officeDocument/2006/relationships/hyperlink" Target="https://en.wikipedia.org/wiki/.exe" TargetMode="External"/><Relationship Id="rId2" Type="http://schemas.openxmlformats.org/officeDocument/2006/relationships/image" Target="../media/image2.png"/><Relationship Id="rId16" Type="http://schemas.openxmlformats.org/officeDocument/2006/relationships/hyperlink" Target="https://en.wikipedia.org/wiki/Tab-separated_values" TargetMode="External"/><Relationship Id="rId20" Type="http://schemas.openxmlformats.org/officeDocument/2006/relationships/hyperlink" Target="https://en.wikipedia.org/wiki/BMP_file_format" TargetMode="External"/><Relationship Id="rId29" Type="http://schemas.openxmlformats.org/officeDocument/2006/relationships/hyperlink" Target="https://en.wikipedia.org/wiki/Zip_(file_format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_(programming_language)" TargetMode="External"/><Relationship Id="rId11" Type="http://schemas.openxmlformats.org/officeDocument/2006/relationships/hyperlink" Target="https://en.wikipedia.org/wiki/Text_file" TargetMode="External"/><Relationship Id="rId24" Type="http://schemas.openxmlformats.org/officeDocument/2006/relationships/hyperlink" Target="https://en.wikipedia.org/wiki/QuickTime_File_Format" TargetMode="External"/><Relationship Id="rId32" Type="http://schemas.openxmlformats.org/officeDocument/2006/relationships/hyperlink" Target="https://en.wikipedia.org/wiki/Tar_(computing)" TargetMode="External"/><Relationship Id="rId5" Type="http://schemas.openxmlformats.org/officeDocument/2006/relationships/hyperlink" Target="https://en.wikipedia.org/wiki/Cascading_Style_Sheets" TargetMode="External"/><Relationship Id="rId15" Type="http://schemas.openxmlformats.org/officeDocument/2006/relationships/hyperlink" Target="https://en.wikipedia.org/wiki/Comma-separated_values" TargetMode="External"/><Relationship Id="rId23" Type="http://schemas.openxmlformats.org/officeDocument/2006/relationships/hyperlink" Target="https://en.wikipedia.org/wiki/Audio_Video_Interleave" TargetMode="External"/><Relationship Id="rId28" Type="http://schemas.openxmlformats.org/officeDocument/2006/relationships/hyperlink" Target="https://en.wikipedia.org/wiki/Windows_Media_Audio" TargetMode="External"/><Relationship Id="rId36" Type="http://schemas.openxmlformats.org/officeDocument/2006/relationships/hyperlink" Target="https://en.wikipedia.org/wiki/Java_class_file" TargetMode="External"/><Relationship Id="rId10" Type="http://schemas.openxmlformats.org/officeDocument/2006/relationships/hyperlink" Target="https://en.wikipedia.org/wiki/PHP" TargetMode="External"/><Relationship Id="rId19" Type="http://schemas.openxmlformats.org/officeDocument/2006/relationships/hyperlink" Target="https://en.wikipedia.org/wiki/GIF" TargetMode="External"/><Relationship Id="rId31" Type="http://schemas.openxmlformats.org/officeDocument/2006/relationships/hyperlink" Target="https://en.wikipedia.org/wiki/7z" TargetMode="External"/><Relationship Id="rId4" Type="http://schemas.openxmlformats.org/officeDocument/2006/relationships/hyperlink" Target="https://en.wikipedia.org/wiki/XML" TargetMode="External"/><Relationship Id="rId9" Type="http://schemas.openxmlformats.org/officeDocument/2006/relationships/hyperlink" Target="https://en.wikipedia.org/wiki/Perl" TargetMode="External"/><Relationship Id="rId14" Type="http://schemas.openxmlformats.org/officeDocument/2006/relationships/hyperlink" Target="https://en.wikipedia.org/wiki/PostScript" TargetMode="External"/><Relationship Id="rId22" Type="http://schemas.openxmlformats.org/officeDocument/2006/relationships/hyperlink" Target="https://en.wikipedia.org/wiki/MPEG-4_Part_14" TargetMode="External"/><Relationship Id="rId27" Type="http://schemas.openxmlformats.org/officeDocument/2006/relationships/hyperlink" Target="https://en.wikipedia.org/wiki/WAV" TargetMode="External"/><Relationship Id="rId30" Type="http://schemas.openxmlformats.org/officeDocument/2006/relationships/hyperlink" Target="https://en.wikipedia.org/wiki/RAR_(file_format)" TargetMode="External"/><Relationship Id="rId35" Type="http://schemas.openxmlformats.org/officeDocument/2006/relationships/hyperlink" Target="https://en.wikipedia.org/wiki/Library_(computing)" TargetMode="External"/><Relationship Id="rId8" Type="http://schemas.openxmlformats.org/officeDocument/2006/relationships/hyperlink" Target="https://en.wikipedia.org/wiki/Java_(programming_language)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ynative.com/python-list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s-module-python-example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 descr="Image result for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532" name="Picture 4" descr="C:\Users\Dell\Downloads\lozingle_1003201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821805" cy="6857999"/>
          </a:xfrm>
          <a:prstGeom prst="rect">
            <a:avLst/>
          </a:prstGeom>
          <a:noFill/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FC2690-93F1-A8AE-E916-24ED0B2A0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95353"/>
              </p:ext>
            </p:extLst>
          </p:nvPr>
        </p:nvGraphicFramePr>
        <p:xfrm>
          <a:off x="7089774" y="1230756"/>
          <a:ext cx="4675505" cy="48850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75505">
                  <a:extLst>
                    <a:ext uri="{9D8B030D-6E8A-4147-A177-3AD203B41FA5}">
                      <a16:colId xmlns:a16="http://schemas.microsoft.com/office/drawing/2014/main" val="487886477"/>
                    </a:ext>
                  </a:extLst>
                </a:gridCol>
              </a:tblGrid>
              <a:tr h="3483483"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</a:rPr>
                        <a:t>Introduction to Different Numeric Types, Type Conversion, 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</a:rPr>
                        <a:t>Mathematical Functions, 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</a:rPr>
                        <a:t>Random Numbers. 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</a:rPr>
                        <a:t>Creating and Accessing Strings, Operations on Strings, Indexing, Slicing, String Manipulations, Pre-defined functions on Strings.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</a:rPr>
                        <a:t> 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</a:rPr>
                        <a:t>File I/O-Opening and Closing files,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</a:rPr>
                        <a:t>Different modes, File attributes, Read, Write Operations, File Positions. Renaming and Deleting Files,  various directory handling functions.  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0829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22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Different Numeric Types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0830059" cy="5486400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There are three numeric types in Python: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float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complex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Variables of numeric types are created when you assign a value to them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Example: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 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int</a:t>
            </a:r>
            <a:b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 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2.8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float</a:t>
            </a:r>
            <a:b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 = 1j   </a:t>
            </a:r>
            <a:r>
              <a:rPr lang="en-US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complex</a:t>
            </a:r>
            <a:endParaRPr lang="en-US" sz="3200" dirty="0"/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Different Numeric Types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0830059" cy="54864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000" b="0" i="0" dirty="0">
                <a:solidFill>
                  <a:srgbClr val="FF0000"/>
                </a:solidFill>
                <a:effectLst/>
              </a:rPr>
              <a:t>Int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</a:rPr>
              <a:t>Int, or integer, is a whole number, positive or negative, without decimals, of unlimited length</a:t>
            </a:r>
          </a:p>
          <a:p>
            <a:pPr algn="l"/>
            <a:endParaRPr lang="en-US" sz="2400" dirty="0">
              <a:solidFill>
                <a:srgbClr val="000000"/>
              </a:solidFill>
            </a:endParaRPr>
          </a:p>
          <a:p>
            <a:pPr algn="l"/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 </a:t>
            </a:r>
            <a:r>
              <a:rPr lang="fr-FR" sz="22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 </a:t>
            </a:r>
            <a:r>
              <a:rPr lang="fr-FR" sz="22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35656222554887711</a:t>
            </a: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 = -</a:t>
            </a:r>
            <a:r>
              <a:rPr lang="fr-FR" sz="22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3255522</a:t>
            </a: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200" b="0" i="0" dirty="0" err="1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fr-FR" sz="22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(x))</a:t>
            </a: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200" b="0" i="0" dirty="0" err="1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fr-FR" sz="22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(y))</a:t>
            </a: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200" b="0" i="0" dirty="0" err="1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fr-FR" sz="22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(z))</a:t>
            </a:r>
            <a:endParaRPr lang="en-US" sz="2200" b="0" i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85375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Different Numeric Types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0830059" cy="54864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000" b="0" i="0" dirty="0">
                <a:solidFill>
                  <a:srgbClr val="FF0000"/>
                </a:solidFill>
                <a:effectLst/>
              </a:rPr>
              <a:t>Float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</a:rPr>
              <a:t>Float, or "floating point number" is a number, positive or negative, containing one or more decimals.</a:t>
            </a:r>
          </a:p>
          <a:p>
            <a:pPr algn="l"/>
            <a:endParaRPr lang="en-US" sz="2400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 </a:t>
            </a:r>
            <a:r>
              <a:rPr lang="fr-FR" sz="22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1.10</a:t>
            </a: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 </a:t>
            </a:r>
            <a:r>
              <a:rPr lang="fr-FR" sz="22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1.0</a:t>
            </a: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 = -</a:t>
            </a:r>
            <a:r>
              <a:rPr lang="fr-FR" sz="22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35.59</a:t>
            </a: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200" b="0" i="0" dirty="0" err="1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fr-FR" sz="22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(x))</a:t>
            </a: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200" b="0" i="0" dirty="0" err="1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fr-FR" sz="22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(y))</a:t>
            </a:r>
            <a:br>
              <a:rPr lang="fr-FR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fr-FR" sz="2200" b="0" i="0" dirty="0" err="1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fr-FR" sz="22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fr-FR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(z))</a:t>
            </a:r>
            <a:endParaRPr lang="en-US" sz="2200" b="0" i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889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Different Numeric Types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0830059" cy="54864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000" b="0" i="0" dirty="0">
                <a:solidFill>
                  <a:srgbClr val="FF0000"/>
                </a:solidFill>
                <a:effectLst/>
              </a:rPr>
              <a:t>Complex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</a:rPr>
              <a:t>Complex numbers are written with a "j" as the imaginary part:</a:t>
            </a:r>
          </a:p>
          <a:p>
            <a:pPr marL="0" indent="0" algn="l">
              <a:buNone/>
            </a:pP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r>
              <a:rPr lang="en-IN" sz="24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 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+5j</a:t>
            </a:r>
            <a:b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5j</a:t>
            </a:r>
            <a:b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 = -5j</a:t>
            </a:r>
            <a:b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24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(x))</a:t>
            </a:r>
            <a:b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24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(y))</a:t>
            </a:r>
            <a:br>
              <a:rPr lang="en-I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24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(z))</a:t>
            </a:r>
            <a:endParaRPr lang="en-US" sz="2400" b="0" i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8782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Type Conversion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0830059" cy="5486400"/>
          </a:xfrm>
        </p:spPr>
        <p:txBody>
          <a:bodyPr>
            <a:normAutofit/>
          </a:bodyPr>
          <a:lstStyle/>
          <a:p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You can convert from one type to another with the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int()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float()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and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complex()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 algn="l">
              <a:buNone/>
            </a:pPr>
            <a:endParaRPr lang="en-US" sz="2200" b="0" i="0" dirty="0">
              <a:solidFill>
                <a:srgbClr val="000000"/>
              </a:solidFill>
              <a:effectLst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9B010C-F07D-0BBA-6A0B-63574D862275}"/>
              </a:ext>
            </a:extLst>
          </p:cNvPr>
          <p:cNvSpPr txBox="1"/>
          <p:nvPr/>
        </p:nvSpPr>
        <p:spPr>
          <a:xfrm>
            <a:off x="1397000" y="1642429"/>
            <a:ext cx="63093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#convert from int to float: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float(1)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#convert from float to int: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int(2.8)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solidFill>
                  <a:schemeClr val="accent6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#convert from int to complex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 = complex(1)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print(y)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print(z)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print(type(x))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print(type(y))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print(type(z))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D998E4-8AA2-8489-9F95-E549E4FC425A}"/>
              </a:ext>
            </a:extLst>
          </p:cNvPr>
          <p:cNvSpPr txBox="1"/>
          <p:nvPr/>
        </p:nvSpPr>
        <p:spPr>
          <a:xfrm>
            <a:off x="7200650" y="3830100"/>
            <a:ext cx="227126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200" dirty="0">
              <a:solidFill>
                <a:srgbClr val="FF0000"/>
              </a:solidFill>
            </a:endParaRPr>
          </a:p>
          <a:p>
            <a:r>
              <a:rPr lang="en-US" sz="2200" dirty="0">
                <a:solidFill>
                  <a:srgbClr val="FF0000"/>
                </a:solidFill>
              </a:rPr>
              <a:t>1.0</a:t>
            </a:r>
          </a:p>
          <a:p>
            <a:r>
              <a:rPr lang="en-US" sz="2200" dirty="0">
                <a:solidFill>
                  <a:srgbClr val="FF0000"/>
                </a:solidFill>
              </a:rPr>
              <a:t>2</a:t>
            </a:r>
          </a:p>
          <a:p>
            <a:r>
              <a:rPr lang="en-US" sz="2200" dirty="0">
                <a:solidFill>
                  <a:srgbClr val="FF0000"/>
                </a:solidFill>
              </a:rPr>
              <a:t>(1+0j)</a:t>
            </a:r>
          </a:p>
          <a:p>
            <a:r>
              <a:rPr lang="en-US" sz="2200" dirty="0">
                <a:solidFill>
                  <a:srgbClr val="FF0000"/>
                </a:solidFill>
              </a:rPr>
              <a:t>&lt;class 'float'&gt;</a:t>
            </a:r>
          </a:p>
          <a:p>
            <a:r>
              <a:rPr lang="en-US" sz="2200" dirty="0">
                <a:solidFill>
                  <a:srgbClr val="FF0000"/>
                </a:solidFill>
              </a:rPr>
              <a:t>&lt;class 'int'&gt;</a:t>
            </a:r>
          </a:p>
          <a:p>
            <a:r>
              <a:rPr lang="en-US" sz="2200" dirty="0">
                <a:solidFill>
                  <a:srgbClr val="FF0000"/>
                </a:solidFill>
              </a:rPr>
              <a:t>&lt;class 'complex'&gt;</a:t>
            </a:r>
            <a:endParaRPr lang="en-I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45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  <a:effectLst/>
              </a:rPr>
              <a:t>Mathematical Functions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0830059" cy="5486400"/>
          </a:xfrm>
        </p:spPr>
        <p:txBody>
          <a:bodyPr>
            <a:normAutofit fontScale="92500" lnSpcReduction="10000"/>
          </a:bodyPr>
          <a:lstStyle/>
          <a:p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min()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and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max()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functions can be used to find the lowest or highest value in an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iterable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endParaRPr lang="en-US" altLang="en-US" sz="2200" dirty="0"/>
          </a:p>
          <a:p>
            <a:pPr marL="0" indent="0"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endParaRPr lang="en-US" altLang="en-US" sz="2200" dirty="0"/>
          </a:p>
          <a:p>
            <a:pPr marL="0" indent="0"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</a:rPr>
              <a:t>math.ceil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rounds a number upwards to its nearest integer, and the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</a:rPr>
              <a:t>math.floor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rounds a number downwards to its nearest integer, and returns the result: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algn="l">
              <a:buNone/>
            </a:pPr>
            <a:r>
              <a:rPr lang="en-US" sz="19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math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19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math.ceil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9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1.4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US" sz="19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math.floor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9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1.4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 </a:t>
            </a:r>
            <a:r>
              <a:rPr lang="en-US" sz="1900" b="0" i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returns 2</a:t>
            </a:r>
            <a:br>
              <a:rPr lang="en-US" sz="1900" b="0" i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9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(y) </a:t>
            </a:r>
            <a:r>
              <a:rPr lang="en-US" sz="1900" b="0" i="0" dirty="0">
                <a:solidFill>
                  <a:srgbClr val="008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returns 1</a:t>
            </a:r>
            <a:endParaRPr lang="en-US" sz="1900" b="0" i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6EB5B-AA8E-72D1-0C85-8DC443D21334}"/>
              </a:ext>
            </a:extLst>
          </p:cNvPr>
          <p:cNvSpPr txBox="1"/>
          <p:nvPr/>
        </p:nvSpPr>
        <p:spPr>
          <a:xfrm>
            <a:off x="980440" y="1592367"/>
            <a:ext cx="6309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min(5, 10, 25)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max(5, 10, 25)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  <a:p>
            <a:r>
              <a:rPr lang="en-IN" dirty="0"/>
              <a:t>print(y)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DB88609-E27F-D0B3-4EB7-194053186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90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US" altLang="en-US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5D9DC5E-4779-4720-ECE8-425BCA99F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460750" cy="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7D6BA8-9AF7-B619-58BC-4003087CB5B3}"/>
              </a:ext>
            </a:extLst>
          </p:cNvPr>
          <p:cNvSpPr txBox="1"/>
          <p:nvPr/>
        </p:nvSpPr>
        <p:spPr>
          <a:xfrm>
            <a:off x="3460750" y="2511860"/>
            <a:ext cx="1183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5</a:t>
            </a:r>
          </a:p>
          <a:p>
            <a:r>
              <a:rPr lang="en-IN" dirty="0">
                <a:solidFill>
                  <a:srgbClr val="FF0000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63090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60" y="7298"/>
            <a:ext cx="10515600" cy="76151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  <a:effectLst/>
              </a:rPr>
              <a:t>Mathematical Functions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776105"/>
            <a:ext cx="10830059" cy="5830757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math.fmod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returns the remainder (modulo) of x/y.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200" dirty="0"/>
          </a:p>
          <a:p>
            <a:pPr marL="0" indent="0"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endParaRPr lang="en-US" altLang="en-US" sz="2200" dirty="0"/>
          </a:p>
          <a:p>
            <a:pPr marL="0" indent="0"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6EB5B-AA8E-72D1-0C85-8DC443D21334}"/>
              </a:ext>
            </a:extLst>
          </p:cNvPr>
          <p:cNvSpPr txBox="1"/>
          <p:nvPr/>
        </p:nvSpPr>
        <p:spPr>
          <a:xfrm>
            <a:off x="938530" y="1404902"/>
            <a:ext cx="6309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math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 the remainder of x/y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math.fmod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math.fmod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DB88609-E27F-D0B3-4EB7-194053186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90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US" altLang="en-US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5D9DC5E-4779-4720-ECE8-425BCA99F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460750" cy="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7D6BA8-9AF7-B619-58BC-4003087CB5B3}"/>
              </a:ext>
            </a:extLst>
          </p:cNvPr>
          <p:cNvSpPr txBox="1"/>
          <p:nvPr/>
        </p:nvSpPr>
        <p:spPr>
          <a:xfrm>
            <a:off x="4815837" y="2243196"/>
            <a:ext cx="1183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0</a:t>
            </a:r>
          </a:p>
          <a:p>
            <a:r>
              <a:rPr lang="en-IN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A6CE0-355A-7D9B-BA0D-BFEDB1B3BC2C}"/>
              </a:ext>
            </a:extLst>
          </p:cNvPr>
          <p:cNvSpPr txBox="1"/>
          <p:nvPr/>
        </p:nvSpPr>
        <p:spPr>
          <a:xfrm>
            <a:off x="938530" y="3403153"/>
            <a:ext cx="51612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20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pow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(2, 3))     </a:t>
            </a:r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4C167-AD92-2E60-25A1-3F289E5AA0F5}"/>
              </a:ext>
            </a:extLst>
          </p:cNvPr>
          <p:cNvSpPr txBox="1"/>
          <p:nvPr/>
        </p:nvSpPr>
        <p:spPr>
          <a:xfrm>
            <a:off x="838199" y="4932442"/>
            <a:ext cx="4617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20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sqrt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(9))      </a:t>
            </a:r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#3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sqrt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(25))		  </a:t>
            </a:r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#5</a:t>
            </a:r>
          </a:p>
        </p:txBody>
      </p:sp>
    </p:spTree>
    <p:extLst>
      <p:ext uri="{BB962C8B-B14F-4D97-AF65-F5344CB8AC3E}">
        <p14:creationId xmlns:p14="http://schemas.microsoft.com/office/powerpoint/2010/main" val="285914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8AC335-F147-D172-AF28-C21597E9BA8B}"/>
              </a:ext>
            </a:extLst>
          </p:cNvPr>
          <p:cNvSpPr txBox="1"/>
          <p:nvPr/>
        </p:nvSpPr>
        <p:spPr>
          <a:xfrm>
            <a:off x="340360" y="970027"/>
            <a:ext cx="55727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20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#Return factorial of a number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factorial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(3))    </a:t>
            </a:r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#6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factorial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(5))		</a:t>
            </a:r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#120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49F855-BA53-65BA-7E36-FA96CA54F829}"/>
              </a:ext>
            </a:extLst>
          </p:cNvPr>
          <p:cNvSpPr txBox="1"/>
          <p:nvPr/>
        </p:nvSpPr>
        <p:spPr>
          <a:xfrm>
            <a:off x="523240" y="3550992"/>
            <a:ext cx="55727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20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T= (1, 2, 3)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 = (3, 4, 5)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#Return the product of the elements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(T))     </a:t>
            </a:r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#6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math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IN" sz="20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(L))     </a:t>
            </a:r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#60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F14BE-7FFB-FF7B-5FE0-B6EFA7604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474" y="0"/>
            <a:ext cx="10515600" cy="76151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IN" sz="3200" dirty="0">
                <a:solidFill>
                  <a:srgbClr val="FF0000"/>
                </a:solidFill>
                <a:effectLst/>
              </a:rPr>
              <a:t>Mathematical Functions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76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DF14BE-7FFB-FF7B-5FE0-B6EFA7604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474" y="0"/>
            <a:ext cx="10515600" cy="76151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effectLst/>
              </a:rPr>
              <a:t>Random Numbers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88BE3-FD84-3650-3625-A6E7AA9178B9}"/>
              </a:ext>
            </a:extLst>
          </p:cNvPr>
          <p:cNvSpPr txBox="1"/>
          <p:nvPr/>
        </p:nvSpPr>
        <p:spPr>
          <a:xfrm>
            <a:off x="505459" y="761510"/>
            <a:ext cx="1102868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randint</a:t>
            </a:r>
            <a:r>
              <a:rPr lang="en-IN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r>
              <a:rPr lang="en-IN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Returns a random number between the given range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random</a:t>
            </a:r>
          </a:p>
          <a:p>
            <a:r>
              <a:rPr lang="en-US" dirty="0">
                <a:solidFill>
                  <a:srgbClr val="92D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#returns a number between 3 and 9 (both included)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random.randint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(3, 9))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random()</a:t>
            </a:r>
            <a:r>
              <a:rPr lang="en-IN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: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Returns a random float number between 0 and 1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random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random.random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())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Verdana" panose="020B060403050404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#0.627</a:t>
            </a:r>
          </a:p>
          <a:p>
            <a:endParaRPr lang="en-US" altLang="en-US" dirty="0">
              <a:solidFill>
                <a:srgbClr val="FF0000"/>
              </a:solidFill>
              <a:latin typeface="Verdana" panose="020B060403050404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choice()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: 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choice()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returns a randomly selected element from the specified sequence.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random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["apple", "banana", "cherry"]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random.choice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endParaRPr lang="en-US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BE127-A07D-ADEF-F75B-7A6437A9E156}"/>
              </a:ext>
            </a:extLst>
          </p:cNvPr>
          <p:cNvSpPr txBox="1"/>
          <p:nvPr/>
        </p:nvSpPr>
        <p:spPr>
          <a:xfrm>
            <a:off x="5452574" y="1913374"/>
            <a:ext cx="78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#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BCB78E-27B3-5EFB-5AEA-AB5865A51B1A}"/>
              </a:ext>
            </a:extLst>
          </p:cNvPr>
          <p:cNvSpPr txBox="1"/>
          <p:nvPr/>
        </p:nvSpPr>
        <p:spPr>
          <a:xfrm>
            <a:off x="7594600" y="5625661"/>
            <a:ext cx="23893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000"/>
                </a:solidFill>
              </a:rPr>
              <a:t>apple</a:t>
            </a:r>
          </a:p>
        </p:txBody>
      </p:sp>
    </p:spTree>
    <p:extLst>
      <p:ext uri="{BB962C8B-B14F-4D97-AF65-F5344CB8AC3E}">
        <p14:creationId xmlns:p14="http://schemas.microsoft.com/office/powerpoint/2010/main" val="1412031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2C9719-28FF-E61D-D446-59EC95EEE5A0}"/>
              </a:ext>
            </a:extLst>
          </p:cNvPr>
          <p:cNvSpPr txBox="1"/>
          <p:nvPr/>
        </p:nvSpPr>
        <p:spPr>
          <a:xfrm>
            <a:off x="965200" y="620326"/>
            <a:ext cx="1122679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random</a:t>
            </a:r>
          </a:p>
          <a:p>
            <a:endParaRPr lang="en-IN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guess_the_number</a:t>
            </a:r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6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Generate a random number between 1 and 100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secret_number</a:t>
            </a:r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6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random.randint</a:t>
            </a:r>
            <a:r>
              <a:rPr lang="en-IN" sz="16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(1, 100)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print("Welcome to Guess the Number Game!")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attempts = 0</a:t>
            </a:r>
          </a:p>
          <a:p>
            <a:endParaRPr lang="en-IN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while True: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</a:t>
            </a:r>
            <a:r>
              <a:rPr lang="en-IN" sz="16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# Get user's guess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guess = int(input("Enter your guess: "))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attempts += 1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IN" sz="1600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Check if the guess is correct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if </a:t>
            </a:r>
            <a:r>
              <a:rPr lang="en-IN" sz="16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guess == </a:t>
            </a:r>
            <a:r>
              <a:rPr lang="en-IN" sz="16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secret_number</a:t>
            </a:r>
            <a:r>
              <a:rPr lang="en-IN" sz="16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print(</a:t>
            </a:r>
            <a:r>
              <a:rPr lang="en-IN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f"Congratulations</a:t>
            </a:r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! You guessed the number in {attempts} attempts.")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break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elif guess &lt; </a:t>
            </a:r>
            <a:r>
              <a:rPr lang="en-IN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secret_number</a:t>
            </a:r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print("Too low. Try again.")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else:</a:t>
            </a:r>
          </a:p>
          <a:p>
            <a:r>
              <a:rPr lang="en-I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print("Too high. Try again.")</a:t>
            </a:r>
          </a:p>
          <a:p>
            <a:endParaRPr lang="en-IN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guess_the_number</a:t>
            </a:r>
            <a:r>
              <a:rPr lang="en-IN" sz="16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C317D8-02F7-303F-42A4-390F6C12084F}"/>
              </a:ext>
            </a:extLst>
          </p:cNvPr>
          <p:cNvSpPr txBox="1"/>
          <p:nvPr/>
        </p:nvSpPr>
        <p:spPr>
          <a:xfrm>
            <a:off x="1087121" y="0"/>
            <a:ext cx="90556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dirty="0">
                <a:solidFill>
                  <a:srgbClr val="FF0000"/>
                </a:solidFill>
                <a:effectLst/>
                <a:latin typeface="Söhne"/>
              </a:rPr>
              <a:t>Python program where the user has to guess a randomly generated number</a:t>
            </a:r>
            <a:endParaRPr lang="en-I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588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0830059" cy="5486400"/>
          </a:xfrm>
        </p:spPr>
        <p:txBody>
          <a:bodyPr>
            <a:normAutofit/>
          </a:bodyPr>
          <a:lstStyle/>
          <a:p>
            <a:r>
              <a:rPr lang="en-US" sz="3200" dirty="0">
                <a:hlinkClick r:id="rId2"/>
              </a:rPr>
              <a:t>String</a:t>
            </a:r>
            <a:r>
              <a:rPr lang="en-US" sz="3200" dirty="0"/>
              <a:t> is sequence/array of characters.</a:t>
            </a:r>
          </a:p>
          <a:p>
            <a:pPr algn="l"/>
            <a:r>
              <a:rPr lang="en-US" sz="3200" dirty="0"/>
              <a:t>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Strings in python are surrounded by either single quotation marks, or double quotation marks.</a:t>
            </a:r>
          </a:p>
          <a:p>
            <a:pPr algn="just"/>
            <a:r>
              <a:rPr lang="en-US" sz="3200" dirty="0"/>
              <a:t>a=‘hello’     b=“Python”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1666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Indexing, and Slicing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9959"/>
            <a:ext cx="11166567" cy="51105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str = '</a:t>
            </a:r>
            <a:r>
              <a:rPr lang="en-US" dirty="0" err="1"/>
              <a:t>programiz</a:t>
            </a:r>
            <a:r>
              <a:rPr lang="en-US" dirty="0"/>
              <a:t>'</a:t>
            </a:r>
          </a:p>
          <a:p>
            <a:pPr marL="0" indent="0" algn="just">
              <a:buNone/>
            </a:pPr>
            <a:r>
              <a:rPr lang="en-US" dirty="0"/>
              <a:t>print( str[0]) </a:t>
            </a:r>
          </a:p>
          <a:p>
            <a:pPr marL="0" indent="0" algn="just">
              <a:buNone/>
            </a:pPr>
            <a:r>
              <a:rPr lang="en-US" dirty="0"/>
              <a:t>print(str[-1])    </a:t>
            </a:r>
          </a:p>
          <a:p>
            <a:pPr marL="0" indent="0" algn="just">
              <a:buNone/>
            </a:pPr>
            <a:r>
              <a:rPr lang="en-US" dirty="0"/>
              <a:t>print(str[:3] )</a:t>
            </a:r>
          </a:p>
          <a:p>
            <a:pPr marL="0" indent="0" algn="just">
              <a:buNone/>
            </a:pPr>
            <a:r>
              <a:rPr lang="en-US" dirty="0"/>
              <a:t>print(str[4:] )</a:t>
            </a:r>
          </a:p>
          <a:p>
            <a:pPr marL="0" indent="0" algn="just">
              <a:buNone/>
            </a:pPr>
            <a:r>
              <a:rPr lang="en-US" dirty="0"/>
              <a:t>print(str[1:5] )</a:t>
            </a:r>
          </a:p>
          <a:p>
            <a:pPr marL="0" indent="0" algn="just">
              <a:buNone/>
            </a:pPr>
            <a:r>
              <a:rPr lang="en-US" dirty="0"/>
              <a:t>print(str[5:-2]) </a:t>
            </a:r>
          </a:p>
          <a:p>
            <a:pPr marL="0" indent="0" algn="just">
              <a:buNone/>
            </a:pPr>
            <a:r>
              <a:rPr lang="en-US" dirty="0"/>
              <a:t>print( str * 3)    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40962" name="AutoShape 2" descr="Element Slicing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63" name="Picture 3" descr="C:\Users\Dell\Downloads\ISL2\element-slicling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1482" y="160338"/>
            <a:ext cx="4777740" cy="2010183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8330A9-2CB6-2B05-E2AD-923477DB2EC0}"/>
              </a:ext>
            </a:extLst>
          </p:cNvPr>
          <p:cNvSpPr txBox="1"/>
          <p:nvPr/>
        </p:nvSpPr>
        <p:spPr>
          <a:xfrm>
            <a:off x="6902245" y="2361435"/>
            <a:ext cx="408071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p</a:t>
            </a:r>
          </a:p>
          <a:p>
            <a:r>
              <a:rPr lang="en-IN" sz="2400" dirty="0">
                <a:solidFill>
                  <a:srgbClr val="FF0000"/>
                </a:solidFill>
              </a:rPr>
              <a:t>z</a:t>
            </a:r>
          </a:p>
          <a:p>
            <a:r>
              <a:rPr lang="en-IN" sz="2400" dirty="0">
                <a:solidFill>
                  <a:srgbClr val="FF0000"/>
                </a:solidFill>
              </a:rPr>
              <a:t>pro</a:t>
            </a:r>
          </a:p>
          <a:p>
            <a:r>
              <a:rPr lang="en-IN" sz="2400" dirty="0" err="1">
                <a:solidFill>
                  <a:srgbClr val="FF0000"/>
                </a:solidFill>
              </a:rPr>
              <a:t>ramiz</a:t>
            </a:r>
            <a:endParaRPr lang="en-IN" sz="2400" dirty="0">
              <a:solidFill>
                <a:srgbClr val="FF0000"/>
              </a:solidFill>
            </a:endParaRPr>
          </a:p>
          <a:p>
            <a:r>
              <a:rPr lang="en-IN" sz="2400" dirty="0" err="1">
                <a:solidFill>
                  <a:srgbClr val="FF0000"/>
                </a:solidFill>
              </a:rPr>
              <a:t>rogr</a:t>
            </a:r>
            <a:endParaRPr lang="en-IN" sz="2400" dirty="0">
              <a:solidFill>
                <a:srgbClr val="FF0000"/>
              </a:solidFill>
            </a:endParaRPr>
          </a:p>
          <a:p>
            <a:r>
              <a:rPr lang="en-IN" sz="2400" dirty="0">
                <a:solidFill>
                  <a:srgbClr val="FF0000"/>
                </a:solidFill>
              </a:rPr>
              <a:t>am</a:t>
            </a:r>
          </a:p>
          <a:p>
            <a:r>
              <a:rPr lang="en-IN" sz="2400" dirty="0" err="1">
                <a:solidFill>
                  <a:srgbClr val="FF0000"/>
                </a:solidFill>
              </a:rPr>
              <a:t>programizprogramizprogramiz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Operations on Strings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1166567" cy="525421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3200" b="1" i="0" dirty="0">
                <a:solidFill>
                  <a:srgbClr val="FF0000"/>
                </a:solidFill>
                <a:effectLst/>
                <a:latin typeface="euclid_circular_a"/>
              </a:rPr>
              <a:t>Compare Two Strings</a:t>
            </a:r>
          </a:p>
          <a:p>
            <a:pPr algn="just"/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We use the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==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operator to compare two strings. If two strings are equal, the operator returns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True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. Otherwise, it returns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False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IN" b="1" dirty="0">
              <a:solidFill>
                <a:srgbClr val="25265E"/>
              </a:solidFill>
              <a:latin typeface="euclid_circular_a"/>
            </a:endParaRPr>
          </a:p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  <a:latin typeface="euclid_circular_a"/>
              </a:rPr>
              <a:t>Example:</a:t>
            </a:r>
          </a:p>
          <a:p>
            <a:pPr marL="0" indent="0" algn="just">
              <a:buNone/>
            </a:pPr>
            <a:r>
              <a:rPr lang="en-IN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str1 = "Hello, world!"</a:t>
            </a:r>
          </a:p>
          <a:p>
            <a:pPr marL="0" indent="0" algn="just">
              <a:buNone/>
            </a:pPr>
            <a:r>
              <a:rPr lang="en-IN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str2 = "I love Python."</a:t>
            </a:r>
          </a:p>
          <a:p>
            <a:pPr marL="0" indent="0" algn="just">
              <a:buNone/>
            </a:pPr>
            <a:r>
              <a:rPr lang="en-IN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str3 = "Hello, world!"</a:t>
            </a:r>
          </a:p>
          <a:p>
            <a:pPr marL="0" indent="0" algn="just">
              <a:buNone/>
            </a:pPr>
            <a:endParaRPr lang="en-IN" sz="2200" i="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buNone/>
            </a:pPr>
            <a:r>
              <a:rPr lang="en-IN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compare str1 and str2</a:t>
            </a:r>
          </a:p>
          <a:p>
            <a:pPr marL="0" indent="0" algn="just">
              <a:buNone/>
            </a:pPr>
            <a:r>
              <a:rPr lang="en-IN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print(str1 == str2)</a:t>
            </a:r>
          </a:p>
          <a:p>
            <a:pPr marL="0" indent="0" algn="just">
              <a:buNone/>
            </a:pPr>
            <a:endParaRPr lang="en-IN" sz="2200" i="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buNone/>
            </a:pPr>
            <a:r>
              <a:rPr lang="en-IN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compare str1 and str3</a:t>
            </a:r>
          </a:p>
          <a:p>
            <a:pPr marL="0" indent="0" algn="just">
              <a:buNone/>
            </a:pPr>
            <a:r>
              <a:rPr lang="en-IN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print(str1 == str3)</a:t>
            </a:r>
          </a:p>
          <a:p>
            <a:pPr algn="just"/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8FA504-6009-EE82-884E-B40281D5E59E}"/>
              </a:ext>
            </a:extLst>
          </p:cNvPr>
          <p:cNvSpPr txBox="1"/>
          <p:nvPr/>
        </p:nvSpPr>
        <p:spPr>
          <a:xfrm>
            <a:off x="7541055" y="5091207"/>
            <a:ext cx="21820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000"/>
                </a:solidFill>
              </a:rPr>
              <a:t>False</a:t>
            </a:r>
          </a:p>
          <a:p>
            <a:r>
              <a:rPr lang="en-IN" sz="2200" dirty="0">
                <a:solidFill>
                  <a:srgbClr val="FF0000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016890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Operations on Strings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1166567" cy="52542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euclid_circular_a"/>
              </a:rPr>
              <a:t>Join Two or More Strings</a:t>
            </a:r>
          </a:p>
          <a:p>
            <a:pPr algn="just"/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In Python, we can join (concatenate) two or more strings using the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oid Sans Mono"/>
              </a:rPr>
              <a:t>+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 operator.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b="1" dirty="0">
              <a:solidFill>
                <a:srgbClr val="25265E"/>
              </a:solidFill>
              <a:latin typeface="euclid_circular_a"/>
            </a:endParaRPr>
          </a:p>
          <a:p>
            <a:pPr marL="0" indent="0" algn="just">
              <a:buNone/>
            </a:pPr>
            <a:r>
              <a:rPr lang="en-US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greet = "Hello, "</a:t>
            </a:r>
          </a:p>
          <a:p>
            <a:pPr marL="0" indent="0" algn="just">
              <a:buNone/>
            </a:pPr>
            <a:r>
              <a:rPr lang="en-US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name = "Jack"</a:t>
            </a:r>
          </a:p>
          <a:p>
            <a:pPr marL="0" indent="0" algn="just">
              <a:buNone/>
            </a:pPr>
            <a:r>
              <a:rPr lang="en-US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 = greet + name</a:t>
            </a:r>
          </a:p>
          <a:p>
            <a:pPr marL="0" indent="0" algn="just">
              <a:buNone/>
            </a:pPr>
            <a:r>
              <a:rPr lang="en-US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print(result)</a:t>
            </a:r>
          </a:p>
          <a:p>
            <a:pPr marL="0" indent="0" algn="just">
              <a:buNone/>
            </a:pPr>
            <a:endParaRPr lang="en-US" sz="2200" i="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buNone/>
            </a:pPr>
            <a:r>
              <a:rPr lang="en-US" sz="220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Output: Hello, Jack</a:t>
            </a:r>
          </a:p>
          <a:p>
            <a:pPr algn="just"/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9110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Operations on Strings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" y="1120462"/>
            <a:ext cx="11893007" cy="5254212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Python String Length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Python, we use the len() method to find the length of a string.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2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greet = 'Hello’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(greet))     # Output: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String Membership Test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can test if a substring exists within a string or not, using the keyword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in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Example: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solidFill>
                  <a:srgbClr val="C00000"/>
                </a:solidFill>
              </a:rPr>
              <a:t>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"The best things in life are free!"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"free"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txt: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print("Yes, 'free' is present.")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print("Yes, 'free' is not  present.")</a:t>
            </a:r>
            <a:endParaRPr lang="en-US" sz="1800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84F9E1D-BAFD-C228-0C34-46808BDBA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25705" cy="276999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5BD925-6061-5ECF-D51D-26F24FA6F36C}"/>
              </a:ext>
            </a:extLst>
          </p:cNvPr>
          <p:cNvSpPr txBox="1"/>
          <p:nvPr/>
        </p:nvSpPr>
        <p:spPr>
          <a:xfrm>
            <a:off x="6512560" y="4573656"/>
            <a:ext cx="56794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not in: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"The best things in life are free!"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"expensive" </a:t>
            </a:r>
            <a:r>
              <a:rPr lang="en-IN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not in 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print("No, 'expensive' is NOT present.")</a:t>
            </a:r>
          </a:p>
        </p:txBody>
      </p:sp>
    </p:spTree>
    <p:extLst>
      <p:ext uri="{BB962C8B-B14F-4D97-AF65-F5344CB8AC3E}">
        <p14:creationId xmlns:p14="http://schemas.microsoft.com/office/powerpoint/2010/main" val="2901378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pPr algn="l"/>
            <a:r>
              <a:rPr lang="en-IN" sz="32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Looping Through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1166567" cy="5254212"/>
          </a:xfrm>
        </p:spPr>
        <p:txBody>
          <a:bodyPr>
            <a:norm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Since strings are arrays, we can loop through the characters in a string, with a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loop.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>
              <a:buNone/>
            </a:pPr>
            <a:r>
              <a:rPr lang="en-US" sz="2400" dirty="0"/>
              <a:t>Syntax:</a:t>
            </a:r>
          </a:p>
          <a:p>
            <a:pPr marL="0" indent="0">
              <a:buNone/>
            </a:pPr>
            <a:r>
              <a:rPr lang="en-US" sz="2400" dirty="0"/>
              <a:t>for variable in String:</a:t>
            </a:r>
          </a:p>
          <a:p>
            <a:pPr marL="0" indent="0">
              <a:buNone/>
            </a:pPr>
            <a:r>
              <a:rPr lang="en-US" sz="2400" dirty="0"/>
              <a:t>  print(variable)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Ex:</a:t>
            </a:r>
          </a:p>
          <a:p>
            <a:pPr lvl="1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str="Python"</a:t>
            </a:r>
          </a:p>
          <a:p>
            <a:pPr lvl="1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str:</a:t>
            </a:r>
          </a:p>
          <a:p>
            <a:pPr lvl="1">
              <a:buNone/>
            </a:pP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print(i)</a:t>
            </a:r>
          </a:p>
          <a:p>
            <a:pPr lvl="1">
              <a:buNone/>
            </a:pPr>
            <a:endParaRPr lang="en-US" u="sng" dirty="0"/>
          </a:p>
          <a:p>
            <a:pPr lvl="1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AAFA20-044F-8C39-DE0C-49CB0FB2F1F7}"/>
              </a:ext>
            </a:extLst>
          </p:cNvPr>
          <p:cNvSpPr txBox="1"/>
          <p:nvPr/>
        </p:nvSpPr>
        <p:spPr>
          <a:xfrm>
            <a:off x="7942580" y="3837077"/>
            <a:ext cx="15367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rgbClr val="FF0000"/>
                </a:solidFill>
              </a:rPr>
              <a:t>P</a:t>
            </a:r>
          </a:p>
          <a:p>
            <a:r>
              <a:rPr lang="pt-BR" sz="2200" dirty="0">
                <a:solidFill>
                  <a:srgbClr val="FF0000"/>
                </a:solidFill>
              </a:rPr>
              <a:t>y</a:t>
            </a:r>
          </a:p>
          <a:p>
            <a:r>
              <a:rPr lang="pt-BR" sz="2200" dirty="0">
                <a:solidFill>
                  <a:srgbClr val="FF0000"/>
                </a:solidFill>
              </a:rPr>
              <a:t>t</a:t>
            </a:r>
          </a:p>
          <a:p>
            <a:r>
              <a:rPr lang="pt-BR" sz="2200" dirty="0">
                <a:solidFill>
                  <a:srgbClr val="FF0000"/>
                </a:solidFill>
              </a:rPr>
              <a:t>h</a:t>
            </a:r>
          </a:p>
          <a:p>
            <a:r>
              <a:rPr lang="pt-BR" sz="2200" dirty="0">
                <a:solidFill>
                  <a:srgbClr val="FF0000"/>
                </a:solidFill>
              </a:rPr>
              <a:t>o</a:t>
            </a:r>
          </a:p>
          <a:p>
            <a:r>
              <a:rPr lang="pt-BR" sz="2200" dirty="0">
                <a:solidFill>
                  <a:srgbClr val="FF0000"/>
                </a:solidFill>
              </a:rPr>
              <a:t>n</a:t>
            </a:r>
            <a:endParaRPr lang="en-I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946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761510"/>
          </a:xfrm>
        </p:spPr>
        <p:txBody>
          <a:bodyPr>
            <a:normAutofit/>
          </a:bodyPr>
          <a:lstStyle/>
          <a:p>
            <a:pPr algn="l"/>
            <a:r>
              <a:rPr lang="en-IN" sz="32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Looping Through a String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20462"/>
            <a:ext cx="11166567" cy="5254212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en-US" dirty="0">
                <a:solidFill>
                  <a:srgbClr val="FF0000"/>
                </a:solidFill>
              </a:rPr>
              <a:t>1.  Write a python program to count no of a’s in your name?</a:t>
            </a:r>
          </a:p>
          <a:p>
            <a:pPr lvl="1">
              <a:buNone/>
            </a:pPr>
            <a:r>
              <a:rPr lang="en-US" dirty="0">
                <a:solidFill>
                  <a:srgbClr val="FF0000"/>
                </a:solidFill>
              </a:rPr>
              <a:t>Ex: </a:t>
            </a:r>
            <a:r>
              <a:rPr lang="en-US" dirty="0"/>
              <a:t>Devansh    o/p: 1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r>
              <a:rPr lang="en-US" dirty="0"/>
              <a:t>2. </a:t>
            </a:r>
            <a:r>
              <a:rPr lang="en-US" dirty="0">
                <a:solidFill>
                  <a:srgbClr val="00B050"/>
                </a:solidFill>
              </a:rPr>
              <a:t>Write a python  program to remove the vowels in the given string </a:t>
            </a:r>
          </a:p>
          <a:p>
            <a:pPr lvl="1">
              <a:buNone/>
            </a:pPr>
            <a:endParaRPr lang="en-US" dirty="0">
              <a:solidFill>
                <a:srgbClr val="00B050"/>
              </a:solidFill>
            </a:endParaRPr>
          </a:p>
          <a:p>
            <a:pPr lvl="1">
              <a:buNone/>
            </a:pPr>
            <a:r>
              <a:rPr lang="en-US" u="sng" dirty="0">
                <a:hlinkClick r:id="rId2"/>
              </a:rPr>
              <a:t>3 . Write a </a:t>
            </a:r>
            <a:r>
              <a:rPr lang="en-US" u="sng" dirty="0" err="1">
                <a:hlinkClick r:id="rId2"/>
              </a:rPr>
              <a:t>pthon</a:t>
            </a:r>
            <a:r>
              <a:rPr lang="en-US" u="sng" dirty="0">
                <a:hlinkClick r:id="rId2"/>
              </a:rPr>
              <a:t> program Remove Punctuations From a String</a:t>
            </a:r>
            <a:endParaRPr lang="en-US" u="sng" dirty="0"/>
          </a:p>
          <a:p>
            <a:pPr lvl="1">
              <a:buNone/>
            </a:pPr>
            <a:r>
              <a:rPr lang="en-US" u="sng" dirty="0">
                <a:solidFill>
                  <a:srgbClr val="FF0000"/>
                </a:solidFill>
              </a:rPr>
              <a:t>I/P: </a:t>
            </a:r>
            <a:r>
              <a:rPr lang="en-US" dirty="0"/>
              <a:t>"Hello!!!, he said ---and went.“</a:t>
            </a:r>
          </a:p>
          <a:p>
            <a:pPr lvl="1">
              <a:buNone/>
            </a:pPr>
            <a:r>
              <a:rPr lang="en-US" u="sng" dirty="0">
                <a:solidFill>
                  <a:srgbClr val="FF0000"/>
                </a:solidFill>
              </a:rPr>
              <a:t>O/P: </a:t>
            </a:r>
            <a:r>
              <a:rPr lang="en-US" dirty="0"/>
              <a:t>Hello he said and went</a:t>
            </a:r>
          </a:p>
          <a:p>
            <a:pPr lvl="1">
              <a:buNone/>
            </a:pPr>
            <a:endParaRPr lang="en-US" dirty="0">
              <a:solidFill>
                <a:srgbClr val="00B050"/>
              </a:solidFill>
            </a:endParaRPr>
          </a:p>
          <a:p>
            <a:pPr algn="just"/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04229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lvl="1">
              <a:buNone/>
            </a:pPr>
            <a:r>
              <a:rPr lang="en-US" sz="2800" dirty="0">
                <a:solidFill>
                  <a:srgbClr val="FF0000"/>
                </a:solidFill>
              </a:rPr>
              <a:t>Write a python program to count no of a’s in your name?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62594"/>
            <a:ext cx="10515600" cy="50143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name= "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Havya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count=0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char in name:  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if char== 'a':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count=count+1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print("No of a in my name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is:",count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DEE89-DB7B-BB85-5F6D-44C554D86A99}"/>
              </a:ext>
            </a:extLst>
          </p:cNvPr>
          <p:cNvSpPr txBox="1"/>
          <p:nvPr/>
        </p:nvSpPr>
        <p:spPr>
          <a:xfrm>
            <a:off x="7640320" y="5002014"/>
            <a:ext cx="362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No of a in my name is: </a:t>
            </a:r>
            <a:r>
              <a:rPr lang="en-US" sz="2200" dirty="0">
                <a:solidFill>
                  <a:srgbClr val="00B050"/>
                </a:solidFill>
              </a:rPr>
              <a:t>2</a:t>
            </a:r>
            <a:endParaRPr lang="en-IN" sz="2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Program to remove the vowels in the given string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62594"/>
            <a:ext cx="10515600" cy="50143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vowels="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pPr>
              <a:buNone/>
            </a:pP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my_str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"Hello I am Devansh"</a:t>
            </a:r>
          </a:p>
          <a:p>
            <a:pPr>
              <a:buNone/>
            </a:pP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no_vowel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""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char in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my_str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 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if char not in vowels: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no_vowel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no_vowel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+ char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no_vowel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DEE89-DB7B-BB85-5F6D-44C554D86A99}"/>
              </a:ext>
            </a:extLst>
          </p:cNvPr>
          <p:cNvSpPr txBox="1"/>
          <p:nvPr/>
        </p:nvSpPr>
        <p:spPr>
          <a:xfrm>
            <a:off x="8427720" y="5002014"/>
            <a:ext cx="2839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 err="1">
                <a:solidFill>
                  <a:srgbClr val="FF0000"/>
                </a:solidFill>
              </a:rPr>
              <a:t>Hll</a:t>
            </a:r>
            <a:r>
              <a:rPr lang="en-IN" sz="2200" dirty="0">
                <a:solidFill>
                  <a:srgbClr val="FF0000"/>
                </a:solidFill>
              </a:rPr>
              <a:t> I m </a:t>
            </a:r>
            <a:r>
              <a:rPr lang="en-IN" sz="2200" dirty="0" err="1">
                <a:solidFill>
                  <a:srgbClr val="FF0000"/>
                </a:solidFill>
              </a:rPr>
              <a:t>Dvnsh</a:t>
            </a:r>
            <a:endParaRPr lang="en-I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710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Program </a:t>
            </a:r>
            <a:r>
              <a:rPr lang="en-US" sz="2800" u="sng" dirty="0">
                <a:solidFill>
                  <a:srgbClr val="FF0000"/>
                </a:solidFill>
                <a:hlinkClick r:id="rId2"/>
              </a:rPr>
              <a:t>Remove Punctuations From a String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36469"/>
            <a:ext cx="10515600" cy="5040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punctuations = '''!()-[]{};:'"\,&lt;&gt;./?@#$%^&amp;*_~'''</a:t>
            </a:r>
          </a:p>
          <a:p>
            <a:pPr marL="0" indent="0">
              <a:buNone/>
            </a:pP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my_str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"Hello!!!, he said ---and went."</a:t>
            </a:r>
          </a:p>
          <a:p>
            <a:pPr marL="0" indent="0">
              <a:buNone/>
            </a:pP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no_punct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""</a:t>
            </a:r>
          </a:p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char in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my_str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 </a:t>
            </a:r>
          </a:p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if char not in punctuations:</a:t>
            </a:r>
          </a:p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no_punct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no_punct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+ char</a:t>
            </a:r>
          </a:p>
          <a:p>
            <a:pPr marL="0" indent="0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no_punct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Output:</a:t>
            </a:r>
          </a:p>
          <a:p>
            <a:pPr>
              <a:buNone/>
            </a:pPr>
            <a:r>
              <a:rPr lang="en-US" dirty="0"/>
              <a:t>Hello he said and went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Python String Methods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7017" y="1162594"/>
            <a:ext cx="11377749" cy="5014369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FF0000"/>
                </a:solidFill>
              </a:rPr>
              <a:t>count():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count()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returns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number of times a specified value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appears in the string.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"I love apples, apple is my favorite fruit"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("apple")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capitalize() :</a:t>
            </a:r>
            <a:r>
              <a:rPr lang="en-US" sz="2400" dirty="0"/>
              <a:t>It  converts the </a:t>
            </a:r>
            <a:r>
              <a:rPr lang="en-US" sz="2400" dirty="0">
                <a:solidFill>
                  <a:srgbClr val="7030A0"/>
                </a:solidFill>
              </a:rPr>
              <a:t>first character of a string to upper case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and the rest is lower case.</a:t>
            </a:r>
          </a:p>
          <a:p>
            <a:pPr marL="0" indent="0" algn="just">
              <a:buNone/>
            </a:pP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"python is FUN!"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txt.capitalize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(x)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CF84D-C5F1-63DF-2954-6E5724E3B13F}"/>
              </a:ext>
            </a:extLst>
          </p:cNvPr>
          <p:cNvSpPr txBox="1"/>
          <p:nvPr/>
        </p:nvSpPr>
        <p:spPr>
          <a:xfrm>
            <a:off x="7279640" y="2904909"/>
            <a:ext cx="2545080" cy="38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4F125-E906-4C88-40FD-E8C4862246B3}"/>
              </a:ext>
            </a:extLst>
          </p:cNvPr>
          <p:cNvSpPr txBox="1"/>
          <p:nvPr/>
        </p:nvSpPr>
        <p:spPr>
          <a:xfrm>
            <a:off x="5196840" y="5663140"/>
            <a:ext cx="2545080" cy="38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   Python is fun!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Python String Methods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7017" y="1162594"/>
            <a:ext cx="11377749" cy="5014369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</a:rPr>
              <a:t>startswith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returns True if the string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starts with the specified 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otherwise 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"welcome to my world."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txt.startswith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</a:rPr>
              <a:t>endswith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returns True if the string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ends with the specified 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otherwise False.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algn="just">
              <a:buNone/>
            </a:pP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"Hello, welcome to my world."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txt.endswith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("world.")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CF84D-C5F1-63DF-2954-6E5724E3B13F}"/>
              </a:ext>
            </a:extLst>
          </p:cNvPr>
          <p:cNvSpPr txBox="1"/>
          <p:nvPr/>
        </p:nvSpPr>
        <p:spPr>
          <a:xfrm>
            <a:off x="7279640" y="2904909"/>
            <a:ext cx="2545080" cy="38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 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4F125-E906-4C88-40FD-E8C4862246B3}"/>
              </a:ext>
            </a:extLst>
          </p:cNvPr>
          <p:cNvSpPr txBox="1"/>
          <p:nvPr/>
        </p:nvSpPr>
        <p:spPr>
          <a:xfrm>
            <a:off x="7444738" y="5807631"/>
            <a:ext cx="254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 True</a:t>
            </a:r>
          </a:p>
        </p:txBody>
      </p:sp>
    </p:spTree>
    <p:extLst>
      <p:ext uri="{BB962C8B-B14F-4D97-AF65-F5344CB8AC3E}">
        <p14:creationId xmlns:p14="http://schemas.microsoft.com/office/powerpoint/2010/main" val="595026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Python String Methods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7017" y="1162594"/>
            <a:ext cx="11377749" cy="5213154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sz="4000" dirty="0">
                <a:solidFill>
                  <a:srgbClr val="FF0000"/>
                </a:solidFill>
              </a:rPr>
              <a:t>f</a:t>
            </a:r>
            <a:r>
              <a:rPr lang="en-US" sz="4000" b="0" i="0" dirty="0">
                <a:solidFill>
                  <a:srgbClr val="FF0000"/>
                </a:solidFill>
                <a:effectLst/>
              </a:rPr>
              <a:t>ind()</a:t>
            </a:r>
            <a:r>
              <a:rPr lang="en-US" sz="400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4000" dirty="0">
                <a:effectLst/>
              </a:rPr>
              <a:t>Searches the string for a specified value and returns the </a:t>
            </a:r>
            <a:r>
              <a:rPr lang="en-US" sz="4000" dirty="0">
                <a:solidFill>
                  <a:srgbClr val="7030A0"/>
                </a:solidFill>
                <a:effectLst/>
              </a:rPr>
              <a:t>position of first occurrence </a:t>
            </a:r>
            <a:r>
              <a:rPr lang="en-US" sz="4000" dirty="0">
                <a:effectLst/>
              </a:rPr>
              <a:t>where it was found</a:t>
            </a:r>
          </a:p>
          <a:p>
            <a:pPr algn="just"/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find()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returns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-1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if the value is not found.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 algn="just">
              <a:buNone/>
            </a:pPr>
            <a:r>
              <a:rPr lang="en-IN" sz="4000" b="0" i="0" dirty="0" err="1">
                <a:solidFill>
                  <a:srgbClr val="FF0000"/>
                </a:solidFill>
                <a:effectLst/>
              </a:rPr>
              <a:t>rfind</a:t>
            </a:r>
            <a:r>
              <a:rPr lang="en-IN" sz="4000" b="0" i="0" dirty="0">
                <a:solidFill>
                  <a:srgbClr val="FF0000"/>
                </a:solidFill>
                <a:effectLst/>
              </a:rPr>
              <a:t>(): </a:t>
            </a:r>
            <a:r>
              <a:rPr lang="en-US" sz="4000" dirty="0">
                <a:effectLst/>
              </a:rPr>
              <a:t>Searches the string for a specified value and returns the </a:t>
            </a:r>
            <a:r>
              <a:rPr lang="en-US" sz="4000" dirty="0">
                <a:solidFill>
                  <a:srgbClr val="7030A0"/>
                </a:solidFill>
                <a:effectLst/>
              </a:rPr>
              <a:t>position of last occurrence </a:t>
            </a:r>
            <a:r>
              <a:rPr lang="en-US" sz="4000" dirty="0">
                <a:effectLst/>
              </a:rPr>
              <a:t>where it was found</a:t>
            </a:r>
          </a:p>
          <a:p>
            <a:pPr marL="0" indent="0" algn="just">
              <a:buNone/>
            </a:pPr>
            <a:endParaRPr lang="en-IN" sz="1600" b="0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pPr marL="0" indent="0" algn="just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"Hello, welcome to my world."</a:t>
            </a:r>
          </a:p>
          <a:p>
            <a:pPr marL="0" indent="0" algn="just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2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txt.find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("e")</a:t>
            </a:r>
          </a:p>
          <a:p>
            <a:pPr marL="0" indent="0" algn="just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US" sz="22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txt.rfind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("e")</a:t>
            </a:r>
          </a:p>
          <a:p>
            <a:pPr marL="0" indent="0" algn="just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  <a:p>
            <a:pPr marL="0" indent="0" algn="just">
              <a:buNone/>
            </a:pPr>
            <a:r>
              <a:rPr lang="en-US" sz="22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print(y)</a:t>
            </a:r>
            <a:endParaRPr lang="en-US" sz="2200" b="0" i="0" dirty="0">
              <a:solidFill>
                <a:srgbClr val="000000"/>
              </a:solidFill>
              <a:effectLst/>
            </a:endParaRPr>
          </a:p>
          <a:p>
            <a:pPr marL="0" indent="0" algn="just">
              <a:buNone/>
            </a:pPr>
            <a:endParaRPr lang="en-US" sz="26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3600" dirty="0">
                <a:solidFill>
                  <a:srgbClr val="FF0000"/>
                </a:solidFill>
              </a:rPr>
              <a:t>index</a:t>
            </a:r>
            <a:r>
              <a:rPr lang="en-US" sz="3600" b="0" i="0" dirty="0">
                <a:solidFill>
                  <a:srgbClr val="FF0000"/>
                </a:solidFill>
                <a:effectLst/>
              </a:rPr>
              <a:t>()</a:t>
            </a:r>
            <a:r>
              <a:rPr lang="en-US" sz="360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3600" dirty="0">
                <a:effectLst/>
              </a:rPr>
              <a:t>Searches the string for a specified value and returns the </a:t>
            </a:r>
            <a:r>
              <a:rPr lang="en-US" sz="3600" dirty="0">
                <a:solidFill>
                  <a:srgbClr val="7030A0"/>
                </a:solidFill>
                <a:effectLst/>
              </a:rPr>
              <a:t>position of first occurrence </a:t>
            </a:r>
            <a:r>
              <a:rPr lang="en-US" sz="3600" dirty="0">
                <a:effectLst/>
              </a:rPr>
              <a:t>where it was found</a:t>
            </a:r>
          </a:p>
          <a:p>
            <a:pPr algn="just"/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index()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returns exception if the value is not found.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 algn="just"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algn="just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"Hello, welcome to my world."</a:t>
            </a:r>
          </a:p>
          <a:p>
            <a:pPr marL="0" indent="0" algn="just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txt.index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("o")</a:t>
            </a:r>
          </a:p>
          <a:p>
            <a:pPr marL="0" indent="0" algn="just"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CF84D-C5F1-63DF-2954-6E5724E3B13F}"/>
              </a:ext>
            </a:extLst>
          </p:cNvPr>
          <p:cNvSpPr txBox="1"/>
          <p:nvPr/>
        </p:nvSpPr>
        <p:spPr>
          <a:xfrm>
            <a:off x="5820591" y="2845395"/>
            <a:ext cx="990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  <a:p>
            <a:r>
              <a:rPr lang="en-IN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4F125-E906-4C88-40FD-E8C4862246B3}"/>
              </a:ext>
            </a:extLst>
          </p:cNvPr>
          <p:cNvSpPr txBox="1"/>
          <p:nvPr/>
        </p:nvSpPr>
        <p:spPr>
          <a:xfrm>
            <a:off x="7444738" y="5601468"/>
            <a:ext cx="254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 4</a:t>
            </a:r>
          </a:p>
        </p:txBody>
      </p:sp>
    </p:spTree>
    <p:extLst>
      <p:ext uri="{BB962C8B-B14F-4D97-AF65-F5344CB8AC3E}">
        <p14:creationId xmlns:p14="http://schemas.microsoft.com/office/powerpoint/2010/main" val="3713821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Python String Methods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7017" y="1162594"/>
            <a:ext cx="11377749" cy="52131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s</a:t>
            </a:r>
            <a:r>
              <a:rPr lang="en-US" sz="2400" b="0" i="0" dirty="0">
                <a:solidFill>
                  <a:srgbClr val="FF0000"/>
                </a:solidFill>
                <a:effectLst/>
              </a:rPr>
              <a:t>plit():</a:t>
            </a:r>
            <a:r>
              <a:rPr lang="en-US" sz="2400" b="0" i="0" dirty="0">
                <a:solidFill>
                  <a:srgbClr val="7030A0"/>
                </a:solidFill>
                <a:effectLst/>
              </a:rPr>
              <a:t>Splits the string based on separator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, and returns a </a:t>
            </a:r>
            <a:r>
              <a:rPr lang="en-US" sz="2400" b="0" i="0" dirty="0">
                <a:solidFill>
                  <a:srgbClr val="7030A0"/>
                </a:solidFill>
                <a:effectLst/>
              </a:rPr>
              <a:t>list</a:t>
            </a:r>
          </a:p>
          <a:p>
            <a:pPr marL="0" indent="0" algn="just">
              <a:buNone/>
            </a:pPr>
            <a:endParaRPr lang="en-US" sz="1600" dirty="0">
              <a:solidFill>
                <a:srgbClr val="FF0000"/>
              </a:solidFill>
              <a:latin typeface="Verdana" panose="020B060403050404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rgbClr val="FF0000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Ex1: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"welcome to the Python Class"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txt.split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  <a:p>
            <a:pPr marL="0" indent="0" algn="just">
              <a:buNone/>
            </a:pPr>
            <a:endParaRPr lang="en-US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buNone/>
            </a:pPr>
            <a:r>
              <a:rPr lang="en-US" sz="22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Ex2:</a:t>
            </a:r>
          </a:p>
          <a:p>
            <a:pPr marL="0" indent="0" algn="just">
              <a:buNone/>
            </a:pPr>
            <a:endParaRPr lang="en-US" sz="22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"hello, my name is Peter, I am 26 years old"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txt.split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(", ")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54F125-E906-4C88-40FD-E8C4862246B3}"/>
              </a:ext>
            </a:extLst>
          </p:cNvPr>
          <p:cNvSpPr txBox="1"/>
          <p:nvPr/>
        </p:nvSpPr>
        <p:spPr>
          <a:xfrm>
            <a:off x="6784338" y="3122840"/>
            <a:ext cx="4980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 ['welcome', 'to', 'the', 'Python', ‘Class']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3C623-726A-ACA7-8FF1-DDE73219C9D8}"/>
              </a:ext>
            </a:extLst>
          </p:cNvPr>
          <p:cNvSpPr txBox="1"/>
          <p:nvPr/>
        </p:nvSpPr>
        <p:spPr>
          <a:xfrm>
            <a:off x="4658360" y="5739340"/>
            <a:ext cx="6309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['hello', 'my name is Peter', 'I am 26 years old']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407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Python String Methods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7017" y="1162594"/>
            <a:ext cx="11377749" cy="5213154"/>
          </a:xfrm>
        </p:spPr>
        <p:txBody>
          <a:bodyPr>
            <a:normAutofit/>
          </a:bodyPr>
          <a:lstStyle/>
          <a:p>
            <a:pPr algn="just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strip()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removes any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lang="en-US" sz="2400" b="0" i="0" dirty="0">
                <a:solidFill>
                  <a:srgbClr val="7030A0"/>
                </a:solidFill>
                <a:effectLst/>
              </a:rPr>
              <a:t>spaces at the beginning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and at the </a:t>
            </a:r>
            <a:r>
              <a:rPr lang="en-US" sz="2400" b="0" i="0" dirty="0">
                <a:solidFill>
                  <a:srgbClr val="7030A0"/>
                </a:solidFill>
                <a:effectLst/>
              </a:rPr>
              <a:t>end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of the string</a:t>
            </a:r>
          </a:p>
          <a:p>
            <a:pPr algn="just"/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</a:rPr>
              <a:t>lstrip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Remove spaces to the </a:t>
            </a:r>
            <a:r>
              <a:rPr lang="en-US" sz="2400" b="0" i="0" dirty="0">
                <a:solidFill>
                  <a:srgbClr val="7030A0"/>
                </a:solidFill>
                <a:effectLst/>
              </a:rPr>
              <a:t>left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of the string:</a:t>
            </a:r>
          </a:p>
          <a:p>
            <a:pPr algn="just"/>
            <a:r>
              <a:rPr lang="en-US" altLang="en-US" sz="2400" dirty="0" err="1">
                <a:solidFill>
                  <a:srgbClr val="DC143C"/>
                </a:solidFill>
              </a:rPr>
              <a:t>r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</a:rPr>
              <a:t>strip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Remove spaces to the </a:t>
            </a:r>
            <a:r>
              <a:rPr lang="en-US" sz="2400" b="0" i="0" dirty="0">
                <a:solidFill>
                  <a:srgbClr val="7030A0"/>
                </a:solidFill>
                <a:effectLst/>
              </a:rPr>
              <a:t>right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of the string</a:t>
            </a:r>
          </a:p>
          <a:p>
            <a:pPr marL="0" indent="0" algn="just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     banana     "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txt.strip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txt.lstrip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txt.rstrip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print(y)</a:t>
            </a:r>
          </a:p>
          <a:p>
            <a:pPr marL="0" indent="0"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print(z)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93AB5-6CFD-F5AA-9AC6-AA201FC91C36}"/>
              </a:ext>
            </a:extLst>
          </p:cNvPr>
          <p:cNvSpPr txBox="1"/>
          <p:nvPr/>
        </p:nvSpPr>
        <p:spPr>
          <a:xfrm>
            <a:off x="4884420" y="5047470"/>
            <a:ext cx="23190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000"/>
                </a:solidFill>
              </a:rPr>
              <a:t>banana</a:t>
            </a:r>
          </a:p>
          <a:p>
            <a:r>
              <a:rPr lang="en-IN" sz="2200" dirty="0">
                <a:solidFill>
                  <a:srgbClr val="FF0000"/>
                </a:solidFill>
              </a:rPr>
              <a:t>banana     </a:t>
            </a:r>
          </a:p>
          <a:p>
            <a:r>
              <a:rPr lang="en-IN" sz="2200" dirty="0">
                <a:solidFill>
                  <a:srgbClr val="FF0000"/>
                </a:solidFill>
              </a:rPr>
              <a:t>     banana</a:t>
            </a:r>
          </a:p>
        </p:txBody>
      </p:sp>
    </p:spTree>
    <p:extLst>
      <p:ext uri="{BB962C8B-B14F-4D97-AF65-F5344CB8AC3E}">
        <p14:creationId xmlns:p14="http://schemas.microsoft.com/office/powerpoint/2010/main" val="2193935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106230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Python String Methods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7017" y="822423"/>
            <a:ext cx="11377749" cy="5213154"/>
          </a:xfrm>
        </p:spPr>
        <p:txBody>
          <a:bodyPr>
            <a:noAutofit/>
          </a:bodyPr>
          <a:lstStyle/>
          <a:p>
            <a:pPr algn="just"/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replace()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replaces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a specified value with another value.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.</a:t>
            </a:r>
          </a:p>
          <a:p>
            <a:pPr marL="0" indent="0" algn="just"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"one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was a race horse"</a:t>
            </a:r>
          </a:p>
          <a:p>
            <a:pPr marL="0" indent="0" algn="just"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txt.replace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("one", "three")</a:t>
            </a:r>
          </a:p>
          <a:p>
            <a:pPr marL="0" indent="0" algn="just"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  <a:p>
            <a:pPr algn="just"/>
            <a:r>
              <a:rPr lang="en-IN" sz="2200" dirty="0">
                <a:solidFill>
                  <a:srgbClr val="FF0000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upper()</a:t>
            </a:r>
            <a:r>
              <a:rPr lang="en-IN" sz="2200" dirty="0">
                <a:solidFill>
                  <a:srgbClr val="FF0000"/>
                </a:solidFill>
                <a:effectLst/>
              </a:rPr>
              <a:t>  :</a:t>
            </a:r>
            <a:r>
              <a:rPr lang="en-US" sz="2200" dirty="0">
                <a:solidFill>
                  <a:srgbClr val="FF0000"/>
                </a:solidFill>
                <a:effectLst/>
              </a:rPr>
              <a:t> </a:t>
            </a:r>
            <a:r>
              <a:rPr lang="en-US" sz="2200" dirty="0">
                <a:effectLst/>
              </a:rPr>
              <a:t>Converts a string into </a:t>
            </a:r>
            <a:r>
              <a:rPr lang="en-US" sz="2200" dirty="0">
                <a:solidFill>
                  <a:srgbClr val="7030A0"/>
                </a:solidFill>
                <a:effectLst/>
              </a:rPr>
              <a:t>upper case</a:t>
            </a:r>
          </a:p>
          <a:p>
            <a:pPr marL="0" indent="0" algn="just">
              <a:buNone/>
            </a:pPr>
            <a:endParaRPr lang="en-US" sz="1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just"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"Hello my friends"</a:t>
            </a:r>
          </a:p>
          <a:p>
            <a:pPr marL="0" indent="0" algn="just"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txt.upper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 algn="just"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  <a:p>
            <a:pPr marL="0" indent="0" algn="just">
              <a:buNone/>
            </a:pPr>
            <a:endParaRPr lang="en-US" sz="2200" dirty="0">
              <a:effectLst/>
            </a:endParaRPr>
          </a:p>
          <a:p>
            <a:pPr marL="0" indent="0" algn="just">
              <a:buNone/>
            </a:pPr>
            <a:r>
              <a:rPr lang="en-IN" sz="2200" b="0" i="0" dirty="0">
                <a:solidFill>
                  <a:srgbClr val="FF0000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lower() </a:t>
            </a:r>
            <a:r>
              <a:rPr lang="en-IN" sz="2200" b="0" i="0" dirty="0">
                <a:solidFill>
                  <a:srgbClr val="FF0000"/>
                </a:solidFill>
                <a:effectLst/>
              </a:rPr>
              <a:t>:</a:t>
            </a:r>
            <a:r>
              <a:rPr lang="en-US" sz="2200" b="0" i="0" dirty="0">
                <a:solidFill>
                  <a:srgbClr val="000000"/>
                </a:solidFill>
                <a:effectLst/>
              </a:rPr>
              <a:t>Converts a string into </a:t>
            </a:r>
            <a:r>
              <a:rPr lang="en-US" sz="2200" b="0" i="0" dirty="0">
                <a:solidFill>
                  <a:srgbClr val="7030A0"/>
                </a:solidFill>
                <a:effectLst/>
              </a:rPr>
              <a:t>lower case</a:t>
            </a:r>
          </a:p>
          <a:p>
            <a:pPr marL="0" indent="0" algn="just">
              <a:buNone/>
            </a:pPr>
            <a:endParaRPr lang="en-IN" sz="2200" dirty="0">
              <a:effectLst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 = "Hello my FRIENDS"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19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txt.lower</a:t>
            </a: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19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89EE52-8663-DA7A-B3C6-CE21548BF8AB}"/>
              </a:ext>
            </a:extLst>
          </p:cNvPr>
          <p:cNvSpPr txBox="1"/>
          <p:nvPr/>
        </p:nvSpPr>
        <p:spPr>
          <a:xfrm>
            <a:off x="4745446" y="2142737"/>
            <a:ext cx="4384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O/P:  three three was a race horse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B768B4-363E-339A-F8D5-25FD35B8C284}"/>
              </a:ext>
            </a:extLst>
          </p:cNvPr>
          <p:cNvSpPr txBox="1"/>
          <p:nvPr/>
        </p:nvSpPr>
        <p:spPr>
          <a:xfrm>
            <a:off x="4745446" y="4085142"/>
            <a:ext cx="6314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 HELLO MY FRIENDS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8FDC9B-CBB8-0DDB-7E86-81A9D0A76B0C}"/>
              </a:ext>
            </a:extLst>
          </p:cNvPr>
          <p:cNvSpPr txBox="1"/>
          <p:nvPr/>
        </p:nvSpPr>
        <p:spPr>
          <a:xfrm>
            <a:off x="4794954" y="6006416"/>
            <a:ext cx="5687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 hello my friends</a:t>
            </a:r>
          </a:p>
        </p:txBody>
      </p:sp>
    </p:spTree>
    <p:extLst>
      <p:ext uri="{BB962C8B-B14F-4D97-AF65-F5344CB8AC3E}">
        <p14:creationId xmlns:p14="http://schemas.microsoft.com/office/powerpoint/2010/main" val="1965919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106230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Python String Methods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7017" y="962751"/>
            <a:ext cx="11377749" cy="5072825"/>
          </a:xfrm>
        </p:spPr>
        <p:txBody>
          <a:bodyPr>
            <a:noAutofit/>
          </a:bodyPr>
          <a:lstStyle/>
          <a:p>
            <a:pPr algn="just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join()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method takes all items </a:t>
            </a:r>
            <a:r>
              <a:rPr lang="en-US" altLang="en-US" sz="2400" dirty="0">
                <a:solidFill>
                  <a:srgbClr val="000000"/>
                </a:solidFill>
              </a:rPr>
              <a:t>from list/tuple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and joins them into one string.</a:t>
            </a:r>
          </a:p>
          <a:p>
            <a:pPr algn="just"/>
            <a:endParaRPr lang="en-US" altLang="en-US" sz="20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>
              <a:buNone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["John", "Peter", "Vicky"]</a:t>
            </a:r>
          </a:p>
          <a:p>
            <a:pPr marL="0" indent="0" algn="just"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" ".join(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 algn="just"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 </a:t>
            </a:r>
          </a:p>
          <a:p>
            <a:pPr algn="just"/>
            <a:endParaRPr lang="en-US" sz="19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8FDC9B-CBB8-0DDB-7E86-81A9D0A76B0C}"/>
              </a:ext>
            </a:extLst>
          </p:cNvPr>
          <p:cNvSpPr txBox="1"/>
          <p:nvPr/>
        </p:nvSpPr>
        <p:spPr>
          <a:xfrm>
            <a:off x="5343594" y="2877136"/>
            <a:ext cx="5687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      John Peter Vicky</a:t>
            </a:r>
          </a:p>
        </p:txBody>
      </p:sp>
    </p:spTree>
    <p:extLst>
      <p:ext uri="{BB962C8B-B14F-4D97-AF65-F5344CB8AC3E}">
        <p14:creationId xmlns:p14="http://schemas.microsoft.com/office/powerpoint/2010/main" val="4118809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Program to sort alphabetically the words form a string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36600" y="1076961"/>
            <a:ext cx="10515600" cy="5298788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Version-1:</a:t>
            </a:r>
          </a:p>
          <a:p>
            <a:pPr algn="just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my_str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"hi this is a python class"</a:t>
            </a:r>
          </a:p>
          <a:p>
            <a:pPr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words=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my_str.split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algn="just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words.sort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algn="just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words:</a:t>
            </a:r>
          </a:p>
          <a:p>
            <a:pPr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print(i)</a:t>
            </a:r>
          </a:p>
          <a:p>
            <a:pPr algn="just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buNone/>
            </a:pP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Version-1:</a:t>
            </a:r>
          </a:p>
          <a:p>
            <a:pPr algn="just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ori_str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"hi this is a python class"</a:t>
            </a:r>
          </a:p>
          <a:p>
            <a:pPr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words=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ori_str.split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algn="just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words.sort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algn="just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sor_str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=" ".join(words)</a:t>
            </a:r>
          </a:p>
          <a:p>
            <a:pPr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Orginal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:",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ori_str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print("After Sorting:",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sor_str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3A760-3D50-023A-BCA6-5AE328678228}"/>
              </a:ext>
            </a:extLst>
          </p:cNvPr>
          <p:cNvSpPr txBox="1"/>
          <p:nvPr/>
        </p:nvSpPr>
        <p:spPr>
          <a:xfrm>
            <a:off x="8277860" y="1162594"/>
            <a:ext cx="14960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  <a:p>
            <a:r>
              <a:rPr lang="en-US" dirty="0">
                <a:solidFill>
                  <a:srgbClr val="FF0000"/>
                </a:solidFill>
              </a:rPr>
              <a:t>class</a:t>
            </a:r>
          </a:p>
          <a:p>
            <a:r>
              <a:rPr lang="en-US" dirty="0">
                <a:solidFill>
                  <a:srgbClr val="FF0000"/>
                </a:solidFill>
              </a:rPr>
              <a:t>hi</a:t>
            </a:r>
          </a:p>
          <a:p>
            <a:r>
              <a:rPr lang="en-US" dirty="0">
                <a:solidFill>
                  <a:srgbClr val="FF0000"/>
                </a:solidFill>
              </a:rPr>
              <a:t>is</a:t>
            </a:r>
          </a:p>
          <a:p>
            <a:r>
              <a:rPr lang="en-US" dirty="0">
                <a:solidFill>
                  <a:srgbClr val="FF0000"/>
                </a:solidFill>
              </a:rPr>
              <a:t>python</a:t>
            </a:r>
          </a:p>
          <a:p>
            <a:r>
              <a:rPr lang="en-US" dirty="0">
                <a:solidFill>
                  <a:srgbClr val="FF0000"/>
                </a:solidFill>
              </a:rPr>
              <a:t>this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085166-725C-DC59-CE9A-BEDCB4E5B825}"/>
              </a:ext>
            </a:extLst>
          </p:cNvPr>
          <p:cNvSpPr txBox="1"/>
          <p:nvPr/>
        </p:nvSpPr>
        <p:spPr>
          <a:xfrm>
            <a:off x="7462520" y="5622965"/>
            <a:ext cx="4130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Orginal</a:t>
            </a:r>
            <a:r>
              <a:rPr lang="en-US" dirty="0">
                <a:solidFill>
                  <a:srgbClr val="FF0000"/>
                </a:solidFill>
              </a:rPr>
              <a:t>: hi this is a python class</a:t>
            </a:r>
          </a:p>
          <a:p>
            <a:r>
              <a:rPr lang="en-US" dirty="0">
                <a:solidFill>
                  <a:srgbClr val="FF0000"/>
                </a:solidFill>
              </a:rPr>
              <a:t>After Sorting: a class hi is python this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IN" sz="32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File Handling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045028"/>
            <a:ext cx="11416937" cy="5277395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solidFill>
                  <a:srgbClr val="222222"/>
                </a:solidFill>
                <a:effectLst/>
              </a:rPr>
              <a:t>A file is the collection of data stored on a disk in one unit identified by filename</a:t>
            </a:r>
          </a:p>
          <a:p>
            <a:pPr algn="just"/>
            <a:endParaRPr lang="en-US" sz="2000" dirty="0">
              <a:solidFill>
                <a:srgbClr val="222222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3200" dirty="0">
                <a:solidFill>
                  <a:srgbClr val="FF0000"/>
                </a:solidFill>
              </a:rPr>
              <a:t>Types of files</a:t>
            </a:r>
            <a:endParaRPr lang="en-US" sz="3200" dirty="0"/>
          </a:p>
          <a:p>
            <a:pPr algn="just"/>
            <a:endParaRPr lang="en-US" sz="3200" dirty="0"/>
          </a:p>
          <a:p>
            <a:pPr algn="just">
              <a:buNone/>
            </a:pPr>
            <a:endParaRPr lang="en-US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484BB5-C264-8D5E-F905-4B52E2CB3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865770"/>
              </p:ext>
            </p:extLst>
          </p:nvPr>
        </p:nvGraphicFramePr>
        <p:xfrm>
          <a:off x="187235" y="2777846"/>
          <a:ext cx="11923486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7718">
                  <a:extLst>
                    <a:ext uri="{9D8B030D-6E8A-4147-A177-3AD203B41FA5}">
                      <a16:colId xmlns:a16="http://schemas.microsoft.com/office/drawing/2014/main" val="2779714251"/>
                    </a:ext>
                  </a:extLst>
                </a:gridCol>
                <a:gridCol w="7045768">
                  <a:extLst>
                    <a:ext uri="{9D8B030D-6E8A-4147-A177-3AD203B41FA5}">
                      <a16:colId xmlns:a16="http://schemas.microsoft.com/office/drawing/2014/main" val="292386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Text files</a:t>
                      </a:r>
                      <a:endParaRPr lang="en-IN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Binary files</a:t>
                      </a:r>
                      <a:endParaRPr lang="en-IN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31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200" dirty="0"/>
                        <a:t>Text files are structured as a sequence of lines, where each line includes a sequence of characters.</a:t>
                      </a:r>
                    </a:p>
                    <a:p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Binary" files are any files where the format isn't made up of readable characters. </a:t>
                      </a:r>
                    </a:p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Binary files can only be processed by an application that know or understand the file’s format.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625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/>
                        <a:t>Web standards: </a:t>
                      </a:r>
                      <a:r>
                        <a:rPr lang="en-US" sz="2200" dirty="0">
                          <a:hlinkClick r:id="rId3" tooltip="Wikipedia: HTML"/>
                        </a:rPr>
                        <a:t>html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4" tooltip="Wikipedia: XML"/>
                        </a:rPr>
                        <a:t>xml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 err="1">
                          <a:hlinkClick r:id="rId5" tooltip="Wikipedia: Cascading Style Sheets"/>
                        </a:rPr>
                        <a:t>css</a:t>
                      </a:r>
                      <a:r>
                        <a:rPr lang="en-US" sz="2200" dirty="0"/>
                        <a:t>,  ...</a:t>
                      </a:r>
                    </a:p>
                    <a:p>
                      <a:pPr algn="just">
                        <a:buNone/>
                      </a:pPr>
                      <a:r>
                        <a:rPr lang="en-US" sz="2200" dirty="0"/>
                        <a:t>Source code: </a:t>
                      </a:r>
                      <a:r>
                        <a:rPr lang="en-US" sz="2200" dirty="0">
                          <a:hlinkClick r:id="rId6" tooltip="Wikipedia: C (programming language)"/>
                        </a:rPr>
                        <a:t>c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 err="1">
                          <a:hlinkClick r:id="rId7" tooltip="Wikipedia: C++"/>
                        </a:rPr>
                        <a:t>cpp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8" tooltip="Wikipedia: Java (programming language)"/>
                        </a:rPr>
                        <a:t>java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9" tooltip="Wikipedia: Perl"/>
                        </a:rPr>
                        <a:t>pl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10" tooltip="Wikipedia: PHP"/>
                        </a:rPr>
                        <a:t>php</a:t>
                      </a:r>
                      <a:r>
                        <a:rPr lang="en-US" sz="2200" dirty="0"/>
                        <a:t>, , ...</a:t>
                      </a:r>
                    </a:p>
                    <a:p>
                      <a:pPr algn="just">
                        <a:buNone/>
                      </a:pPr>
                      <a:r>
                        <a:rPr lang="en-US" sz="2200" dirty="0"/>
                        <a:t>Documents: </a:t>
                      </a:r>
                      <a:r>
                        <a:rPr lang="en-US" sz="2200" dirty="0">
                          <a:hlinkClick r:id="rId11" tooltip="Wikipedia: Text file"/>
                        </a:rPr>
                        <a:t>txt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 err="1">
                          <a:hlinkClick r:id="rId12" tooltip="Wikipedia: TeX"/>
                        </a:rPr>
                        <a:t>tex</a:t>
                      </a:r>
                      <a:r>
                        <a:rPr lang="en-US" sz="2200" dirty="0" err="1"/>
                        <a:t>,</a:t>
                      </a:r>
                      <a:r>
                        <a:rPr lang="en-US" sz="2200" dirty="0" err="1">
                          <a:hlinkClick r:id="rId13" tooltip="Wikipedia: Rich Text Format"/>
                        </a:rPr>
                        <a:t>rtf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 err="1">
                          <a:hlinkClick r:id="rId14" tooltip="Wikipedia: PostScript"/>
                        </a:rPr>
                        <a:t>ps</a:t>
                      </a:r>
                      <a:r>
                        <a:rPr lang="en-US" sz="2200" dirty="0"/>
                        <a:t>, ...</a:t>
                      </a:r>
                    </a:p>
                    <a:p>
                      <a:pPr algn="just">
                        <a:buNone/>
                      </a:pPr>
                      <a:r>
                        <a:rPr lang="en-US" sz="2200" dirty="0"/>
                        <a:t>Tabular data: </a:t>
                      </a:r>
                      <a:r>
                        <a:rPr lang="en-US" sz="2200" dirty="0">
                          <a:hlinkClick r:id="rId15" tooltip="Wikipedia: Comma-separated values"/>
                        </a:rPr>
                        <a:t>csv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 err="1">
                          <a:hlinkClick r:id="rId16" tooltip="Wikipedia: Tab-separated values"/>
                        </a:rPr>
                        <a:t>tsv</a:t>
                      </a:r>
                      <a:r>
                        <a:rPr lang="en-US" sz="2200" dirty="0"/>
                        <a:t>,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/>
                        <a:t>Common extensions that are binary file formats:</a:t>
                      </a:r>
                    </a:p>
                    <a:p>
                      <a:pPr algn="just">
                        <a:buNone/>
                      </a:pPr>
                      <a:r>
                        <a:rPr lang="en-US" sz="2200" dirty="0"/>
                        <a:t>Images: </a:t>
                      </a:r>
                      <a:r>
                        <a:rPr lang="en-US" sz="2200" dirty="0">
                          <a:hlinkClick r:id="rId17" tooltip="Wikipedia: JPEG"/>
                        </a:rPr>
                        <a:t>jpg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 err="1">
                          <a:hlinkClick r:id="rId18" tooltip="Wikipedia: Portable Network Graphics"/>
                        </a:rPr>
                        <a:t>png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19" tooltip="Wikipedia: GIF"/>
                        </a:rPr>
                        <a:t>gif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20" tooltip="Wikipedia: BMP file format"/>
                        </a:rPr>
                        <a:t>bmp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21" tooltip="Wikipedia: Tagged Image File Format"/>
                        </a:rPr>
                        <a:t>tiff</a:t>
                      </a:r>
                      <a:r>
                        <a:rPr lang="en-US" sz="2200" dirty="0"/>
                        <a:t>,  ...</a:t>
                      </a:r>
                    </a:p>
                    <a:p>
                      <a:pPr algn="just">
                        <a:buNone/>
                      </a:pPr>
                      <a:r>
                        <a:rPr lang="en-US" sz="2200" dirty="0"/>
                        <a:t>Videos: </a:t>
                      </a:r>
                      <a:r>
                        <a:rPr lang="en-US" sz="2200" dirty="0">
                          <a:hlinkClick r:id="rId22" tooltip="Wikipedia: MPEG-4 Part 14"/>
                        </a:rPr>
                        <a:t>mp4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 err="1">
                          <a:hlinkClick r:id="rId23" tooltip="Wikipedia: Audio Video Interleave"/>
                        </a:rPr>
                        <a:t>avi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24" tooltip="Wikipedia: QuickTime File Format"/>
                        </a:rPr>
                        <a:t>mov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25" tooltip="Wikipedia: MPEG-1"/>
                        </a:rPr>
                        <a:t>mpg</a:t>
                      </a:r>
                      <a:r>
                        <a:rPr lang="en-US" sz="2200" dirty="0"/>
                        <a:t>, ...</a:t>
                      </a:r>
                    </a:p>
                    <a:p>
                      <a:pPr algn="just">
                        <a:buNone/>
                      </a:pPr>
                      <a:r>
                        <a:rPr lang="en-US" sz="2200" dirty="0"/>
                        <a:t>Audio: </a:t>
                      </a:r>
                      <a:r>
                        <a:rPr lang="en-US" sz="2200" dirty="0">
                          <a:hlinkClick r:id="rId26" tooltip="Wikipedia: MP3"/>
                        </a:rPr>
                        <a:t>mp3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27" tooltip="Wikipedia: WAV"/>
                        </a:rPr>
                        <a:t>wav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 err="1">
                          <a:hlinkClick r:id="rId28" tooltip="Wikipedia: Windows Media Audio"/>
                        </a:rPr>
                        <a:t>wma</a:t>
                      </a:r>
                      <a:r>
                        <a:rPr lang="en-US" sz="2200" dirty="0"/>
                        <a:t>, ...</a:t>
                      </a:r>
                    </a:p>
                    <a:p>
                      <a:pPr algn="just">
                        <a:buNone/>
                      </a:pPr>
                      <a:r>
                        <a:rPr lang="en-US" sz="2200" dirty="0"/>
                        <a:t>Archive: </a:t>
                      </a:r>
                      <a:r>
                        <a:rPr lang="en-US" sz="2200" dirty="0">
                          <a:hlinkClick r:id="rId29" tooltip="Wikipedia: Zip (file format)"/>
                        </a:rPr>
                        <a:t>zip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 err="1">
                          <a:hlinkClick r:id="rId30" tooltip="Wikipedia: RAR (file format)"/>
                        </a:rPr>
                        <a:t>rar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31" tooltip="Wikipedia: 7z"/>
                        </a:rPr>
                        <a:t>7z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32" tooltip="Wikipedia: tar (computing)"/>
                        </a:rPr>
                        <a:t>tar</a:t>
                      </a:r>
                      <a:r>
                        <a:rPr lang="en-US" sz="2200" dirty="0"/>
                        <a:t>, ...</a:t>
                      </a:r>
                    </a:p>
                    <a:p>
                      <a:pPr algn="just">
                        <a:buNone/>
                      </a:pPr>
                      <a:r>
                        <a:rPr lang="en-US" sz="2200" dirty="0"/>
                        <a:t>Executable: </a:t>
                      </a:r>
                      <a:r>
                        <a:rPr lang="en-US" sz="2200" dirty="0">
                          <a:hlinkClick r:id="rId33" tooltip="Wikipedia: .exe"/>
                        </a:rPr>
                        <a:t>exe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 err="1">
                          <a:hlinkClick r:id="rId34" tooltip="Wikipedia: Dynamic-link library"/>
                        </a:rPr>
                        <a:t>dll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35" tooltip="Wikipedia: Library (computing) - Shared libraries"/>
                        </a:rPr>
                        <a:t>so</a:t>
                      </a:r>
                      <a:r>
                        <a:rPr lang="en-US" sz="2200" dirty="0"/>
                        <a:t>, </a:t>
                      </a:r>
                      <a:r>
                        <a:rPr lang="en-US" sz="2200" dirty="0">
                          <a:hlinkClick r:id="rId36" tooltip="Wikipedia: Java class file"/>
                        </a:rPr>
                        <a:t>class</a:t>
                      </a:r>
                      <a:r>
                        <a:rPr lang="en-US" sz="2200" dirty="0"/>
                        <a:t>, 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70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941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marL="0" indent="0" algn="l" rtl="0" fontAlgn="base">
              <a:buNone/>
            </a:pPr>
            <a:r>
              <a:rPr lang="en-US" sz="3200" b="0" i="0" dirty="0">
                <a:solidFill>
                  <a:srgbClr val="FF0000"/>
                </a:solidFill>
                <a:effectLst/>
                <a:latin typeface="Nunito" pitchFamily="2" charset="0"/>
              </a:rPr>
              <a:t>file attributes: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87829" y="1045028"/>
            <a:ext cx="11416937" cy="5277395"/>
          </a:xfrm>
        </p:spPr>
        <p:txBody>
          <a:bodyPr>
            <a:normAutofit/>
          </a:bodyPr>
          <a:lstStyle/>
          <a:p>
            <a:pPr algn="just" fontAlgn="base">
              <a:buFont typeface="+mj-lt"/>
              <a:buAutoNum type="arabicPeriod"/>
            </a:pPr>
            <a:r>
              <a:rPr lang="en-US" sz="2200" b="1" i="0" dirty="0">
                <a:effectLst/>
              </a:rPr>
              <a:t>Name:</a:t>
            </a:r>
            <a:r>
              <a:rPr lang="en-US" sz="2200" b="0" i="0" dirty="0">
                <a:effectLst/>
              </a:rPr>
              <a:t> File name is the name given to the file. A name is usually a string of characters.</a:t>
            </a:r>
          </a:p>
          <a:p>
            <a:pPr algn="just" fontAlgn="base">
              <a:buFont typeface="+mj-lt"/>
              <a:buAutoNum type="arabicPeriod" startAt="2"/>
            </a:pPr>
            <a:r>
              <a:rPr lang="en-US" sz="2200" b="1" i="0" dirty="0">
                <a:effectLst/>
              </a:rPr>
              <a:t>Identifier:</a:t>
            </a:r>
            <a:r>
              <a:rPr lang="en-US" sz="2200" b="0" i="0" dirty="0">
                <a:effectLst/>
              </a:rPr>
              <a:t> Identifier is a unique number for a file. It identifies files within the file system. It is not readable to us, unlike file names.</a:t>
            </a:r>
          </a:p>
          <a:p>
            <a:pPr algn="just" fontAlgn="base">
              <a:buFont typeface="+mj-lt"/>
              <a:buAutoNum type="arabicPeriod" startAt="3"/>
            </a:pPr>
            <a:r>
              <a:rPr lang="en-US" sz="2200" b="1" i="0" dirty="0">
                <a:effectLst/>
              </a:rPr>
              <a:t>Type:</a:t>
            </a:r>
            <a:r>
              <a:rPr lang="en-US" sz="2200" b="0" i="0" dirty="0">
                <a:effectLst/>
              </a:rPr>
              <a:t> Type is another attribute of a file which specifies the type of file such as archive file (.zip), source code file (.c, .java), .docx file, .txt file, etc.</a:t>
            </a:r>
          </a:p>
          <a:p>
            <a:pPr algn="just" fontAlgn="base">
              <a:buFont typeface="+mj-lt"/>
              <a:buAutoNum type="arabicPeriod" startAt="4"/>
            </a:pPr>
            <a:r>
              <a:rPr lang="en-US" sz="2200" b="1" i="0" dirty="0">
                <a:effectLst/>
              </a:rPr>
              <a:t>Location:</a:t>
            </a:r>
            <a:r>
              <a:rPr lang="en-US" sz="2200" b="0" i="0" dirty="0">
                <a:effectLst/>
              </a:rPr>
              <a:t> Specifies the location of the file on the device (The directory path). This attribute is a pointer to a device.</a:t>
            </a:r>
          </a:p>
          <a:p>
            <a:pPr algn="just" fontAlgn="base">
              <a:buFont typeface="+mj-lt"/>
              <a:buAutoNum type="arabicPeriod" startAt="5"/>
            </a:pPr>
            <a:r>
              <a:rPr lang="en-US" sz="2200" b="1" i="0" dirty="0">
                <a:effectLst/>
              </a:rPr>
              <a:t>Size:</a:t>
            </a:r>
            <a:r>
              <a:rPr lang="en-US" sz="2200" b="0" i="0" dirty="0">
                <a:effectLst/>
              </a:rPr>
              <a:t> Specifies the current size of the file (in </a:t>
            </a:r>
            <a:r>
              <a:rPr lang="en-US" sz="2200" b="0" i="0" dirty="0" err="1">
                <a:effectLst/>
              </a:rPr>
              <a:t>Kb</a:t>
            </a:r>
            <a:r>
              <a:rPr lang="en-US" sz="2200" b="0" i="0" dirty="0">
                <a:effectLst/>
              </a:rPr>
              <a:t>, Mb, Gb, etc.) and possibly the maximum allowed size of the file.</a:t>
            </a:r>
          </a:p>
          <a:p>
            <a:pPr algn="just" fontAlgn="base">
              <a:buFont typeface="+mj-lt"/>
              <a:buAutoNum type="arabicPeriod" startAt="6"/>
            </a:pPr>
            <a:r>
              <a:rPr lang="en-US" sz="2200" b="1" i="0" dirty="0">
                <a:effectLst/>
              </a:rPr>
              <a:t>Protection: </a:t>
            </a:r>
            <a:r>
              <a:rPr lang="en-US" sz="2200" b="0" i="0" dirty="0">
                <a:effectLst/>
              </a:rPr>
              <a:t>Specifies information about Access control (Permissions about Who can read, edit, write, and execute the file.) It provides security to sensitive and private information.</a:t>
            </a:r>
          </a:p>
          <a:p>
            <a:pPr algn="just" fontAlgn="base">
              <a:buFont typeface="+mj-lt"/>
              <a:buAutoNum type="arabicPeriod" startAt="7"/>
            </a:pPr>
            <a:r>
              <a:rPr lang="en-US" sz="2200" b="1" i="0" dirty="0">
                <a:effectLst/>
              </a:rPr>
              <a:t>Time, date, and user identification:</a:t>
            </a:r>
            <a:r>
              <a:rPr lang="en-US" sz="2200" b="0" i="0" dirty="0">
                <a:effectLst/>
              </a:rPr>
              <a:t> This information tells us about the date and time on which the file was created, last modified, created and modified by which user, etc.</a:t>
            </a:r>
          </a:p>
          <a:p>
            <a:pPr algn="just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16400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chemeClr val="accent6"/>
                </a:solidFill>
                <a:effectLst/>
              </a:rPr>
              <a:t>File I/O-</a:t>
            </a:r>
            <a:r>
              <a:rPr lang="en-IN" sz="3600" dirty="0">
                <a:solidFill>
                  <a:srgbClr val="FF0000"/>
                </a:solidFill>
                <a:effectLst/>
              </a:rPr>
              <a:t>Opening and Closing files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5327877"/>
          </a:xfrm>
        </p:spPr>
        <p:txBody>
          <a:bodyPr>
            <a:normAutofit lnSpcReduction="10000"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Python, we use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open()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method to open files. </a:t>
            </a:r>
          </a:p>
          <a:p>
            <a:pPr lvl="0" algn="just"/>
            <a:r>
              <a:rPr lang="en-US" sz="2400" dirty="0">
                <a:solidFill>
                  <a:srgbClr val="C00000"/>
                </a:solidFill>
                <a:ea typeface="Arial" charset="0"/>
                <a:cs typeface="Arial" charset="0"/>
                <a:sym typeface="Cabin"/>
              </a:rPr>
              <a:t>open() </a:t>
            </a:r>
            <a:r>
              <a:rPr lang="en-US" sz="2400" dirty="0">
                <a:ea typeface="Arial" charset="0"/>
                <a:cs typeface="Arial" charset="0"/>
                <a:sym typeface="Cabin"/>
              </a:rPr>
              <a:t>returns a </a:t>
            </a:r>
            <a:r>
              <a:rPr lang="en-US" sz="2400" dirty="0">
                <a:ea typeface="Arial"/>
                <a:cs typeface="Arial"/>
                <a:sym typeface="Arial"/>
              </a:rPr>
              <a:t>“</a:t>
            </a:r>
            <a:r>
              <a:rPr lang="en-US" sz="2400" dirty="0">
                <a:solidFill>
                  <a:srgbClr val="C00000"/>
                </a:solidFill>
                <a:ea typeface="Arial" charset="0"/>
                <a:cs typeface="Arial" charset="0"/>
                <a:sym typeface="Cabin"/>
              </a:rPr>
              <a:t>file handle/pointer</a:t>
            </a:r>
            <a:r>
              <a:rPr lang="en-US" sz="2400" dirty="0">
                <a:ea typeface="Arial"/>
                <a:cs typeface="Arial"/>
                <a:sym typeface="Arial"/>
              </a:rPr>
              <a:t>”</a:t>
            </a:r>
            <a:r>
              <a:rPr lang="en-US" sz="2400" dirty="0">
                <a:ea typeface="Arial" charset="0"/>
                <a:cs typeface="Arial" charset="0"/>
                <a:sym typeface="Cabin"/>
              </a:rPr>
              <a:t> is a variable used to perform operations on the file.</a:t>
            </a:r>
          </a:p>
          <a:p>
            <a:pPr lvl="0" algn="just"/>
            <a:r>
              <a:rPr lang="en-US" sz="2400" i="0" dirty="0">
                <a:effectLst/>
              </a:rPr>
              <a:t>A file handle or pointer denotes the </a:t>
            </a:r>
            <a:r>
              <a:rPr lang="en-US" sz="2400" i="0" dirty="0">
                <a:solidFill>
                  <a:srgbClr val="C00000"/>
                </a:solidFill>
                <a:effectLst/>
              </a:rPr>
              <a:t>position</a:t>
            </a:r>
            <a:r>
              <a:rPr lang="en-US" sz="2400" i="0" dirty="0">
                <a:effectLst/>
              </a:rPr>
              <a:t> from which the </a:t>
            </a:r>
            <a:r>
              <a:rPr lang="en-US" sz="2400" i="0" dirty="0">
                <a:solidFill>
                  <a:srgbClr val="C00000"/>
                </a:solidFill>
                <a:effectLst/>
              </a:rPr>
              <a:t>file contents </a:t>
            </a:r>
            <a:r>
              <a:rPr lang="en-US" sz="2400" i="0" dirty="0">
                <a:effectLst/>
              </a:rPr>
              <a:t>will be </a:t>
            </a:r>
            <a:r>
              <a:rPr lang="en-US" sz="2400" i="0" dirty="0">
                <a:solidFill>
                  <a:srgbClr val="C00000"/>
                </a:solidFill>
                <a:effectLst/>
              </a:rPr>
              <a:t>read or written</a:t>
            </a:r>
            <a:r>
              <a:rPr lang="en-US" sz="2400" i="0" dirty="0">
                <a:effectLst/>
              </a:rPr>
              <a:t>. </a:t>
            </a:r>
          </a:p>
          <a:p>
            <a:pPr lvl="0" algn="just"/>
            <a:r>
              <a:rPr lang="en-US" sz="2400" dirty="0"/>
              <a:t>When file is opened, </a:t>
            </a:r>
            <a:r>
              <a:rPr lang="en-US" sz="2400" i="0" dirty="0">
                <a:effectLst/>
              </a:rPr>
              <a:t>file pointer points to the </a:t>
            </a:r>
            <a:r>
              <a:rPr lang="en-US" sz="2400" i="0" dirty="0">
                <a:solidFill>
                  <a:srgbClr val="C00000"/>
                </a:solidFill>
                <a:effectLst/>
              </a:rPr>
              <a:t>beginning of the file</a:t>
            </a:r>
            <a:r>
              <a:rPr lang="en-US" sz="2400" i="0" dirty="0">
                <a:solidFill>
                  <a:srgbClr val="222222"/>
                </a:solidFill>
                <a:effectLst/>
              </a:rPr>
              <a:t>.</a:t>
            </a:r>
          </a:p>
          <a:p>
            <a:pPr marL="0" lvl="0" indent="0" algn="just">
              <a:buNone/>
            </a:pPr>
            <a:endParaRPr lang="en-US" sz="2400" dirty="0">
              <a:ea typeface="Arial" charset="0"/>
              <a:cs typeface="Arial" charset="0"/>
              <a:sym typeface="Cabin"/>
            </a:endParaRPr>
          </a:p>
          <a:p>
            <a:pPr lvl="0" algn="just">
              <a:buNone/>
            </a:pPr>
            <a:r>
              <a:rPr lang="en-US" sz="2400" dirty="0">
                <a:solidFill>
                  <a:srgbClr val="FF0000"/>
                </a:solidFill>
                <a:ea typeface="Arial" charset="0"/>
                <a:cs typeface="Arial" charset="0"/>
                <a:sym typeface="Cabin"/>
              </a:rPr>
              <a:t>Syntax:    </a:t>
            </a:r>
            <a:r>
              <a:rPr lang="en-US" sz="2400" dirty="0">
                <a:ea typeface="Arial" charset="0"/>
                <a:cs typeface="Arial" charset="0"/>
                <a:sym typeface="Cabin"/>
              </a:rPr>
              <a:t>f= </a:t>
            </a:r>
            <a:r>
              <a:rPr lang="en-US" sz="2400" dirty="0">
                <a:solidFill>
                  <a:srgbClr val="0070C0"/>
                </a:solidFill>
                <a:ea typeface="Arial" charset="0"/>
                <a:cs typeface="Arial" charset="0"/>
                <a:sym typeface="Cabin"/>
              </a:rPr>
              <a:t>open</a:t>
            </a:r>
            <a:r>
              <a:rPr lang="en-US" sz="2400" dirty="0">
                <a:solidFill>
                  <a:srgbClr val="7030A0"/>
                </a:solidFill>
                <a:ea typeface="Arial" charset="0"/>
                <a:cs typeface="Arial" charset="0"/>
                <a:sym typeface="Cabin"/>
              </a:rPr>
              <a:t>(filename, mode)</a:t>
            </a:r>
          </a:p>
          <a:p>
            <a:pPr lvl="0" algn="just">
              <a:buNone/>
            </a:pPr>
            <a:endParaRPr lang="en-US" sz="2400" dirty="0">
              <a:ea typeface="Arial" charset="0"/>
              <a:cs typeface="Arial" charset="0"/>
              <a:sym typeface="Cabin"/>
            </a:endParaRPr>
          </a:p>
          <a:p>
            <a:pPr algn="just">
              <a:spcBef>
                <a:spcPts val="0"/>
              </a:spcBef>
            </a:pPr>
            <a:r>
              <a:rPr lang="en-US" sz="2400" dirty="0"/>
              <a:t>In mode, we specify whether we want to read 'r', write 'w' or append 'a' to the file.</a:t>
            </a:r>
          </a:p>
          <a:p>
            <a:pPr marL="0" indent="0"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492CC-4034-7909-FF74-0B9310C100E8}"/>
              </a:ext>
            </a:extLst>
          </p:cNvPr>
          <p:cNvSpPr txBox="1"/>
          <p:nvPr/>
        </p:nvSpPr>
        <p:spPr>
          <a:xfrm>
            <a:off x="838200" y="5806738"/>
            <a:ext cx="6263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 = 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"demofile.txt"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48711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chemeClr val="accent6"/>
                </a:solidFill>
                <a:effectLst/>
              </a:rPr>
              <a:t>File I/O-</a:t>
            </a:r>
            <a:r>
              <a:rPr lang="en-IN" sz="3600" dirty="0">
                <a:solidFill>
                  <a:srgbClr val="FF0000"/>
                </a:solidFill>
                <a:effectLst/>
              </a:rPr>
              <a:t>Opening and Closing files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53278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AA2B874-95BB-BDC2-207D-CF5757778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470546"/>
              </p:ext>
            </p:extLst>
          </p:nvPr>
        </p:nvGraphicFramePr>
        <p:xfrm>
          <a:off x="838200" y="849086"/>
          <a:ext cx="10845800" cy="5392408"/>
        </p:xfrm>
        <a:graphic>
          <a:graphicData uri="http://schemas.openxmlformats.org/drawingml/2006/table">
            <a:tbl>
              <a:tblPr/>
              <a:tblGrid>
                <a:gridCol w="1371750">
                  <a:extLst>
                    <a:ext uri="{9D8B030D-6E8A-4147-A177-3AD203B41FA5}">
                      <a16:colId xmlns:a16="http://schemas.microsoft.com/office/drawing/2014/main" val="3916220459"/>
                    </a:ext>
                  </a:extLst>
                </a:gridCol>
                <a:gridCol w="9474050">
                  <a:extLst>
                    <a:ext uri="{9D8B030D-6E8A-4147-A177-3AD203B41FA5}">
                      <a16:colId xmlns:a16="http://schemas.microsoft.com/office/drawing/2014/main" val="540609845"/>
                    </a:ext>
                  </a:extLst>
                </a:gridCol>
              </a:tblGrid>
              <a:tr h="581834">
                <a:tc>
                  <a:txBody>
                    <a:bodyPr/>
                    <a:lstStyle/>
                    <a:p>
                      <a:pPr algn="l"/>
                      <a:r>
                        <a:rPr lang="en-IN" sz="2400" b="0">
                          <a:solidFill>
                            <a:srgbClr val="C00000"/>
                          </a:solidFill>
                          <a:effectLst/>
                        </a:rPr>
                        <a:t>Mode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0" dirty="0">
                          <a:solidFill>
                            <a:srgbClr val="C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18388"/>
                  </a:ext>
                </a:extLst>
              </a:tr>
              <a:tr h="504586"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</a:rPr>
                        <a:t>r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Open a file for reading. (default)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936100"/>
                  </a:ext>
                </a:extLst>
              </a:tr>
              <a:tr h="706094"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</a:rPr>
                        <a:t>w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Open a file for writing. Creates a new file if it does not exist or truncates the file if it exists.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137687"/>
                  </a:ext>
                </a:extLst>
              </a:tr>
              <a:tr h="704603"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</a:rPr>
                        <a:t>x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Open a file for exclusive creation. If the file already exists, the operation fails.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926242"/>
                  </a:ext>
                </a:extLst>
              </a:tr>
              <a:tr h="963256"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</a:rPr>
                        <a:t>a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Open a file for appending at the end of the file without overwriting it. Creates a new file if it does not exist.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124616"/>
                  </a:ext>
                </a:extLst>
              </a:tr>
              <a:tr h="504586"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</a:rPr>
                        <a:t>t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</a:rPr>
                        <a:t>Open in text mode. (default)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025546"/>
                  </a:ext>
                </a:extLst>
              </a:tr>
              <a:tr h="503098"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</a:rPr>
                        <a:t>b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</a:rPr>
                        <a:t>Open in binary mode.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361562"/>
                  </a:ext>
                </a:extLst>
              </a:tr>
              <a:tr h="702032">
                <a:tc>
                  <a:txBody>
                    <a:bodyPr/>
                    <a:lstStyle/>
                    <a:p>
                      <a:r>
                        <a:rPr lang="en-IN" sz="2400">
                          <a:effectLst/>
                        </a:rPr>
                        <a:t>+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Open a file for updating (reading and writing)</a:t>
                      </a:r>
                    </a:p>
                  </a:txBody>
                  <a:tcPr marL="84987" marR="84987" marT="42494" marB="42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525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048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CD9DEF-C3AA-1B67-9103-9067DDA81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1582994"/>
            <a:ext cx="11198941" cy="40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7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chemeClr val="accent6"/>
                </a:solidFill>
                <a:effectLst/>
              </a:rPr>
              <a:t>File I/O-</a:t>
            </a:r>
            <a:r>
              <a:rPr lang="en-IN" sz="3600" dirty="0">
                <a:solidFill>
                  <a:srgbClr val="FF0000"/>
                </a:solidFill>
                <a:effectLst/>
              </a:rPr>
              <a:t>Opening and Closing files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442720"/>
            <a:ext cx="10515600" cy="47342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0" i="0" dirty="0">
                <a:effectLst/>
                <a:latin typeface="euclid_circular_a"/>
              </a:rPr>
              <a:t>close(): Closes an opened file.</a:t>
            </a:r>
          </a:p>
          <a:p>
            <a:pPr marL="0" indent="0">
              <a:buNone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 = </a:t>
            </a:r>
            <a:r>
              <a:rPr lang="en-IN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"demofile.txt"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2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b="0" i="0" dirty="0">
                <a:effectLst/>
                <a:latin typeface="euclid_circular_a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952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rgbClr val="FF0000"/>
                </a:solidFill>
                <a:effectLst/>
              </a:rPr>
              <a:t>Write Operations: </a:t>
            </a:r>
            <a:r>
              <a:rPr lang="en-IN" sz="3600" b="1" dirty="0">
                <a:solidFill>
                  <a:srgbClr val="00B050"/>
                </a:solidFill>
                <a:effectLst/>
              </a:rPr>
              <a:t>write()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237109"/>
            <a:ext cx="10515600" cy="4939854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US" sz="2400" dirty="0"/>
              <a:t>The </a:t>
            </a:r>
            <a:r>
              <a:rPr lang="en-US" sz="2400" i="1" dirty="0">
                <a:solidFill>
                  <a:srgbClr val="FF0000"/>
                </a:solidFill>
              </a:rPr>
              <a:t>write()</a:t>
            </a:r>
            <a:r>
              <a:rPr lang="en-US" sz="2400" dirty="0">
                <a:solidFill>
                  <a:srgbClr val="FF0000"/>
                </a:solidFill>
              </a:rPr>
              <a:t> </a:t>
            </a:r>
            <a:r>
              <a:rPr lang="en-US" sz="2400" dirty="0"/>
              <a:t>function writes any string to an open file.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To write to an existing file, you must add a parameter to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open()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function: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"a"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- Append - will append to the end of the file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"w"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- Write - will overwrite any existing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Syntax : </a:t>
            </a:r>
            <a:r>
              <a:rPr lang="en-US" dirty="0" err="1"/>
              <a:t>filehandle.write</a:t>
            </a:r>
            <a:r>
              <a:rPr lang="en-US" dirty="0"/>
              <a:t>(string);</a:t>
            </a:r>
          </a:p>
          <a:p>
            <a:pPr algn="just"/>
            <a:r>
              <a:rPr lang="en-US" dirty="0"/>
              <a:t>Here, string parameter is the content to be written into the opened file.</a:t>
            </a:r>
          </a:p>
          <a:p>
            <a:pPr marL="0" indent="0" algn="just">
              <a:buNone/>
            </a:pPr>
            <a:endParaRPr lang="en-US" dirty="0">
              <a:latin typeface="Calibri (Body)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2091510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152951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rgbClr val="FF0000"/>
                </a:solidFill>
                <a:effectLst/>
              </a:rPr>
              <a:t>Write Operations: </a:t>
            </a:r>
            <a:r>
              <a:rPr lang="en-IN" sz="3600" b="1" dirty="0">
                <a:solidFill>
                  <a:srgbClr val="00B050"/>
                </a:solidFill>
                <a:effectLst/>
              </a:rPr>
              <a:t>write()</a:t>
            </a:r>
            <a:endParaRPr lang="en-US" sz="3600" b="1" dirty="0">
              <a:solidFill>
                <a:srgbClr val="00B05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198" y="1022419"/>
            <a:ext cx="10515600" cy="5327877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Ex: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Open the file “first.txt" and overwrite the content</a:t>
            </a:r>
          </a:p>
          <a:p>
            <a:pPr algn="just">
              <a:buNone/>
            </a:pPr>
            <a:endParaRPr lang="en-US" sz="2400" b="0" i="0" dirty="0">
              <a:solidFill>
                <a:srgbClr val="FF0000"/>
              </a:solidFill>
              <a:effectLst/>
              <a:latin typeface="Verdana" panose="020B0604030504040204" pitchFamily="34" charset="0"/>
            </a:endParaRPr>
          </a:p>
          <a:p>
            <a:pPr algn="just">
              <a:buNone/>
            </a:pPr>
            <a:r>
              <a:rPr lang="en-US" sz="2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open('first.txt' , 'w')</a:t>
            </a:r>
          </a:p>
          <a:p>
            <a:pPr algn="just">
              <a:buNone/>
            </a:pPr>
            <a:r>
              <a:rPr lang="en-US" sz="2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 = "Hello Welcome to Python class"</a:t>
            </a:r>
          </a:p>
          <a:p>
            <a:pPr algn="just">
              <a:buNone/>
            </a:pPr>
            <a:r>
              <a:rPr lang="en-US" sz="2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(str)</a:t>
            </a:r>
          </a:p>
          <a:p>
            <a:pPr algn="just">
              <a:buNone/>
            </a:pPr>
            <a:r>
              <a:rPr lang="en-US" sz="2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algn="just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Ex: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Open the file “first.txt" and append the content</a:t>
            </a:r>
          </a:p>
          <a:p>
            <a:pPr algn="just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open('first.txt' , 'a')</a:t>
            </a:r>
          </a:p>
          <a:p>
            <a:pPr algn="just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 = " File Handling"</a:t>
            </a:r>
          </a:p>
          <a:p>
            <a:pPr algn="just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(str)</a:t>
            </a:r>
          </a:p>
          <a:p>
            <a:pPr algn="just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1DA86-C7DF-9F01-7B51-F7BEE51040CB}"/>
              </a:ext>
            </a:extLst>
          </p:cNvPr>
          <p:cNvSpPr txBox="1"/>
          <p:nvPr/>
        </p:nvSpPr>
        <p:spPr>
          <a:xfrm>
            <a:off x="8102600" y="2451854"/>
            <a:ext cx="3642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u="sng" dirty="0">
                <a:solidFill>
                  <a:srgbClr val="FF0000"/>
                </a:solidFill>
              </a:rPr>
              <a:t>first.txt</a:t>
            </a:r>
          </a:p>
          <a:p>
            <a:r>
              <a:rPr lang="en-IN" sz="2000" dirty="0">
                <a:solidFill>
                  <a:srgbClr val="00B050"/>
                </a:solidFill>
              </a:rPr>
              <a:t>Hello Welcome to Python class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8FB46-F05E-16D4-E68A-D857B332D019}"/>
              </a:ext>
            </a:extLst>
          </p:cNvPr>
          <p:cNvSpPr txBox="1"/>
          <p:nvPr/>
        </p:nvSpPr>
        <p:spPr>
          <a:xfrm>
            <a:off x="7330439" y="5301193"/>
            <a:ext cx="4861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u="sng" dirty="0">
                <a:solidFill>
                  <a:srgbClr val="FF0000"/>
                </a:solidFill>
              </a:rPr>
              <a:t>first.txt</a:t>
            </a:r>
          </a:p>
          <a:p>
            <a:r>
              <a:rPr lang="en-IN" sz="2000" dirty="0">
                <a:solidFill>
                  <a:srgbClr val="00B050"/>
                </a:solidFill>
              </a:rPr>
              <a:t>Hello Welcome to Python class File Handling</a:t>
            </a:r>
          </a:p>
        </p:txBody>
      </p:sp>
    </p:spTree>
    <p:extLst>
      <p:ext uri="{BB962C8B-B14F-4D97-AF65-F5344CB8AC3E}">
        <p14:creationId xmlns:p14="http://schemas.microsoft.com/office/powerpoint/2010/main" val="35509878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IN" sz="3600" b="1" i="0" dirty="0">
                <a:solidFill>
                  <a:srgbClr val="FF0000"/>
                </a:solidFill>
                <a:effectLst/>
              </a:rPr>
              <a:t>Read </a:t>
            </a:r>
            <a:r>
              <a:rPr lang="en-IN" sz="3600" b="1" dirty="0">
                <a:solidFill>
                  <a:srgbClr val="FF0000"/>
                </a:solidFill>
                <a:effectLst/>
              </a:rPr>
              <a:t>Operations: </a:t>
            </a:r>
            <a:r>
              <a:rPr lang="en-IN" sz="3600" b="1" dirty="0">
                <a:solidFill>
                  <a:srgbClr val="00B050"/>
                </a:solidFill>
                <a:effectLst/>
              </a:rPr>
              <a:t>read()</a:t>
            </a:r>
            <a:endParaRPr lang="en-IN" sz="3600" b="1" i="0" dirty="0">
              <a:solidFill>
                <a:srgbClr val="00B050"/>
              </a:solidFill>
              <a:effectLst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199" y="1136469"/>
            <a:ext cx="11101252" cy="504049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 </a:t>
            </a:r>
            <a:r>
              <a:rPr lang="en-US" i="1" dirty="0">
                <a:solidFill>
                  <a:srgbClr val="C00000"/>
                </a:solidFill>
              </a:rPr>
              <a:t>read()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method reads a data from an open file.</a:t>
            </a:r>
          </a:p>
          <a:p>
            <a:pPr algn="just"/>
            <a:r>
              <a:rPr lang="en-US" dirty="0"/>
              <a:t>To read a file in Python, we must open the file in reading mode.</a:t>
            </a: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Syntax:  </a:t>
            </a:r>
            <a:r>
              <a:rPr lang="en-US" dirty="0" err="1"/>
              <a:t>filehandle.read</a:t>
            </a:r>
            <a:r>
              <a:rPr lang="en-US" dirty="0"/>
              <a:t>([count]);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BE550-AC98-693D-9440-1AA329874A41}"/>
              </a:ext>
            </a:extLst>
          </p:cNvPr>
          <p:cNvSpPr txBox="1"/>
          <p:nvPr/>
        </p:nvSpPr>
        <p:spPr>
          <a:xfrm>
            <a:off x="838199" y="2767280"/>
            <a:ext cx="6309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 'first.txt' , 'r’)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str1 =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print(str1)</a:t>
            </a:r>
          </a:p>
          <a:p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79913-71A0-84E3-8FC7-F7F6A1C216BD}"/>
              </a:ext>
            </a:extLst>
          </p:cNvPr>
          <p:cNvSpPr txBox="1"/>
          <p:nvPr/>
        </p:nvSpPr>
        <p:spPr>
          <a:xfrm>
            <a:off x="7594599" y="2858811"/>
            <a:ext cx="4861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O/P: Hello Welcome to Python class File Handling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C4611E-E71E-56E1-023E-BC27CF108E10}"/>
              </a:ext>
            </a:extLst>
          </p:cNvPr>
          <p:cNvSpPr txBox="1"/>
          <p:nvPr/>
        </p:nvSpPr>
        <p:spPr>
          <a:xfrm>
            <a:off x="756919" y="4429369"/>
            <a:ext cx="6309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u="sng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Read only Parts of the File: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8DCBB0-80AF-1FDF-0508-129ED786E424}"/>
              </a:ext>
            </a:extLst>
          </p:cNvPr>
          <p:cNvSpPr txBox="1"/>
          <p:nvPr/>
        </p:nvSpPr>
        <p:spPr>
          <a:xfrm>
            <a:off x="756919" y="4976634"/>
            <a:ext cx="4343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 'first.txt' , 'r')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str1 =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(5)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print(str1)</a:t>
            </a:r>
          </a:p>
          <a:p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7B8CF8-E6F3-B8E6-E5EE-0D79D9C7231B}"/>
              </a:ext>
            </a:extLst>
          </p:cNvPr>
          <p:cNvSpPr txBox="1"/>
          <p:nvPr/>
        </p:nvSpPr>
        <p:spPr>
          <a:xfrm>
            <a:off x="3591559" y="5576798"/>
            <a:ext cx="1254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O/P: Hello</a:t>
            </a:r>
          </a:p>
        </p:txBody>
      </p:sp>
    </p:spTree>
    <p:extLst>
      <p:ext uri="{BB962C8B-B14F-4D97-AF65-F5344CB8AC3E}">
        <p14:creationId xmlns:p14="http://schemas.microsoft.com/office/powerpoint/2010/main" val="26806629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b="1" i="0" dirty="0">
                <a:solidFill>
                  <a:srgbClr val="FF0000"/>
                </a:solidFill>
                <a:effectLst/>
              </a:rPr>
              <a:t>Read </a:t>
            </a:r>
            <a:r>
              <a:rPr lang="en-IN" sz="3600" b="1" dirty="0">
                <a:solidFill>
                  <a:srgbClr val="FF0000"/>
                </a:solidFill>
                <a:effectLst/>
              </a:rPr>
              <a:t>Operations: </a:t>
            </a:r>
            <a:r>
              <a:rPr lang="en-US" sz="3600" b="1" dirty="0" err="1">
                <a:solidFill>
                  <a:srgbClr val="00B050"/>
                </a:solidFill>
              </a:rPr>
              <a:t>readline</a:t>
            </a:r>
            <a:r>
              <a:rPr lang="en-US" sz="3600" b="1" dirty="0">
                <a:solidFill>
                  <a:srgbClr val="00B050"/>
                </a:solidFill>
              </a:rPr>
              <a:t>()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237109"/>
            <a:ext cx="10515600" cy="4939854"/>
          </a:xfrm>
        </p:spPr>
        <p:txBody>
          <a:bodyPr>
            <a:normAutofit/>
          </a:bodyPr>
          <a:lstStyle/>
          <a:p>
            <a:pPr algn="just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Using the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C0B24"/>
                </a:solidFill>
                <a:effectLst/>
              </a:rPr>
              <a:t>readline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C0B24"/>
                </a:solidFill>
                <a:effectLst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method, we can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read a file line by 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. </a:t>
            </a:r>
          </a:p>
          <a:p>
            <a:pPr algn="just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by default, this method reads the first line in the file.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algn="just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For example, If you want to read the first five lines from a text file, run a loop five times, and use the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C0B24"/>
                </a:solidFill>
                <a:effectLst/>
              </a:rPr>
              <a:t>readline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C0B24"/>
                </a:solidFill>
                <a:effectLst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method in the loop’s body. </a:t>
            </a:r>
          </a:p>
          <a:p>
            <a:pPr algn="just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Using this approach, we can read a specific number of lines.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algn="just"/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F9AC93-393C-B85E-5B52-BAC9724A99BA}"/>
              </a:ext>
            </a:extLst>
          </p:cNvPr>
          <p:cNvSpPr txBox="1"/>
          <p:nvPr/>
        </p:nvSpPr>
        <p:spPr>
          <a:xfrm>
            <a:off x="1122680" y="3585348"/>
            <a:ext cx="6334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>
                <a:solidFill>
                  <a:srgbClr val="FF0000"/>
                </a:solidFill>
              </a:rPr>
              <a:t>Reading First N lines From a File Using </a:t>
            </a:r>
            <a:r>
              <a:rPr lang="en-US" sz="2000" u="sng" dirty="0" err="1">
                <a:solidFill>
                  <a:srgbClr val="FF0000"/>
                </a:solidFill>
              </a:rPr>
              <a:t>readline</a:t>
            </a:r>
            <a:r>
              <a:rPr lang="en-US" sz="2000" u="sng" dirty="0">
                <a:solidFill>
                  <a:srgbClr val="FF0000"/>
                </a:solidFill>
              </a:rPr>
              <a:t>():</a:t>
            </a:r>
            <a:endParaRPr lang="en-IN" sz="2000" u="sng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65656A-28E1-B874-457F-99C330258689}"/>
              </a:ext>
            </a:extLst>
          </p:cNvPr>
          <p:cNvSpPr txBox="1"/>
          <p:nvPr/>
        </p:nvSpPr>
        <p:spPr>
          <a:xfrm>
            <a:off x="1122680" y="4261208"/>
            <a:ext cx="63093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 ‘crickter.txt' , 'r')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range(3):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f.readline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  <a:p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A69080-0254-3B0B-DA3D-2E90ACD6CD3B}"/>
              </a:ext>
            </a:extLst>
          </p:cNvPr>
          <p:cNvSpPr txBox="1"/>
          <p:nvPr/>
        </p:nvSpPr>
        <p:spPr>
          <a:xfrm>
            <a:off x="6733540" y="4808585"/>
            <a:ext cx="52857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O/P:</a:t>
            </a:r>
          </a:p>
          <a:p>
            <a:r>
              <a:rPr lang="en-US" sz="2000" dirty="0">
                <a:solidFill>
                  <a:srgbClr val="FF0000"/>
                </a:solidFill>
              </a:rPr>
              <a:t>Sachin</a:t>
            </a:r>
          </a:p>
          <a:p>
            <a:r>
              <a:rPr lang="en-US" sz="2000" dirty="0">
                <a:solidFill>
                  <a:srgbClr val="FF0000"/>
                </a:solidFill>
              </a:rPr>
              <a:t>Dravid</a:t>
            </a:r>
          </a:p>
          <a:p>
            <a:r>
              <a:rPr lang="en-US" sz="2000" dirty="0">
                <a:solidFill>
                  <a:srgbClr val="FF0000"/>
                </a:solidFill>
              </a:rPr>
              <a:t>Ganguly</a:t>
            </a:r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903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b="1" i="0" dirty="0">
                <a:solidFill>
                  <a:srgbClr val="FF0000"/>
                </a:solidFill>
                <a:effectLst/>
              </a:rPr>
              <a:t>Read </a:t>
            </a:r>
            <a:r>
              <a:rPr lang="en-IN" sz="3600" b="1" dirty="0">
                <a:solidFill>
                  <a:srgbClr val="FF0000"/>
                </a:solidFill>
                <a:effectLst/>
              </a:rPr>
              <a:t>Operations: </a:t>
            </a:r>
            <a:r>
              <a:rPr lang="en-US" sz="3600" b="1" dirty="0" err="1">
                <a:solidFill>
                  <a:srgbClr val="00B050"/>
                </a:solidFill>
              </a:rPr>
              <a:t>readlines</a:t>
            </a:r>
            <a:r>
              <a:rPr lang="en-US" sz="3600" b="1" dirty="0">
                <a:solidFill>
                  <a:srgbClr val="00B050"/>
                </a:solidFill>
              </a:rPr>
              <a:t>()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5327877"/>
          </a:xfrm>
        </p:spPr>
        <p:txBody>
          <a:bodyPr>
            <a:normAutofit/>
          </a:bodyPr>
          <a:lstStyle/>
          <a:p>
            <a:pPr algn="just"/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C0B24"/>
                </a:solidFill>
                <a:effectLst/>
              </a:rPr>
              <a:t>readlines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C0B24"/>
                </a:solidFill>
                <a:effectLst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 method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read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entire file contents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line by line into a 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rgbClr val="1E69DE"/>
                </a:solidFill>
                <a:effectLst/>
                <a:hlinkClick r:id="rId3"/>
              </a:rPr>
              <a:t>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algn="just"/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65656A-28E1-B874-457F-99C330258689}"/>
              </a:ext>
            </a:extLst>
          </p:cNvPr>
          <p:cNvSpPr txBox="1"/>
          <p:nvPr/>
        </p:nvSpPr>
        <p:spPr>
          <a:xfrm>
            <a:off x="936535" y="1489779"/>
            <a:ext cx="6309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 'crickter.txt' , 'r')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f.readlines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  <a:p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A69080-0254-3B0B-DA3D-2E90ACD6CD3B}"/>
              </a:ext>
            </a:extLst>
          </p:cNvPr>
          <p:cNvSpPr txBox="1"/>
          <p:nvPr/>
        </p:nvSpPr>
        <p:spPr>
          <a:xfrm>
            <a:off x="7245895" y="1579481"/>
            <a:ext cx="4946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O/P:</a:t>
            </a:r>
          </a:p>
          <a:p>
            <a:r>
              <a:rPr lang="en-US" dirty="0">
                <a:solidFill>
                  <a:srgbClr val="FF0000"/>
                </a:solidFill>
              </a:rPr>
              <a:t>['Sachin\n', 'Dravid\n', 'Ganguly\n', 'Laxman']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BB3B7-D73F-0A1C-576C-E0D05B66627D}"/>
              </a:ext>
            </a:extLst>
          </p:cNvPr>
          <p:cNvSpPr txBox="1"/>
          <p:nvPr/>
        </p:nvSpPr>
        <p:spPr>
          <a:xfrm>
            <a:off x="838200" y="2725366"/>
            <a:ext cx="6309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Inter-Bold"/>
              </a:rPr>
              <a:t>Reading </a:t>
            </a:r>
            <a:r>
              <a:rPr lang="en-US" b="1" dirty="0">
                <a:solidFill>
                  <a:srgbClr val="FF0000"/>
                </a:solidFill>
                <a:latin typeface="Inter-Bold"/>
              </a:rPr>
              <a:t>last</a:t>
            </a:r>
            <a:r>
              <a:rPr lang="en-US" b="1" i="0" dirty="0">
                <a:solidFill>
                  <a:srgbClr val="FF0000"/>
                </a:solidFill>
                <a:effectLst/>
                <a:latin typeface="Inter-Bold"/>
              </a:rPr>
              <a:t> N lines from a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C03463-942D-B190-0D12-F51BF1383AC1}"/>
              </a:ext>
            </a:extLst>
          </p:cNvPr>
          <p:cNvSpPr txBox="1"/>
          <p:nvPr/>
        </p:nvSpPr>
        <p:spPr>
          <a:xfrm>
            <a:off x="838200" y="3293483"/>
            <a:ext cx="63093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N=2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 'crickter.txt' , 'r')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f.readlines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()[N:])</a:t>
            </a:r>
          </a:p>
          <a:p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775B34-42C5-C573-2D20-58341BC380E2}"/>
              </a:ext>
            </a:extLst>
          </p:cNvPr>
          <p:cNvSpPr txBox="1"/>
          <p:nvPr/>
        </p:nvSpPr>
        <p:spPr>
          <a:xfrm>
            <a:off x="7381240" y="3602538"/>
            <a:ext cx="357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O/P:</a:t>
            </a:r>
          </a:p>
          <a:p>
            <a:r>
              <a:rPr lang="en-US" dirty="0">
                <a:solidFill>
                  <a:srgbClr val="FF0000"/>
                </a:solidFill>
              </a:rPr>
              <a:t>['Ganguly\n', 'Laxman']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9090C3-B2E8-88E3-EAFD-14A3F9B861EB}"/>
              </a:ext>
            </a:extLst>
          </p:cNvPr>
          <p:cNvSpPr txBox="1"/>
          <p:nvPr/>
        </p:nvSpPr>
        <p:spPr>
          <a:xfrm>
            <a:off x="746760" y="4667984"/>
            <a:ext cx="6309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solidFill>
                  <a:srgbClr val="FF0000"/>
                </a:solidFill>
              </a:rPr>
              <a:t>Reading File in Reverse Order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EAC956-DECA-891B-7027-F6140A094934}"/>
              </a:ext>
            </a:extLst>
          </p:cNvPr>
          <p:cNvSpPr txBox="1"/>
          <p:nvPr/>
        </p:nvSpPr>
        <p:spPr>
          <a:xfrm>
            <a:off x="746760" y="5211488"/>
            <a:ext cx="6309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 'crickter.txt' , 'r')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lines =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f.readlines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rev_lines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=reversed(lines)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rev_lines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print(i)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063686-11A8-E76A-5394-296181F83056}"/>
              </a:ext>
            </a:extLst>
          </p:cNvPr>
          <p:cNvSpPr txBox="1"/>
          <p:nvPr/>
        </p:nvSpPr>
        <p:spPr>
          <a:xfrm>
            <a:off x="7492275" y="5370012"/>
            <a:ext cx="44558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</a:t>
            </a:r>
          </a:p>
          <a:p>
            <a:r>
              <a:rPr lang="en-IN" dirty="0">
                <a:solidFill>
                  <a:srgbClr val="FF0000"/>
                </a:solidFill>
              </a:rPr>
              <a:t>Laxman</a:t>
            </a:r>
          </a:p>
          <a:p>
            <a:r>
              <a:rPr lang="en-IN" dirty="0">
                <a:solidFill>
                  <a:srgbClr val="FF0000"/>
                </a:solidFill>
              </a:rPr>
              <a:t>Ganguly</a:t>
            </a:r>
          </a:p>
          <a:p>
            <a:r>
              <a:rPr lang="en-IN" dirty="0">
                <a:solidFill>
                  <a:srgbClr val="FF0000"/>
                </a:solidFill>
              </a:rPr>
              <a:t>Dravid</a:t>
            </a:r>
          </a:p>
          <a:p>
            <a:r>
              <a:rPr lang="en-IN" dirty="0">
                <a:solidFill>
                  <a:srgbClr val="FF0000"/>
                </a:solidFill>
              </a:rPr>
              <a:t>Sachin</a:t>
            </a:r>
          </a:p>
        </p:txBody>
      </p:sp>
    </p:spTree>
    <p:extLst>
      <p:ext uri="{BB962C8B-B14F-4D97-AF65-F5344CB8AC3E}">
        <p14:creationId xmlns:p14="http://schemas.microsoft.com/office/powerpoint/2010/main" val="1989033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B050"/>
                </a:solidFill>
                <a:effectLst/>
              </a:rPr>
              <a:t>File Positions: </a:t>
            </a:r>
            <a:r>
              <a:rPr lang="en-IN" sz="3600" dirty="0">
                <a:solidFill>
                  <a:srgbClr val="FF0000"/>
                </a:solidFill>
                <a:effectLst/>
              </a:rPr>
              <a:t>seek()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5327877"/>
          </a:xfrm>
        </p:spPr>
        <p:txBody>
          <a:bodyPr>
            <a:normAutofit/>
          </a:bodyPr>
          <a:lstStyle/>
          <a:p>
            <a:pPr algn="just"/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The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6C0B24"/>
                </a:solidFill>
                <a:effectLst/>
              </a:rPr>
              <a:t>seek()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function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sets/change the position of a file pointer</a:t>
            </a:r>
            <a:r>
              <a:rPr lang="en-US" altLang="en-US" sz="2400" dirty="0">
                <a:solidFill>
                  <a:srgbClr val="222222"/>
                </a:solidFill>
              </a:rPr>
              <a:t>.</a:t>
            </a:r>
            <a:endParaRPr lang="en-US" altLang="en-US" sz="2400" dirty="0"/>
          </a:p>
          <a:p>
            <a:pPr marL="0" indent="0" algn="just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Syntax:</a:t>
            </a:r>
          </a:p>
          <a:p>
            <a:pPr marL="0" indent="0" algn="just">
              <a:buNone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f.seek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(offset, whence)</a:t>
            </a:r>
          </a:p>
          <a:p>
            <a:pPr algn="just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How many points the pointer will move is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computed from adding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6C0B24"/>
                </a:solidFill>
                <a:effectLst/>
              </a:rPr>
              <a:t>offset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to a reference point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; the reference point is given by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C0B24"/>
                </a:solidFill>
                <a:effectLst/>
              </a:rPr>
              <a:t>whence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argument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A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C0B24"/>
                </a:solidFill>
                <a:effectLst/>
              </a:rPr>
              <a:t>whence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value of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means from the beginning of the file.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A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C0B24"/>
                </a:solidFill>
                <a:effectLst/>
              </a:rPr>
              <a:t>whence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value of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uses the current file position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A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C0B24"/>
                </a:solidFill>
                <a:effectLst/>
              </a:rPr>
              <a:t>whence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value of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</a:rPr>
              <a:t> uses the end of the file as the reference point.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/>
            <a:endParaRPr lang="en-US" sz="2400" dirty="0">
              <a:ea typeface="Arial" charset="0"/>
              <a:cs typeface="Arial" charset="0"/>
              <a:sym typeface="Cabin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749B9DE-460C-AC83-61F3-040B75B9D636}"/>
              </a:ext>
            </a:extLst>
          </p:cNvPr>
          <p:cNvGraphicFramePr>
            <a:graphicFrameLocks noGrp="1"/>
          </p:cNvGraphicFramePr>
          <p:nvPr/>
        </p:nvGraphicFramePr>
        <p:xfrm>
          <a:off x="975994" y="5487194"/>
          <a:ext cx="10149206" cy="1295400"/>
        </p:xfrm>
        <a:graphic>
          <a:graphicData uri="http://schemas.openxmlformats.org/drawingml/2006/table">
            <a:tbl>
              <a:tblPr/>
              <a:tblGrid>
                <a:gridCol w="1748256">
                  <a:extLst>
                    <a:ext uri="{9D8B030D-6E8A-4147-A177-3AD203B41FA5}">
                      <a16:colId xmlns:a16="http://schemas.microsoft.com/office/drawing/2014/main" val="469134811"/>
                    </a:ext>
                  </a:extLst>
                </a:gridCol>
                <a:gridCol w="8400950">
                  <a:extLst>
                    <a:ext uri="{9D8B030D-6E8A-4147-A177-3AD203B41FA5}">
                      <a16:colId xmlns:a16="http://schemas.microsoft.com/office/drawing/2014/main" val="1760965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dirty="0" err="1">
                          <a:solidFill>
                            <a:srgbClr val="C00000"/>
                          </a:solidFill>
                          <a:effectLst/>
                        </a:rPr>
                        <a:t>f.seek</a:t>
                      </a:r>
                      <a:r>
                        <a:rPr lang="en-IN" sz="2000" dirty="0">
                          <a:solidFill>
                            <a:srgbClr val="C00000"/>
                          </a:solidFill>
                          <a:effectLst/>
                        </a:rPr>
                        <a:t>(5)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>
                          <a:effectLst/>
                        </a:rPr>
                        <a:t>Move file pointer five characters ahead from the beginning of a file.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608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>
                          <a:solidFill>
                            <a:srgbClr val="C00000"/>
                          </a:solidFill>
                          <a:effectLst/>
                        </a:rPr>
                        <a:t>f.seek(0, 2)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>
                          <a:effectLst/>
                        </a:rPr>
                        <a:t>Move file pointer to the end of a File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674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dirty="0" err="1">
                          <a:solidFill>
                            <a:srgbClr val="C00000"/>
                          </a:solidFill>
                          <a:effectLst/>
                        </a:rPr>
                        <a:t>f.seek</a:t>
                      </a:r>
                      <a:r>
                        <a:rPr lang="en-IN" sz="2000" dirty="0">
                          <a:solidFill>
                            <a:srgbClr val="C00000"/>
                          </a:solidFill>
                          <a:effectLst/>
                        </a:rPr>
                        <a:t>(5, 1)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dirty="0">
                          <a:effectLst/>
                        </a:rPr>
                        <a:t>Move file pointer five characters ahead from the current position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961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450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B050"/>
                </a:solidFill>
                <a:effectLst/>
              </a:rPr>
              <a:t>File Positions: </a:t>
            </a:r>
            <a:r>
              <a:rPr lang="en-IN" sz="3600" dirty="0">
                <a:solidFill>
                  <a:srgbClr val="FF0000"/>
                </a:solidFill>
                <a:effectLst/>
              </a:rPr>
              <a:t>seek()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036320"/>
            <a:ext cx="10515600" cy="51406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 'second.txt' , 'r')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read all characters from file 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str1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print("Before:",str1)</a:t>
            </a:r>
          </a:p>
          <a:p>
            <a:pPr marL="0" indent="0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f.seek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(5)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str2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print("After Seek:",str2)</a:t>
            </a:r>
          </a:p>
          <a:p>
            <a:pPr marL="0" indent="0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f.seek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(0,2)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str3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AFter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End:",str3)</a:t>
            </a:r>
          </a:p>
          <a:p>
            <a:pPr marL="0" indent="0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BFC81-44C2-A063-682B-F744EA630DB2}"/>
              </a:ext>
            </a:extLst>
          </p:cNvPr>
          <p:cNvSpPr txBox="1"/>
          <p:nvPr/>
        </p:nvSpPr>
        <p:spPr>
          <a:xfrm>
            <a:off x="7053218" y="4367506"/>
            <a:ext cx="49809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Before: Hello this is VVIT-AP</a:t>
            </a:r>
          </a:p>
          <a:p>
            <a:r>
              <a:rPr lang="en-US" dirty="0">
                <a:solidFill>
                  <a:srgbClr val="FF0000"/>
                </a:solidFill>
              </a:rPr>
              <a:t>After Seek:  this is VVIT-AP</a:t>
            </a:r>
          </a:p>
          <a:p>
            <a:r>
              <a:rPr lang="en-US" dirty="0" err="1">
                <a:solidFill>
                  <a:srgbClr val="FF0000"/>
                </a:solidFill>
              </a:rPr>
              <a:t>AFter</a:t>
            </a:r>
            <a:r>
              <a:rPr lang="en-US" dirty="0">
                <a:solidFill>
                  <a:srgbClr val="FF0000"/>
                </a:solidFill>
              </a:rPr>
              <a:t> End: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20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FF0000"/>
                </a:solidFill>
                <a:effectLst/>
              </a:rPr>
              <a:t>Renaming and Deleting Files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5327877"/>
          </a:xfrm>
        </p:spPr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b="1" i="1" dirty="0"/>
              <a:t>rename()</a:t>
            </a:r>
            <a:r>
              <a:rPr lang="en-US" dirty="0"/>
              <a:t> method is used to rename a file </a:t>
            </a:r>
          </a:p>
          <a:p>
            <a:r>
              <a:rPr lang="en-US" b="1" dirty="0"/>
              <a:t>remove() </a:t>
            </a:r>
            <a:r>
              <a:rPr lang="en-US" dirty="0"/>
              <a:t>function is used to delete a file</a:t>
            </a:r>
          </a:p>
          <a:p>
            <a:r>
              <a:rPr lang="en-US" dirty="0"/>
              <a:t>These methods are a part of the </a:t>
            </a:r>
            <a:r>
              <a:rPr lang="en-US" dirty="0" err="1">
                <a:hlinkClick r:id="rId3"/>
              </a:rPr>
              <a:t>os</a:t>
            </a:r>
            <a:r>
              <a:rPr lang="en-US" dirty="0">
                <a:hlinkClick r:id="rId3"/>
              </a:rPr>
              <a:t> module</a:t>
            </a:r>
            <a:r>
              <a:rPr lang="en-US" dirty="0"/>
              <a:t> 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Ex: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</a:t>
            </a: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os.rename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one.txt","two.txt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pPr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os.remove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("three.txt")</a:t>
            </a:r>
          </a:p>
        </p:txBody>
      </p:sp>
    </p:spTree>
    <p:extLst>
      <p:ext uri="{BB962C8B-B14F-4D97-AF65-F5344CB8AC3E}">
        <p14:creationId xmlns:p14="http://schemas.microsoft.com/office/powerpoint/2010/main" val="1376954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532787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Write a Python program to read first n lines of a file.</a:t>
            </a:r>
            <a:endParaRPr lang="en-US" dirty="0"/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n=2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 'crickter.txt' , 'r')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lines=</a:t>
            </a: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f.readlines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()[:n]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lines: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print(i)</a:t>
            </a:r>
          </a:p>
          <a:p>
            <a:pPr>
              <a:buNone/>
            </a:pPr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C2CC7-2B18-95A3-EA67-80C170F32685}"/>
              </a:ext>
            </a:extLst>
          </p:cNvPr>
          <p:cNvSpPr txBox="1"/>
          <p:nvPr/>
        </p:nvSpPr>
        <p:spPr>
          <a:xfrm>
            <a:off x="6357620" y="2323971"/>
            <a:ext cx="19329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O/P:</a:t>
            </a:r>
          </a:p>
          <a:p>
            <a:r>
              <a:rPr lang="en-IN" dirty="0">
                <a:solidFill>
                  <a:srgbClr val="FF0000"/>
                </a:solidFill>
              </a:rPr>
              <a:t>Sachin</a:t>
            </a:r>
          </a:p>
          <a:p>
            <a:r>
              <a:rPr lang="en-IN" dirty="0">
                <a:solidFill>
                  <a:srgbClr val="FF0000"/>
                </a:solidFill>
              </a:rPr>
              <a:t>Dravid</a:t>
            </a:r>
          </a:p>
        </p:txBody>
      </p:sp>
    </p:spTree>
    <p:extLst>
      <p:ext uri="{BB962C8B-B14F-4D97-AF65-F5344CB8AC3E}">
        <p14:creationId xmlns:p14="http://schemas.microsoft.com/office/powerpoint/2010/main" val="18567495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Program to count the no of lines ,words and characters in a file</a:t>
            </a: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532787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 = open( 'crickter.txt' , 'r')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contents=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f.readlines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NW=0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NC=0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NL=0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line in contents: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NL=NL+1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words=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line.split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NW=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NW+len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(words)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NC=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NC+len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(line)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print("Number of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Lines:",NL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print("Number of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Words:",NW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print("Number of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Characters:",NC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EB006-565E-6873-434A-7922D329D67C}"/>
              </a:ext>
            </a:extLst>
          </p:cNvPr>
          <p:cNvSpPr txBox="1"/>
          <p:nvPr/>
        </p:nvSpPr>
        <p:spPr>
          <a:xfrm>
            <a:off x="7739380" y="4618335"/>
            <a:ext cx="32639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O/P:</a:t>
            </a:r>
          </a:p>
          <a:p>
            <a:r>
              <a:rPr lang="en-US" dirty="0">
                <a:solidFill>
                  <a:srgbClr val="FF0000"/>
                </a:solidFill>
              </a:rPr>
              <a:t>Number of Lines: 4</a:t>
            </a:r>
          </a:p>
          <a:p>
            <a:r>
              <a:rPr lang="en-US" dirty="0">
                <a:solidFill>
                  <a:srgbClr val="FF0000"/>
                </a:solidFill>
              </a:rPr>
              <a:t>Number of Words: 4</a:t>
            </a:r>
          </a:p>
          <a:p>
            <a:r>
              <a:rPr lang="en-US" dirty="0">
                <a:solidFill>
                  <a:srgbClr val="FF0000"/>
                </a:solidFill>
              </a:rPr>
              <a:t>Number of Characters: 28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2602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Write a python program copy one file content into another file.</a:t>
            </a:r>
            <a:br>
              <a:rPr lang="en-US" sz="2400" dirty="0">
                <a:solidFill>
                  <a:srgbClr val="FF0000"/>
                </a:solidFill>
              </a:rPr>
            </a:b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09320" y="1237109"/>
            <a:ext cx="10515600" cy="42086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f1=open("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crickter.txt","r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f2=open("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cri.txt","a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line=f1.read()</a:t>
            </a:r>
          </a:p>
          <a:p>
            <a:pPr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f2.write(line)</a:t>
            </a:r>
          </a:p>
        </p:txBody>
      </p:sp>
    </p:spTree>
    <p:extLst>
      <p:ext uri="{BB962C8B-B14F-4D97-AF65-F5344CB8AC3E}">
        <p14:creationId xmlns:p14="http://schemas.microsoft.com/office/powerpoint/2010/main" val="34685029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b="1" i="0" dirty="0">
                <a:solidFill>
                  <a:srgbClr val="FF0000"/>
                </a:solidFill>
                <a:effectLst/>
                <a:latin typeface="euclid_circular_a"/>
              </a:rPr>
              <a:t>Working with CSV files in Python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09320" y="1237109"/>
            <a:ext cx="10515600" cy="4208651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273239"/>
                </a:solidFill>
                <a:effectLst/>
              </a:rPr>
              <a:t>CSV (Comma-Separated Values) is one of the file formats for </a:t>
            </a:r>
            <a:r>
              <a:rPr lang="en-US" sz="2400" b="0" i="0" dirty="0">
                <a:solidFill>
                  <a:srgbClr val="C00000"/>
                </a:solidFill>
                <a:effectLst/>
              </a:rPr>
              <a:t>storing and exchanging tabular data</a:t>
            </a:r>
            <a:r>
              <a:rPr lang="en-US" sz="2400" b="0" i="0" dirty="0">
                <a:solidFill>
                  <a:srgbClr val="273239"/>
                </a:solidFill>
                <a:effectLst/>
              </a:rPr>
              <a:t>.</a:t>
            </a:r>
          </a:p>
          <a:p>
            <a:endParaRPr lang="en-US" sz="2400" dirty="0">
              <a:solidFill>
                <a:srgbClr val="273239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Reading CSV files Using </a:t>
            </a:r>
            <a:r>
              <a:rPr lang="en-US" sz="2400" dirty="0" err="1">
                <a:solidFill>
                  <a:srgbClr val="FF0000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csv.reader</a:t>
            </a:r>
            <a:r>
              <a:rPr lang="en-US" sz="2400" dirty="0">
                <a:solidFill>
                  <a:srgbClr val="FF0000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r>
              <a:rPr lang="en-US" sz="2400" dirty="0">
                <a:ea typeface="Cascadia Code" panose="020B0609020000020004" pitchFamily="49" charset="0"/>
                <a:cs typeface="Cascadia Code" panose="020B0609020000020004" pitchFamily="49" charset="0"/>
              </a:rPr>
              <a:t>To read a CSV file in Python, we can use the </a:t>
            </a:r>
            <a:r>
              <a:rPr lang="en-US" sz="2400" dirty="0" err="1">
                <a:solidFill>
                  <a:srgbClr val="C00000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csv.reader</a:t>
            </a:r>
            <a:r>
              <a:rPr lang="en-US" sz="2400" dirty="0">
                <a:solidFill>
                  <a:srgbClr val="C00000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() </a:t>
            </a:r>
            <a:r>
              <a:rPr lang="en-US" sz="2400" dirty="0">
                <a:ea typeface="Cascadia Code" panose="020B0609020000020004" pitchFamily="49" charset="0"/>
                <a:cs typeface="Cascadia Code" panose="020B0609020000020004" pitchFamily="49" charset="0"/>
              </a:rPr>
              <a:t>function.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64CA9-E4BC-CD72-673E-A4D1325B0576}"/>
              </a:ext>
            </a:extLst>
          </p:cNvPr>
          <p:cNvSpPr txBox="1"/>
          <p:nvPr/>
        </p:nvSpPr>
        <p:spPr>
          <a:xfrm>
            <a:off x="1468120" y="4081195"/>
            <a:ext cx="63093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csv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f=open('protagonist.csv', 'r’)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reader =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csv.reader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(f)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row in reader:   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print(row)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2F484D-8B40-F8D2-1A22-01F2435F2081}"/>
              </a:ext>
            </a:extLst>
          </p:cNvPr>
          <p:cNvSpPr txBox="1"/>
          <p:nvPr/>
        </p:nvSpPr>
        <p:spPr>
          <a:xfrm>
            <a:off x="7637055" y="5027876"/>
            <a:ext cx="40825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O/P:</a:t>
            </a:r>
          </a:p>
          <a:p>
            <a:r>
              <a:rPr lang="en-IN" dirty="0">
                <a:solidFill>
                  <a:srgbClr val="7030A0"/>
                </a:solidFill>
              </a:rPr>
              <a:t>['SN', 'Movie', 'Protagonist']</a:t>
            </a:r>
          </a:p>
          <a:p>
            <a:r>
              <a:rPr lang="en-IN" dirty="0">
                <a:solidFill>
                  <a:srgbClr val="7030A0"/>
                </a:solidFill>
              </a:rPr>
              <a:t>['1', 'Lord of the Rings', 'Frodo Baggins']</a:t>
            </a:r>
          </a:p>
          <a:p>
            <a:r>
              <a:rPr lang="en-IN" dirty="0">
                <a:solidFill>
                  <a:srgbClr val="7030A0"/>
                </a:solidFill>
              </a:rPr>
              <a:t>['2', 'Harry Potter', 'Harry Potter']</a:t>
            </a:r>
          </a:p>
        </p:txBody>
      </p:sp>
    </p:spTree>
    <p:extLst>
      <p:ext uri="{BB962C8B-B14F-4D97-AF65-F5344CB8AC3E}">
        <p14:creationId xmlns:p14="http://schemas.microsoft.com/office/powerpoint/2010/main" val="887454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b="1" i="0" dirty="0">
                <a:solidFill>
                  <a:srgbClr val="FF0000"/>
                </a:solidFill>
                <a:effectLst/>
                <a:latin typeface="euclid_circular_a"/>
              </a:rPr>
              <a:t>Working with CSV files in Python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09320" y="1237109"/>
            <a:ext cx="10515600" cy="42086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C00000"/>
                </a:solidFill>
                <a:effectLst/>
                <a:latin typeface="euclid_circular_a"/>
              </a:rPr>
              <a:t>Writing CSV files Using </a:t>
            </a:r>
            <a:r>
              <a:rPr lang="en-US" b="1" i="0" dirty="0" err="1">
                <a:solidFill>
                  <a:srgbClr val="C00000"/>
                </a:solidFill>
                <a:effectLst/>
                <a:latin typeface="euclid_circular_a"/>
              </a:rPr>
              <a:t>csv.writer</a:t>
            </a:r>
            <a:r>
              <a:rPr lang="en-US" b="1" i="0" dirty="0">
                <a:solidFill>
                  <a:srgbClr val="C00000"/>
                </a:solidFill>
                <a:effectLst/>
                <a:latin typeface="euclid_circular_a"/>
              </a:rPr>
              <a:t>():</a:t>
            </a:r>
          </a:p>
          <a:p>
            <a:r>
              <a:rPr lang="en-US" sz="2400" dirty="0">
                <a:ea typeface="Cascadia Code" panose="020B0609020000020004" pitchFamily="49" charset="0"/>
                <a:cs typeface="Cascadia Code" panose="020B0609020000020004" pitchFamily="49" charset="0"/>
              </a:rPr>
              <a:t>To write to a CSV file in Python, we can use the </a:t>
            </a:r>
            <a:r>
              <a:rPr lang="en-US" sz="2400" dirty="0" err="1">
                <a:ea typeface="Cascadia Code" panose="020B0609020000020004" pitchFamily="49" charset="0"/>
                <a:cs typeface="Cascadia Code" panose="020B0609020000020004" pitchFamily="49" charset="0"/>
              </a:rPr>
              <a:t>csv.writer</a:t>
            </a:r>
            <a:r>
              <a:rPr lang="en-US" sz="2400" dirty="0">
                <a:ea typeface="Cascadia Code" panose="020B0609020000020004" pitchFamily="49" charset="0"/>
                <a:cs typeface="Cascadia Code" panose="020B0609020000020004" pitchFamily="49" charset="0"/>
              </a:rPr>
              <a:t>() function.</a:t>
            </a:r>
          </a:p>
          <a:p>
            <a:r>
              <a:rPr lang="en-US" sz="2400" dirty="0">
                <a:ea typeface="Cascadia Code" panose="020B0609020000020004" pitchFamily="49" charset="0"/>
                <a:cs typeface="Cascadia Code" panose="020B0609020000020004" pitchFamily="49" charset="0"/>
              </a:rPr>
              <a:t>The </a:t>
            </a:r>
            <a:r>
              <a:rPr lang="en-US" sz="2400" dirty="0" err="1">
                <a:ea typeface="Cascadia Code" panose="020B0609020000020004" pitchFamily="49" charset="0"/>
                <a:cs typeface="Cascadia Code" panose="020B0609020000020004" pitchFamily="49" charset="0"/>
              </a:rPr>
              <a:t>csv.writer</a:t>
            </a:r>
            <a:r>
              <a:rPr lang="en-US" sz="2400" dirty="0">
                <a:ea typeface="Cascadia Code" panose="020B0609020000020004" pitchFamily="49" charset="0"/>
                <a:cs typeface="Cascadia Code" panose="020B0609020000020004" pitchFamily="49" charset="0"/>
              </a:rPr>
              <a:t>() function returns a writer object that converts the user's data into a delimited string. </a:t>
            </a:r>
          </a:p>
          <a:p>
            <a:r>
              <a:rPr lang="en-US" sz="2400" dirty="0">
                <a:ea typeface="Cascadia Code" panose="020B0609020000020004" pitchFamily="49" charset="0"/>
                <a:cs typeface="Cascadia Code" panose="020B0609020000020004" pitchFamily="49" charset="0"/>
              </a:rPr>
              <a:t>This string can later be used to write into CSV files using the </a:t>
            </a:r>
            <a:r>
              <a:rPr lang="en-US" sz="2400" dirty="0" err="1">
                <a:ea typeface="Cascadia Code" panose="020B0609020000020004" pitchFamily="49" charset="0"/>
                <a:cs typeface="Cascadia Code" panose="020B0609020000020004" pitchFamily="49" charset="0"/>
              </a:rPr>
              <a:t>writerow</a:t>
            </a:r>
            <a:r>
              <a:rPr lang="en-US" sz="2400" dirty="0">
                <a:ea typeface="Cascadia Code" panose="020B0609020000020004" pitchFamily="49" charset="0"/>
                <a:cs typeface="Cascadia Code" panose="020B0609020000020004" pitchFamily="49" charset="0"/>
              </a:rPr>
              <a:t>() function.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64CA9-E4BC-CD72-673E-A4D1325B0576}"/>
              </a:ext>
            </a:extLst>
          </p:cNvPr>
          <p:cNvSpPr txBox="1"/>
          <p:nvPr/>
        </p:nvSpPr>
        <p:spPr>
          <a:xfrm>
            <a:off x="1468119" y="4081195"/>
            <a:ext cx="90142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csv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f=open('protagonist.csv', 'w’)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writer =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csv.writer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(f)</a:t>
            </a:r>
          </a:p>
          <a:p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writer.writerow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(["SN", "Movie", "Protagonist"])</a:t>
            </a:r>
          </a:p>
          <a:p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writer.writerow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([1, "Lord of the Rings", "Frodo Baggins"])</a:t>
            </a:r>
          </a:p>
          <a:p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writer.writerow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([2, "Harry Potter", "Harry Potter"])</a:t>
            </a:r>
          </a:p>
        </p:txBody>
      </p:sp>
    </p:spTree>
    <p:extLst>
      <p:ext uri="{BB962C8B-B14F-4D97-AF65-F5344CB8AC3E}">
        <p14:creationId xmlns:p14="http://schemas.microsoft.com/office/powerpoint/2010/main" val="12450634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b="1" i="0" dirty="0">
                <a:solidFill>
                  <a:srgbClr val="FF0000"/>
                </a:solidFill>
                <a:effectLst/>
                <a:latin typeface="euclid_circular_a"/>
              </a:rPr>
              <a:t>Working with CSV files in Python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09320" y="1237109"/>
            <a:ext cx="10515600" cy="420865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0" dirty="0">
                <a:solidFill>
                  <a:srgbClr val="C00000"/>
                </a:solidFill>
                <a:effectLst/>
                <a:latin typeface="euclid_circular_a"/>
              </a:rPr>
              <a:t>Writing multiple rows with </a:t>
            </a:r>
            <a:r>
              <a:rPr lang="en-US" i="0" dirty="0" err="1">
                <a:solidFill>
                  <a:srgbClr val="00B050"/>
                </a:solidFill>
                <a:effectLst/>
                <a:latin typeface="euclid_circular_a"/>
              </a:rPr>
              <a:t>writerows</a:t>
            </a:r>
            <a:r>
              <a:rPr lang="en-US" i="0" dirty="0">
                <a:solidFill>
                  <a:srgbClr val="00B050"/>
                </a:solidFill>
                <a:effectLst/>
                <a:latin typeface="euclid_circular_a"/>
              </a:rPr>
              <a:t>()</a:t>
            </a:r>
            <a:r>
              <a:rPr lang="en-US" i="0" dirty="0">
                <a:solidFill>
                  <a:srgbClr val="C00000"/>
                </a:solidFill>
                <a:effectLst/>
                <a:latin typeface="euclid_circular_a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64CA9-E4BC-CD72-673E-A4D1325B0576}"/>
              </a:ext>
            </a:extLst>
          </p:cNvPr>
          <p:cNvSpPr txBox="1"/>
          <p:nvPr/>
        </p:nvSpPr>
        <p:spPr>
          <a:xfrm>
            <a:off x="838200" y="2170958"/>
            <a:ext cx="1005332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csvf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=open('protagonist.csv', 'w’)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writer =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csv.writer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(f)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csv_rowlist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[["SN", "Movie", "Protagonist"], [1, "Lord of the Rings", "Frodo Baggins"],[2, "Harry Potter", "Harry Potter"]]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writer.writerows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csv_rowlist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62173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FF0000"/>
                </a:solidFill>
                <a:effectLst/>
              </a:rPr>
              <a:t>various directory handling functions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09320" y="1237109"/>
            <a:ext cx="10515600" cy="49808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i="0" u="sng" dirty="0">
                <a:solidFill>
                  <a:srgbClr val="FF0000"/>
                </a:solidFill>
                <a:effectLst/>
                <a:latin typeface="Public Sans"/>
              </a:rPr>
              <a:t>Creating a Directory</a:t>
            </a:r>
          </a:p>
          <a:p>
            <a:pPr marL="0" indent="0" algn="l" fontAlgn="base">
              <a:buNone/>
            </a:pPr>
            <a:r>
              <a:rPr lang="pt-BR" sz="20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os</a:t>
            </a:r>
          </a:p>
          <a:p>
            <a:pPr marL="0" indent="0" algn="l" fontAlgn="base">
              <a:buNone/>
            </a:pPr>
            <a:r>
              <a:rPr lang="pt-BR" sz="20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os.</a:t>
            </a:r>
            <a:r>
              <a:rPr lang="pt-BR" sz="200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mkdir('mydir’)</a:t>
            </a:r>
          </a:p>
          <a:p>
            <a:pPr marL="0" indent="0" algn="l">
              <a:buNone/>
            </a:pPr>
            <a:endParaRPr lang="en-US" i="0" dirty="0">
              <a:solidFill>
                <a:srgbClr val="C00000"/>
              </a:solidFill>
              <a:effectLst/>
              <a:latin typeface="euclid_circular_a"/>
            </a:endParaRPr>
          </a:p>
          <a:p>
            <a:pPr marL="0" indent="0">
              <a:buNone/>
            </a:pPr>
            <a:r>
              <a:rPr lang="en-IN" b="1" i="0" u="sng" dirty="0">
                <a:solidFill>
                  <a:srgbClr val="FF0000"/>
                </a:solidFill>
                <a:effectLst/>
                <a:latin typeface="Public Sans"/>
              </a:rPr>
              <a:t>Get Current Working Directory</a:t>
            </a:r>
          </a:p>
          <a:p>
            <a:pPr marL="0" indent="0" algn="l">
              <a:buNone/>
            </a:pPr>
            <a:r>
              <a:rPr lang="en-US" sz="20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2000" i="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</a:t>
            </a:r>
            <a:r>
              <a:rPr lang="en-US" sz="20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pPr marL="0" indent="0" algn="l">
              <a:buNone/>
            </a:pPr>
            <a:r>
              <a:rPr lang="en-US" sz="2000" i="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cwd</a:t>
            </a:r>
            <a:r>
              <a:rPr lang="en-US" sz="20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i="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os.</a:t>
            </a:r>
            <a:r>
              <a:rPr lang="en-US" sz="2000" i="0" dirty="0" err="1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getcwd</a:t>
            </a:r>
            <a:r>
              <a:rPr lang="en-US" sz="2000" i="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marL="0" indent="0" algn="l">
              <a:buNone/>
            </a:pPr>
            <a:r>
              <a:rPr lang="en-US" sz="20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print("Current working directory:", </a:t>
            </a:r>
            <a:r>
              <a:rPr lang="en-US" sz="2000" i="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cwd</a:t>
            </a:r>
            <a:r>
              <a:rPr lang="en-US" sz="20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 algn="l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N" b="1" i="0" u="sng" dirty="0">
                <a:solidFill>
                  <a:srgbClr val="FF0000"/>
                </a:solidFill>
                <a:effectLst/>
                <a:latin typeface="+mj-lt"/>
              </a:rPr>
              <a:t>Listing Files and Directories</a:t>
            </a:r>
          </a:p>
          <a:p>
            <a:pPr marL="0" indent="0">
              <a:buNone/>
            </a:pPr>
            <a:r>
              <a:rPr lang="pt-BR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os </a:t>
            </a:r>
          </a:p>
          <a:p>
            <a:pPr marL="0" indent="0">
              <a:buNone/>
            </a:pPr>
            <a:r>
              <a:rPr lang="pt-BR" sz="22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print(os.</a:t>
            </a:r>
            <a:r>
              <a:rPr lang="pt-BR" sz="2200" i="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listdir('.'))</a:t>
            </a:r>
            <a:endParaRPr lang="en-IN" sz="2200" i="0" dirty="0">
              <a:solidFill>
                <a:srgbClr val="7030A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l">
              <a:buNone/>
            </a:pPr>
            <a:endParaRPr lang="en-US" sz="2000" i="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E2485F-44F0-C2DD-0253-1DB988A594F7}"/>
              </a:ext>
            </a:extLst>
          </p:cNvPr>
          <p:cNvSpPr txBox="1"/>
          <p:nvPr/>
        </p:nvSpPr>
        <p:spPr>
          <a:xfrm>
            <a:off x="7837873" y="3254361"/>
            <a:ext cx="4242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Current working directory: </a:t>
            </a:r>
            <a:r>
              <a:rPr lang="en-US" dirty="0">
                <a:solidFill>
                  <a:srgbClr val="FF0000"/>
                </a:solidFill>
              </a:rPr>
              <a:t>C:\Users\chvrr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1477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FF0000"/>
                </a:solidFill>
                <a:effectLst/>
              </a:rPr>
              <a:t>various directory handling functions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09320" y="1237109"/>
            <a:ext cx="10515600" cy="4980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0" u="sng" dirty="0">
                <a:solidFill>
                  <a:srgbClr val="FF0000"/>
                </a:solidFill>
                <a:effectLst/>
                <a:latin typeface="Public Sans"/>
              </a:rPr>
              <a:t>Change Directory</a:t>
            </a:r>
          </a:p>
          <a:p>
            <a:pPr marL="0" indent="0" algn="l" fontAlgn="base">
              <a:buNone/>
            </a:pPr>
            <a:r>
              <a:rPr lang="pt-BR" sz="20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os</a:t>
            </a:r>
          </a:p>
          <a:p>
            <a:pPr marL="0" indent="0" algn="l" fontAlgn="base">
              <a:buNone/>
            </a:pPr>
            <a:r>
              <a:rPr lang="pt-BR" sz="20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os.</a:t>
            </a:r>
            <a:r>
              <a:rPr lang="pt-BR" sz="200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chdir('mydir’)</a:t>
            </a:r>
          </a:p>
          <a:p>
            <a:pPr marL="0" indent="0" algn="l" fontAlgn="base">
              <a:buNone/>
            </a:pPr>
            <a:endParaRPr lang="en-US" i="0" dirty="0">
              <a:solidFill>
                <a:srgbClr val="7030A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fontAlgn="base">
              <a:buNone/>
            </a:pPr>
            <a:r>
              <a:rPr lang="en-IN" b="1" i="0" u="sng" dirty="0">
                <a:solidFill>
                  <a:srgbClr val="FF0000"/>
                </a:solidFill>
                <a:effectLst/>
                <a:latin typeface="euclid_circular_a"/>
              </a:rPr>
              <a:t>Renaming a Directory </a:t>
            </a:r>
          </a:p>
          <a:p>
            <a:pPr marL="0" indent="0" algn="l" fontAlgn="base">
              <a:buNone/>
            </a:pPr>
            <a:r>
              <a:rPr lang="pt-BR" sz="20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os</a:t>
            </a:r>
          </a:p>
          <a:p>
            <a:pPr marL="0" indent="0" algn="l" fontAlgn="base">
              <a:buNone/>
            </a:pPr>
            <a:r>
              <a:rPr lang="pt-BR" sz="200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os.</a:t>
            </a:r>
            <a:r>
              <a:rPr lang="pt-BR" sz="2000" i="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rename('mydir','mydir2’)</a:t>
            </a:r>
          </a:p>
          <a:p>
            <a:pPr marL="0" indent="0" algn="l" fontAlgn="base">
              <a:buNone/>
            </a:pPr>
            <a:endParaRPr lang="en-US" i="0" dirty="0">
              <a:solidFill>
                <a:srgbClr val="7030A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l" fontAlgn="base">
              <a:buNone/>
            </a:pPr>
            <a:r>
              <a:rPr lang="en-IN" b="1" i="0" u="sng" dirty="0">
                <a:solidFill>
                  <a:srgbClr val="FF0000"/>
                </a:solidFill>
                <a:effectLst/>
                <a:latin typeface="Public Sans"/>
              </a:rPr>
              <a:t>Deleting a Directory</a:t>
            </a:r>
          </a:p>
          <a:p>
            <a:pPr marL="0" indent="0" algn="l" fontAlgn="base">
              <a:buNone/>
            </a:pPr>
            <a:r>
              <a:rPr lang="pt-BR" sz="20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os</a:t>
            </a:r>
          </a:p>
          <a:p>
            <a:pPr marL="0" indent="0" algn="l" fontAlgn="base">
              <a:buNone/>
            </a:pPr>
            <a:r>
              <a:rPr lang="pt-BR" sz="200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os.</a:t>
            </a:r>
            <a:r>
              <a:rPr lang="pt-BR" sz="200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rmdir('mydir’)</a:t>
            </a:r>
          </a:p>
          <a:p>
            <a:pPr marL="0" indent="0" algn="l" fontAlgn="base">
              <a:buNone/>
            </a:pPr>
            <a:endParaRPr lang="pt-BR" sz="2000" dirty="0">
              <a:solidFill>
                <a:srgbClr val="7030A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l" fontAlgn="base">
              <a:buNone/>
            </a:pPr>
            <a:endParaRPr lang="pt-BR" sz="2000" dirty="0">
              <a:solidFill>
                <a:srgbClr val="7030A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l">
              <a:buNone/>
            </a:pPr>
            <a:endParaRPr lang="en-US" sz="2000" i="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622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7243</TotalTime>
  <Words>4952</Words>
  <Application>Microsoft Office PowerPoint</Application>
  <PresentationFormat>Widescreen</PresentationFormat>
  <Paragraphs>706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8" baseType="lpstr">
      <vt:lpstr>Arial</vt:lpstr>
      <vt:lpstr>Calibri</vt:lpstr>
      <vt:lpstr>Calibri (Body)</vt:lpstr>
      <vt:lpstr>Calibri Light</vt:lpstr>
      <vt:lpstr>Cascadia Code</vt:lpstr>
      <vt:lpstr>Consolas</vt:lpstr>
      <vt:lpstr>Droid Sans Mono</vt:lpstr>
      <vt:lpstr>euclid_circular_a</vt:lpstr>
      <vt:lpstr>Inter-Bold</vt:lpstr>
      <vt:lpstr>Inter-Regular</vt:lpstr>
      <vt:lpstr>Nunito</vt:lpstr>
      <vt:lpstr>Public Sans</vt:lpstr>
      <vt:lpstr>Segoe UI</vt:lpstr>
      <vt:lpstr>Söhne</vt:lpstr>
      <vt:lpstr>Times New Roman</vt:lpstr>
      <vt:lpstr>Verdana</vt:lpstr>
      <vt:lpstr>Office Theme</vt:lpstr>
      <vt:lpstr>PowerPoint Presentation</vt:lpstr>
      <vt:lpstr> Introduction to Different Numeric Types</vt:lpstr>
      <vt:lpstr> Introduction to Different Numeric Types</vt:lpstr>
      <vt:lpstr> Introduction to Different Numeric Types</vt:lpstr>
      <vt:lpstr> Introduction to Different Numeric Types</vt:lpstr>
      <vt:lpstr> Type Conversion</vt:lpstr>
      <vt:lpstr> Mathematical Functions</vt:lpstr>
      <vt:lpstr> Mathematical Functions</vt:lpstr>
      <vt:lpstr> Mathematical Functions</vt:lpstr>
      <vt:lpstr>Random Numbers</vt:lpstr>
      <vt:lpstr>PowerPoint Presentation</vt:lpstr>
      <vt:lpstr> Strings</vt:lpstr>
      <vt:lpstr>Indexing, and Slicing</vt:lpstr>
      <vt:lpstr>Operations on Strings</vt:lpstr>
      <vt:lpstr>Operations on Strings</vt:lpstr>
      <vt:lpstr>Operations on Strings</vt:lpstr>
      <vt:lpstr>Looping Through a String</vt:lpstr>
      <vt:lpstr>Looping Through a String Programs</vt:lpstr>
      <vt:lpstr>Write a python program to count no of a’s in your name?</vt:lpstr>
      <vt:lpstr>Program to remove the vowels in the given string</vt:lpstr>
      <vt:lpstr>Program Remove Punctuations From a String</vt:lpstr>
      <vt:lpstr>Python String Methods</vt:lpstr>
      <vt:lpstr>Python String Methods</vt:lpstr>
      <vt:lpstr>Python String Methods</vt:lpstr>
      <vt:lpstr>Python String Methods</vt:lpstr>
      <vt:lpstr>Python String Methods</vt:lpstr>
      <vt:lpstr>Python String Methods</vt:lpstr>
      <vt:lpstr>Python String Methods</vt:lpstr>
      <vt:lpstr>Program to sort alphabetically the words form a string</vt:lpstr>
      <vt:lpstr>File Handling</vt:lpstr>
      <vt:lpstr>file attributes:</vt:lpstr>
      <vt:lpstr>File I/O-Opening and Closing files</vt:lpstr>
      <vt:lpstr>File I/O-Opening and Closing files</vt:lpstr>
      <vt:lpstr>PowerPoint Presentation</vt:lpstr>
      <vt:lpstr>File I/O-Opening and Closing files</vt:lpstr>
      <vt:lpstr>Write Operations: write()</vt:lpstr>
      <vt:lpstr>Write Operations: write()</vt:lpstr>
      <vt:lpstr>Read Operations: read()</vt:lpstr>
      <vt:lpstr>Read Operations: readline()</vt:lpstr>
      <vt:lpstr>Read Operations: readlines()</vt:lpstr>
      <vt:lpstr>File Positions: seek()</vt:lpstr>
      <vt:lpstr>File Positions: seek()</vt:lpstr>
      <vt:lpstr>Renaming and Deleting Files</vt:lpstr>
      <vt:lpstr>PowerPoint Presentation</vt:lpstr>
      <vt:lpstr>Program to count the no of lines ,words and characters in a file</vt:lpstr>
      <vt:lpstr> Write a python program copy one file content into another file. </vt:lpstr>
      <vt:lpstr>Working with CSV files in Python</vt:lpstr>
      <vt:lpstr>Working with CSV files in Python</vt:lpstr>
      <vt:lpstr>Working with CSV files in Python</vt:lpstr>
      <vt:lpstr>various directory handling functions</vt:lpstr>
      <vt:lpstr>various directory handling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</dc:title>
  <dc:creator>Santhoshini Banda</dc:creator>
  <cp:lastModifiedBy>T  Seshu Chakravarthy T  Seshu Chakravarthy</cp:lastModifiedBy>
  <cp:revision>690</cp:revision>
  <dcterms:created xsi:type="dcterms:W3CDTF">2017-07-30T13:30:39Z</dcterms:created>
  <dcterms:modified xsi:type="dcterms:W3CDTF">2024-09-14T06:35:09Z</dcterms:modified>
</cp:coreProperties>
</file>