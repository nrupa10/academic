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98" r:id="rId4"/>
    <p:sldId id="332" r:id="rId5"/>
    <p:sldId id="258" r:id="rId6"/>
    <p:sldId id="333" r:id="rId7"/>
    <p:sldId id="299" r:id="rId8"/>
    <p:sldId id="334" r:id="rId9"/>
    <p:sldId id="336" r:id="rId10"/>
    <p:sldId id="335" r:id="rId11"/>
    <p:sldId id="337" r:id="rId12"/>
    <p:sldId id="338" r:id="rId13"/>
    <p:sldId id="339" r:id="rId14"/>
    <p:sldId id="340" r:id="rId15"/>
    <p:sldId id="341" r:id="rId16"/>
    <p:sldId id="342" r:id="rId17"/>
    <p:sldId id="343"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425" autoAdjust="0"/>
    <p:restoredTop sz="94660"/>
  </p:normalViewPr>
  <p:slideViewPr>
    <p:cSldViewPr>
      <p:cViewPr>
        <p:scale>
          <a:sx n="91" d="100"/>
          <a:sy n="91" d="100"/>
        </p:scale>
        <p:origin x="-1122" y="78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B0E4722-ED83-4A49-826D-C0090EF524C6}" type="datetimeFigureOut">
              <a:rPr lang="en-US" smtClean="0"/>
              <a:pPr/>
              <a:t>8/24/2021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3E43FB-62BA-43BB-AF88-8FA61C069AA5}" type="slidenum">
              <a:rPr lang="en-US" smtClean="0"/>
              <a:pPr/>
              <a:t>‹#›</a:t>
            </a:fld>
            <a:endParaRPr lang="en-US"/>
          </a:p>
        </p:txBody>
      </p:sp>
      <p:sp>
        <p:nvSpPr>
          <p:cNvPr id="9" name="Picture Placeholder 8"/>
          <p:cNvSpPr>
            <a:spLocks noGrp="1"/>
          </p:cNvSpPr>
          <p:nvPr>
            <p:ph type="pic" sz="quarter" idx="13"/>
          </p:nvPr>
        </p:nvSpPr>
        <p:spPr>
          <a:xfrm>
            <a:off x="8229600" y="0"/>
            <a:ext cx="914400" cy="914400"/>
          </a:xfrm>
        </p:spPr>
        <p:txBody>
          <a:bodyPr/>
          <a:lstStyle/>
          <a:p>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0E4722-ED83-4A49-826D-C0090EF524C6}" type="datetimeFigureOut">
              <a:rPr lang="en-US" smtClean="0"/>
              <a:pPr/>
              <a:t>8/24/2021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3E43FB-62BA-43BB-AF88-8FA61C069AA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B0E4722-ED83-4A49-826D-C0090EF524C6}" type="datetimeFigureOut">
              <a:rPr lang="en-US" smtClean="0"/>
              <a:pPr/>
              <a:t>8/24/2021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3E43FB-62BA-43BB-AF88-8FA61C069AA5}"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B0E4722-ED83-4A49-826D-C0090EF524C6}" type="datetimeFigureOut">
              <a:rPr lang="en-US" smtClean="0"/>
              <a:pPr/>
              <a:t>8/24/2021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3E43FB-62BA-43BB-AF88-8FA61C069AA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B0E4722-ED83-4A49-826D-C0090EF524C6}" type="datetimeFigureOut">
              <a:rPr lang="en-US" smtClean="0"/>
              <a:pPr/>
              <a:t>8/24/2021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3E43FB-62BA-43BB-AF88-8FA61C069AA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B0E4722-ED83-4A49-826D-C0090EF524C6}" type="datetimeFigureOut">
              <a:rPr lang="en-US" smtClean="0"/>
              <a:pPr/>
              <a:t>8/24/2021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3E43FB-62BA-43BB-AF88-8FA61C069AA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0E4722-ED83-4A49-826D-C0090EF524C6}" type="datetimeFigureOut">
              <a:rPr lang="en-US" smtClean="0"/>
              <a:pPr/>
              <a:t>8/24/2021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3E43FB-62BA-43BB-AF88-8FA61C069AA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B0E4722-ED83-4A49-826D-C0090EF524C6}" type="datetimeFigureOut">
              <a:rPr lang="en-US" smtClean="0"/>
              <a:pPr/>
              <a:t>8/24/2021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3E43FB-62BA-43BB-AF88-8FA61C069AA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B0E4722-ED83-4A49-826D-C0090EF524C6}" type="datetimeFigureOut">
              <a:rPr lang="en-US" smtClean="0"/>
              <a:pPr/>
              <a:t>8/24/2021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3E43FB-62BA-43BB-AF88-8FA61C069AA5}"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0E4722-ED83-4A49-826D-C0090EF524C6}" type="datetimeFigureOut">
              <a:rPr lang="en-US" smtClean="0"/>
              <a:pPr/>
              <a:t>8/24/2021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3E43FB-62BA-43BB-AF88-8FA61C069AA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0E4722-ED83-4A49-826D-C0090EF524C6}" type="datetimeFigureOut">
              <a:rPr lang="en-US" smtClean="0"/>
              <a:pPr/>
              <a:t>8/24/2021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3E43FB-62BA-43BB-AF88-8FA61C069AA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0E4722-ED83-4A49-826D-C0090EF524C6}" type="datetimeFigureOut">
              <a:rPr lang="en-US" smtClean="0"/>
              <a:pPr/>
              <a:t>8/24/2021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3E43FB-62BA-43BB-AF88-8FA61C069AA5}" type="slidenum">
              <a:rPr lang="en-US" smtClean="0"/>
              <a:pPr/>
              <a:t>‹#›</a:t>
            </a:fld>
            <a:endParaRPr lang="en-US"/>
          </a:p>
        </p:txBody>
      </p:sp>
      <p:pic>
        <p:nvPicPr>
          <p:cNvPr id="8" name="Picture 7"/>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7940979" y="0"/>
            <a:ext cx="1168524" cy="1168524"/>
          </a:xfrm>
          <a:prstGeom prst="ellipse">
            <a:avLst/>
          </a:prstGeom>
          <a:ln>
            <a:noFill/>
          </a:ln>
          <a:effectLst>
            <a:softEdge rad="112500"/>
          </a:effec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Exceptions</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Introduction to Exception</a:t>
            </a:r>
            <a:endParaRPr lang="en-US" dirty="0"/>
          </a:p>
        </p:txBody>
      </p:sp>
      <p:sp>
        <p:nvSpPr>
          <p:cNvPr id="3" name="Content Placeholder 2"/>
          <p:cNvSpPr>
            <a:spLocks noGrp="1"/>
          </p:cNvSpPr>
          <p:nvPr>
            <p:ph idx="1"/>
          </p:nvPr>
        </p:nvSpPr>
        <p:spPr>
          <a:xfrm>
            <a:off x="457200" y="1639341"/>
            <a:ext cx="8229600" cy="4525963"/>
          </a:xfrm>
        </p:spPr>
        <p:txBody>
          <a:bodyPr>
            <a:normAutofit/>
          </a:bodyPr>
          <a:lstStyle/>
          <a:p>
            <a:pPr algn="just"/>
            <a:r>
              <a:rPr lang="en-IN" dirty="0"/>
              <a:t>Python	uses	exceptions	to	</a:t>
            </a:r>
            <a:r>
              <a:rPr lang="en-IN" dirty="0" smtClean="0"/>
              <a:t>handle errors </a:t>
            </a:r>
            <a:r>
              <a:rPr lang="en-IN" dirty="0"/>
              <a:t>and anomalies</a:t>
            </a:r>
          </a:p>
          <a:p>
            <a:pPr algn="just"/>
            <a:r>
              <a:rPr lang="en-IN" dirty="0" smtClean="0"/>
              <a:t>Exception </a:t>
            </a:r>
            <a:r>
              <a:rPr lang="en-IN" dirty="0"/>
              <a:t>is an object that indicates an error  or anomalous condition</a:t>
            </a:r>
          </a:p>
          <a:p>
            <a:pPr algn="just"/>
            <a:r>
              <a:rPr lang="en-IN" dirty="0" smtClean="0"/>
              <a:t>We can </a:t>
            </a:r>
            <a:r>
              <a:rPr lang="en-IN" dirty="0"/>
              <a:t>explicitly raise an exception by </a:t>
            </a:r>
            <a:r>
              <a:rPr lang="en-IN" dirty="0" smtClean="0"/>
              <a:t>using  </a:t>
            </a:r>
            <a:r>
              <a:rPr lang="en-IN" dirty="0"/>
              <a:t>a raise statement.</a:t>
            </a:r>
          </a:p>
          <a:p>
            <a:pPr algn="just"/>
            <a:r>
              <a:rPr lang="en-IN" dirty="0"/>
              <a:t>If a program does not handle an exception, it  terminates with an error </a:t>
            </a:r>
            <a:r>
              <a:rPr lang="en-IN" dirty="0" smtClean="0"/>
              <a:t>trace back </a:t>
            </a:r>
            <a:r>
              <a:rPr lang="en-IN" dirty="0"/>
              <a:t>message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Types Of </a:t>
            </a:r>
            <a:r>
              <a:rPr lang="en-IN" dirty="0" smtClean="0"/>
              <a:t>Errors</a:t>
            </a:r>
            <a:endParaRPr lang="en-US" dirty="0"/>
          </a:p>
        </p:txBody>
      </p:sp>
      <p:sp>
        <p:nvSpPr>
          <p:cNvPr id="3" name="Content Placeholder 2"/>
          <p:cNvSpPr>
            <a:spLocks noGrp="1"/>
          </p:cNvSpPr>
          <p:nvPr>
            <p:ph idx="1"/>
          </p:nvPr>
        </p:nvSpPr>
        <p:spPr/>
        <p:txBody>
          <a:bodyPr>
            <a:normAutofit fontScale="85000" lnSpcReduction="10000"/>
          </a:bodyPr>
          <a:lstStyle/>
          <a:p>
            <a:pPr algn="just"/>
            <a:r>
              <a:rPr lang="en-IN" dirty="0"/>
              <a:t>Compile-time </a:t>
            </a:r>
            <a:r>
              <a:rPr lang="en-IN" dirty="0" smtClean="0"/>
              <a:t>errors: These </a:t>
            </a:r>
            <a:r>
              <a:rPr lang="en-IN" dirty="0"/>
              <a:t>are </a:t>
            </a:r>
            <a:r>
              <a:rPr lang="en-IN" dirty="0" smtClean="0"/>
              <a:t>syntax </a:t>
            </a:r>
            <a:r>
              <a:rPr lang="en-IN" dirty="0"/>
              <a:t>errors found in the code, due to which a program fails to compile.</a:t>
            </a:r>
          </a:p>
          <a:p>
            <a:pPr algn="just"/>
            <a:r>
              <a:rPr lang="en-IN" dirty="0"/>
              <a:t>Runtime </a:t>
            </a:r>
            <a:r>
              <a:rPr lang="en-IN" dirty="0" smtClean="0"/>
              <a:t>errors: When </a:t>
            </a:r>
            <a:r>
              <a:rPr lang="en-IN" dirty="0"/>
              <a:t>PVM cannot execute the byte code, it flags runtime error. </a:t>
            </a:r>
            <a:endParaRPr lang="en-IN" dirty="0" smtClean="0"/>
          </a:p>
          <a:p>
            <a:pPr marL="0" indent="0" algn="just">
              <a:buNone/>
            </a:pPr>
            <a:r>
              <a:rPr lang="en-IN" dirty="0"/>
              <a:t>	</a:t>
            </a:r>
            <a:r>
              <a:rPr lang="en-IN" dirty="0" smtClean="0"/>
              <a:t>For </a:t>
            </a:r>
            <a:r>
              <a:rPr lang="en-IN" dirty="0"/>
              <a:t>example, insufficient memory to store </a:t>
            </a:r>
            <a:r>
              <a:rPr lang="en-IN" dirty="0" smtClean="0"/>
              <a:t>something </a:t>
            </a:r>
            <a:r>
              <a:rPr lang="en-IN" dirty="0"/>
              <a:t>or inability of PVM to execute some </a:t>
            </a:r>
            <a:r>
              <a:rPr lang="en-IN" dirty="0" smtClean="0"/>
              <a:t>statement </a:t>
            </a:r>
            <a:r>
              <a:rPr lang="en-IN" dirty="0"/>
              <a:t>come under runtime errors.</a:t>
            </a:r>
          </a:p>
          <a:p>
            <a:pPr algn="just"/>
            <a:r>
              <a:rPr lang="en-IN" dirty="0"/>
              <a:t>Logical </a:t>
            </a:r>
            <a:r>
              <a:rPr lang="en-IN" dirty="0" smtClean="0"/>
              <a:t>errors: These </a:t>
            </a:r>
            <a:r>
              <a:rPr lang="en-IN" dirty="0"/>
              <a:t>errors depict flaws in the logic of the program. The programmer might be using a wrong </a:t>
            </a:r>
            <a:r>
              <a:rPr lang="en-IN" dirty="0" smtClean="0"/>
              <a:t>formula. </a:t>
            </a:r>
            <a:r>
              <a:rPr lang="en-IN" dirty="0"/>
              <a:t>Logical errors are not detected either by Python compiler </a:t>
            </a:r>
            <a:r>
              <a:rPr lang="en-IN" dirty="0" smtClean="0"/>
              <a:t>or </a:t>
            </a:r>
            <a:r>
              <a:rPr lang="en-IN" dirty="0"/>
              <a:t>PVM.</a:t>
            </a:r>
          </a:p>
        </p:txBody>
      </p:sp>
    </p:spTree>
    <p:extLst>
      <p:ext uri="{BB962C8B-B14F-4D97-AF65-F5344CB8AC3E}">
        <p14:creationId xmlns:p14="http://schemas.microsoft.com/office/powerpoint/2010/main" val="1699575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Exception Handling</a:t>
            </a:r>
            <a:endParaRPr lang="en-US" dirty="0"/>
          </a:p>
        </p:txBody>
      </p:sp>
      <p:sp>
        <p:nvSpPr>
          <p:cNvPr id="3" name="Content Placeholder 2"/>
          <p:cNvSpPr>
            <a:spLocks noGrp="1"/>
          </p:cNvSpPr>
          <p:nvPr>
            <p:ph idx="1"/>
          </p:nvPr>
        </p:nvSpPr>
        <p:spPr/>
        <p:txBody>
          <a:bodyPr>
            <a:normAutofit/>
          </a:bodyPr>
          <a:lstStyle/>
          <a:p>
            <a:pPr lvl="0" algn="just"/>
            <a:r>
              <a:rPr lang="en-US" dirty="0"/>
              <a:t>An exception is a runtime error which can be handled by the programmer</a:t>
            </a:r>
            <a:r>
              <a:rPr lang="en-US" dirty="0" smtClean="0"/>
              <a:t>.</a:t>
            </a:r>
            <a:endParaRPr lang="en-IN" dirty="0" smtClean="0"/>
          </a:p>
          <a:p>
            <a:pPr algn="just"/>
            <a:r>
              <a:rPr lang="en-IN" dirty="0" smtClean="0"/>
              <a:t>Error </a:t>
            </a:r>
            <a:r>
              <a:rPr lang="en-IN" dirty="0"/>
              <a:t>handling increases the robustness of your code, which guards against potential failures </a:t>
            </a:r>
            <a:r>
              <a:rPr lang="en-IN" dirty="0" smtClean="0"/>
              <a:t>.</a:t>
            </a:r>
            <a:endParaRPr lang="en-IN" dirty="0"/>
          </a:p>
          <a:p>
            <a:pPr algn="just"/>
            <a:r>
              <a:rPr lang="en-IN" dirty="0" smtClean="0"/>
              <a:t>Program will not exit </a:t>
            </a:r>
            <a:r>
              <a:rPr lang="en-IN" dirty="0"/>
              <a:t>in an uncontrolled fashion</a:t>
            </a:r>
            <a:r>
              <a:rPr lang="en-IN" dirty="0" smtClean="0"/>
              <a:t>.</a:t>
            </a:r>
          </a:p>
          <a:p>
            <a:pPr algn="just"/>
            <a:r>
              <a:rPr lang="en-IN" dirty="0" smtClean="0"/>
              <a:t>try, except, finally used for exception handling.</a:t>
            </a:r>
            <a:endParaRPr lang="en-IN" dirty="0"/>
          </a:p>
        </p:txBody>
      </p:sp>
    </p:spTree>
    <p:extLst>
      <p:ext uri="{BB962C8B-B14F-4D97-AF65-F5344CB8AC3E}">
        <p14:creationId xmlns:p14="http://schemas.microsoft.com/office/powerpoint/2010/main" val="2602635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Exception Handling</a:t>
            </a:r>
            <a:endParaRPr lang="en-US" dirty="0"/>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7544" y="1628800"/>
            <a:ext cx="8136904"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try, except, else, finally</a:t>
            </a:r>
            <a:endParaRPr lang="en-US" dirty="0"/>
          </a:p>
        </p:txBody>
      </p:sp>
      <p:sp>
        <p:nvSpPr>
          <p:cNvPr id="3" name="Content Placeholder 2"/>
          <p:cNvSpPr>
            <a:spLocks noGrp="1"/>
          </p:cNvSpPr>
          <p:nvPr>
            <p:ph idx="1"/>
          </p:nvPr>
        </p:nvSpPr>
        <p:spPr/>
        <p:txBody>
          <a:bodyPr>
            <a:normAutofit/>
          </a:bodyPr>
          <a:lstStyle/>
          <a:p>
            <a:pPr lvl="0" algn="just"/>
            <a:r>
              <a:rPr lang="en-IN" dirty="0"/>
              <a:t>try: </a:t>
            </a:r>
            <a:r>
              <a:rPr lang="en-IN" dirty="0" smtClean="0"/>
              <a:t>all </a:t>
            </a:r>
            <a:r>
              <a:rPr lang="en-IN" dirty="0"/>
              <a:t>operations are done within this block. . </a:t>
            </a:r>
            <a:endParaRPr lang="en-IN" dirty="0" smtClean="0"/>
          </a:p>
          <a:p>
            <a:pPr lvl="0" algn="just"/>
            <a:r>
              <a:rPr lang="en-IN" dirty="0" smtClean="0"/>
              <a:t>except</a:t>
            </a:r>
            <a:r>
              <a:rPr lang="en-IN" dirty="0"/>
              <a:t>: </a:t>
            </a:r>
            <a:r>
              <a:rPr lang="en-IN" dirty="0" smtClean="0"/>
              <a:t>this </a:t>
            </a:r>
            <a:r>
              <a:rPr lang="en-IN" dirty="0"/>
              <a:t>block will get executed if any exception </a:t>
            </a:r>
            <a:r>
              <a:rPr lang="en-IN" dirty="0" smtClean="0"/>
              <a:t>encounters</a:t>
            </a:r>
          </a:p>
          <a:p>
            <a:pPr lvl="0" algn="just"/>
            <a:r>
              <a:rPr lang="en-IN" dirty="0" smtClean="0"/>
              <a:t>else</a:t>
            </a:r>
            <a:r>
              <a:rPr lang="en-IN" dirty="0"/>
              <a:t>: </a:t>
            </a:r>
            <a:r>
              <a:rPr lang="en-IN" dirty="0" smtClean="0"/>
              <a:t>this </a:t>
            </a:r>
            <a:r>
              <a:rPr lang="en-IN" dirty="0"/>
              <a:t>block will get executed if no exception is found</a:t>
            </a:r>
            <a:r>
              <a:rPr lang="en-IN" dirty="0" smtClean="0"/>
              <a:t>.</a:t>
            </a:r>
          </a:p>
          <a:p>
            <a:pPr lvl="0" algn="just"/>
            <a:r>
              <a:rPr lang="en-IN" dirty="0" smtClean="0"/>
              <a:t>finally: this block will get executed every time irrespective of exception.</a:t>
            </a:r>
            <a:endParaRPr lang="en-IN" dirty="0"/>
          </a:p>
        </p:txBody>
      </p:sp>
    </p:spTree>
    <p:extLst>
      <p:ext uri="{BB962C8B-B14F-4D97-AF65-F5344CB8AC3E}">
        <p14:creationId xmlns:p14="http://schemas.microsoft.com/office/powerpoint/2010/main" val="1685661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Handling Exception</a:t>
            </a:r>
            <a:endParaRPr lang="en-US" dirty="0"/>
          </a:p>
        </p:txBody>
      </p:sp>
      <p:sp>
        <p:nvSpPr>
          <p:cNvPr id="3" name="Content Placeholder 2"/>
          <p:cNvSpPr>
            <a:spLocks noGrp="1"/>
          </p:cNvSpPr>
          <p:nvPr>
            <p:ph sz="half" idx="1"/>
          </p:nvPr>
        </p:nvSpPr>
        <p:spPr>
          <a:xfrm>
            <a:off x="457200" y="1639341"/>
            <a:ext cx="4038600" cy="4525963"/>
          </a:xfrm>
        </p:spPr>
        <p:txBody>
          <a:bodyPr>
            <a:normAutofit fontScale="92500" lnSpcReduction="20000"/>
          </a:bodyPr>
          <a:lstStyle/>
          <a:p>
            <a:pPr marL="0" indent="0" algn="just">
              <a:buNone/>
            </a:pPr>
            <a:r>
              <a:rPr lang="en-IN" dirty="0"/>
              <a:t>a = </a:t>
            </a:r>
            <a:r>
              <a:rPr lang="en-IN" dirty="0" err="1"/>
              <a:t>int</a:t>
            </a:r>
            <a:r>
              <a:rPr lang="en-IN" dirty="0"/>
              <a:t>(input("</a:t>
            </a:r>
            <a:r>
              <a:rPr lang="en-IN" dirty="0">
                <a:solidFill>
                  <a:srgbClr val="7030A0"/>
                </a:solidFill>
              </a:rPr>
              <a:t>Enter a:</a:t>
            </a:r>
            <a:r>
              <a:rPr lang="en-IN" dirty="0"/>
              <a:t>"))  </a:t>
            </a:r>
          </a:p>
          <a:p>
            <a:pPr marL="0" indent="0" algn="just">
              <a:buNone/>
            </a:pPr>
            <a:r>
              <a:rPr lang="en-IN" dirty="0"/>
              <a:t>b = </a:t>
            </a:r>
            <a:r>
              <a:rPr lang="en-IN" dirty="0" err="1"/>
              <a:t>int</a:t>
            </a:r>
            <a:r>
              <a:rPr lang="en-IN" dirty="0"/>
              <a:t>(input("</a:t>
            </a:r>
            <a:r>
              <a:rPr lang="en-IN" dirty="0">
                <a:solidFill>
                  <a:srgbClr val="7030A0"/>
                </a:solidFill>
              </a:rPr>
              <a:t>Enter b:</a:t>
            </a:r>
            <a:r>
              <a:rPr lang="en-IN" dirty="0"/>
              <a:t>"))  </a:t>
            </a:r>
          </a:p>
          <a:p>
            <a:pPr marL="0" indent="0" algn="just">
              <a:buNone/>
            </a:pPr>
            <a:r>
              <a:rPr lang="en-IN" dirty="0"/>
              <a:t>c = a//</a:t>
            </a:r>
            <a:r>
              <a:rPr lang="en-IN" dirty="0" smtClean="0"/>
              <a:t>b</a:t>
            </a:r>
            <a:endParaRPr lang="en-IN" dirty="0"/>
          </a:p>
          <a:p>
            <a:pPr marL="0" indent="0" algn="just">
              <a:buNone/>
            </a:pPr>
            <a:r>
              <a:rPr lang="en-IN" b="1" dirty="0">
                <a:solidFill>
                  <a:srgbClr val="FF0000"/>
                </a:solidFill>
              </a:rPr>
              <a:t>print</a:t>
            </a:r>
            <a:r>
              <a:rPr lang="en-IN" dirty="0"/>
              <a:t>("</a:t>
            </a:r>
            <a:r>
              <a:rPr lang="en-IN" dirty="0">
                <a:solidFill>
                  <a:srgbClr val="7030A0"/>
                </a:solidFill>
              </a:rPr>
              <a:t>a/b = </a:t>
            </a:r>
            <a:r>
              <a:rPr lang="en-IN" dirty="0"/>
              <a:t>",c)  </a:t>
            </a:r>
          </a:p>
          <a:p>
            <a:pPr marL="0" indent="0" algn="just">
              <a:buNone/>
            </a:pPr>
            <a:r>
              <a:rPr lang="en-IN" dirty="0"/>
              <a:t>  </a:t>
            </a:r>
          </a:p>
          <a:p>
            <a:pPr marL="0" indent="0" algn="just">
              <a:buNone/>
            </a:pPr>
            <a:endParaRPr lang="en-IN" dirty="0"/>
          </a:p>
          <a:p>
            <a:pPr marL="0" indent="0" algn="just">
              <a:buNone/>
            </a:pPr>
            <a:r>
              <a:rPr lang="en-IN" b="1" dirty="0">
                <a:solidFill>
                  <a:srgbClr val="FF0000"/>
                </a:solidFill>
              </a:rPr>
              <a:t>print</a:t>
            </a:r>
            <a:r>
              <a:rPr lang="en-IN" dirty="0"/>
              <a:t>("</a:t>
            </a:r>
            <a:r>
              <a:rPr lang="en-IN" dirty="0">
                <a:solidFill>
                  <a:srgbClr val="7030A0"/>
                </a:solidFill>
              </a:rPr>
              <a:t>Program Executed Successfully</a:t>
            </a:r>
            <a:r>
              <a:rPr lang="en-IN" dirty="0"/>
              <a:t>") </a:t>
            </a:r>
            <a:endParaRPr lang="en-US" dirty="0" smtClean="0"/>
          </a:p>
        </p:txBody>
      </p:sp>
      <p:sp>
        <p:nvSpPr>
          <p:cNvPr id="7" name="Content Placeholder 6"/>
          <p:cNvSpPr>
            <a:spLocks noGrp="1"/>
          </p:cNvSpPr>
          <p:nvPr>
            <p:ph sz="half" idx="2"/>
          </p:nvPr>
        </p:nvSpPr>
        <p:spPr/>
        <p:txBody>
          <a:bodyPr>
            <a:normAutofit fontScale="92500" lnSpcReduction="20000"/>
          </a:bodyPr>
          <a:lstStyle/>
          <a:p>
            <a:pPr marL="0" indent="0" algn="just">
              <a:buNone/>
            </a:pPr>
            <a:r>
              <a:rPr lang="en-IN" dirty="0"/>
              <a:t>a = </a:t>
            </a:r>
            <a:r>
              <a:rPr lang="en-IN" dirty="0" err="1"/>
              <a:t>int</a:t>
            </a:r>
            <a:r>
              <a:rPr lang="en-IN" dirty="0"/>
              <a:t>(input("</a:t>
            </a:r>
            <a:r>
              <a:rPr lang="en-IN" dirty="0">
                <a:solidFill>
                  <a:srgbClr val="7030A0"/>
                </a:solidFill>
              </a:rPr>
              <a:t>Enter a</a:t>
            </a:r>
            <a:r>
              <a:rPr lang="en-IN" dirty="0" smtClean="0">
                <a:solidFill>
                  <a:srgbClr val="7030A0"/>
                </a:solidFill>
              </a:rPr>
              <a:t>:</a:t>
            </a:r>
            <a:r>
              <a:rPr lang="en-IN" dirty="0" smtClean="0"/>
              <a:t>"))</a:t>
            </a:r>
            <a:endParaRPr lang="en-IN" dirty="0"/>
          </a:p>
          <a:p>
            <a:pPr marL="0" indent="0" algn="just">
              <a:buNone/>
            </a:pPr>
            <a:r>
              <a:rPr lang="en-IN" dirty="0"/>
              <a:t>b = </a:t>
            </a:r>
            <a:r>
              <a:rPr lang="en-IN" dirty="0" err="1"/>
              <a:t>int</a:t>
            </a:r>
            <a:r>
              <a:rPr lang="en-IN" dirty="0"/>
              <a:t>(input("</a:t>
            </a:r>
            <a:r>
              <a:rPr lang="en-IN" dirty="0">
                <a:solidFill>
                  <a:srgbClr val="7030A0"/>
                </a:solidFill>
              </a:rPr>
              <a:t>Enter b</a:t>
            </a:r>
            <a:r>
              <a:rPr lang="en-IN" dirty="0" smtClean="0">
                <a:solidFill>
                  <a:srgbClr val="7030A0"/>
                </a:solidFill>
              </a:rPr>
              <a:t>:</a:t>
            </a:r>
            <a:r>
              <a:rPr lang="en-IN" dirty="0" smtClean="0"/>
              <a:t>"))</a:t>
            </a:r>
          </a:p>
          <a:p>
            <a:pPr marL="0" indent="0" algn="just">
              <a:buNone/>
            </a:pPr>
            <a:r>
              <a:rPr lang="en-IN" dirty="0" smtClean="0"/>
              <a:t>try:</a:t>
            </a:r>
          </a:p>
          <a:p>
            <a:pPr marL="0" indent="0" algn="just">
              <a:buNone/>
            </a:pPr>
            <a:r>
              <a:rPr lang="en-IN" dirty="0" smtClean="0"/>
              <a:t>	c </a:t>
            </a:r>
            <a:r>
              <a:rPr lang="en-IN" dirty="0"/>
              <a:t>= a//</a:t>
            </a:r>
            <a:r>
              <a:rPr lang="en-IN" dirty="0" smtClean="0"/>
              <a:t>b</a:t>
            </a:r>
            <a:endParaRPr lang="en-IN" dirty="0"/>
          </a:p>
          <a:p>
            <a:pPr marL="0" indent="0" algn="just">
              <a:buNone/>
            </a:pPr>
            <a:r>
              <a:rPr lang="en-IN" b="1" dirty="0" smtClean="0">
                <a:solidFill>
                  <a:srgbClr val="FF0000"/>
                </a:solidFill>
              </a:rPr>
              <a:t>	print</a:t>
            </a:r>
            <a:r>
              <a:rPr lang="en-IN" dirty="0"/>
              <a:t>("</a:t>
            </a:r>
            <a:r>
              <a:rPr lang="en-IN" dirty="0">
                <a:solidFill>
                  <a:srgbClr val="7030A0"/>
                </a:solidFill>
              </a:rPr>
              <a:t>a/b = </a:t>
            </a:r>
            <a:r>
              <a:rPr lang="en-IN" dirty="0"/>
              <a:t>",c</a:t>
            </a:r>
            <a:r>
              <a:rPr lang="en-IN" dirty="0" smtClean="0"/>
              <a:t>)</a:t>
            </a:r>
            <a:endParaRPr lang="en-IN" dirty="0"/>
          </a:p>
          <a:p>
            <a:pPr marL="0" indent="0" algn="just">
              <a:buNone/>
            </a:pPr>
            <a:r>
              <a:rPr lang="en-IN" dirty="0" smtClean="0"/>
              <a:t>except:</a:t>
            </a:r>
          </a:p>
          <a:p>
            <a:pPr marL="0" indent="0" algn="just">
              <a:buNone/>
            </a:pPr>
            <a:r>
              <a:rPr lang="en-IN" dirty="0"/>
              <a:t>	</a:t>
            </a:r>
            <a:r>
              <a:rPr lang="en-IN" dirty="0" smtClean="0"/>
              <a:t>print("</a:t>
            </a:r>
            <a:r>
              <a:rPr lang="en-IN" dirty="0" smtClean="0">
                <a:solidFill>
                  <a:srgbClr val="7030A0"/>
                </a:solidFill>
              </a:rPr>
              <a:t>Error Handled</a:t>
            </a:r>
            <a:r>
              <a:rPr lang="en-IN" dirty="0" smtClean="0"/>
              <a:t>")</a:t>
            </a:r>
            <a:endParaRPr lang="en-IN" dirty="0"/>
          </a:p>
          <a:p>
            <a:pPr marL="0" indent="0" algn="just">
              <a:buNone/>
            </a:pPr>
            <a:endParaRPr lang="en-IN" dirty="0"/>
          </a:p>
          <a:p>
            <a:pPr marL="0" indent="0" algn="just">
              <a:buNone/>
            </a:pPr>
            <a:r>
              <a:rPr lang="en-IN" b="1" dirty="0">
                <a:solidFill>
                  <a:srgbClr val="FF0000"/>
                </a:solidFill>
              </a:rPr>
              <a:t>print</a:t>
            </a:r>
            <a:r>
              <a:rPr lang="en-IN" dirty="0"/>
              <a:t>("</a:t>
            </a:r>
            <a:r>
              <a:rPr lang="en-IN" dirty="0">
                <a:solidFill>
                  <a:srgbClr val="7030A0"/>
                </a:solidFill>
              </a:rPr>
              <a:t>Program Executed Successfully</a:t>
            </a:r>
            <a:r>
              <a:rPr lang="en-IN" dirty="0"/>
              <a:t>")</a:t>
            </a:r>
          </a:p>
        </p:txBody>
      </p:sp>
      <p:sp>
        <p:nvSpPr>
          <p:cNvPr id="8" name="Rectangle 7"/>
          <p:cNvSpPr/>
          <p:nvPr/>
        </p:nvSpPr>
        <p:spPr>
          <a:xfrm>
            <a:off x="467544" y="1556792"/>
            <a:ext cx="3960440" cy="46085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p:cNvSpPr/>
          <p:nvPr/>
        </p:nvSpPr>
        <p:spPr>
          <a:xfrm>
            <a:off x="4644008" y="1556792"/>
            <a:ext cx="4032448" cy="46085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249844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animEffect transition="in" filter="fade">
                                      <p:cBhvr>
                                        <p:cTn id="27" dur="500"/>
                                        <p:tgtEl>
                                          <p:spTgt spid="7">
                                            <p:txEl>
                                              <p:pRg st="0" end="0"/>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7">
                                            <p:txEl>
                                              <p:pRg st="1" end="1"/>
                                            </p:txEl>
                                          </p:spTgt>
                                        </p:tgtEl>
                                        <p:attrNameLst>
                                          <p:attrName>style.visibility</p:attrName>
                                        </p:attrNameLst>
                                      </p:cBhvr>
                                      <p:to>
                                        <p:strVal val="visible"/>
                                      </p:to>
                                    </p:set>
                                    <p:animEffect transition="in" filter="fade">
                                      <p:cBhvr>
                                        <p:cTn id="30" dur="500"/>
                                        <p:tgtEl>
                                          <p:spTgt spid="7">
                                            <p:txEl>
                                              <p:pRg st="1" end="1"/>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7">
                                            <p:txEl>
                                              <p:pRg st="2" end="2"/>
                                            </p:txEl>
                                          </p:spTgt>
                                        </p:tgtEl>
                                        <p:attrNameLst>
                                          <p:attrName>style.visibility</p:attrName>
                                        </p:attrNameLst>
                                      </p:cBhvr>
                                      <p:to>
                                        <p:strVal val="visible"/>
                                      </p:to>
                                    </p:set>
                                    <p:animEffect transition="in" filter="fade">
                                      <p:cBhvr>
                                        <p:cTn id="33" dur="500"/>
                                        <p:tgtEl>
                                          <p:spTgt spid="7">
                                            <p:txEl>
                                              <p:pRg st="2" end="2"/>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7">
                                            <p:txEl>
                                              <p:pRg st="3" end="3"/>
                                            </p:txEl>
                                          </p:spTgt>
                                        </p:tgtEl>
                                        <p:attrNameLst>
                                          <p:attrName>style.visibility</p:attrName>
                                        </p:attrNameLst>
                                      </p:cBhvr>
                                      <p:to>
                                        <p:strVal val="visible"/>
                                      </p:to>
                                    </p:set>
                                    <p:animEffect transition="in" filter="fade">
                                      <p:cBhvr>
                                        <p:cTn id="36" dur="500"/>
                                        <p:tgtEl>
                                          <p:spTgt spid="7">
                                            <p:txEl>
                                              <p:pRg st="3" end="3"/>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7">
                                            <p:txEl>
                                              <p:pRg st="4" end="4"/>
                                            </p:txEl>
                                          </p:spTgt>
                                        </p:tgtEl>
                                        <p:attrNameLst>
                                          <p:attrName>style.visibility</p:attrName>
                                        </p:attrNameLst>
                                      </p:cBhvr>
                                      <p:to>
                                        <p:strVal val="visible"/>
                                      </p:to>
                                    </p:set>
                                    <p:animEffect transition="in" filter="fade">
                                      <p:cBhvr>
                                        <p:cTn id="39" dur="500"/>
                                        <p:tgtEl>
                                          <p:spTgt spid="7">
                                            <p:txEl>
                                              <p:pRg st="4" end="4"/>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7">
                                            <p:txEl>
                                              <p:pRg st="5" end="5"/>
                                            </p:txEl>
                                          </p:spTgt>
                                        </p:tgtEl>
                                        <p:attrNameLst>
                                          <p:attrName>style.visibility</p:attrName>
                                        </p:attrNameLst>
                                      </p:cBhvr>
                                      <p:to>
                                        <p:strVal val="visible"/>
                                      </p:to>
                                    </p:set>
                                    <p:animEffect transition="in" filter="fade">
                                      <p:cBhvr>
                                        <p:cTn id="42" dur="500"/>
                                        <p:tgtEl>
                                          <p:spTgt spid="7">
                                            <p:txEl>
                                              <p:pRg st="5" end="5"/>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7">
                                            <p:txEl>
                                              <p:pRg st="6" end="6"/>
                                            </p:txEl>
                                          </p:spTgt>
                                        </p:tgtEl>
                                        <p:attrNameLst>
                                          <p:attrName>style.visibility</p:attrName>
                                        </p:attrNameLst>
                                      </p:cBhvr>
                                      <p:to>
                                        <p:strVal val="visible"/>
                                      </p:to>
                                    </p:set>
                                    <p:animEffect transition="in" filter="fade">
                                      <p:cBhvr>
                                        <p:cTn id="45" dur="500"/>
                                        <p:tgtEl>
                                          <p:spTgt spid="7">
                                            <p:txEl>
                                              <p:pRg st="6" end="6"/>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7">
                                            <p:txEl>
                                              <p:pRg st="8" end="8"/>
                                            </p:txEl>
                                          </p:spTgt>
                                        </p:tgtEl>
                                        <p:attrNameLst>
                                          <p:attrName>style.visibility</p:attrName>
                                        </p:attrNameLst>
                                      </p:cBhvr>
                                      <p:to>
                                        <p:strVal val="visible"/>
                                      </p:to>
                                    </p:set>
                                    <p:animEffect transition="in" filter="fade">
                                      <p:cBhvr>
                                        <p:cTn id="48" dur="50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Handling Exception</a:t>
            </a:r>
            <a:endParaRPr lang="en-US" dirty="0"/>
          </a:p>
        </p:txBody>
      </p:sp>
      <p:sp>
        <p:nvSpPr>
          <p:cNvPr id="3" name="Content Placeholder 2"/>
          <p:cNvSpPr>
            <a:spLocks noGrp="1"/>
          </p:cNvSpPr>
          <p:nvPr>
            <p:ph sz="half" idx="1"/>
          </p:nvPr>
        </p:nvSpPr>
        <p:spPr>
          <a:xfrm>
            <a:off x="457200" y="1600200"/>
            <a:ext cx="7787208" cy="4525963"/>
          </a:xfrm>
        </p:spPr>
        <p:txBody>
          <a:bodyPr>
            <a:normAutofit fontScale="55000" lnSpcReduction="20000"/>
          </a:bodyPr>
          <a:lstStyle/>
          <a:p>
            <a:pPr marL="0" indent="0" algn="just">
              <a:buNone/>
            </a:pPr>
            <a:r>
              <a:rPr lang="en-IN" dirty="0" smtClean="0"/>
              <a:t>try:</a:t>
            </a:r>
          </a:p>
          <a:p>
            <a:pPr marL="0" indent="0" algn="just">
              <a:buNone/>
            </a:pPr>
            <a:r>
              <a:rPr lang="en-IN" dirty="0" smtClean="0"/>
              <a:t>	a </a:t>
            </a:r>
            <a:r>
              <a:rPr lang="en-IN" dirty="0"/>
              <a:t>= </a:t>
            </a:r>
            <a:r>
              <a:rPr lang="en-IN" dirty="0" err="1"/>
              <a:t>int</a:t>
            </a:r>
            <a:r>
              <a:rPr lang="en-IN" dirty="0"/>
              <a:t>(input("</a:t>
            </a:r>
            <a:r>
              <a:rPr lang="en-IN" dirty="0">
                <a:solidFill>
                  <a:srgbClr val="7030A0"/>
                </a:solidFill>
              </a:rPr>
              <a:t>Enter a</a:t>
            </a:r>
            <a:r>
              <a:rPr lang="en-IN" dirty="0" smtClean="0">
                <a:solidFill>
                  <a:srgbClr val="7030A0"/>
                </a:solidFill>
              </a:rPr>
              <a:t>:</a:t>
            </a:r>
            <a:r>
              <a:rPr lang="en-IN" dirty="0" smtClean="0"/>
              <a:t>"))</a:t>
            </a:r>
            <a:endParaRPr lang="en-IN" dirty="0"/>
          </a:p>
          <a:p>
            <a:pPr marL="0" indent="0" algn="just">
              <a:buNone/>
            </a:pPr>
            <a:r>
              <a:rPr lang="en-IN" dirty="0" smtClean="0"/>
              <a:t>	b </a:t>
            </a:r>
            <a:r>
              <a:rPr lang="en-IN" dirty="0"/>
              <a:t>= </a:t>
            </a:r>
            <a:r>
              <a:rPr lang="en-IN" dirty="0" err="1"/>
              <a:t>int</a:t>
            </a:r>
            <a:r>
              <a:rPr lang="en-IN" dirty="0"/>
              <a:t>(input("</a:t>
            </a:r>
            <a:r>
              <a:rPr lang="en-IN" dirty="0">
                <a:solidFill>
                  <a:srgbClr val="7030A0"/>
                </a:solidFill>
              </a:rPr>
              <a:t>Enter b</a:t>
            </a:r>
            <a:r>
              <a:rPr lang="en-IN" dirty="0" smtClean="0">
                <a:solidFill>
                  <a:srgbClr val="7030A0"/>
                </a:solidFill>
              </a:rPr>
              <a:t>:</a:t>
            </a:r>
            <a:r>
              <a:rPr lang="en-IN" dirty="0" smtClean="0"/>
              <a:t>"))</a:t>
            </a:r>
            <a:endParaRPr lang="en-IN" dirty="0"/>
          </a:p>
          <a:p>
            <a:pPr marL="0" indent="0" algn="just">
              <a:buNone/>
            </a:pPr>
            <a:r>
              <a:rPr lang="en-IN" dirty="0" smtClean="0"/>
              <a:t>	c </a:t>
            </a:r>
            <a:r>
              <a:rPr lang="en-IN" dirty="0"/>
              <a:t>= a//</a:t>
            </a:r>
            <a:r>
              <a:rPr lang="en-IN" dirty="0" smtClean="0"/>
              <a:t>b</a:t>
            </a:r>
            <a:endParaRPr lang="en-IN" dirty="0"/>
          </a:p>
          <a:p>
            <a:pPr marL="0" indent="0" algn="just">
              <a:buNone/>
            </a:pPr>
            <a:r>
              <a:rPr lang="en-IN" b="1" dirty="0" smtClean="0">
                <a:solidFill>
                  <a:srgbClr val="FF0000"/>
                </a:solidFill>
              </a:rPr>
              <a:t>	print</a:t>
            </a:r>
            <a:r>
              <a:rPr lang="en-IN" dirty="0"/>
              <a:t>("</a:t>
            </a:r>
            <a:r>
              <a:rPr lang="en-IN" dirty="0">
                <a:solidFill>
                  <a:srgbClr val="7030A0"/>
                </a:solidFill>
              </a:rPr>
              <a:t>a/b = </a:t>
            </a:r>
            <a:r>
              <a:rPr lang="en-IN" dirty="0"/>
              <a:t>",c</a:t>
            </a:r>
            <a:r>
              <a:rPr lang="en-IN" dirty="0" smtClean="0"/>
              <a:t>)</a:t>
            </a:r>
            <a:endParaRPr lang="en-IN" dirty="0"/>
          </a:p>
          <a:p>
            <a:pPr marL="0" indent="0" algn="just">
              <a:buNone/>
            </a:pPr>
            <a:r>
              <a:rPr lang="en-IN" b="1" dirty="0" smtClean="0">
                <a:solidFill>
                  <a:srgbClr val="FF0000"/>
                </a:solidFill>
              </a:rPr>
              <a:t>	print</a:t>
            </a:r>
            <a:r>
              <a:rPr lang="en-IN" dirty="0" smtClean="0"/>
              <a:t>(</a:t>
            </a:r>
            <a:r>
              <a:rPr lang="en-IN" dirty="0" smtClean="0">
                <a:solidFill>
                  <a:srgbClr val="7030A0"/>
                </a:solidFill>
              </a:rPr>
              <a:t>x</a:t>
            </a:r>
            <a:r>
              <a:rPr lang="en-IN" dirty="0" smtClean="0"/>
              <a:t>)  </a:t>
            </a:r>
            <a:endParaRPr lang="en-IN" dirty="0"/>
          </a:p>
          <a:p>
            <a:pPr marL="0" indent="0" algn="just">
              <a:buNone/>
            </a:pPr>
            <a:r>
              <a:rPr lang="en-IN" dirty="0" smtClean="0"/>
              <a:t>except </a:t>
            </a:r>
            <a:r>
              <a:rPr lang="en-IN" dirty="0" err="1" smtClean="0"/>
              <a:t>NameError</a:t>
            </a:r>
            <a:r>
              <a:rPr lang="en-IN" dirty="0" smtClean="0"/>
              <a:t>:</a:t>
            </a:r>
          </a:p>
          <a:p>
            <a:pPr marL="0" indent="0" algn="just">
              <a:buNone/>
            </a:pPr>
            <a:r>
              <a:rPr lang="en-IN" dirty="0"/>
              <a:t>	</a:t>
            </a:r>
            <a:r>
              <a:rPr lang="en-IN" b="1" dirty="0">
                <a:solidFill>
                  <a:srgbClr val="FF0000"/>
                </a:solidFill>
              </a:rPr>
              <a:t> print</a:t>
            </a:r>
            <a:r>
              <a:rPr lang="en-IN" dirty="0" smtClean="0"/>
              <a:t>("</a:t>
            </a:r>
            <a:r>
              <a:rPr lang="en-IN" dirty="0" smtClean="0">
                <a:solidFill>
                  <a:srgbClr val="7030A0"/>
                </a:solidFill>
              </a:rPr>
              <a:t>Name Error Handled</a:t>
            </a:r>
            <a:r>
              <a:rPr lang="en-IN" dirty="0" smtClean="0"/>
              <a:t>")</a:t>
            </a:r>
          </a:p>
          <a:p>
            <a:pPr marL="0" indent="0" algn="just">
              <a:buNone/>
            </a:pPr>
            <a:r>
              <a:rPr lang="en-IN" dirty="0"/>
              <a:t>except </a:t>
            </a:r>
            <a:r>
              <a:rPr lang="en-IN" dirty="0" err="1" smtClean="0"/>
              <a:t>ValueError</a:t>
            </a:r>
            <a:r>
              <a:rPr lang="en-IN" dirty="0"/>
              <a:t>:</a:t>
            </a:r>
          </a:p>
          <a:p>
            <a:pPr marL="0" indent="0" algn="just">
              <a:buNone/>
            </a:pPr>
            <a:r>
              <a:rPr lang="en-IN" dirty="0"/>
              <a:t>	</a:t>
            </a:r>
            <a:r>
              <a:rPr lang="en-IN" b="1" dirty="0">
                <a:solidFill>
                  <a:srgbClr val="FF0000"/>
                </a:solidFill>
              </a:rPr>
              <a:t> print</a:t>
            </a:r>
            <a:r>
              <a:rPr lang="en-IN" dirty="0" smtClean="0"/>
              <a:t>("</a:t>
            </a:r>
            <a:r>
              <a:rPr lang="en-IN" dirty="0" smtClean="0">
                <a:solidFill>
                  <a:srgbClr val="7030A0"/>
                </a:solidFill>
              </a:rPr>
              <a:t>Value </a:t>
            </a:r>
            <a:r>
              <a:rPr lang="en-IN" dirty="0">
                <a:solidFill>
                  <a:srgbClr val="7030A0"/>
                </a:solidFill>
              </a:rPr>
              <a:t>Error Handled</a:t>
            </a:r>
            <a:r>
              <a:rPr lang="en-IN" dirty="0" smtClean="0"/>
              <a:t>")</a:t>
            </a:r>
          </a:p>
          <a:p>
            <a:pPr marL="0" indent="0" algn="just">
              <a:buNone/>
            </a:pPr>
            <a:r>
              <a:rPr lang="en-IN" dirty="0"/>
              <a:t>except </a:t>
            </a:r>
            <a:r>
              <a:rPr lang="en-IN" dirty="0" err="1" smtClean="0"/>
              <a:t>ZeroDivisionError</a:t>
            </a:r>
            <a:r>
              <a:rPr lang="en-IN" dirty="0"/>
              <a:t>:</a:t>
            </a:r>
          </a:p>
          <a:p>
            <a:pPr marL="0" indent="0" algn="just">
              <a:buNone/>
            </a:pPr>
            <a:r>
              <a:rPr lang="en-IN" dirty="0"/>
              <a:t>	</a:t>
            </a:r>
            <a:r>
              <a:rPr lang="en-IN" b="1" dirty="0">
                <a:solidFill>
                  <a:srgbClr val="FF0000"/>
                </a:solidFill>
              </a:rPr>
              <a:t> print</a:t>
            </a:r>
            <a:r>
              <a:rPr lang="en-IN" dirty="0" smtClean="0"/>
              <a:t>("</a:t>
            </a:r>
            <a:r>
              <a:rPr lang="en-IN" dirty="0" smtClean="0">
                <a:solidFill>
                  <a:srgbClr val="7030A0"/>
                </a:solidFill>
              </a:rPr>
              <a:t>Division by Zero Error </a:t>
            </a:r>
            <a:r>
              <a:rPr lang="en-IN" dirty="0">
                <a:solidFill>
                  <a:srgbClr val="7030A0"/>
                </a:solidFill>
              </a:rPr>
              <a:t>Handled</a:t>
            </a:r>
            <a:r>
              <a:rPr lang="en-IN" dirty="0" smtClean="0"/>
              <a:t>")</a:t>
            </a:r>
          </a:p>
          <a:p>
            <a:pPr marL="0" indent="0" algn="just">
              <a:buNone/>
            </a:pPr>
            <a:r>
              <a:rPr lang="en-IN" dirty="0" smtClean="0"/>
              <a:t>except Exception:</a:t>
            </a:r>
          </a:p>
          <a:p>
            <a:pPr marL="0" indent="0" algn="just">
              <a:buNone/>
            </a:pPr>
            <a:r>
              <a:rPr lang="en-IN" dirty="0"/>
              <a:t>	</a:t>
            </a:r>
            <a:r>
              <a:rPr lang="en-IN" b="1" dirty="0">
                <a:solidFill>
                  <a:srgbClr val="FF0000"/>
                </a:solidFill>
              </a:rPr>
              <a:t> print</a:t>
            </a:r>
            <a:r>
              <a:rPr lang="en-IN" dirty="0" smtClean="0"/>
              <a:t>("</a:t>
            </a:r>
            <a:r>
              <a:rPr lang="en-IN" dirty="0" smtClean="0">
                <a:solidFill>
                  <a:srgbClr val="7030A0"/>
                </a:solidFill>
              </a:rPr>
              <a:t>Exception </a:t>
            </a:r>
            <a:r>
              <a:rPr lang="en-IN" dirty="0">
                <a:solidFill>
                  <a:srgbClr val="7030A0"/>
                </a:solidFill>
              </a:rPr>
              <a:t>Handled</a:t>
            </a:r>
            <a:r>
              <a:rPr lang="en-IN" dirty="0" smtClean="0"/>
              <a:t>")</a:t>
            </a:r>
          </a:p>
          <a:p>
            <a:pPr marL="0" indent="0" algn="just">
              <a:buNone/>
            </a:pPr>
            <a:r>
              <a:rPr lang="en-IN" dirty="0" smtClean="0"/>
              <a:t>else:</a:t>
            </a:r>
          </a:p>
          <a:p>
            <a:pPr marL="0" indent="0" algn="just">
              <a:buNone/>
            </a:pPr>
            <a:r>
              <a:rPr lang="en-IN" b="1" dirty="0" smtClean="0">
                <a:solidFill>
                  <a:srgbClr val="FF0000"/>
                </a:solidFill>
              </a:rPr>
              <a:t>	print</a:t>
            </a:r>
            <a:r>
              <a:rPr lang="en-IN" dirty="0" smtClean="0"/>
              <a:t>("</a:t>
            </a:r>
            <a:r>
              <a:rPr lang="en-IN" dirty="0" smtClean="0">
                <a:solidFill>
                  <a:srgbClr val="7030A0"/>
                </a:solidFill>
              </a:rPr>
              <a:t>Program Executed Successfully</a:t>
            </a:r>
            <a:r>
              <a:rPr lang="en-IN" dirty="0" smtClean="0"/>
              <a:t>")</a:t>
            </a:r>
          </a:p>
          <a:p>
            <a:pPr marL="0" indent="0" algn="just">
              <a:buNone/>
            </a:pPr>
            <a:r>
              <a:rPr lang="en-IN" dirty="0" smtClean="0"/>
              <a:t>finally:</a:t>
            </a:r>
          </a:p>
          <a:p>
            <a:pPr marL="0" indent="0" algn="just">
              <a:buNone/>
            </a:pPr>
            <a:r>
              <a:rPr lang="en-IN" b="1" dirty="0" smtClean="0">
                <a:solidFill>
                  <a:srgbClr val="FF0000"/>
                </a:solidFill>
              </a:rPr>
              <a:t>	print</a:t>
            </a:r>
            <a:r>
              <a:rPr lang="en-IN" dirty="0" smtClean="0"/>
              <a:t>(</a:t>
            </a:r>
            <a:r>
              <a:rPr lang="en-IN" dirty="0"/>
              <a:t>"</a:t>
            </a:r>
            <a:r>
              <a:rPr lang="en-IN" dirty="0" smtClean="0">
                <a:solidFill>
                  <a:srgbClr val="7030A0"/>
                </a:solidFill>
              </a:rPr>
              <a:t>Always Executes</a:t>
            </a:r>
            <a:r>
              <a:rPr lang="en-IN" dirty="0" smtClean="0"/>
              <a:t>")</a:t>
            </a:r>
            <a:endParaRPr lang="en-US" dirty="0" smtClean="0"/>
          </a:p>
        </p:txBody>
      </p:sp>
    </p:spTree>
    <p:extLst>
      <p:ext uri="{BB962C8B-B14F-4D97-AF65-F5344CB8AC3E}">
        <p14:creationId xmlns:p14="http://schemas.microsoft.com/office/powerpoint/2010/main" val="29119132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Handling Exception</a:t>
            </a:r>
            <a:endParaRPr lang="en-US" dirty="0"/>
          </a:p>
        </p:txBody>
      </p:sp>
      <p:sp>
        <p:nvSpPr>
          <p:cNvPr id="3" name="Content Placeholder 2"/>
          <p:cNvSpPr>
            <a:spLocks noGrp="1"/>
          </p:cNvSpPr>
          <p:nvPr>
            <p:ph sz="half" idx="1"/>
          </p:nvPr>
        </p:nvSpPr>
        <p:spPr>
          <a:xfrm>
            <a:off x="457200" y="1600200"/>
            <a:ext cx="7787208" cy="5141168"/>
          </a:xfrm>
        </p:spPr>
        <p:txBody>
          <a:bodyPr>
            <a:noAutofit/>
          </a:bodyPr>
          <a:lstStyle/>
          <a:p>
            <a:pPr marL="0" indent="0" algn="just">
              <a:buNone/>
            </a:pPr>
            <a:r>
              <a:rPr lang="en-IN" sz="2200" dirty="0" smtClean="0"/>
              <a:t>try:</a:t>
            </a:r>
          </a:p>
          <a:p>
            <a:pPr marL="0" indent="0" algn="just">
              <a:buNone/>
            </a:pPr>
            <a:r>
              <a:rPr lang="en-IN" sz="2200" dirty="0" smtClean="0"/>
              <a:t>	a </a:t>
            </a:r>
            <a:r>
              <a:rPr lang="en-IN" sz="2200" dirty="0"/>
              <a:t>= </a:t>
            </a:r>
            <a:r>
              <a:rPr lang="en-IN" sz="2200" dirty="0" err="1"/>
              <a:t>int</a:t>
            </a:r>
            <a:r>
              <a:rPr lang="en-IN" sz="2200" dirty="0"/>
              <a:t>(input("</a:t>
            </a:r>
            <a:r>
              <a:rPr lang="en-IN" sz="2200" dirty="0">
                <a:solidFill>
                  <a:srgbClr val="7030A0"/>
                </a:solidFill>
              </a:rPr>
              <a:t>Enter a</a:t>
            </a:r>
            <a:r>
              <a:rPr lang="en-IN" sz="2200" dirty="0" smtClean="0">
                <a:solidFill>
                  <a:srgbClr val="7030A0"/>
                </a:solidFill>
              </a:rPr>
              <a:t>:</a:t>
            </a:r>
            <a:r>
              <a:rPr lang="en-IN" sz="2200" dirty="0" smtClean="0"/>
              <a:t>"))</a:t>
            </a:r>
            <a:endParaRPr lang="en-IN" sz="2200" dirty="0"/>
          </a:p>
          <a:p>
            <a:pPr marL="0" indent="0" algn="just">
              <a:buNone/>
            </a:pPr>
            <a:r>
              <a:rPr lang="en-IN" sz="2200" dirty="0" smtClean="0"/>
              <a:t>	b </a:t>
            </a:r>
            <a:r>
              <a:rPr lang="en-IN" sz="2200" dirty="0"/>
              <a:t>= </a:t>
            </a:r>
            <a:r>
              <a:rPr lang="en-IN" sz="2200" dirty="0" err="1"/>
              <a:t>int</a:t>
            </a:r>
            <a:r>
              <a:rPr lang="en-IN" sz="2200" dirty="0"/>
              <a:t>(input("</a:t>
            </a:r>
            <a:r>
              <a:rPr lang="en-IN" sz="2200" dirty="0">
                <a:solidFill>
                  <a:srgbClr val="7030A0"/>
                </a:solidFill>
              </a:rPr>
              <a:t>Enter b</a:t>
            </a:r>
            <a:r>
              <a:rPr lang="en-IN" sz="2200" dirty="0" smtClean="0">
                <a:solidFill>
                  <a:srgbClr val="7030A0"/>
                </a:solidFill>
              </a:rPr>
              <a:t>:</a:t>
            </a:r>
            <a:r>
              <a:rPr lang="en-IN" sz="2200" dirty="0" smtClean="0"/>
              <a:t>"))</a:t>
            </a:r>
            <a:endParaRPr lang="en-IN" sz="2200" dirty="0"/>
          </a:p>
          <a:p>
            <a:pPr marL="0" indent="0" algn="just">
              <a:buNone/>
            </a:pPr>
            <a:r>
              <a:rPr lang="en-IN" sz="2200" dirty="0" smtClean="0"/>
              <a:t>	c </a:t>
            </a:r>
            <a:r>
              <a:rPr lang="en-IN" sz="2200" dirty="0"/>
              <a:t>= a//</a:t>
            </a:r>
            <a:r>
              <a:rPr lang="en-IN" sz="2200" dirty="0" smtClean="0"/>
              <a:t>b</a:t>
            </a:r>
            <a:endParaRPr lang="en-IN" sz="2200" dirty="0"/>
          </a:p>
          <a:p>
            <a:pPr marL="0" indent="0" algn="just">
              <a:buNone/>
            </a:pPr>
            <a:r>
              <a:rPr lang="en-IN" sz="2200" b="1" dirty="0" smtClean="0">
                <a:solidFill>
                  <a:srgbClr val="FF0000"/>
                </a:solidFill>
              </a:rPr>
              <a:t>	print</a:t>
            </a:r>
            <a:r>
              <a:rPr lang="en-IN" sz="2200" dirty="0"/>
              <a:t>("</a:t>
            </a:r>
            <a:r>
              <a:rPr lang="en-IN" sz="2200" dirty="0">
                <a:solidFill>
                  <a:srgbClr val="7030A0"/>
                </a:solidFill>
              </a:rPr>
              <a:t>a/b = </a:t>
            </a:r>
            <a:r>
              <a:rPr lang="en-IN" sz="2200" dirty="0"/>
              <a:t>",c</a:t>
            </a:r>
            <a:r>
              <a:rPr lang="en-IN" sz="2200" dirty="0" smtClean="0"/>
              <a:t>)</a:t>
            </a:r>
            <a:endParaRPr lang="en-IN" sz="2200" dirty="0"/>
          </a:p>
          <a:p>
            <a:pPr marL="0" indent="0" algn="just">
              <a:buNone/>
            </a:pPr>
            <a:r>
              <a:rPr lang="en-IN" sz="2200" b="1" dirty="0" smtClean="0">
                <a:solidFill>
                  <a:srgbClr val="FF0000"/>
                </a:solidFill>
              </a:rPr>
              <a:t>	print</a:t>
            </a:r>
            <a:r>
              <a:rPr lang="en-IN" sz="2200" dirty="0" smtClean="0"/>
              <a:t>(</a:t>
            </a:r>
            <a:r>
              <a:rPr lang="en-IN" sz="2200" dirty="0" smtClean="0">
                <a:solidFill>
                  <a:srgbClr val="7030A0"/>
                </a:solidFill>
              </a:rPr>
              <a:t>x</a:t>
            </a:r>
            <a:r>
              <a:rPr lang="en-IN" sz="2200" dirty="0" smtClean="0"/>
              <a:t>)  </a:t>
            </a:r>
            <a:endParaRPr lang="en-IN" sz="2200" dirty="0"/>
          </a:p>
          <a:p>
            <a:pPr marL="0" indent="0" algn="just">
              <a:buNone/>
            </a:pPr>
            <a:r>
              <a:rPr lang="en-IN" sz="2200" dirty="0" smtClean="0"/>
              <a:t>except (Exception, </a:t>
            </a:r>
            <a:r>
              <a:rPr lang="en-IN" sz="2200" dirty="0" err="1" smtClean="0"/>
              <a:t>NameError</a:t>
            </a:r>
            <a:r>
              <a:rPr lang="en-IN" sz="2200" dirty="0" smtClean="0"/>
              <a:t>, </a:t>
            </a:r>
            <a:r>
              <a:rPr lang="en-IN" sz="2200" dirty="0" err="1" smtClean="0"/>
              <a:t>ValueError</a:t>
            </a:r>
            <a:r>
              <a:rPr lang="en-IN" sz="2200" dirty="0" smtClean="0"/>
              <a:t>, </a:t>
            </a:r>
            <a:r>
              <a:rPr lang="en-IN" sz="2200" dirty="0" err="1" smtClean="0"/>
              <a:t>ZeroDivisionError</a:t>
            </a:r>
            <a:r>
              <a:rPr lang="en-IN" sz="2200" dirty="0" smtClean="0"/>
              <a:t>) as e:</a:t>
            </a:r>
          </a:p>
          <a:p>
            <a:pPr marL="0" indent="0" algn="just">
              <a:buNone/>
            </a:pPr>
            <a:r>
              <a:rPr lang="en-IN" sz="2200" dirty="0"/>
              <a:t>	</a:t>
            </a:r>
            <a:r>
              <a:rPr lang="en-IN" sz="2200" b="1" dirty="0">
                <a:solidFill>
                  <a:srgbClr val="FF0000"/>
                </a:solidFill>
              </a:rPr>
              <a:t> print</a:t>
            </a:r>
            <a:r>
              <a:rPr lang="en-IN" sz="2200" dirty="0" smtClean="0"/>
              <a:t>("</a:t>
            </a:r>
            <a:r>
              <a:rPr lang="en-IN" sz="2200" dirty="0" smtClean="0">
                <a:solidFill>
                  <a:srgbClr val="7030A0"/>
                </a:solidFill>
              </a:rPr>
              <a:t>Error Handled :</a:t>
            </a:r>
            <a:r>
              <a:rPr lang="en-IN" sz="2200" dirty="0" smtClean="0"/>
              <a:t>", e)</a:t>
            </a:r>
          </a:p>
          <a:p>
            <a:pPr marL="0" indent="0" algn="just">
              <a:buNone/>
            </a:pPr>
            <a:r>
              <a:rPr lang="en-IN" sz="2200" dirty="0" smtClean="0"/>
              <a:t>else:</a:t>
            </a:r>
          </a:p>
          <a:p>
            <a:pPr marL="0" indent="0" algn="just">
              <a:buNone/>
            </a:pPr>
            <a:r>
              <a:rPr lang="en-IN" sz="2200" dirty="0"/>
              <a:t>	</a:t>
            </a:r>
            <a:r>
              <a:rPr lang="en-IN" sz="2200" b="1" dirty="0">
                <a:solidFill>
                  <a:srgbClr val="FF0000"/>
                </a:solidFill>
              </a:rPr>
              <a:t> print</a:t>
            </a:r>
            <a:r>
              <a:rPr lang="en-IN" sz="2200" dirty="0" smtClean="0"/>
              <a:t>("</a:t>
            </a:r>
            <a:r>
              <a:rPr lang="en-IN" sz="2200" dirty="0" smtClean="0">
                <a:solidFill>
                  <a:srgbClr val="7030A0"/>
                </a:solidFill>
              </a:rPr>
              <a:t>No Error</a:t>
            </a:r>
            <a:r>
              <a:rPr lang="en-IN" sz="2200" dirty="0" smtClean="0"/>
              <a:t>")</a:t>
            </a:r>
          </a:p>
          <a:p>
            <a:pPr marL="0" indent="0" algn="just">
              <a:buNone/>
            </a:pPr>
            <a:r>
              <a:rPr lang="en-IN" sz="2200" dirty="0" smtClean="0"/>
              <a:t>finally:</a:t>
            </a:r>
          </a:p>
          <a:p>
            <a:pPr marL="0" indent="0" algn="just">
              <a:buNone/>
            </a:pPr>
            <a:r>
              <a:rPr lang="en-IN" sz="2200" b="1" dirty="0" smtClean="0">
                <a:solidFill>
                  <a:srgbClr val="FF0000"/>
                </a:solidFill>
              </a:rPr>
              <a:t>	print</a:t>
            </a:r>
            <a:r>
              <a:rPr lang="en-IN" sz="2200" dirty="0" smtClean="0"/>
              <a:t>(</a:t>
            </a:r>
            <a:r>
              <a:rPr lang="en-IN" sz="2200" dirty="0"/>
              <a:t>"</a:t>
            </a:r>
            <a:r>
              <a:rPr lang="en-IN" sz="2200" dirty="0" smtClean="0">
                <a:solidFill>
                  <a:srgbClr val="7030A0"/>
                </a:solidFill>
              </a:rPr>
              <a:t>Always Executes</a:t>
            </a:r>
            <a:r>
              <a:rPr lang="en-IN" sz="2200" dirty="0" smtClean="0"/>
              <a:t>")</a:t>
            </a:r>
          </a:p>
        </p:txBody>
      </p:sp>
    </p:spTree>
    <p:extLst>
      <p:ext uri="{BB962C8B-B14F-4D97-AF65-F5344CB8AC3E}">
        <p14:creationId xmlns:p14="http://schemas.microsoft.com/office/powerpoint/2010/main" val="21550549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Exception Hierarchy</a:t>
            </a:r>
            <a:endParaRPr lang="en-US"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484784"/>
            <a:ext cx="8229600" cy="4752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9216305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Raising an Exception</a:t>
            </a:r>
            <a:endParaRPr lang="en-US" dirty="0"/>
          </a:p>
        </p:txBody>
      </p:sp>
      <p:sp>
        <p:nvSpPr>
          <p:cNvPr id="3" name="Content Placeholder 2"/>
          <p:cNvSpPr>
            <a:spLocks noGrp="1"/>
          </p:cNvSpPr>
          <p:nvPr>
            <p:ph idx="1"/>
          </p:nvPr>
        </p:nvSpPr>
        <p:spPr/>
        <p:txBody>
          <a:bodyPr/>
          <a:lstStyle/>
          <a:p>
            <a:pPr algn="just"/>
            <a:r>
              <a:rPr lang="en-IN" dirty="0" smtClean="0"/>
              <a:t>We can </a:t>
            </a:r>
            <a:r>
              <a:rPr lang="en-IN" dirty="0"/>
              <a:t>choose to throw an exception if a </a:t>
            </a:r>
            <a:r>
              <a:rPr lang="en-IN" dirty="0" smtClean="0"/>
              <a:t>condition </a:t>
            </a:r>
            <a:r>
              <a:rPr lang="en-IN" dirty="0"/>
              <a:t>occurs.</a:t>
            </a:r>
          </a:p>
          <a:p>
            <a:pPr algn="just"/>
            <a:r>
              <a:rPr lang="en-IN" dirty="0"/>
              <a:t>To throw (or raise) an exception, use the </a:t>
            </a:r>
            <a:r>
              <a:rPr lang="en-IN" i="1" u="sng" dirty="0"/>
              <a:t>raise</a:t>
            </a:r>
            <a:r>
              <a:rPr lang="en-IN" dirty="0"/>
              <a:t> keyword.</a:t>
            </a:r>
          </a:p>
          <a:p>
            <a:endParaRPr lang="en-IN" dirty="0"/>
          </a:p>
        </p:txBody>
      </p:sp>
    </p:spTree>
    <p:extLst>
      <p:ext uri="{BB962C8B-B14F-4D97-AF65-F5344CB8AC3E}">
        <p14:creationId xmlns:p14="http://schemas.microsoft.com/office/powerpoint/2010/main" val="76487552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Raising an Exception</a:t>
            </a:r>
            <a:endParaRPr lang="en-US" dirty="0"/>
          </a:p>
        </p:txBody>
      </p:sp>
      <p:sp>
        <p:nvSpPr>
          <p:cNvPr id="3" name="Content Placeholder 2"/>
          <p:cNvSpPr>
            <a:spLocks noGrp="1"/>
          </p:cNvSpPr>
          <p:nvPr>
            <p:ph idx="1"/>
          </p:nvPr>
        </p:nvSpPr>
        <p:spPr/>
        <p:txBody>
          <a:bodyPr>
            <a:normAutofit fontScale="92500" lnSpcReduction="20000"/>
          </a:bodyPr>
          <a:lstStyle/>
          <a:p>
            <a:pPr marL="0" indent="0" algn="just">
              <a:buNone/>
            </a:pPr>
            <a:r>
              <a:rPr lang="en-IN" dirty="0"/>
              <a:t>try:</a:t>
            </a:r>
          </a:p>
          <a:p>
            <a:pPr marL="0" indent="0" algn="just">
              <a:buNone/>
            </a:pPr>
            <a:r>
              <a:rPr lang="en-IN" dirty="0"/>
              <a:t>    a = </a:t>
            </a:r>
            <a:r>
              <a:rPr lang="en-IN" dirty="0" err="1"/>
              <a:t>int</a:t>
            </a:r>
            <a:r>
              <a:rPr lang="en-IN" dirty="0"/>
              <a:t>(input("</a:t>
            </a:r>
            <a:r>
              <a:rPr lang="en-IN" dirty="0">
                <a:solidFill>
                  <a:srgbClr val="7030A0"/>
                </a:solidFill>
              </a:rPr>
              <a:t>Enter a:</a:t>
            </a:r>
            <a:r>
              <a:rPr lang="en-IN" dirty="0"/>
              <a:t>"))</a:t>
            </a:r>
          </a:p>
          <a:p>
            <a:pPr marL="0" indent="0" algn="just">
              <a:buNone/>
            </a:pPr>
            <a:r>
              <a:rPr lang="en-IN" dirty="0"/>
              <a:t>    b = </a:t>
            </a:r>
            <a:r>
              <a:rPr lang="en-IN" dirty="0" err="1"/>
              <a:t>int</a:t>
            </a:r>
            <a:r>
              <a:rPr lang="en-IN" dirty="0"/>
              <a:t>(input("</a:t>
            </a:r>
            <a:r>
              <a:rPr lang="en-IN" dirty="0">
                <a:solidFill>
                  <a:srgbClr val="7030A0"/>
                </a:solidFill>
              </a:rPr>
              <a:t>Enter b:</a:t>
            </a:r>
            <a:r>
              <a:rPr lang="en-IN" dirty="0"/>
              <a:t>"))</a:t>
            </a:r>
          </a:p>
          <a:p>
            <a:pPr marL="0" indent="0" algn="just">
              <a:buNone/>
            </a:pPr>
            <a:r>
              <a:rPr lang="en-IN" dirty="0"/>
              <a:t>    if b==0:</a:t>
            </a:r>
          </a:p>
          <a:p>
            <a:pPr marL="0" indent="0" algn="just">
              <a:buNone/>
            </a:pPr>
            <a:r>
              <a:rPr lang="en-IN" dirty="0"/>
              <a:t>        </a:t>
            </a:r>
            <a:r>
              <a:rPr lang="en-IN" b="1" dirty="0">
                <a:solidFill>
                  <a:srgbClr val="7030A0"/>
                </a:solidFill>
              </a:rPr>
              <a:t>raise</a:t>
            </a:r>
            <a:r>
              <a:rPr lang="en-IN" dirty="0"/>
              <a:t> </a:t>
            </a:r>
            <a:r>
              <a:rPr lang="en-IN" dirty="0" err="1" smtClean="0"/>
              <a:t>ZeroDivisionError</a:t>
            </a:r>
            <a:endParaRPr lang="en-IN" dirty="0"/>
          </a:p>
          <a:p>
            <a:pPr marL="0" indent="0" algn="just">
              <a:buNone/>
            </a:pPr>
            <a:r>
              <a:rPr lang="en-IN" dirty="0"/>
              <a:t>    c = a//b</a:t>
            </a:r>
          </a:p>
          <a:p>
            <a:pPr marL="0" indent="0" algn="just">
              <a:buNone/>
            </a:pPr>
            <a:r>
              <a:rPr lang="en-IN" dirty="0"/>
              <a:t>    </a:t>
            </a:r>
            <a:r>
              <a:rPr lang="en-IN" b="1" dirty="0">
                <a:solidFill>
                  <a:srgbClr val="FF0000"/>
                </a:solidFill>
              </a:rPr>
              <a:t>print</a:t>
            </a:r>
            <a:r>
              <a:rPr lang="en-IN" dirty="0"/>
              <a:t>("</a:t>
            </a:r>
            <a:r>
              <a:rPr lang="en-IN" dirty="0">
                <a:solidFill>
                  <a:srgbClr val="7030A0"/>
                </a:solidFill>
              </a:rPr>
              <a:t>a/b = </a:t>
            </a:r>
            <a:r>
              <a:rPr lang="en-IN" dirty="0"/>
              <a:t>",c)</a:t>
            </a:r>
          </a:p>
          <a:p>
            <a:pPr marL="0" indent="0" algn="just">
              <a:buNone/>
            </a:pPr>
            <a:r>
              <a:rPr lang="en-IN" dirty="0"/>
              <a:t>except:</a:t>
            </a:r>
          </a:p>
          <a:p>
            <a:pPr marL="0" indent="0" algn="just">
              <a:buNone/>
            </a:pPr>
            <a:r>
              <a:rPr lang="en-IN" dirty="0"/>
              <a:t>    </a:t>
            </a:r>
            <a:r>
              <a:rPr lang="en-IN" b="1" dirty="0">
                <a:solidFill>
                  <a:srgbClr val="FF0000"/>
                </a:solidFill>
              </a:rPr>
              <a:t>print</a:t>
            </a:r>
            <a:r>
              <a:rPr lang="en-IN" dirty="0"/>
              <a:t>("</a:t>
            </a:r>
            <a:r>
              <a:rPr lang="en-IN" dirty="0">
                <a:solidFill>
                  <a:srgbClr val="7030A0"/>
                </a:solidFill>
              </a:rPr>
              <a:t>Error </a:t>
            </a:r>
            <a:r>
              <a:rPr lang="en-IN" dirty="0" smtClean="0">
                <a:solidFill>
                  <a:srgbClr val="7030A0"/>
                </a:solidFill>
              </a:rPr>
              <a:t>Handled</a:t>
            </a:r>
            <a:r>
              <a:rPr lang="en-IN" dirty="0" smtClean="0"/>
              <a:t>")</a:t>
            </a:r>
            <a:endParaRPr lang="en-IN" dirty="0"/>
          </a:p>
        </p:txBody>
      </p:sp>
    </p:spTree>
    <p:extLst>
      <p:ext uri="{BB962C8B-B14F-4D97-AF65-F5344CB8AC3E}">
        <p14:creationId xmlns:p14="http://schemas.microsoft.com/office/powerpoint/2010/main" val="383904945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User defined Exception</a:t>
            </a:r>
            <a:endParaRPr lang="en-US" dirty="0"/>
          </a:p>
        </p:txBody>
      </p:sp>
      <p:sp>
        <p:nvSpPr>
          <p:cNvPr id="3" name="Content Placeholder 2"/>
          <p:cNvSpPr>
            <a:spLocks noGrp="1"/>
          </p:cNvSpPr>
          <p:nvPr>
            <p:ph idx="1"/>
          </p:nvPr>
        </p:nvSpPr>
        <p:spPr/>
        <p:txBody>
          <a:bodyPr>
            <a:normAutofit/>
          </a:bodyPr>
          <a:lstStyle/>
          <a:p>
            <a:pPr algn="just"/>
            <a:r>
              <a:rPr lang="en-IN" dirty="0"/>
              <a:t>The python allows us to create our exceptions that can be raised from the program and caught using the except clause</a:t>
            </a:r>
            <a:r>
              <a:rPr lang="en-IN" dirty="0" smtClean="0"/>
              <a:t>.</a:t>
            </a:r>
          </a:p>
          <a:p>
            <a:pPr algn="just"/>
            <a:r>
              <a:rPr lang="en-IN" dirty="0"/>
              <a:t>In Python, users can define custom exceptions by creating a new class. </a:t>
            </a:r>
            <a:endParaRPr lang="en-IN" dirty="0" smtClean="0"/>
          </a:p>
          <a:p>
            <a:pPr algn="just"/>
            <a:r>
              <a:rPr lang="en-IN" dirty="0" smtClean="0"/>
              <a:t>This </a:t>
            </a:r>
            <a:r>
              <a:rPr lang="en-IN" dirty="0"/>
              <a:t>exception class has to be </a:t>
            </a:r>
            <a:r>
              <a:rPr lang="en-IN" dirty="0" smtClean="0"/>
              <a:t>derived from </a:t>
            </a:r>
            <a:r>
              <a:rPr lang="en-IN" dirty="0"/>
              <a:t>the built-in Exception class. </a:t>
            </a:r>
          </a:p>
        </p:txBody>
      </p:sp>
    </p:spTree>
    <p:extLst>
      <p:ext uri="{BB962C8B-B14F-4D97-AF65-F5344CB8AC3E}">
        <p14:creationId xmlns:p14="http://schemas.microsoft.com/office/powerpoint/2010/main" val="282140682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User defined Exception</a:t>
            </a:r>
            <a:endParaRPr lang="en-US" dirty="0"/>
          </a:p>
        </p:txBody>
      </p:sp>
      <p:sp>
        <p:nvSpPr>
          <p:cNvPr id="3" name="Content Placeholder 2"/>
          <p:cNvSpPr>
            <a:spLocks noGrp="1"/>
          </p:cNvSpPr>
          <p:nvPr>
            <p:ph idx="1"/>
          </p:nvPr>
        </p:nvSpPr>
        <p:spPr>
          <a:xfrm>
            <a:off x="457200" y="1351309"/>
            <a:ext cx="8229600" cy="5174035"/>
          </a:xfrm>
        </p:spPr>
        <p:txBody>
          <a:bodyPr>
            <a:normAutofit fontScale="32500" lnSpcReduction="20000"/>
          </a:bodyPr>
          <a:lstStyle/>
          <a:p>
            <a:pPr marL="0" indent="0" algn="just">
              <a:buNone/>
            </a:pPr>
            <a:r>
              <a:rPr lang="en-IN" dirty="0"/>
              <a:t>class </a:t>
            </a:r>
            <a:r>
              <a:rPr lang="en-IN" dirty="0" err="1"/>
              <a:t>MyException</a:t>
            </a:r>
            <a:r>
              <a:rPr lang="en-IN" dirty="0"/>
              <a:t>(Exception):</a:t>
            </a:r>
          </a:p>
          <a:p>
            <a:pPr marL="0" indent="0" algn="just">
              <a:buNone/>
            </a:pPr>
            <a:r>
              <a:rPr lang="en-IN" dirty="0"/>
              <a:t>    </a:t>
            </a:r>
            <a:r>
              <a:rPr lang="en-IN" dirty="0" err="1"/>
              <a:t>def</a:t>
            </a:r>
            <a:r>
              <a:rPr lang="en-IN" dirty="0"/>
              <a:t> __</a:t>
            </a:r>
            <a:r>
              <a:rPr lang="en-IN" dirty="0" err="1"/>
              <a:t>init</a:t>
            </a:r>
            <a:r>
              <a:rPr lang="en-IN" dirty="0"/>
              <a:t>__(</a:t>
            </a:r>
            <a:r>
              <a:rPr lang="en-IN" dirty="0" err="1"/>
              <a:t>self,msg</a:t>
            </a:r>
            <a:r>
              <a:rPr lang="en-IN" dirty="0"/>
              <a:t>):</a:t>
            </a:r>
          </a:p>
          <a:p>
            <a:pPr marL="0" indent="0" algn="just">
              <a:buNone/>
            </a:pPr>
            <a:r>
              <a:rPr lang="en-IN" dirty="0"/>
              <a:t>        self.msg=</a:t>
            </a:r>
            <a:r>
              <a:rPr lang="en-IN" dirty="0" err="1"/>
              <a:t>msg</a:t>
            </a:r>
            <a:endParaRPr lang="en-IN" dirty="0"/>
          </a:p>
          <a:p>
            <a:pPr marL="0" indent="0" algn="just">
              <a:buNone/>
            </a:pPr>
            <a:r>
              <a:rPr lang="en-IN" dirty="0"/>
              <a:t>    </a:t>
            </a:r>
          </a:p>
          <a:p>
            <a:pPr marL="0" indent="0" algn="just">
              <a:buNone/>
            </a:pPr>
            <a:r>
              <a:rPr lang="en-IN" dirty="0"/>
              <a:t>    </a:t>
            </a:r>
            <a:r>
              <a:rPr lang="en-IN" dirty="0" err="1"/>
              <a:t>def</a:t>
            </a:r>
            <a:r>
              <a:rPr lang="en-IN" dirty="0"/>
              <a:t> __</a:t>
            </a:r>
            <a:r>
              <a:rPr lang="en-IN" dirty="0" err="1"/>
              <a:t>str</a:t>
            </a:r>
            <a:r>
              <a:rPr lang="en-IN" dirty="0"/>
              <a:t>__(self):</a:t>
            </a:r>
          </a:p>
          <a:p>
            <a:pPr marL="0" indent="0" algn="just">
              <a:buNone/>
            </a:pPr>
            <a:r>
              <a:rPr lang="en-IN" dirty="0"/>
              <a:t>        return </a:t>
            </a:r>
            <a:r>
              <a:rPr lang="en-IN" dirty="0">
                <a:solidFill>
                  <a:srgbClr val="7030A0"/>
                </a:solidFill>
              </a:rPr>
              <a:t>"Reason for not providing Voter ID: "</a:t>
            </a:r>
            <a:r>
              <a:rPr lang="en-IN" dirty="0"/>
              <a:t>+self.msg</a:t>
            </a:r>
          </a:p>
          <a:p>
            <a:pPr marL="0" indent="0" algn="just">
              <a:buNone/>
            </a:pPr>
            <a:r>
              <a:rPr lang="en-IN" dirty="0"/>
              <a:t>class Voter:</a:t>
            </a:r>
          </a:p>
          <a:p>
            <a:pPr marL="0" indent="0" algn="just">
              <a:buNone/>
            </a:pPr>
            <a:r>
              <a:rPr lang="en-IN" dirty="0"/>
              <a:t>    </a:t>
            </a:r>
            <a:r>
              <a:rPr lang="en-IN" dirty="0" err="1"/>
              <a:t>def</a:t>
            </a:r>
            <a:r>
              <a:rPr lang="en-IN" dirty="0"/>
              <a:t> __</a:t>
            </a:r>
            <a:r>
              <a:rPr lang="en-IN" dirty="0" err="1"/>
              <a:t>init</a:t>
            </a:r>
            <a:r>
              <a:rPr lang="en-IN" dirty="0"/>
              <a:t>__(</a:t>
            </a:r>
            <a:r>
              <a:rPr lang="en-IN" dirty="0" err="1"/>
              <a:t>self,name,age</a:t>
            </a:r>
            <a:r>
              <a:rPr lang="en-IN" dirty="0"/>
              <a:t>):</a:t>
            </a:r>
          </a:p>
          <a:p>
            <a:pPr marL="0" indent="0" algn="just">
              <a:buNone/>
            </a:pPr>
            <a:r>
              <a:rPr lang="en-IN" dirty="0"/>
              <a:t>        self.name=name</a:t>
            </a:r>
          </a:p>
          <a:p>
            <a:pPr marL="0" indent="0" algn="just">
              <a:buNone/>
            </a:pPr>
            <a:r>
              <a:rPr lang="en-IN" dirty="0"/>
              <a:t>        </a:t>
            </a:r>
            <a:r>
              <a:rPr lang="en-IN" dirty="0" err="1"/>
              <a:t>self.age</a:t>
            </a:r>
            <a:r>
              <a:rPr lang="en-IN" dirty="0"/>
              <a:t>=age</a:t>
            </a:r>
          </a:p>
          <a:p>
            <a:pPr marL="0" indent="0" algn="just">
              <a:buNone/>
            </a:pPr>
            <a:r>
              <a:rPr lang="en-IN" dirty="0"/>
              <a:t>        </a:t>
            </a:r>
          </a:p>
          <a:p>
            <a:pPr marL="0" indent="0" algn="just">
              <a:buNone/>
            </a:pPr>
            <a:r>
              <a:rPr lang="en-IN" dirty="0"/>
              <a:t>    </a:t>
            </a:r>
            <a:r>
              <a:rPr lang="en-IN" dirty="0" err="1"/>
              <a:t>def</a:t>
            </a:r>
            <a:r>
              <a:rPr lang="en-IN" dirty="0"/>
              <a:t> __</a:t>
            </a:r>
            <a:r>
              <a:rPr lang="en-IN" dirty="0" err="1"/>
              <a:t>str</a:t>
            </a:r>
            <a:r>
              <a:rPr lang="en-IN" dirty="0"/>
              <a:t>__(self):</a:t>
            </a:r>
          </a:p>
          <a:p>
            <a:pPr marL="0" indent="0" algn="just">
              <a:buNone/>
            </a:pPr>
            <a:r>
              <a:rPr lang="en-IN" dirty="0"/>
              <a:t>        if </a:t>
            </a:r>
            <a:r>
              <a:rPr lang="en-IN" dirty="0" err="1"/>
              <a:t>self.age</a:t>
            </a:r>
            <a:r>
              <a:rPr lang="en-IN" dirty="0"/>
              <a:t>&lt;18:</a:t>
            </a:r>
          </a:p>
          <a:p>
            <a:pPr marL="0" indent="0" algn="just">
              <a:buNone/>
            </a:pPr>
            <a:r>
              <a:rPr lang="en-IN" dirty="0"/>
              <a:t>            </a:t>
            </a:r>
            <a:r>
              <a:rPr lang="en-IN" b="1" dirty="0">
                <a:solidFill>
                  <a:srgbClr val="FF0000"/>
                </a:solidFill>
              </a:rPr>
              <a:t>raise</a:t>
            </a:r>
            <a:r>
              <a:rPr lang="en-IN" dirty="0"/>
              <a:t> </a:t>
            </a:r>
            <a:r>
              <a:rPr lang="en-IN" dirty="0" err="1"/>
              <a:t>MyException</a:t>
            </a:r>
            <a:r>
              <a:rPr lang="en-IN" dirty="0"/>
              <a:t>(</a:t>
            </a:r>
            <a:r>
              <a:rPr lang="en-IN" dirty="0">
                <a:solidFill>
                  <a:srgbClr val="7030A0"/>
                </a:solidFill>
              </a:rPr>
              <a:t>"Invalid Age - {}"</a:t>
            </a:r>
            <a:r>
              <a:rPr lang="en-IN" dirty="0"/>
              <a:t>.format(</a:t>
            </a:r>
            <a:r>
              <a:rPr lang="en-IN" dirty="0" err="1"/>
              <a:t>self.age</a:t>
            </a:r>
            <a:r>
              <a:rPr lang="en-IN" dirty="0"/>
              <a:t>))</a:t>
            </a:r>
          </a:p>
          <a:p>
            <a:pPr marL="0" indent="0" algn="just">
              <a:buNone/>
            </a:pPr>
            <a:r>
              <a:rPr lang="en-IN" dirty="0"/>
              <a:t>        else:</a:t>
            </a:r>
          </a:p>
          <a:p>
            <a:pPr marL="0" indent="0" algn="just">
              <a:buNone/>
            </a:pPr>
            <a:r>
              <a:rPr lang="en-IN" dirty="0"/>
              <a:t>            </a:t>
            </a:r>
            <a:r>
              <a:rPr lang="en-IN" b="1" dirty="0">
                <a:solidFill>
                  <a:srgbClr val="FF0000"/>
                </a:solidFill>
              </a:rPr>
              <a:t>print</a:t>
            </a:r>
            <a:r>
              <a:rPr lang="en-IN" dirty="0"/>
              <a:t>(</a:t>
            </a:r>
            <a:r>
              <a:rPr lang="en-IN" dirty="0">
                <a:solidFill>
                  <a:srgbClr val="7030A0"/>
                </a:solidFill>
              </a:rPr>
              <a:t>"Age is Valid</a:t>
            </a:r>
            <a:r>
              <a:rPr lang="en-IN" dirty="0"/>
              <a:t>")</a:t>
            </a:r>
          </a:p>
          <a:p>
            <a:pPr marL="0" indent="0" algn="just">
              <a:buNone/>
            </a:pPr>
            <a:r>
              <a:rPr lang="en-IN" dirty="0"/>
              <a:t>            self.id=</a:t>
            </a:r>
            <a:r>
              <a:rPr lang="en-IN" dirty="0" err="1"/>
              <a:t>int</a:t>
            </a:r>
            <a:r>
              <a:rPr lang="en-IN" dirty="0"/>
              <a:t>(input("Give ID: "))</a:t>
            </a:r>
          </a:p>
          <a:p>
            <a:pPr marL="0" indent="0" algn="just">
              <a:buNone/>
            </a:pPr>
            <a:r>
              <a:rPr lang="en-IN" dirty="0"/>
              <a:t>            return "</a:t>
            </a:r>
            <a:r>
              <a:rPr lang="en-IN" dirty="0">
                <a:solidFill>
                  <a:srgbClr val="7030A0"/>
                </a:solidFill>
              </a:rPr>
              <a:t>{} has an age of {}, {} voter id is {}</a:t>
            </a:r>
            <a:r>
              <a:rPr lang="en-IN" dirty="0"/>
              <a:t>".format(</a:t>
            </a:r>
            <a:r>
              <a:rPr lang="en-IN" dirty="0" err="1"/>
              <a:t>self.name,self.age,self.name,self.id</a:t>
            </a:r>
            <a:r>
              <a:rPr lang="en-IN" dirty="0"/>
              <a:t>)</a:t>
            </a:r>
          </a:p>
          <a:p>
            <a:pPr marL="0" indent="0" algn="just">
              <a:buNone/>
            </a:pPr>
            <a:endParaRPr lang="en-IN" dirty="0"/>
          </a:p>
          <a:p>
            <a:pPr marL="0" indent="0" algn="just">
              <a:buNone/>
            </a:pPr>
            <a:r>
              <a:rPr lang="en-IN" dirty="0"/>
              <a:t>V=Voter("John",24)</a:t>
            </a:r>
          </a:p>
          <a:p>
            <a:pPr marL="0" indent="0" algn="just">
              <a:buNone/>
            </a:pPr>
            <a:r>
              <a:rPr lang="en-IN" dirty="0"/>
              <a:t>V1=Voter("",16)</a:t>
            </a:r>
          </a:p>
          <a:p>
            <a:pPr marL="0" indent="0" algn="just">
              <a:buNone/>
            </a:pPr>
            <a:endParaRPr lang="en-IN" dirty="0"/>
          </a:p>
          <a:p>
            <a:pPr marL="0" indent="0" algn="just">
              <a:buNone/>
            </a:pPr>
            <a:r>
              <a:rPr lang="en-IN" dirty="0"/>
              <a:t>try:</a:t>
            </a:r>
          </a:p>
          <a:p>
            <a:pPr marL="0" indent="0" algn="just">
              <a:buNone/>
            </a:pPr>
            <a:r>
              <a:rPr lang="en-IN" dirty="0"/>
              <a:t>    </a:t>
            </a:r>
            <a:r>
              <a:rPr lang="en-IN" b="1" dirty="0" smtClean="0">
                <a:solidFill>
                  <a:srgbClr val="FF0000"/>
                </a:solidFill>
              </a:rPr>
              <a:t>print</a:t>
            </a:r>
            <a:r>
              <a:rPr lang="en-IN" dirty="0" smtClean="0"/>
              <a:t>(V</a:t>
            </a:r>
            <a:r>
              <a:rPr lang="en-IN" dirty="0"/>
              <a:t>)</a:t>
            </a:r>
          </a:p>
          <a:p>
            <a:pPr marL="0" indent="0" algn="just">
              <a:buNone/>
            </a:pPr>
            <a:r>
              <a:rPr lang="en-IN" dirty="0"/>
              <a:t>    </a:t>
            </a:r>
            <a:r>
              <a:rPr lang="en-IN" b="1" dirty="0" smtClean="0">
                <a:solidFill>
                  <a:srgbClr val="FF0000"/>
                </a:solidFill>
              </a:rPr>
              <a:t>print</a:t>
            </a:r>
            <a:r>
              <a:rPr lang="en-IN" dirty="0" smtClean="0"/>
              <a:t>(V1</a:t>
            </a:r>
            <a:r>
              <a:rPr lang="en-IN" dirty="0"/>
              <a:t>)</a:t>
            </a:r>
          </a:p>
          <a:p>
            <a:pPr marL="0" indent="0" algn="just">
              <a:buNone/>
            </a:pPr>
            <a:r>
              <a:rPr lang="en-IN" dirty="0"/>
              <a:t>except </a:t>
            </a:r>
            <a:r>
              <a:rPr lang="en-IN" dirty="0" err="1"/>
              <a:t>MyException</a:t>
            </a:r>
            <a:r>
              <a:rPr lang="en-IN" dirty="0"/>
              <a:t> as me:</a:t>
            </a:r>
          </a:p>
          <a:p>
            <a:pPr marL="0" indent="0" algn="just">
              <a:buNone/>
            </a:pPr>
            <a:r>
              <a:rPr lang="en-IN" dirty="0"/>
              <a:t>    </a:t>
            </a:r>
            <a:r>
              <a:rPr lang="en-IN" b="1" dirty="0">
                <a:solidFill>
                  <a:srgbClr val="FF0000"/>
                </a:solidFill>
              </a:rPr>
              <a:t>print</a:t>
            </a:r>
            <a:r>
              <a:rPr lang="en-IN" dirty="0"/>
              <a:t>(me</a:t>
            </a:r>
            <a:r>
              <a:rPr lang="en-IN" dirty="0" smtClean="0"/>
              <a:t>)</a:t>
            </a:r>
            <a:endParaRPr lang="en-IN" dirty="0"/>
          </a:p>
        </p:txBody>
      </p:sp>
    </p:spTree>
    <p:extLst>
      <p:ext uri="{BB962C8B-B14F-4D97-AF65-F5344CB8AC3E}">
        <p14:creationId xmlns:p14="http://schemas.microsoft.com/office/powerpoint/2010/main" val="221213051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57200" y="476672"/>
            <a:ext cx="8229600" cy="5649491"/>
          </a:xfrm>
        </p:spPr>
        <p:txBody>
          <a:bodyPr>
            <a:normAutofit fontScale="85000" lnSpcReduction="10000"/>
          </a:bodyPr>
          <a:lstStyle/>
          <a:p>
            <a:r>
              <a:rPr lang="en-US" dirty="0" smtClean="0"/>
              <a:t>Defining Clean-up Actions:</a:t>
            </a:r>
          </a:p>
          <a:p>
            <a:pPr marL="0" indent="0" algn="just">
              <a:buNone/>
            </a:pPr>
            <a:r>
              <a:rPr lang="en-US" sz="2400" dirty="0"/>
              <a:t>The try statement has another optional clause which is intended to define clean-up actions that must be executed under all circumstances. For example:</a:t>
            </a:r>
          </a:p>
          <a:p>
            <a:pPr marL="0" indent="0">
              <a:buNone/>
            </a:pPr>
            <a:endParaRPr lang="en-US" sz="2400" dirty="0"/>
          </a:p>
          <a:p>
            <a:pPr marL="0" indent="0">
              <a:buNone/>
            </a:pPr>
            <a:r>
              <a:rPr lang="en-US" sz="2400" dirty="0" smtClean="0"/>
              <a:t>  </a:t>
            </a:r>
            <a:r>
              <a:rPr lang="en-US" sz="2400" dirty="0"/>
              <a:t>try:</a:t>
            </a:r>
          </a:p>
          <a:p>
            <a:pPr marL="0" indent="0">
              <a:buNone/>
            </a:pPr>
            <a:r>
              <a:rPr lang="en-US" sz="2400" dirty="0" smtClean="0"/>
              <a:t>      </a:t>
            </a:r>
            <a:r>
              <a:rPr lang="en-US" sz="2400" dirty="0"/>
              <a:t>raise </a:t>
            </a:r>
            <a:r>
              <a:rPr lang="en-US" sz="2400" dirty="0" err="1"/>
              <a:t>KeyboardInterrupt</a:t>
            </a:r>
            <a:endParaRPr lang="en-US" sz="2400" dirty="0"/>
          </a:p>
          <a:p>
            <a:pPr marL="0" indent="0">
              <a:buNone/>
            </a:pPr>
            <a:r>
              <a:rPr lang="en-US" sz="2400" dirty="0" smtClean="0"/>
              <a:t>  </a:t>
            </a:r>
            <a:r>
              <a:rPr lang="en-US" sz="2400" dirty="0"/>
              <a:t>finally:</a:t>
            </a:r>
          </a:p>
          <a:p>
            <a:pPr marL="0" indent="0">
              <a:buNone/>
            </a:pPr>
            <a:r>
              <a:rPr lang="en-US" sz="2400" dirty="0" smtClean="0"/>
              <a:t>     </a:t>
            </a:r>
            <a:r>
              <a:rPr lang="en-US" sz="2400" dirty="0"/>
              <a:t>print('Goodbye, world!')</a:t>
            </a:r>
          </a:p>
          <a:p>
            <a:pPr marL="0" indent="0">
              <a:buNone/>
            </a:pPr>
            <a:endParaRPr lang="en-US" sz="2400" dirty="0" smtClean="0"/>
          </a:p>
          <a:p>
            <a:pPr marL="0" indent="0">
              <a:buNone/>
            </a:pPr>
            <a:r>
              <a:rPr lang="en-US" sz="2400" dirty="0" smtClean="0"/>
              <a:t>Goodbye</a:t>
            </a:r>
            <a:r>
              <a:rPr lang="en-US" sz="2400" dirty="0"/>
              <a:t>, world!</a:t>
            </a:r>
          </a:p>
          <a:p>
            <a:pPr marL="0" indent="0">
              <a:buNone/>
            </a:pPr>
            <a:r>
              <a:rPr lang="en-US" sz="2400" dirty="0" err="1"/>
              <a:t>KeyboardInterrupt</a:t>
            </a:r>
            <a:endParaRPr lang="en-US" sz="2400" dirty="0"/>
          </a:p>
          <a:p>
            <a:pPr marL="0" indent="0" algn="just">
              <a:buNone/>
            </a:pPr>
            <a:r>
              <a:rPr lang="en-US" sz="2400" dirty="0"/>
              <a:t>A finally clause is always executed before leaving the try statement, whether an exception has occurred or not. When an exception has occurred in the try clause and has not been handled by an except clause (or it has occurred in a except or else clause), it is re-raised after the finally clause has been executed. The finally clause is also executed “on the way out” when any other clause of the try statement is left via a break, continue or return statement. </a:t>
            </a:r>
          </a:p>
        </p:txBody>
      </p:sp>
    </p:spTree>
    <p:extLst>
      <p:ext uri="{BB962C8B-B14F-4D97-AF65-F5344CB8AC3E}">
        <p14:creationId xmlns:p14="http://schemas.microsoft.com/office/powerpoint/2010/main" val="114811106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57200" y="476672"/>
            <a:ext cx="8229600" cy="5649491"/>
          </a:xfrm>
        </p:spPr>
        <p:txBody>
          <a:bodyPr>
            <a:normAutofit fontScale="62500" lnSpcReduction="20000"/>
          </a:bodyPr>
          <a:lstStyle/>
          <a:p>
            <a:pPr marL="0" indent="0">
              <a:buNone/>
            </a:pPr>
            <a:r>
              <a:rPr lang="en-US" sz="2400" dirty="0" err="1"/>
              <a:t>def</a:t>
            </a:r>
            <a:r>
              <a:rPr lang="en-US" sz="2400" dirty="0"/>
              <a:t> divide(x, y):</a:t>
            </a:r>
          </a:p>
          <a:p>
            <a:pPr marL="0" indent="0">
              <a:buNone/>
            </a:pPr>
            <a:r>
              <a:rPr lang="en-US" sz="2400" dirty="0" smtClean="0"/>
              <a:t>      </a:t>
            </a:r>
            <a:r>
              <a:rPr lang="en-US" sz="2400" dirty="0"/>
              <a:t>try:</a:t>
            </a:r>
          </a:p>
          <a:p>
            <a:pPr marL="0" indent="0">
              <a:buNone/>
            </a:pPr>
            <a:r>
              <a:rPr lang="en-US" sz="2400" dirty="0" smtClean="0"/>
              <a:t>          </a:t>
            </a:r>
            <a:r>
              <a:rPr lang="en-US" sz="2400" dirty="0"/>
              <a:t>result = x / y</a:t>
            </a:r>
          </a:p>
          <a:p>
            <a:pPr marL="0" indent="0">
              <a:buNone/>
            </a:pPr>
            <a:r>
              <a:rPr lang="en-US" sz="2400" dirty="0" smtClean="0"/>
              <a:t>      </a:t>
            </a:r>
            <a:r>
              <a:rPr lang="en-US" sz="2400" dirty="0"/>
              <a:t>except </a:t>
            </a:r>
            <a:r>
              <a:rPr lang="en-US" sz="2400" dirty="0" err="1"/>
              <a:t>ZeroDivisionError</a:t>
            </a:r>
            <a:r>
              <a:rPr lang="en-US" sz="2400" dirty="0"/>
              <a:t>:</a:t>
            </a:r>
          </a:p>
          <a:p>
            <a:pPr marL="0" indent="0">
              <a:buNone/>
            </a:pPr>
            <a:r>
              <a:rPr lang="en-US" sz="2400" dirty="0" smtClean="0"/>
              <a:t>          </a:t>
            </a:r>
            <a:r>
              <a:rPr lang="en-US" sz="2400" dirty="0"/>
              <a:t>print("division by zero!")</a:t>
            </a:r>
          </a:p>
          <a:p>
            <a:pPr marL="0" indent="0">
              <a:buNone/>
            </a:pPr>
            <a:r>
              <a:rPr lang="en-US" sz="2400" dirty="0" smtClean="0"/>
              <a:t>      </a:t>
            </a:r>
            <a:r>
              <a:rPr lang="en-US" sz="2400" dirty="0"/>
              <a:t>else:</a:t>
            </a:r>
          </a:p>
          <a:p>
            <a:pPr marL="0" indent="0">
              <a:buNone/>
            </a:pPr>
            <a:r>
              <a:rPr lang="en-US" sz="2400" dirty="0" smtClean="0"/>
              <a:t>          </a:t>
            </a:r>
            <a:r>
              <a:rPr lang="en-US" sz="2400" dirty="0"/>
              <a:t>print("result is", result)</a:t>
            </a:r>
          </a:p>
          <a:p>
            <a:pPr marL="0" indent="0">
              <a:buNone/>
            </a:pPr>
            <a:r>
              <a:rPr lang="en-US" sz="2400" dirty="0" smtClean="0"/>
              <a:t>      </a:t>
            </a:r>
            <a:r>
              <a:rPr lang="en-US" sz="2400" dirty="0"/>
              <a:t>finally:</a:t>
            </a:r>
          </a:p>
          <a:p>
            <a:pPr marL="0" indent="0">
              <a:buNone/>
            </a:pPr>
            <a:r>
              <a:rPr lang="en-US" sz="2400" dirty="0" smtClean="0"/>
              <a:t>          </a:t>
            </a:r>
            <a:r>
              <a:rPr lang="en-US" sz="2400" dirty="0"/>
              <a:t>print("executing finally clause")</a:t>
            </a:r>
          </a:p>
          <a:p>
            <a:pPr marL="0" indent="0">
              <a:buNone/>
            </a:pPr>
            <a:r>
              <a:rPr lang="en-US" sz="2400" dirty="0" smtClean="0"/>
              <a:t> </a:t>
            </a:r>
            <a:endParaRPr lang="en-US" sz="2400" dirty="0"/>
          </a:p>
          <a:p>
            <a:pPr marL="0" indent="0">
              <a:buNone/>
            </a:pPr>
            <a:r>
              <a:rPr lang="en-US" sz="2400" dirty="0" smtClean="0"/>
              <a:t>&gt;&gt;&gt; divide(2</a:t>
            </a:r>
            <a:r>
              <a:rPr lang="en-US" sz="2400" dirty="0"/>
              <a:t>, 1)</a:t>
            </a:r>
          </a:p>
          <a:p>
            <a:pPr marL="0" indent="0">
              <a:buNone/>
            </a:pPr>
            <a:r>
              <a:rPr lang="en-US" sz="2400" dirty="0"/>
              <a:t>result is 2.0</a:t>
            </a:r>
          </a:p>
          <a:p>
            <a:pPr marL="0" indent="0">
              <a:buNone/>
            </a:pPr>
            <a:r>
              <a:rPr lang="en-US" sz="2400" dirty="0"/>
              <a:t>executing finally clause</a:t>
            </a:r>
          </a:p>
          <a:p>
            <a:pPr marL="0" indent="0">
              <a:buNone/>
            </a:pPr>
            <a:r>
              <a:rPr lang="en-US" sz="2400" dirty="0"/>
              <a:t>&gt;&gt;&gt; divide(2, 0)</a:t>
            </a:r>
          </a:p>
          <a:p>
            <a:pPr marL="0" indent="0">
              <a:buNone/>
            </a:pPr>
            <a:r>
              <a:rPr lang="en-US" sz="2400" dirty="0"/>
              <a:t>division by zero!</a:t>
            </a:r>
          </a:p>
          <a:p>
            <a:pPr marL="0" indent="0">
              <a:buNone/>
            </a:pPr>
            <a:r>
              <a:rPr lang="en-US" sz="2400" dirty="0"/>
              <a:t>executing finally clause</a:t>
            </a:r>
          </a:p>
          <a:p>
            <a:pPr marL="0" indent="0">
              <a:buNone/>
            </a:pPr>
            <a:r>
              <a:rPr lang="en-US" sz="2400" dirty="0"/>
              <a:t>&gt;&gt;&gt; divide("2", "1")</a:t>
            </a:r>
          </a:p>
          <a:p>
            <a:pPr marL="0" indent="0">
              <a:buNone/>
            </a:pPr>
            <a:r>
              <a:rPr lang="en-US" sz="2400" dirty="0"/>
              <a:t>executing finally clause</a:t>
            </a:r>
          </a:p>
          <a:p>
            <a:pPr marL="0" indent="0">
              <a:buNone/>
            </a:pPr>
            <a:r>
              <a:rPr lang="en-US" sz="2400" dirty="0" err="1"/>
              <a:t>Traceback</a:t>
            </a:r>
            <a:r>
              <a:rPr lang="en-US" sz="2400" dirty="0"/>
              <a:t> (most recent call last):</a:t>
            </a:r>
          </a:p>
          <a:p>
            <a:pPr marL="0" indent="0">
              <a:buNone/>
            </a:pPr>
            <a:r>
              <a:rPr lang="en-US" sz="2400" dirty="0"/>
              <a:t>  File "&lt;</a:t>
            </a:r>
            <a:r>
              <a:rPr lang="en-US" sz="2400" dirty="0" err="1"/>
              <a:t>stdin</a:t>
            </a:r>
            <a:r>
              <a:rPr lang="en-US" sz="2400" dirty="0"/>
              <a:t>&gt;", line 1, in ?</a:t>
            </a:r>
          </a:p>
          <a:p>
            <a:pPr marL="0" indent="0">
              <a:buNone/>
            </a:pPr>
            <a:r>
              <a:rPr lang="en-US" sz="2400" dirty="0"/>
              <a:t>  File "&lt;</a:t>
            </a:r>
            <a:r>
              <a:rPr lang="en-US" sz="2400" dirty="0" err="1"/>
              <a:t>stdin</a:t>
            </a:r>
            <a:r>
              <a:rPr lang="en-US" sz="2400" dirty="0"/>
              <a:t>&gt;", line 3, in divide</a:t>
            </a:r>
          </a:p>
          <a:p>
            <a:pPr marL="0" indent="0">
              <a:buNone/>
            </a:pPr>
            <a:r>
              <a:rPr lang="en-US" sz="2400" dirty="0" err="1"/>
              <a:t>TypeError</a:t>
            </a:r>
            <a:r>
              <a:rPr lang="en-US" sz="2400" dirty="0"/>
              <a:t>: unsupported operand type(s) for /: '</a:t>
            </a:r>
            <a:r>
              <a:rPr lang="en-US" sz="2400" dirty="0" err="1"/>
              <a:t>str</a:t>
            </a:r>
            <a:r>
              <a:rPr lang="en-US" sz="2400" dirty="0"/>
              <a:t>' and '</a:t>
            </a:r>
            <a:r>
              <a:rPr lang="en-US" sz="2400" dirty="0" err="1"/>
              <a:t>str</a:t>
            </a:r>
            <a:r>
              <a:rPr lang="en-US" sz="2400" dirty="0"/>
              <a:t>'</a:t>
            </a:r>
          </a:p>
        </p:txBody>
      </p:sp>
    </p:spTree>
    <p:extLst>
      <p:ext uri="{BB962C8B-B14F-4D97-AF65-F5344CB8AC3E}">
        <p14:creationId xmlns:p14="http://schemas.microsoft.com/office/powerpoint/2010/main" val="253320509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57200" y="404664"/>
            <a:ext cx="8229600" cy="5649491"/>
          </a:xfrm>
        </p:spPr>
        <p:txBody>
          <a:bodyPr>
            <a:noAutofit/>
          </a:bodyPr>
          <a:lstStyle/>
          <a:p>
            <a:pPr marL="0" indent="0" algn="just">
              <a:buNone/>
            </a:pPr>
            <a:r>
              <a:rPr lang="en-US" sz="1600" dirty="0">
                <a:latin typeface="Times New Roman" pitchFamily="18" charset="0"/>
                <a:cs typeface="Times New Roman" pitchFamily="18" charset="0"/>
              </a:rPr>
              <a:t>Predefined Clean-up Actions</a:t>
            </a:r>
          </a:p>
          <a:p>
            <a:pPr marL="0" indent="0" algn="just">
              <a:buNone/>
            </a:pPr>
            <a:r>
              <a:rPr lang="en-US" sz="1600" dirty="0">
                <a:latin typeface="Times New Roman" pitchFamily="18" charset="0"/>
                <a:cs typeface="Times New Roman" pitchFamily="18" charset="0"/>
              </a:rPr>
              <a:t>Some objects define standard clean-up actions to be undertaken when the object is no longer needed, regardless of whether or not the operation using the object succeeded or failed. Look at the following example, which tries to open a file and print its contents to the screen.</a:t>
            </a:r>
          </a:p>
          <a:p>
            <a:pPr marL="0" indent="0" algn="just">
              <a:buNone/>
            </a:pPr>
            <a:endParaRPr lang="en-US" sz="1600" dirty="0">
              <a:latin typeface="Times New Roman" pitchFamily="18" charset="0"/>
              <a:cs typeface="Times New Roman" pitchFamily="18" charset="0"/>
            </a:endParaRPr>
          </a:p>
          <a:p>
            <a:pPr marL="0" indent="0" algn="just">
              <a:buNone/>
            </a:pPr>
            <a:r>
              <a:rPr lang="en-US" sz="1600" dirty="0">
                <a:latin typeface="Times New Roman" pitchFamily="18" charset="0"/>
                <a:cs typeface="Times New Roman" pitchFamily="18" charset="0"/>
              </a:rPr>
              <a:t>for line in open("myfile.txt"):</a:t>
            </a:r>
          </a:p>
          <a:p>
            <a:pPr marL="0" indent="0" algn="just">
              <a:buNone/>
            </a:pPr>
            <a:r>
              <a:rPr lang="en-US" sz="1600" dirty="0">
                <a:latin typeface="Times New Roman" pitchFamily="18" charset="0"/>
                <a:cs typeface="Times New Roman" pitchFamily="18" charset="0"/>
              </a:rPr>
              <a:t>    print(line, end</a:t>
            </a:r>
            <a:r>
              <a:rPr lang="en-US" sz="1600" dirty="0" smtClean="0">
                <a:latin typeface="Times New Roman" pitchFamily="18" charset="0"/>
                <a:cs typeface="Times New Roman" pitchFamily="18" charset="0"/>
              </a:rPr>
              <a:t>="")</a:t>
            </a:r>
          </a:p>
          <a:p>
            <a:pPr marL="0" indent="0" algn="just">
              <a:buNone/>
            </a:pPr>
            <a:endParaRPr lang="en-US" sz="1600" dirty="0">
              <a:latin typeface="Times New Roman" pitchFamily="18" charset="0"/>
              <a:cs typeface="Times New Roman" pitchFamily="18" charset="0"/>
            </a:endParaRPr>
          </a:p>
          <a:p>
            <a:pPr marL="0" indent="0" algn="just">
              <a:buNone/>
            </a:pPr>
            <a:r>
              <a:rPr lang="en-US" sz="1600" dirty="0">
                <a:latin typeface="Times New Roman" pitchFamily="18" charset="0"/>
                <a:cs typeface="Times New Roman" pitchFamily="18" charset="0"/>
              </a:rPr>
              <a:t>The problem with this code is that it leaves the file open for an indeterminate amount of time after this part of the code has finished executing. This is not an issue in simple scripts, but can be a problem for larger applications. The </a:t>
            </a:r>
            <a:r>
              <a:rPr lang="en-US" sz="1600" i="1" u="sng" dirty="0">
                <a:solidFill>
                  <a:srgbClr val="FF0000"/>
                </a:solidFill>
                <a:latin typeface="Times New Roman" pitchFamily="18" charset="0"/>
                <a:cs typeface="Times New Roman" pitchFamily="18" charset="0"/>
              </a:rPr>
              <a:t>with</a:t>
            </a:r>
            <a:r>
              <a:rPr lang="en-US" sz="1600" dirty="0">
                <a:latin typeface="Times New Roman" pitchFamily="18" charset="0"/>
                <a:cs typeface="Times New Roman" pitchFamily="18" charset="0"/>
              </a:rPr>
              <a:t> statement allows objects like files to be used in a way that ensures they are always cleaned up promptly and correctly.</a:t>
            </a:r>
          </a:p>
          <a:p>
            <a:pPr marL="0" indent="0" algn="just">
              <a:buNone/>
            </a:pPr>
            <a:endParaRPr lang="en-US" sz="1600" dirty="0">
              <a:latin typeface="Times New Roman" pitchFamily="18" charset="0"/>
              <a:cs typeface="Times New Roman" pitchFamily="18" charset="0"/>
            </a:endParaRPr>
          </a:p>
          <a:p>
            <a:pPr marL="0" indent="0" algn="just">
              <a:buNone/>
            </a:pPr>
            <a:r>
              <a:rPr lang="en-US" sz="1600" dirty="0">
                <a:latin typeface="Times New Roman" pitchFamily="18" charset="0"/>
                <a:cs typeface="Times New Roman" pitchFamily="18" charset="0"/>
              </a:rPr>
              <a:t>with open("myfile.txt") as f:</a:t>
            </a:r>
          </a:p>
          <a:p>
            <a:pPr marL="0" indent="0" algn="just">
              <a:buNone/>
            </a:pPr>
            <a:r>
              <a:rPr lang="en-US" sz="1600" dirty="0">
                <a:latin typeface="Times New Roman" pitchFamily="18" charset="0"/>
                <a:cs typeface="Times New Roman" pitchFamily="18" charset="0"/>
              </a:rPr>
              <a:t>    for line in f:</a:t>
            </a:r>
          </a:p>
          <a:p>
            <a:pPr marL="0" indent="0" algn="just">
              <a:buNone/>
            </a:pPr>
            <a:r>
              <a:rPr lang="en-US" sz="1600" dirty="0">
                <a:latin typeface="Times New Roman" pitchFamily="18" charset="0"/>
                <a:cs typeface="Times New Roman" pitchFamily="18" charset="0"/>
              </a:rPr>
              <a:t>        print(line, end="")</a:t>
            </a:r>
          </a:p>
          <a:p>
            <a:pPr marL="0" indent="0" algn="just">
              <a:buNone/>
            </a:pPr>
            <a:endParaRPr lang="en-US" sz="1600" dirty="0" smtClean="0">
              <a:latin typeface="Times New Roman" pitchFamily="18" charset="0"/>
              <a:cs typeface="Times New Roman" pitchFamily="18" charset="0"/>
            </a:endParaRPr>
          </a:p>
          <a:p>
            <a:pPr marL="0" indent="0" algn="just">
              <a:buNone/>
            </a:pPr>
            <a:r>
              <a:rPr lang="en-US" sz="1600" dirty="0" smtClean="0">
                <a:latin typeface="Times New Roman" pitchFamily="18" charset="0"/>
                <a:cs typeface="Times New Roman" pitchFamily="18" charset="0"/>
              </a:rPr>
              <a:t>After </a:t>
            </a:r>
            <a:r>
              <a:rPr lang="en-US" sz="1600" dirty="0">
                <a:latin typeface="Times New Roman" pitchFamily="18" charset="0"/>
                <a:cs typeface="Times New Roman" pitchFamily="18" charset="0"/>
              </a:rPr>
              <a:t>the statement is executed, the file f is always closed, even if a problem was encountered while processing the lines. </a:t>
            </a:r>
            <a:r>
              <a:rPr lang="en-US" sz="1600" dirty="0" smtClean="0">
                <a:latin typeface="Times New Roman" pitchFamily="18" charset="0"/>
                <a:cs typeface="Times New Roman" pitchFamily="18" charset="0"/>
              </a:rPr>
              <a:t>Objects like </a:t>
            </a:r>
            <a:r>
              <a:rPr lang="en-US" sz="1600" i="1" u="sng" dirty="0" smtClean="0">
                <a:latin typeface="Times New Roman" pitchFamily="18" charset="0"/>
                <a:cs typeface="Times New Roman" pitchFamily="18" charset="0"/>
              </a:rPr>
              <a:t>files</a:t>
            </a:r>
            <a:r>
              <a:rPr lang="en-US" sz="1600" dirty="0" smtClean="0">
                <a:latin typeface="Times New Roman" pitchFamily="18" charset="0"/>
                <a:cs typeface="Times New Roman" pitchFamily="18" charset="0"/>
              </a:rPr>
              <a:t> </a:t>
            </a:r>
            <a:r>
              <a:rPr lang="en-US" sz="1600" dirty="0">
                <a:latin typeface="Times New Roman" pitchFamily="18" charset="0"/>
                <a:cs typeface="Times New Roman" pitchFamily="18" charset="0"/>
              </a:rPr>
              <a:t>provide predefined clean-up </a:t>
            </a:r>
            <a:r>
              <a:rPr lang="en-US" sz="1600" dirty="0" smtClean="0">
                <a:latin typeface="Times New Roman" pitchFamily="18" charset="0"/>
                <a:cs typeface="Times New Roman" pitchFamily="18" charset="0"/>
              </a:rPr>
              <a:t>actions.</a:t>
            </a:r>
            <a:endParaRPr lang="en-US" sz="1600" dirty="0">
              <a:latin typeface="Times New Roman" pitchFamily="18" charset="0"/>
              <a:cs typeface="Times New Roman" pitchFamily="18" charset="0"/>
            </a:endParaRPr>
          </a:p>
        </p:txBody>
      </p:sp>
    </p:spTree>
    <p:extLst>
      <p:ext uri="{BB962C8B-B14F-4D97-AF65-F5344CB8AC3E}">
        <p14:creationId xmlns:p14="http://schemas.microsoft.com/office/powerpoint/2010/main" val="365587121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1699</TotalTime>
  <Words>919</Words>
  <Application>Microsoft Office PowerPoint</Application>
  <PresentationFormat>On-screen Show (4:3)</PresentationFormat>
  <Paragraphs>163</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Exceptions</vt:lpstr>
      <vt:lpstr>Introduction to Exception</vt:lpstr>
      <vt:lpstr>Types Of Errors</vt:lpstr>
      <vt:lpstr>Exception Handling</vt:lpstr>
      <vt:lpstr>Exception Handling</vt:lpstr>
      <vt:lpstr>try, except, else, finally</vt:lpstr>
      <vt:lpstr>Handling Exception</vt:lpstr>
      <vt:lpstr>Handling Exception</vt:lpstr>
      <vt:lpstr>Handling Exception</vt:lpstr>
      <vt:lpstr>Exception Hierarchy</vt:lpstr>
      <vt:lpstr>Raising an Exception</vt:lpstr>
      <vt:lpstr>Raising an Exception</vt:lpstr>
      <vt:lpstr>User defined Exception</vt:lpstr>
      <vt:lpstr>User defined Exception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oriented programming</dc:title>
  <dc:creator>Windows User</dc:creator>
  <cp:lastModifiedBy>chakravarthy</cp:lastModifiedBy>
  <cp:revision>157</cp:revision>
  <dcterms:created xsi:type="dcterms:W3CDTF">2020-04-17T11:23:40Z</dcterms:created>
  <dcterms:modified xsi:type="dcterms:W3CDTF">2021-08-24T05:35:40Z</dcterms:modified>
</cp:coreProperties>
</file>