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A2A25-175E-C5F1-2E0F-134E60781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53ABB5-4BB4-AFAF-A587-27EC63D1E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4A16C-80B1-D283-C340-58FAD58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1BC5-5528-4F7E-95FA-E3A7E064F133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44CC0-2535-783E-92FF-11B0D3DF9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ADD9C-1E77-9360-D855-26CD37AE7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85DF-4630-4DFC-BDAD-4780AF49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04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6743A-441C-856A-E0A4-BE58DB56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34902-0EA6-C4A2-FC96-4F75CF442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FD80C-7919-3D9E-86AA-3B45F4A3B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1BC5-5528-4F7E-95FA-E3A7E064F133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16D54-F35D-B01A-035B-92981D91F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68974-975E-2AF6-D362-4BEE2D9F5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85DF-4630-4DFC-BDAD-4780AF49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749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728B-2E92-9180-D6DB-AF88EF5BE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C7376-C937-756B-FA5D-513D7BA6D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96326-51FC-0F34-F4D7-E15EB0FD2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1BC5-5528-4F7E-95FA-E3A7E064F133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49F2E-7CCA-803E-4452-E624D0439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6DFBE-696E-A6D6-6A0A-6D84DDBB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85DF-4630-4DFC-BDAD-4780AF49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199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480FF-D86B-E32D-EBAB-866EDFCF6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B4901-26EF-662F-B19E-05DB784C7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3BD61-F2FA-C3C0-F32B-DC7E11695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B67FC-CD41-6B83-0B9A-2AFB540E6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1BC5-5528-4F7E-95FA-E3A7E064F133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E21DB-C85E-70A9-4602-50C622A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249B3-69FB-4A4F-DFC4-95091A477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85DF-4630-4DFC-BDAD-4780AF49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300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A039F-01D4-EFD8-DB19-8352C83FE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EDE93-82C7-C224-4A10-CF9F2CA34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D8DA4-F86F-A884-364E-D2716E886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3E459-85FA-DCB3-CD8B-7E222D00D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5ED2D7-3FBB-2096-7A62-B23F7A4036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DDAB7E-EFB0-4590-4F99-028AB34C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1BC5-5528-4F7E-95FA-E3A7E064F133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E1A60F-7158-DE40-93E3-94B5A4739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16B5F-A5E9-A444-EE9E-0EC0307E6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85DF-4630-4DFC-BDAD-4780AF49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809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FF771-DB15-C62E-01F0-56109B78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3C29E1-A13A-2294-D8A4-2B68A16F9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1BC5-5528-4F7E-95FA-E3A7E064F133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F7780-9018-433C-6FCE-205AE05C6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0F143-A84D-21F8-C89A-727756C0D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85DF-4630-4DFC-BDAD-4780AF49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713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309275-BCF4-C0B0-C793-184D581BA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1BC5-5528-4F7E-95FA-E3A7E064F133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29246-707A-37DC-C966-80D7C5D2A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8653B-5041-06E7-0EF9-D9C4CC038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85DF-4630-4DFC-BDAD-4780AF49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676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8FC4B-C00C-FF43-9BFE-DC12E8F57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A19DA-CE02-72A2-A765-E74EB3464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8FD0F-B571-C12C-71DA-C73ACE22E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73349-7746-4AF4-EB9D-2B71F142F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1BC5-5528-4F7E-95FA-E3A7E064F133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DCF1C-581F-7FAA-F7F4-39185E8A8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B18B7-83E7-B79F-D263-9D3CF20C8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85DF-4630-4DFC-BDAD-4780AF49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40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6E5F-CB27-3496-B03A-B70A26BD3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247B6A-D541-2147-08FA-21D8F380E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682A5-5362-051B-DFC1-B2572CD80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643AA-20B1-4CDD-9276-8387A4A0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1BC5-5528-4F7E-95FA-E3A7E064F133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54079-3471-FAAC-E48F-8B7C1B96E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F2CAA-1C6C-DCF1-5939-A38D204AC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85DF-4630-4DFC-BDAD-4780AF49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10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C99B-9B32-829D-6188-ECE71744C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511B8-3CB2-044D-A8CA-1126CE8BC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0934A-C732-8FC9-4E02-A9F8040D1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1BC5-5528-4F7E-95FA-E3A7E064F133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E47EB-69C1-F2EE-759F-355B1077E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B7CB0-882C-B626-0496-47109525A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85DF-4630-4DFC-BDAD-4780AF49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665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18AA41-6AF0-BFB8-6EC6-90CDD43DC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1A9A7-B59A-F398-1DF5-694861066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768E-B2AB-66F5-DAC4-30C691AB1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1BC5-5528-4F7E-95FA-E3A7E064F133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7B416-75C9-8DD9-567C-9FA2F53F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4D51A-8096-4F39-1ABA-8E3E72FB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D85DF-4630-4DFC-BDAD-4780AF49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391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46A06F-9BCA-AE3C-03FF-D73F2379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2D55E-EE9F-6898-73F4-37FAFACA3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71CF4-10FB-4193-D49A-9FA2FC267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21BC5-5528-4F7E-95FA-E3A7E064F133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C489E-75CA-7FE1-7A3B-0DCCE5986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B2E63-DF5E-C017-39D1-A9CE03B11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D85DF-4630-4DFC-BDAD-4780AF49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21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4B1B56-AE7B-0B17-8287-F767B120589F}"/>
              </a:ext>
            </a:extLst>
          </p:cNvPr>
          <p:cNvSpPr txBox="1"/>
          <p:nvPr/>
        </p:nvSpPr>
        <p:spPr>
          <a:xfrm>
            <a:off x="2960913" y="609991"/>
            <a:ext cx="81207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spc="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</a:t>
            </a:r>
            <a:r>
              <a:rPr lang="en-IN" sz="4000" b="1" spc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A96A88-B79B-B2C8-6C86-F6D146ED6B01}"/>
              </a:ext>
            </a:extLst>
          </p:cNvPr>
          <p:cNvSpPr txBox="1"/>
          <p:nvPr/>
        </p:nvSpPr>
        <p:spPr>
          <a:xfrm>
            <a:off x="1300842" y="1774371"/>
            <a:ext cx="9416143" cy="388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Aggregate functions in SQL perform calculations on a </a:t>
            </a:r>
            <a:r>
              <a:rPr lang="en-US" sz="3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of values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return a </a:t>
            </a:r>
            <a:r>
              <a:rPr lang="en-US" sz="3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value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They are essential for </a:t>
            </a:r>
            <a:r>
              <a:rPr lang="en-US" sz="3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in databases, making it easier to </a:t>
            </a:r>
            <a:r>
              <a:rPr lang="en-US" sz="3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trends and draw insights.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00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98BE00-65E7-65A6-406F-094DD88EB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5" y="745968"/>
            <a:ext cx="10276186" cy="536606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666603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E0BF20-5D29-F72B-B920-449CD3BC2E66}"/>
              </a:ext>
            </a:extLst>
          </p:cNvPr>
          <p:cNvSpPr txBox="1"/>
          <p:nvPr/>
        </p:nvSpPr>
        <p:spPr>
          <a:xfrm>
            <a:off x="4626429" y="272143"/>
            <a:ext cx="20649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4DD2D-4ADC-92A0-DBAE-3731881183C3}"/>
              </a:ext>
            </a:extLst>
          </p:cNvPr>
          <p:cNvSpPr txBox="1"/>
          <p:nvPr/>
        </p:nvSpPr>
        <p:spPr>
          <a:xfrm>
            <a:off x="870858" y="1763876"/>
            <a:ext cx="107333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 * )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Return total number of records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760B9D-C17D-EB16-1A9F-D323DBA65DC6}"/>
              </a:ext>
            </a:extLst>
          </p:cNvPr>
          <p:cNvSpPr txBox="1"/>
          <p:nvPr/>
        </p:nvSpPr>
        <p:spPr>
          <a:xfrm>
            <a:off x="870858" y="2688412"/>
            <a:ext cx="10733314" cy="148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 salary )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Return  the no. of   non- null values           				over the column salary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8845DD-575E-FF6B-1311-190D6F1ABC23}"/>
              </a:ext>
            </a:extLst>
          </p:cNvPr>
          <p:cNvSpPr txBox="1"/>
          <p:nvPr/>
        </p:nvSpPr>
        <p:spPr>
          <a:xfrm>
            <a:off x="870858" y="4419990"/>
            <a:ext cx="10733314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 distinct salary )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Return  the no. of  distinct 						non- null values over the column 						salary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46C15-7D8F-6C31-78B3-61B5E0EF7B82}"/>
              </a:ext>
            </a:extLst>
          </p:cNvPr>
          <p:cNvSpPr txBox="1"/>
          <p:nvPr/>
        </p:nvSpPr>
        <p:spPr>
          <a:xfrm rot="20487249">
            <a:off x="9128976" y="810751"/>
            <a:ext cx="2348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NULL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D82E64-5252-6F53-586F-060901903C96}"/>
              </a:ext>
            </a:extLst>
          </p:cNvPr>
          <p:cNvCxnSpPr>
            <a:stCxn id="7" idx="1"/>
          </p:cNvCxnSpPr>
          <p:nvPr/>
        </p:nvCxnSpPr>
        <p:spPr>
          <a:xfrm flipH="1">
            <a:off x="7620000" y="1415105"/>
            <a:ext cx="1569961" cy="3487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93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BE1577-DA9A-5472-D86E-2F9CBEC4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7" y="0"/>
            <a:ext cx="6485172" cy="43651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FA9C11-1AFE-E0DC-6930-399349BAC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61113"/>
            <a:ext cx="5947443" cy="187234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36875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1E7C45-215E-941C-C7FB-B3939C18D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7" y="0"/>
            <a:ext cx="6485172" cy="43651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CB9A4D-4B7E-18BF-61D8-C35E5E3F0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402" y="4755217"/>
            <a:ext cx="6708233" cy="173266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2574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9C893F-192D-2A37-F721-49311F9AE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7" y="0"/>
            <a:ext cx="6485172" cy="43651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F19A0A-2ED9-A040-3CD2-12CC18D5D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565" y="4773361"/>
            <a:ext cx="7487180" cy="169275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5060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400D01-BDA9-6F27-E4A8-AB7D09BAD60C}"/>
              </a:ext>
            </a:extLst>
          </p:cNvPr>
          <p:cNvSpPr txBox="1"/>
          <p:nvPr/>
        </p:nvSpPr>
        <p:spPr>
          <a:xfrm>
            <a:off x="4234543" y="141514"/>
            <a:ext cx="3886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6E7E9F-9E49-05FA-2AD8-AD9DDAF9FC58}"/>
              </a:ext>
            </a:extLst>
          </p:cNvPr>
          <p:cNvSpPr txBox="1"/>
          <p:nvPr/>
        </p:nvSpPr>
        <p:spPr>
          <a:xfrm>
            <a:off x="234043" y="1872342"/>
            <a:ext cx="1188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 salary)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sum all non – null values of column salary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A585D8-50D1-C7F1-1AFE-A0CAF33079C4}"/>
              </a:ext>
            </a:extLst>
          </p:cNvPr>
          <p:cNvSpPr txBox="1"/>
          <p:nvPr/>
        </p:nvSpPr>
        <p:spPr>
          <a:xfrm>
            <a:off x="152400" y="3624942"/>
            <a:ext cx="11887200" cy="1758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 distinct salary) 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sum all distinct non – null values of 						column salary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23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F8A235-25DA-19C3-9E42-375CD4044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7" y="0"/>
            <a:ext cx="6485172" cy="43651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3AA4B6-6573-045D-D12A-8C006593C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481" y="4582887"/>
            <a:ext cx="6801861" cy="208972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7576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600F7E-38BB-E987-E799-547BA66FD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7" y="0"/>
            <a:ext cx="6485172" cy="43651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9906C4-E67B-1E60-E242-0D1CF7F21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863" y="4848199"/>
            <a:ext cx="7106713" cy="175942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9955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70CD3-26F5-63AF-9B7B-7E19FDC6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377850-788C-7F49-6CBE-CE4927FED56C}"/>
              </a:ext>
            </a:extLst>
          </p:cNvPr>
          <p:cNvSpPr txBox="1"/>
          <p:nvPr/>
        </p:nvSpPr>
        <p:spPr>
          <a:xfrm>
            <a:off x="4234543" y="141514"/>
            <a:ext cx="3886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sz="6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BB6554-CA5D-53F3-6C7B-2239AD0069C5}"/>
              </a:ext>
            </a:extLst>
          </p:cNvPr>
          <p:cNvSpPr txBox="1"/>
          <p:nvPr/>
        </p:nvSpPr>
        <p:spPr>
          <a:xfrm>
            <a:off x="234043" y="1872342"/>
            <a:ext cx="1188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salary)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avg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all non – null values of column salary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7395CC-9301-DEC0-BACC-4D07115C0A9C}"/>
              </a:ext>
            </a:extLst>
          </p:cNvPr>
          <p:cNvSpPr txBox="1"/>
          <p:nvPr/>
        </p:nvSpPr>
        <p:spPr>
          <a:xfrm>
            <a:off x="152400" y="3624942"/>
            <a:ext cx="11887200" cy="1758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sz="4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distinct salary) 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avg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all distinct non – null values of 						column salary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21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62AF12-D1A7-C6B4-BB07-64F626C2E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7" y="0"/>
            <a:ext cx="6485172" cy="43651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4C48AC-69BC-969B-5A25-B937A1CA7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59" y="4713036"/>
            <a:ext cx="6095755" cy="178038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0156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F759C2-8BE8-C8B2-972F-A26B125D2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7" y="0"/>
            <a:ext cx="6485172" cy="43651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472A1C-37B6-F357-9FD1-D85375D22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759" y="4993344"/>
            <a:ext cx="7309154" cy="167959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60935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76A6C-12F7-AE29-2CCD-EC9C5AA48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B497C6-B41F-3140-9B2C-26D95192B64C}"/>
              </a:ext>
            </a:extLst>
          </p:cNvPr>
          <p:cNvSpPr txBox="1"/>
          <p:nvPr/>
        </p:nvSpPr>
        <p:spPr>
          <a:xfrm>
            <a:off x="4234543" y="141514"/>
            <a:ext cx="3886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F5D439-4F6E-6D80-F556-4D8CD96A3FC3}"/>
              </a:ext>
            </a:extLst>
          </p:cNvPr>
          <p:cNvSpPr txBox="1"/>
          <p:nvPr/>
        </p:nvSpPr>
        <p:spPr>
          <a:xfrm>
            <a:off x="234043" y="1872342"/>
            <a:ext cx="11887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min( </a:t>
            </a:r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salary)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minimum value in the salary column except  null values.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73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E3D1AC-83FD-C95E-76DD-E371DB144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7" y="0"/>
            <a:ext cx="6485172" cy="43651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70AFD3-A147-BDD9-12AA-39ADC8D53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47" y="4874961"/>
            <a:ext cx="5681516" cy="171604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79D863-D1AF-E7D8-994E-66FBF94D8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131092"/>
            <a:ext cx="5827879" cy="171604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36780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AE49E6-C226-10B8-F246-571BD172C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7" y="0"/>
            <a:ext cx="6485172" cy="43651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7E40A5-069A-86E9-A1D8-8B732AE63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69" y="4964909"/>
            <a:ext cx="5746831" cy="170059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EE706B-8B31-5B28-61B4-0B290B7A8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167" y="3429000"/>
            <a:ext cx="5822555" cy="170059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6192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5533BC-2CBA-45B5-6BE3-D67FFD8E7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60" y="1120741"/>
            <a:ext cx="10872280" cy="386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37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197C13-79C9-D3B1-45FE-905FBEEA7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11" y="1241845"/>
            <a:ext cx="10649859" cy="362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65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66A45A-16C6-3C7F-9913-8F9B94184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9" y="718457"/>
            <a:ext cx="12629117" cy="382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851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8E24B0-0CF6-9BB8-738D-8346CAFAA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11" y="601403"/>
            <a:ext cx="11375125" cy="423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664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6D6CC2-99FC-2989-C6FB-96BEF860F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843" y="658556"/>
            <a:ext cx="8719770" cy="24874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D10E25-BC52-1A74-B1ED-BC5054000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363" y="4228628"/>
            <a:ext cx="8293502" cy="149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3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EA3000-A6AA-AB9D-3DA4-DF5300A8B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75" y="549243"/>
            <a:ext cx="11858250" cy="2030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BEFB03-2F5A-9C99-2BAC-C9A9658F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200" y="3156858"/>
            <a:ext cx="7620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35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329FC8-B312-6490-9926-90DBCD641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65" y="1206926"/>
            <a:ext cx="9610082" cy="29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18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5017DC-1372-966E-D86A-21880746C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465" y="1141160"/>
            <a:ext cx="9392919" cy="312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91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2A171D-78A4-0E12-8836-24FC662FA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25" y="355966"/>
            <a:ext cx="11872149" cy="576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132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DB5F72-95FC-3A7F-401C-4EC795E17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11" y="454423"/>
            <a:ext cx="11926038" cy="483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8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985901-7231-1191-6693-13290F9E4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10" y="833636"/>
            <a:ext cx="11119368" cy="401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843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57CF48-5949-593A-5CBB-55700A570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512374"/>
              </p:ext>
            </p:extLst>
          </p:nvPr>
        </p:nvGraphicFramePr>
        <p:xfrm>
          <a:off x="228600" y="304800"/>
          <a:ext cx="11680371" cy="6324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784633">
                  <a:extLst>
                    <a:ext uri="{9D8B030D-6E8A-4147-A177-3AD203B41FA5}">
                      <a16:colId xmlns:a16="http://schemas.microsoft.com/office/drawing/2014/main" val="1777135510"/>
                    </a:ext>
                  </a:extLst>
                </a:gridCol>
                <a:gridCol w="3784634">
                  <a:extLst>
                    <a:ext uri="{9D8B030D-6E8A-4147-A177-3AD203B41FA5}">
                      <a16:colId xmlns:a16="http://schemas.microsoft.com/office/drawing/2014/main" val="4112819007"/>
                    </a:ext>
                  </a:extLst>
                </a:gridCol>
                <a:gridCol w="4111104">
                  <a:extLst>
                    <a:ext uri="{9D8B030D-6E8A-4147-A177-3AD203B41FA5}">
                      <a16:colId xmlns:a16="http://schemas.microsoft.com/office/drawing/2014/main" val="2880269504"/>
                    </a:ext>
                  </a:extLst>
                </a:gridCol>
              </a:tblGrid>
              <a:tr h="45147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841338"/>
                  </a:ext>
                </a:extLst>
              </a:tr>
              <a:tr h="135486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use aggregates in </a:t>
                      </a:r>
                      <a:r>
                        <a:rPr lang="en-IN" sz="16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WHERE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Aggregates work on groups, but </a:t>
                      </a:r>
                      <a:r>
                        <a:rPr lang="en-IN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WHERE</a:t>
                      </a: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filters individual rows.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</a:t>
                      </a:r>
                      <a:r>
                        <a:rPr lang="en-IN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HAVING</a:t>
                      </a: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instead.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62734221"/>
                  </a:ext>
                </a:extLst>
              </a:tr>
              <a:tr h="135486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 use </a:t>
                      </a:r>
                      <a:r>
                        <a:rPr lang="en-IN" sz="16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BY</a:t>
                      </a:r>
                      <a:r>
                        <a:rPr lang="en-IN" sz="2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when mixing aggregates &amp; non-aggregates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proper grouping before aggregation.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</a:t>
                      </a:r>
                      <a:r>
                        <a:rPr lang="en-IN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BY</a:t>
                      </a: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non-aggregated columns.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23347217"/>
                  </a:ext>
                </a:extLst>
              </a:tr>
              <a:tr h="9031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HAVING</a:t>
                      </a:r>
                      <a:r>
                        <a:rPr lang="en-IN" sz="2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requires </a:t>
                      </a:r>
                      <a:r>
                        <a:rPr lang="en-IN" sz="16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BY</a:t>
                      </a:r>
                      <a:r>
                        <a:rPr lang="en-IN" sz="2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(in most cases)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HAVING</a:t>
                      </a:r>
                      <a:r>
                        <a:rPr lang="en-IN" sz="2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filters groups after aggregation.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</a:t>
                      </a:r>
                      <a:r>
                        <a:rPr lang="en-IN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BY</a:t>
                      </a: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before </a:t>
                      </a:r>
                      <a:r>
                        <a:rPr lang="en-IN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HAVING</a:t>
                      </a: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03768553"/>
                  </a:ext>
                </a:extLst>
              </a:tr>
              <a:tr h="90536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use aggregate functions in </a:t>
                      </a:r>
                      <a:r>
                        <a:rPr lang="en-IN" sz="16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BY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BY</a:t>
                      </a: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defines groups, not computed values.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column names, not aggregates.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32979047"/>
                  </a:ext>
                </a:extLst>
              </a:tr>
              <a:tr h="135486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nest aggregates in most cases</a:t>
                      </a:r>
                      <a:endParaRPr lang="en-IN" sz="20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does not support direct nesting of aggregate functions.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subqueries for nested aggregation.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07960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458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309</Words>
  <Application>Microsoft Office PowerPoint</Application>
  <PresentationFormat>Widescreen</PresentationFormat>
  <Paragraphs>33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murali krishna</dc:creator>
  <cp:lastModifiedBy>murali krishna</cp:lastModifiedBy>
  <cp:revision>31</cp:revision>
  <dcterms:created xsi:type="dcterms:W3CDTF">2025-02-18T15:00:59Z</dcterms:created>
  <dcterms:modified xsi:type="dcterms:W3CDTF">2025-02-19T08:54:15Z</dcterms:modified>
</cp:coreProperties>
</file>