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98A92-E68D-760C-4ECE-C7CA3473B4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A34B0E-A844-0062-763D-D5174CC518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27C2B7-83A0-F92E-4EBC-68FFA704D21E}"/>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5" name="Footer Placeholder 4">
            <a:extLst>
              <a:ext uri="{FF2B5EF4-FFF2-40B4-BE49-F238E27FC236}">
                <a16:creationId xmlns:a16="http://schemas.microsoft.com/office/drawing/2014/main" id="{9FF741B9-E6D1-D392-3F32-FDFB6707FA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0AEA96-3C6E-6354-D462-3202F9C2FB63}"/>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971004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321C0-A5BF-2CE4-38D2-E170E9D6B1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E39C41-A979-21B6-EDA0-17AB6C1574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CA9EDA-AD47-8B17-41CE-09637CEFE0C3}"/>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5" name="Footer Placeholder 4">
            <a:extLst>
              <a:ext uri="{FF2B5EF4-FFF2-40B4-BE49-F238E27FC236}">
                <a16:creationId xmlns:a16="http://schemas.microsoft.com/office/drawing/2014/main" id="{6DA7FED2-FA31-6445-BA77-63F38F0808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C4BEA4-D5CD-A112-B21A-CCB7F9878A4B}"/>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622043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AC380-1687-2586-44BD-FDCCBCC848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45DAAD-8D2B-9ACF-8ED8-998BB5334EF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3FC1FF-30B5-3860-8243-45A118F3D201}"/>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5" name="Footer Placeholder 4">
            <a:extLst>
              <a:ext uri="{FF2B5EF4-FFF2-40B4-BE49-F238E27FC236}">
                <a16:creationId xmlns:a16="http://schemas.microsoft.com/office/drawing/2014/main" id="{54A2197C-CFF8-7F8B-70FA-912E932881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5837A3-C878-2DB0-B812-A8B38A072734}"/>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2230661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D0123-B839-A846-7C00-45F326FE7A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3200AD-A711-CA98-8532-D0EB0B866C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E640CA-6584-6DE6-5968-D5F3693F71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4F8F55-C69A-E652-01D6-6D6838BFEE30}"/>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6" name="Footer Placeholder 5">
            <a:extLst>
              <a:ext uri="{FF2B5EF4-FFF2-40B4-BE49-F238E27FC236}">
                <a16:creationId xmlns:a16="http://schemas.microsoft.com/office/drawing/2014/main" id="{C7EAA0DE-B0A9-CB6D-AB3E-ACB488EEED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F24C4A-17CF-F8D1-7D8F-3638274F20BA}"/>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569536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594D2-F5B9-6EBA-9328-C78F93B647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3D8C1D-477A-E255-BEAA-BA64845723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ACB927-1407-79FE-A5D7-29A358EFEE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818CCBF-93C2-AD3F-FB55-8A5E0B1E61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7002CE-3F6C-60D8-F17D-E43B20A64F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FF0A90-DD63-119F-4599-8583849542AD}"/>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8" name="Footer Placeholder 7">
            <a:extLst>
              <a:ext uri="{FF2B5EF4-FFF2-40B4-BE49-F238E27FC236}">
                <a16:creationId xmlns:a16="http://schemas.microsoft.com/office/drawing/2014/main" id="{496C9337-79F7-4432-D326-3E07C19AF24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4F6952-0083-92D5-17FE-6EC0624A1388}"/>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3279867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E9686-AC01-5DCE-BA10-9A2F8039B02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372ED8-75E8-6C2C-DB09-2716EFFFE576}"/>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4" name="Footer Placeholder 3">
            <a:extLst>
              <a:ext uri="{FF2B5EF4-FFF2-40B4-BE49-F238E27FC236}">
                <a16:creationId xmlns:a16="http://schemas.microsoft.com/office/drawing/2014/main" id="{8E3D81CA-723F-CE3B-E7D9-109170FED7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E78EF9-CADA-BB3B-A187-7147D9495760}"/>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1798928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6A382-5E6B-6736-B9EF-E3070CB37340}"/>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3" name="Footer Placeholder 2">
            <a:extLst>
              <a:ext uri="{FF2B5EF4-FFF2-40B4-BE49-F238E27FC236}">
                <a16:creationId xmlns:a16="http://schemas.microsoft.com/office/drawing/2014/main" id="{F1DAB7D4-7B53-CF3F-E117-723DF6D8C33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6F68F8-CF8D-D7B7-725C-B64C7E6A7764}"/>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1795507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1260E-A9AE-2059-8072-9D0D2DADFB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E41419-437B-14FF-A8CF-715C4CEA07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2C651B1-4FDA-BA5D-1728-0EBD28B4B8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79BE11-FCB7-B384-8A39-339E8E97A686}"/>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6" name="Footer Placeholder 5">
            <a:extLst>
              <a:ext uri="{FF2B5EF4-FFF2-40B4-BE49-F238E27FC236}">
                <a16:creationId xmlns:a16="http://schemas.microsoft.com/office/drawing/2014/main" id="{4358B0F2-D982-98F3-C382-C45C24A87C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3F6ACD-4ABB-A225-BCF7-88688B3F6F12}"/>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373495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CF54F-9918-62B3-5D3B-FED9209AAB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B052C7-E939-9828-6BBB-35BEB528D2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124053-054B-5557-79CA-DBC1FD442E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BA647-4E67-7882-B2DF-C629776C90D2}"/>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6" name="Footer Placeholder 5">
            <a:extLst>
              <a:ext uri="{FF2B5EF4-FFF2-40B4-BE49-F238E27FC236}">
                <a16:creationId xmlns:a16="http://schemas.microsoft.com/office/drawing/2014/main" id="{E4B9D02D-5669-9BA9-29AA-6F8F1D73CA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4117EC-4851-1A44-3559-E0232313B391}"/>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3370493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8E05B-F7D3-3CE2-BC17-995ECEB3F7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9F721E-0E09-47CE-1119-B825BE5724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7389CC-3D21-DDC6-7328-7082EA2A901C}"/>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5" name="Footer Placeholder 4">
            <a:extLst>
              <a:ext uri="{FF2B5EF4-FFF2-40B4-BE49-F238E27FC236}">
                <a16:creationId xmlns:a16="http://schemas.microsoft.com/office/drawing/2014/main" id="{AF276477-F127-A4A4-FE00-A12102135F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ADDFE8-F167-0E31-0EE8-1CE8E8150005}"/>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3759605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0B3345-151A-A94C-8D08-31DA9342C7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436CA2-DCD4-C249-3884-7A90AECFEB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4DBE98-E31B-EBE6-EA71-7CF0532D41AC}"/>
              </a:ext>
            </a:extLst>
          </p:cNvPr>
          <p:cNvSpPr>
            <a:spLocks noGrp="1"/>
          </p:cNvSpPr>
          <p:nvPr>
            <p:ph type="dt" sz="half" idx="10"/>
          </p:nvPr>
        </p:nvSpPr>
        <p:spPr/>
        <p:txBody>
          <a:bodyPr/>
          <a:lstStyle/>
          <a:p>
            <a:fld id="{FF47E919-17E1-4688-B521-4392E1B8D699}" type="datetimeFigureOut">
              <a:rPr lang="en-IN" smtClean="0"/>
              <a:t>19-02-2025</a:t>
            </a:fld>
            <a:endParaRPr lang="en-IN"/>
          </a:p>
        </p:txBody>
      </p:sp>
      <p:sp>
        <p:nvSpPr>
          <p:cNvPr id="5" name="Footer Placeholder 4">
            <a:extLst>
              <a:ext uri="{FF2B5EF4-FFF2-40B4-BE49-F238E27FC236}">
                <a16:creationId xmlns:a16="http://schemas.microsoft.com/office/drawing/2014/main" id="{F06D8C07-9F2E-F99A-090B-0764064FC8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5D2DAC-FFB5-2014-F4B2-C25E318C089A}"/>
              </a:ext>
            </a:extLst>
          </p:cNvPr>
          <p:cNvSpPr>
            <a:spLocks noGrp="1"/>
          </p:cNvSpPr>
          <p:nvPr>
            <p:ph type="sldNum" sz="quarter" idx="12"/>
          </p:nvPr>
        </p:nvSpPr>
        <p:spPr/>
        <p:txBody>
          <a:bodyPr/>
          <a:lstStyle/>
          <a:p>
            <a:fld id="{AB0FEE4F-AAA0-48E9-A512-9C5E94AFFFA5}" type="slidenum">
              <a:rPr lang="en-IN" smtClean="0"/>
              <a:t>‹#›</a:t>
            </a:fld>
            <a:endParaRPr lang="en-IN"/>
          </a:p>
        </p:txBody>
      </p:sp>
    </p:spTree>
    <p:extLst>
      <p:ext uri="{BB962C8B-B14F-4D97-AF65-F5344CB8AC3E}">
        <p14:creationId xmlns:p14="http://schemas.microsoft.com/office/powerpoint/2010/main" val="555932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F01EC2-790F-A611-5E92-D1BA2CA35D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52BE26-F313-3295-221B-D06F3D4A90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BBCFFB-C986-7BD9-F57B-E6BD289B39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47E919-17E1-4688-B521-4392E1B8D699}" type="datetimeFigureOut">
              <a:rPr lang="en-IN" smtClean="0"/>
              <a:t>19-02-2025</a:t>
            </a:fld>
            <a:endParaRPr lang="en-IN"/>
          </a:p>
        </p:txBody>
      </p:sp>
      <p:sp>
        <p:nvSpPr>
          <p:cNvPr id="5" name="Footer Placeholder 4">
            <a:extLst>
              <a:ext uri="{FF2B5EF4-FFF2-40B4-BE49-F238E27FC236}">
                <a16:creationId xmlns:a16="http://schemas.microsoft.com/office/drawing/2014/main" id="{ECAFD64E-80BF-DDD3-99E2-6558553F1E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32413F-94C2-1194-82DD-D4723538CF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0FEE4F-AAA0-48E9-A512-9C5E94AFFFA5}" type="slidenum">
              <a:rPr lang="en-IN" smtClean="0"/>
              <a:t>‹#›</a:t>
            </a:fld>
            <a:endParaRPr lang="en-IN"/>
          </a:p>
        </p:txBody>
      </p:sp>
    </p:spTree>
    <p:extLst>
      <p:ext uri="{BB962C8B-B14F-4D97-AF65-F5344CB8AC3E}">
        <p14:creationId xmlns:p14="http://schemas.microsoft.com/office/powerpoint/2010/main" val="3174766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B65C5A6-DEFE-87DB-2683-02F4D0CCA95F}"/>
              </a:ext>
            </a:extLst>
          </p:cNvPr>
          <p:cNvSpPr txBox="1"/>
          <p:nvPr/>
        </p:nvSpPr>
        <p:spPr>
          <a:xfrm>
            <a:off x="261257" y="664029"/>
            <a:ext cx="11930743" cy="5632311"/>
          </a:xfrm>
          <a:prstGeom prst="rect">
            <a:avLst/>
          </a:prstGeom>
          <a:noFill/>
        </p:spPr>
        <p:txBody>
          <a:bodyPr wrap="square">
            <a:spAutoFit/>
          </a:bodyPr>
          <a:lstStyle/>
          <a:p>
            <a:pPr algn="ctr"/>
            <a:r>
              <a:rPr lang="en-US" sz="3600" b="1" i="0" u="none" strike="noStrike" baseline="0" dirty="0">
                <a:solidFill>
                  <a:srgbClr val="1F2329"/>
                </a:solidFill>
                <a:latin typeface="Times New Roman" panose="02020603050405020304" pitchFamily="18" charset="0"/>
              </a:rPr>
              <a:t>Attributes</a:t>
            </a:r>
          </a:p>
          <a:p>
            <a:pPr algn="ctr"/>
            <a:endParaRPr lang="en-US" sz="3600" b="1" i="0" u="none" strike="noStrike" baseline="0" dirty="0">
              <a:solidFill>
                <a:srgbClr val="1F2329"/>
              </a:solidFill>
              <a:latin typeface="Times New Roman" panose="02020603050405020304" pitchFamily="18" charset="0"/>
            </a:endParaRPr>
          </a:p>
          <a:p>
            <a:pPr>
              <a:lnSpc>
                <a:spcPct val="150000"/>
              </a:lnSpc>
            </a:pPr>
            <a:r>
              <a:rPr lang="en-US" sz="3600" b="1" i="0" u="none" strike="noStrike" baseline="0" dirty="0">
                <a:solidFill>
                  <a:srgbClr val="1F2329"/>
                </a:solidFill>
                <a:latin typeface="Times New Roman" panose="02020603050405020304" pitchFamily="18" charset="0"/>
              </a:rPr>
              <a:t> 	</a:t>
            </a:r>
            <a:r>
              <a:rPr lang="en-US" sz="3600" b="0" i="0" u="none" strike="noStrike" baseline="0" dirty="0">
                <a:solidFill>
                  <a:srgbClr val="1F2329"/>
                </a:solidFill>
                <a:latin typeface="Times New Roman" panose="02020603050405020304" pitchFamily="18" charset="0"/>
              </a:rPr>
              <a:t>An attribute is a </a:t>
            </a:r>
            <a:r>
              <a:rPr lang="en-US" sz="3600" b="1" i="1" strike="noStrike" baseline="0" dirty="0">
                <a:solidFill>
                  <a:srgbClr val="FF0000"/>
                </a:solidFill>
                <a:latin typeface="Times New Roman" panose="02020603050405020304" pitchFamily="18" charset="0"/>
              </a:rPr>
              <a:t>property</a:t>
            </a:r>
            <a:r>
              <a:rPr lang="en-US" sz="3600" b="0" i="0" u="none" strike="noStrike" baseline="0" dirty="0">
                <a:solidFill>
                  <a:srgbClr val="1F2329"/>
                </a:solidFill>
                <a:latin typeface="Times New Roman" panose="02020603050405020304" pitchFamily="18" charset="0"/>
              </a:rPr>
              <a:t> or </a:t>
            </a:r>
            <a:r>
              <a:rPr lang="en-US" sz="3600" b="1" i="1" strike="noStrike" baseline="0" dirty="0">
                <a:solidFill>
                  <a:srgbClr val="FF0000"/>
                </a:solidFill>
                <a:latin typeface="Times New Roman" panose="02020603050405020304" pitchFamily="18" charset="0"/>
              </a:rPr>
              <a:t>characteristic</a:t>
            </a:r>
            <a:r>
              <a:rPr lang="en-US" sz="3600" b="0" i="0" u="none" strike="noStrike" baseline="0" dirty="0">
                <a:solidFill>
                  <a:srgbClr val="1F2329"/>
                </a:solidFill>
                <a:latin typeface="Times New Roman" panose="02020603050405020304" pitchFamily="18" charset="0"/>
              </a:rPr>
              <a:t> of the entity that holds it. </a:t>
            </a:r>
          </a:p>
          <a:p>
            <a:endParaRPr lang="en-US" sz="3600" b="0" i="0" u="none" strike="noStrike" baseline="0" dirty="0">
              <a:solidFill>
                <a:srgbClr val="1F2329"/>
              </a:solidFill>
              <a:latin typeface="Times New Roman" panose="02020603050405020304" pitchFamily="18" charset="0"/>
            </a:endParaRPr>
          </a:p>
          <a:p>
            <a:r>
              <a:rPr lang="en-US" sz="3600" b="0" i="0" u="none" strike="noStrike" baseline="0" dirty="0">
                <a:solidFill>
                  <a:srgbClr val="1F2329"/>
                </a:solidFill>
                <a:latin typeface="Times New Roman" panose="02020603050405020304" pitchFamily="18" charset="0"/>
              </a:rPr>
              <a:t>For example, a Student might have attributes: </a:t>
            </a:r>
            <a:r>
              <a:rPr lang="en-US" sz="3600" b="0" i="0" u="none" strike="noStrike" baseline="0" dirty="0" err="1">
                <a:solidFill>
                  <a:srgbClr val="1F2329"/>
                </a:solidFill>
                <a:latin typeface="Times New Roman" panose="02020603050405020304" pitchFamily="18" charset="0"/>
              </a:rPr>
              <a:t>roll_no</a:t>
            </a:r>
            <a:r>
              <a:rPr lang="en-US" sz="3600" b="0" i="0" u="none" strike="noStrike" baseline="0" dirty="0">
                <a:solidFill>
                  <a:srgbClr val="1F2329"/>
                </a:solidFill>
                <a:latin typeface="Times New Roman" panose="02020603050405020304" pitchFamily="18" charset="0"/>
              </a:rPr>
              <a:t>, name, address, </a:t>
            </a:r>
            <a:r>
              <a:rPr lang="en-US" sz="3600" b="0" i="0" u="none" strike="noStrike" baseline="0" dirty="0" err="1">
                <a:solidFill>
                  <a:srgbClr val="1F2329"/>
                </a:solidFill>
                <a:latin typeface="Times New Roman" panose="02020603050405020304" pitchFamily="18" charset="0"/>
              </a:rPr>
              <a:t>phone_no</a:t>
            </a:r>
            <a:r>
              <a:rPr lang="en-US" sz="3600" b="0" i="0" u="none" strike="noStrike" baseline="0" dirty="0">
                <a:solidFill>
                  <a:srgbClr val="1F2329"/>
                </a:solidFill>
                <a:latin typeface="Times New Roman" panose="02020603050405020304" pitchFamily="18" charset="0"/>
              </a:rPr>
              <a:t>, etc. </a:t>
            </a:r>
          </a:p>
          <a:p>
            <a:endParaRPr lang="en-US" sz="3600" dirty="0">
              <a:solidFill>
                <a:srgbClr val="1F2329"/>
              </a:solidFill>
              <a:latin typeface="Times New Roman" panose="02020603050405020304" pitchFamily="18" charset="0"/>
            </a:endParaRPr>
          </a:p>
          <a:p>
            <a:r>
              <a:rPr lang="en-US" sz="3600" b="0" i="0" u="none" strike="noStrike" baseline="0" dirty="0">
                <a:solidFill>
                  <a:srgbClr val="1F2329"/>
                </a:solidFill>
                <a:latin typeface="Times New Roman" panose="02020603050405020304" pitchFamily="18" charset="0"/>
              </a:rPr>
              <a:t>It is represented by an ellipse/oval. </a:t>
            </a:r>
            <a:endParaRPr lang="en-IN" sz="3600" dirty="0"/>
          </a:p>
        </p:txBody>
      </p:sp>
      <p:pic>
        <p:nvPicPr>
          <p:cNvPr id="6" name="Picture 5">
            <a:extLst>
              <a:ext uri="{FF2B5EF4-FFF2-40B4-BE49-F238E27FC236}">
                <a16:creationId xmlns:a16="http://schemas.microsoft.com/office/drawing/2014/main" id="{7DFBF90D-BAC8-1674-AAAB-10F4FFBFD53C}"/>
              </a:ext>
            </a:extLst>
          </p:cNvPr>
          <p:cNvPicPr>
            <a:picLocks noChangeAspect="1"/>
          </p:cNvPicPr>
          <p:nvPr/>
        </p:nvPicPr>
        <p:blipFill>
          <a:blip r:embed="rId2"/>
          <a:stretch>
            <a:fillRect/>
          </a:stretch>
        </p:blipFill>
        <p:spPr>
          <a:xfrm>
            <a:off x="7436589" y="4872402"/>
            <a:ext cx="4319983" cy="1637254"/>
          </a:xfrm>
          <a:prstGeom prst="rect">
            <a:avLst/>
          </a:prstGeom>
        </p:spPr>
      </p:pic>
    </p:spTree>
    <p:extLst>
      <p:ext uri="{BB962C8B-B14F-4D97-AF65-F5344CB8AC3E}">
        <p14:creationId xmlns:p14="http://schemas.microsoft.com/office/powerpoint/2010/main" val="3594956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056AE6-428C-309F-51EB-6E83640A1186}"/>
              </a:ext>
            </a:extLst>
          </p:cNvPr>
          <p:cNvSpPr txBox="1"/>
          <p:nvPr/>
        </p:nvSpPr>
        <p:spPr>
          <a:xfrm>
            <a:off x="435429" y="653143"/>
            <a:ext cx="11593285" cy="1930785"/>
          </a:xfrm>
          <a:prstGeom prst="rect">
            <a:avLst/>
          </a:prstGeom>
          <a:noFill/>
        </p:spPr>
        <p:txBody>
          <a:bodyPr wrap="square">
            <a:spAutoFit/>
          </a:bodyPr>
          <a:lstStyle/>
          <a:p>
            <a:pPr marL="284480" marR="525145">
              <a:lnSpc>
                <a:spcPct val="200000"/>
              </a:lnSpc>
              <a:spcBef>
                <a:spcPts val="1305"/>
              </a:spcBef>
            </a:pPr>
            <a:r>
              <a:rPr lang="en-US" sz="2800" dirty="0">
                <a:solidFill>
                  <a:srgbClr val="1F2329"/>
                </a:solidFill>
                <a:effectLst/>
                <a:latin typeface="Times New Roman" panose="02020603050405020304" pitchFamily="18" charset="0"/>
                <a:ea typeface="Times New Roman" panose="02020603050405020304" pitchFamily="18" charset="0"/>
              </a:rPr>
              <a:t>	There</a:t>
            </a:r>
            <a:r>
              <a:rPr lang="en-US" sz="2800" spc="19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exists</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specific</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3600" b="1" i="1" u="sng" dirty="0">
                <a:solidFill>
                  <a:srgbClr val="FF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domain</a:t>
            </a:r>
            <a:r>
              <a:rPr lang="en-US" sz="2800" b="1"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or</a:t>
            </a:r>
            <a:r>
              <a:rPr lang="en-US" sz="2800" spc="195" dirty="0">
                <a:solidFill>
                  <a:srgbClr val="1F2329"/>
                </a:solidFill>
                <a:effectLst/>
                <a:latin typeface="Times New Roman" panose="02020603050405020304" pitchFamily="18" charset="0"/>
                <a:ea typeface="Times New Roman" panose="02020603050405020304" pitchFamily="18" charset="0"/>
              </a:rPr>
              <a:t> </a:t>
            </a:r>
            <a:r>
              <a:rPr lang="en-US" sz="2800" b="1" dirty="0">
                <a:solidFill>
                  <a:srgbClr val="1F2329"/>
                </a:solidFill>
                <a:effectLst/>
                <a:latin typeface="Times New Roman" panose="02020603050405020304" pitchFamily="18" charset="0"/>
                <a:ea typeface="Times New Roman" panose="02020603050405020304" pitchFamily="18" charset="0"/>
              </a:rPr>
              <a:t>set</a:t>
            </a:r>
            <a:r>
              <a:rPr lang="en-US" sz="2800" b="1" spc="200" dirty="0">
                <a:solidFill>
                  <a:srgbClr val="1F2329"/>
                </a:solidFill>
                <a:effectLst/>
                <a:latin typeface="Times New Roman" panose="02020603050405020304" pitchFamily="18" charset="0"/>
                <a:ea typeface="Times New Roman" panose="02020603050405020304" pitchFamily="18" charset="0"/>
              </a:rPr>
              <a:t> </a:t>
            </a:r>
            <a:r>
              <a:rPr lang="en-US" sz="2800" b="1" dirty="0">
                <a:solidFill>
                  <a:srgbClr val="1F2329"/>
                </a:solidFill>
                <a:effectLst/>
                <a:latin typeface="Times New Roman" panose="02020603050405020304" pitchFamily="18" charset="0"/>
                <a:ea typeface="Times New Roman" panose="02020603050405020304" pitchFamily="18" charset="0"/>
              </a:rPr>
              <a:t>of</a:t>
            </a:r>
            <a:r>
              <a:rPr lang="en-US" sz="2800" b="1" spc="200" dirty="0">
                <a:solidFill>
                  <a:srgbClr val="1F2329"/>
                </a:solidFill>
                <a:effectLst/>
                <a:latin typeface="Times New Roman" panose="02020603050405020304" pitchFamily="18" charset="0"/>
                <a:ea typeface="Times New Roman" panose="02020603050405020304" pitchFamily="18" charset="0"/>
              </a:rPr>
              <a:t> </a:t>
            </a:r>
            <a:r>
              <a:rPr lang="en-US" sz="2800" b="1" dirty="0">
                <a:solidFill>
                  <a:srgbClr val="1F2329"/>
                </a:solidFill>
                <a:effectLst/>
                <a:latin typeface="Times New Roman" panose="02020603050405020304" pitchFamily="18" charset="0"/>
                <a:ea typeface="Times New Roman" panose="02020603050405020304" pitchFamily="18" charset="0"/>
              </a:rPr>
              <a:t>values</a:t>
            </a:r>
            <a:r>
              <a:rPr lang="en-US" sz="2800" b="1" spc="19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for</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each</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attribute</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from</a:t>
            </a:r>
            <a:r>
              <a:rPr lang="en-US" sz="2800" spc="19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where</a:t>
            </a:r>
            <a:r>
              <a:rPr lang="en-US" sz="2800" spc="19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the attribute can take its values.</a:t>
            </a:r>
            <a:endParaRPr lang="en-IN" sz="28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609A1B74-7F7D-907B-6F69-1F48DA88CCE8}"/>
              </a:ext>
            </a:extLst>
          </p:cNvPr>
          <p:cNvSpPr txBox="1"/>
          <p:nvPr/>
        </p:nvSpPr>
        <p:spPr>
          <a:xfrm>
            <a:off x="762000" y="2673421"/>
            <a:ext cx="11005457" cy="2546338"/>
          </a:xfrm>
          <a:prstGeom prst="rect">
            <a:avLst/>
          </a:prstGeom>
          <a:noFill/>
        </p:spPr>
        <p:txBody>
          <a:bodyPr wrap="square">
            <a:spAutoFit/>
          </a:bodyPr>
          <a:lstStyle/>
          <a:p>
            <a:pPr marL="741680" marR="525145" indent="-457200">
              <a:lnSpc>
                <a:spcPct val="200000"/>
              </a:lnSpc>
              <a:buFont typeface="Wingdings" panose="05000000000000000000" pitchFamily="2" charset="2"/>
              <a:buChar char="q"/>
            </a:pPr>
            <a:r>
              <a:rPr lang="en-US" sz="2800" dirty="0">
                <a:solidFill>
                  <a:srgbClr val="1F2329"/>
                </a:solidFill>
                <a:effectLst/>
                <a:latin typeface="Times New Roman" panose="02020603050405020304" pitchFamily="18" charset="0"/>
                <a:ea typeface="Times New Roman" panose="02020603050405020304" pitchFamily="18" charset="0"/>
              </a:rPr>
              <a:t>a student's name</a:t>
            </a:r>
            <a:r>
              <a:rPr lang="en-US" sz="2800" spc="1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cannot</a:t>
            </a:r>
            <a:r>
              <a:rPr lang="en-US" sz="2800" spc="1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be a </a:t>
            </a:r>
            <a:r>
              <a:rPr lang="en-US" sz="2800" b="1" i="1" u="sng" dirty="0">
                <a:solidFill>
                  <a:srgbClr val="FF0000"/>
                </a:solidFill>
                <a:effectLst/>
                <a:latin typeface="Times New Roman" panose="02020603050405020304" pitchFamily="18" charset="0"/>
                <a:ea typeface="Times New Roman" panose="02020603050405020304" pitchFamily="18" charset="0"/>
              </a:rPr>
              <a:t>numeric</a:t>
            </a:r>
            <a:r>
              <a:rPr lang="en-US" sz="2800" dirty="0">
                <a:solidFill>
                  <a:srgbClr val="1F2329"/>
                </a:solidFill>
                <a:effectLst/>
                <a:latin typeface="Times New Roman" panose="02020603050405020304" pitchFamily="18" charset="0"/>
                <a:ea typeface="Times New Roman" panose="02020603050405020304" pitchFamily="18" charset="0"/>
              </a:rPr>
              <a:t> value.</a:t>
            </a:r>
            <a:r>
              <a:rPr lang="en-US" sz="2800" spc="1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It</a:t>
            </a:r>
            <a:r>
              <a:rPr lang="en-US" sz="2800" spc="1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has to</a:t>
            </a:r>
            <a:r>
              <a:rPr lang="en-US" sz="2800" spc="1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be alphabetic.</a:t>
            </a:r>
            <a:r>
              <a:rPr lang="en-US" sz="2800" spc="100" dirty="0">
                <a:solidFill>
                  <a:srgbClr val="1F2329"/>
                </a:solidFill>
                <a:effectLst/>
                <a:latin typeface="Times New Roman" panose="02020603050405020304" pitchFamily="18" charset="0"/>
                <a:ea typeface="Times New Roman" panose="02020603050405020304" pitchFamily="18" charset="0"/>
              </a:rPr>
              <a:t> </a:t>
            </a:r>
          </a:p>
          <a:p>
            <a:pPr marL="741680" marR="525145" indent="-457200">
              <a:lnSpc>
                <a:spcPct val="200000"/>
              </a:lnSpc>
              <a:buFont typeface="Wingdings" panose="05000000000000000000" pitchFamily="2" charset="2"/>
              <a:buChar char="q"/>
            </a:pPr>
            <a:r>
              <a:rPr lang="en-US" sz="2800" dirty="0">
                <a:solidFill>
                  <a:srgbClr val="1F2329"/>
                </a:solidFill>
                <a:effectLst/>
                <a:latin typeface="Times New Roman" panose="02020603050405020304" pitchFamily="18" charset="0"/>
                <a:ea typeface="Times New Roman" panose="02020603050405020304" pitchFamily="18" charset="0"/>
              </a:rPr>
              <a:t>A student's age cannot be </a:t>
            </a:r>
            <a:r>
              <a:rPr lang="en-US" sz="2800" b="1" i="1" u="sng" dirty="0">
                <a:solidFill>
                  <a:srgbClr val="FF0000"/>
                </a:solidFill>
                <a:effectLst/>
                <a:latin typeface="Times New Roman" panose="02020603050405020304" pitchFamily="18" charset="0"/>
                <a:ea typeface="Times New Roman" panose="02020603050405020304" pitchFamily="18" charset="0"/>
              </a:rPr>
              <a:t>negative</a:t>
            </a:r>
            <a:r>
              <a:rPr lang="en-US" sz="2800" dirty="0">
                <a:solidFill>
                  <a:srgbClr val="1F2329"/>
                </a:solidFill>
                <a:effectLst/>
                <a:latin typeface="Times New Roman" panose="02020603050405020304" pitchFamily="18" charset="0"/>
                <a:ea typeface="Times New Roman" panose="02020603050405020304" pitchFamily="18" charset="0"/>
              </a:rPr>
              <a:t>, etc.</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195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nodeType="clickEffect">
                                  <p:stCondLst>
                                    <p:cond delay="0"/>
                                  </p:stCondLst>
                                  <p:childTnLst>
                                    <p:set>
                                      <p:cBhvr>
                                        <p:cTn id="15"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6"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5F4C3B-1572-65E0-95BD-7DBC4183E4F3}"/>
              </a:ext>
            </a:extLst>
          </p:cNvPr>
          <p:cNvSpPr txBox="1"/>
          <p:nvPr/>
        </p:nvSpPr>
        <p:spPr>
          <a:xfrm>
            <a:off x="1698171" y="239486"/>
            <a:ext cx="8795657" cy="646331"/>
          </a:xfrm>
          <a:prstGeom prst="rect">
            <a:avLst/>
          </a:prstGeom>
          <a:noFill/>
        </p:spPr>
        <p:txBody>
          <a:bodyPr wrap="square">
            <a:spAutoFit/>
          </a:bodyPr>
          <a:lstStyle/>
          <a:p>
            <a:pPr algn="ctr"/>
            <a:r>
              <a:rPr lang="en-US" sz="3600" b="1" dirty="0">
                <a:solidFill>
                  <a:srgbClr val="7030A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Types</a:t>
            </a:r>
            <a:r>
              <a:rPr lang="en-US" sz="3600" b="1" spc="140" dirty="0">
                <a:solidFill>
                  <a:srgbClr val="7030A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dirty="0">
                <a:solidFill>
                  <a:srgbClr val="7030A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of</a:t>
            </a:r>
            <a:r>
              <a:rPr lang="en-US" sz="3600" b="1" spc="135" dirty="0">
                <a:solidFill>
                  <a:srgbClr val="7030A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dirty="0">
                <a:solidFill>
                  <a:srgbClr val="7030A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Attributes</a:t>
            </a:r>
            <a:endParaRPr lang="en-IN" sz="3600" b="1" dirty="0">
              <a:solidFill>
                <a:srgbClr val="7030A0"/>
              </a:solidFill>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3A0BE0F0-DF1B-3D2D-3AE1-613D97E91EBA}"/>
              </a:ext>
            </a:extLst>
          </p:cNvPr>
          <p:cNvSpPr txBox="1"/>
          <p:nvPr/>
        </p:nvSpPr>
        <p:spPr>
          <a:xfrm>
            <a:off x="1164771" y="1232197"/>
            <a:ext cx="8599714" cy="4978735"/>
          </a:xfrm>
          <a:prstGeom prst="rect">
            <a:avLst/>
          </a:prstGeom>
          <a:noFill/>
        </p:spPr>
        <p:txBody>
          <a:bodyPr wrap="square">
            <a:spAutoFit/>
          </a:bodyPr>
          <a:lstStyle/>
          <a:p>
            <a:pPr marL="342900" lvl="0" indent="-342900">
              <a:lnSpc>
                <a:spcPct val="150000"/>
              </a:lnSpc>
              <a:buClr>
                <a:srgbClr val="1F2329"/>
              </a:buClr>
              <a:buSzPts val="1200"/>
              <a:buFont typeface="Times New Roman" panose="02020603050405020304" pitchFamily="18" charset="0"/>
              <a:buAutoNum type="arabicPeriod"/>
              <a:tabLst>
                <a:tab pos="741045" algn="l"/>
              </a:tabLst>
            </a:pPr>
            <a:r>
              <a:rPr lang="en-US" sz="3600" b="1" spc="0"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Simple</a:t>
            </a:r>
            <a:r>
              <a:rPr lang="en-US" sz="3600" b="1" spc="-25"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spc="-10"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a:t>
            </a:r>
            <a:endParaRPr lang="en-IN" sz="3200" b="1" spc="0"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342900" lvl="0" indent="-342900">
              <a:lnSpc>
                <a:spcPct val="150000"/>
              </a:lnSpc>
              <a:buClr>
                <a:srgbClr val="1F2329"/>
              </a:buClr>
              <a:buSzPts val="1200"/>
              <a:buFont typeface="Times New Roman" panose="02020603050405020304" pitchFamily="18" charset="0"/>
              <a:buAutoNum type="arabicPeriod"/>
              <a:tabLst>
                <a:tab pos="741045" algn="l"/>
              </a:tabLst>
            </a:pPr>
            <a:r>
              <a:rPr lang="en-US" sz="3600" b="1" spc="0" dirty="0">
                <a:solidFill>
                  <a:schemeClr val="tx2"/>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Composite</a:t>
            </a:r>
            <a:r>
              <a:rPr lang="en-US" sz="3600" b="1" spc="-30" dirty="0">
                <a:solidFill>
                  <a:schemeClr val="tx2"/>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spc="-10" dirty="0">
                <a:solidFill>
                  <a:schemeClr val="tx2"/>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a:t>
            </a:r>
            <a:endParaRPr lang="en-IN" sz="3200" b="1" spc="0" dirty="0">
              <a:solidFill>
                <a:schemeClr val="tx2"/>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342900" lvl="0" indent="-342900">
              <a:lnSpc>
                <a:spcPct val="150000"/>
              </a:lnSpc>
              <a:buClr>
                <a:srgbClr val="1F2329"/>
              </a:buClr>
              <a:buSzPts val="1200"/>
              <a:buFont typeface="Times New Roman" panose="02020603050405020304" pitchFamily="18" charset="0"/>
              <a:buAutoNum type="arabicPeriod"/>
              <a:tabLst>
                <a:tab pos="741045" algn="l"/>
              </a:tabLst>
            </a:pPr>
            <a:r>
              <a:rPr lang="en-US" sz="3600" b="1" spc="0" dirty="0">
                <a:solidFill>
                  <a:schemeClr val="accent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Single</a:t>
            </a:r>
            <a:r>
              <a:rPr lang="en-US" sz="3600" b="1" spc="-20" dirty="0">
                <a:solidFill>
                  <a:schemeClr val="accent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spc="0" dirty="0">
                <a:solidFill>
                  <a:schemeClr val="accent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valued</a:t>
            </a:r>
            <a:r>
              <a:rPr lang="en-US" sz="3600" b="1" spc="-5" dirty="0">
                <a:solidFill>
                  <a:schemeClr val="accent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spc="-10" dirty="0">
                <a:solidFill>
                  <a:schemeClr val="accent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a:t>
            </a:r>
            <a:endParaRPr lang="en-IN" sz="3200" b="1" spc="0" dirty="0">
              <a:solidFill>
                <a:schemeClr val="accent1"/>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342900" lvl="0" indent="-342900">
              <a:lnSpc>
                <a:spcPct val="150000"/>
              </a:lnSpc>
              <a:buClr>
                <a:srgbClr val="1F2329"/>
              </a:buClr>
              <a:buSzPts val="1200"/>
              <a:buFont typeface="Times New Roman" panose="02020603050405020304" pitchFamily="18" charset="0"/>
              <a:buAutoNum type="arabicPeriod"/>
              <a:tabLst>
                <a:tab pos="741045" algn="l"/>
              </a:tabLst>
            </a:pPr>
            <a:r>
              <a:rPr lang="en-US" sz="3600" b="1" spc="0"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Multi</a:t>
            </a:r>
            <a:r>
              <a:rPr lang="en-US" sz="3600" b="1" spc="-15"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spc="0"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valued </a:t>
            </a:r>
            <a:r>
              <a:rPr lang="en-US" sz="3600" b="1" spc="-10"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a:t>
            </a:r>
            <a:endParaRPr lang="en-IN" sz="3200" b="1" spc="0"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342900" lvl="0" indent="-342900">
              <a:lnSpc>
                <a:spcPct val="150000"/>
              </a:lnSpc>
              <a:buClr>
                <a:srgbClr val="1F2329"/>
              </a:buClr>
              <a:buSzPts val="1200"/>
              <a:buFont typeface="Times New Roman" panose="02020603050405020304" pitchFamily="18" charset="0"/>
              <a:buAutoNum type="arabicPeriod"/>
              <a:tabLst>
                <a:tab pos="741045" algn="l"/>
              </a:tabLst>
            </a:pPr>
            <a:r>
              <a:rPr lang="en-US" sz="3600" b="1" spc="0" dirty="0">
                <a:solidFill>
                  <a:srgbClr val="FF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Derived</a:t>
            </a:r>
            <a:r>
              <a:rPr lang="en-US" sz="3600" b="1" spc="-15" dirty="0">
                <a:solidFill>
                  <a:srgbClr val="FF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spc="-10" dirty="0">
                <a:solidFill>
                  <a:srgbClr val="FF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a:t>
            </a:r>
            <a:endParaRPr lang="en-IN" sz="3200" b="1" spc="0" dirty="0">
              <a:solidFill>
                <a:srgbClr val="FF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342900" lvl="0" indent="-342900">
              <a:lnSpc>
                <a:spcPct val="150000"/>
              </a:lnSpc>
              <a:buClr>
                <a:srgbClr val="1F2329"/>
              </a:buClr>
              <a:buSzPts val="1200"/>
              <a:buFont typeface="Times New Roman" panose="02020603050405020304" pitchFamily="18" charset="0"/>
              <a:buAutoNum type="arabicPeriod"/>
              <a:tabLst>
                <a:tab pos="741045" algn="l"/>
              </a:tabLst>
            </a:pPr>
            <a:r>
              <a:rPr lang="en-US" sz="3600" b="1" spc="0" dirty="0">
                <a:solidFill>
                  <a:srgbClr val="00206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Key</a:t>
            </a:r>
            <a:r>
              <a:rPr lang="en-US" sz="3600" b="1" spc="-20" dirty="0">
                <a:solidFill>
                  <a:srgbClr val="00206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3600" b="1" spc="-10" dirty="0">
                <a:solidFill>
                  <a:srgbClr val="00206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attributes.</a:t>
            </a:r>
            <a:endParaRPr lang="en-IN" sz="3200" b="1" spc="0" dirty="0">
              <a:solidFill>
                <a:srgbClr val="00206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0521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5"/>
                                        </p:tgtEl>
                                        <p:attrNameLst>
                                          <p:attrName>r</p:attrName>
                                        </p:attrNameLst>
                                      </p:cBhvr>
                                    </p:animRot>
                                    <p:animRot by="-240000">
                                      <p:cBhvr>
                                        <p:cTn id="7" dur="200" fill="hold">
                                          <p:stCondLst>
                                            <p:cond delay="200"/>
                                          </p:stCondLst>
                                        </p:cTn>
                                        <p:tgtEl>
                                          <p:spTgt spid="5"/>
                                        </p:tgtEl>
                                        <p:attrNameLst>
                                          <p:attrName>r</p:attrName>
                                        </p:attrNameLst>
                                      </p:cBhvr>
                                    </p:animRot>
                                    <p:animRot by="240000">
                                      <p:cBhvr>
                                        <p:cTn id="8" dur="200" fill="hold">
                                          <p:stCondLst>
                                            <p:cond delay="400"/>
                                          </p:stCondLst>
                                        </p:cTn>
                                        <p:tgtEl>
                                          <p:spTgt spid="5"/>
                                        </p:tgtEl>
                                        <p:attrNameLst>
                                          <p:attrName>r</p:attrName>
                                        </p:attrNameLst>
                                      </p:cBhvr>
                                    </p:animRot>
                                    <p:animRot by="-240000">
                                      <p:cBhvr>
                                        <p:cTn id="9" dur="200" fill="hold">
                                          <p:stCondLst>
                                            <p:cond delay="600"/>
                                          </p:stCondLst>
                                        </p:cTn>
                                        <p:tgtEl>
                                          <p:spTgt spid="5"/>
                                        </p:tgtEl>
                                        <p:attrNameLst>
                                          <p:attrName>r</p:attrName>
                                        </p:attrNameLst>
                                      </p:cBhvr>
                                    </p:animRot>
                                    <p:animRot by="120000">
                                      <p:cBhvr>
                                        <p:cTn id="10" dur="200" fill="hold">
                                          <p:stCondLst>
                                            <p:cond delay="800"/>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2ADE7E-7778-F7C4-5F53-EA8D5B04DAFC}"/>
              </a:ext>
            </a:extLst>
          </p:cNvPr>
          <p:cNvSpPr>
            <a:spLocks noGrp="1"/>
          </p:cNvSpPr>
          <p:nvPr>
            <p:ph type="body" idx="1"/>
          </p:nvPr>
        </p:nvSpPr>
        <p:spPr>
          <a:xfrm>
            <a:off x="782183" y="734106"/>
            <a:ext cx="5157787" cy="823912"/>
          </a:xfrm>
        </p:spPr>
        <p:txBody>
          <a:bodyPr/>
          <a:lstStyle/>
          <a:p>
            <a:r>
              <a:rPr lang="en-US" sz="4000" b="1" spc="0"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Simple</a:t>
            </a:r>
            <a:r>
              <a:rPr lang="en-US" sz="4000" b="1" spc="-25"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4000" b="1" spc="-10"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a:t>
            </a:r>
            <a:endParaRPr lang="en-IN" sz="3600" b="1" spc="0" dirty="0">
              <a:solidFill>
                <a:srgbClr val="00B05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endParaRPr lang="en-IN" dirty="0"/>
          </a:p>
        </p:txBody>
      </p:sp>
      <p:pic>
        <p:nvPicPr>
          <p:cNvPr id="7" name="Content Placeholder 6">
            <a:extLst>
              <a:ext uri="{FF2B5EF4-FFF2-40B4-BE49-F238E27FC236}">
                <a16:creationId xmlns:a16="http://schemas.microsoft.com/office/drawing/2014/main" id="{1037D025-6A19-864A-9E4D-B5AF2CFA8B9F}"/>
              </a:ext>
            </a:extLst>
          </p:cNvPr>
          <p:cNvPicPr>
            <a:picLocks noGrp="1" noChangeAspect="1"/>
          </p:cNvPicPr>
          <p:nvPr>
            <p:ph sz="half" idx="2"/>
          </p:nvPr>
        </p:nvPicPr>
        <p:blipFill>
          <a:blip r:embed="rId2"/>
          <a:stretch>
            <a:fillRect/>
          </a:stretch>
        </p:blipFill>
        <p:spPr>
          <a:xfrm>
            <a:off x="502330" y="1709057"/>
            <a:ext cx="5011433" cy="4256313"/>
          </a:xfrm>
          <a:prstGeom prst="rect">
            <a:avLst/>
          </a:prstGeom>
          <a:ln w="88900" cap="sq" cmpd="thickThin">
            <a:solidFill>
              <a:srgbClr val="000000"/>
            </a:solidFill>
            <a:prstDash val="solid"/>
            <a:miter lim="800000"/>
          </a:ln>
          <a:effectLst>
            <a:innerShdw blurRad="76200">
              <a:srgbClr val="000000"/>
            </a:innerShdw>
          </a:effectLst>
        </p:spPr>
      </p:pic>
      <p:sp>
        <p:nvSpPr>
          <p:cNvPr id="5" name="Text Placeholder 4">
            <a:extLst>
              <a:ext uri="{FF2B5EF4-FFF2-40B4-BE49-F238E27FC236}">
                <a16:creationId xmlns:a16="http://schemas.microsoft.com/office/drawing/2014/main" id="{ADB85D78-9B85-E8EB-11FC-2EB21ED542A9}"/>
              </a:ext>
            </a:extLst>
          </p:cNvPr>
          <p:cNvSpPr>
            <a:spLocks noGrp="1"/>
          </p:cNvSpPr>
          <p:nvPr>
            <p:ph type="body" sz="quarter" idx="3"/>
          </p:nvPr>
        </p:nvSpPr>
        <p:spPr>
          <a:xfrm>
            <a:off x="6564086" y="734106"/>
            <a:ext cx="5183188" cy="823912"/>
          </a:xfrm>
        </p:spPr>
        <p:txBody>
          <a:bodyPr/>
          <a:lstStyle/>
          <a:p>
            <a:r>
              <a:rPr lang="en-US" sz="4000" b="1" spc="0" dirty="0">
                <a:solidFill>
                  <a:srgbClr val="C0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Composite</a:t>
            </a:r>
            <a:r>
              <a:rPr lang="en-US" sz="4000" b="1" spc="-30" dirty="0">
                <a:solidFill>
                  <a:srgbClr val="C0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 </a:t>
            </a:r>
            <a:r>
              <a:rPr lang="en-US" sz="4000" b="1" spc="-10" dirty="0">
                <a:solidFill>
                  <a:srgbClr val="C0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attribute</a:t>
            </a:r>
            <a:endParaRPr lang="en-IN" sz="3600" b="1" spc="0" dirty="0">
              <a:solidFill>
                <a:srgbClr val="C0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endParaRPr lang="en-IN" dirty="0"/>
          </a:p>
        </p:txBody>
      </p:sp>
      <p:pic>
        <p:nvPicPr>
          <p:cNvPr id="8" name="Content Placeholder 7">
            <a:extLst>
              <a:ext uri="{FF2B5EF4-FFF2-40B4-BE49-F238E27FC236}">
                <a16:creationId xmlns:a16="http://schemas.microsoft.com/office/drawing/2014/main" id="{A1302144-6E31-8383-1211-3427EC6BBEB2}"/>
              </a:ext>
            </a:extLst>
          </p:cNvPr>
          <p:cNvPicPr>
            <a:picLocks noGrp="1" noChangeAspect="1"/>
          </p:cNvPicPr>
          <p:nvPr>
            <p:ph sz="quarter" idx="4"/>
          </p:nvPr>
        </p:nvPicPr>
        <p:blipFill>
          <a:blip r:embed="rId3"/>
          <a:stretch>
            <a:fillRect/>
          </a:stretch>
        </p:blipFill>
        <p:spPr>
          <a:xfrm>
            <a:off x="6740205" y="1709057"/>
            <a:ext cx="4156036" cy="4287611"/>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315361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7"/>
                                        </p:tgtEl>
                                        <p:attrNameLst>
                                          <p:attrName>r</p:attrName>
                                        </p:attrNameLst>
                                      </p:cBhvr>
                                    </p:animRot>
                                    <p:animRot by="-240000">
                                      <p:cBhvr>
                                        <p:cTn id="7" dur="200" fill="hold">
                                          <p:stCondLst>
                                            <p:cond delay="200"/>
                                          </p:stCondLst>
                                        </p:cTn>
                                        <p:tgtEl>
                                          <p:spTgt spid="7"/>
                                        </p:tgtEl>
                                        <p:attrNameLst>
                                          <p:attrName>r</p:attrName>
                                        </p:attrNameLst>
                                      </p:cBhvr>
                                    </p:animRot>
                                    <p:animRot by="240000">
                                      <p:cBhvr>
                                        <p:cTn id="8" dur="200" fill="hold">
                                          <p:stCondLst>
                                            <p:cond delay="400"/>
                                          </p:stCondLst>
                                        </p:cTn>
                                        <p:tgtEl>
                                          <p:spTgt spid="7"/>
                                        </p:tgtEl>
                                        <p:attrNameLst>
                                          <p:attrName>r</p:attrName>
                                        </p:attrNameLst>
                                      </p:cBhvr>
                                    </p:animRot>
                                    <p:animRot by="-240000">
                                      <p:cBhvr>
                                        <p:cTn id="9" dur="200" fill="hold">
                                          <p:stCondLst>
                                            <p:cond delay="600"/>
                                          </p:stCondLst>
                                        </p:cTn>
                                        <p:tgtEl>
                                          <p:spTgt spid="7"/>
                                        </p:tgtEl>
                                        <p:attrNameLst>
                                          <p:attrName>r</p:attrName>
                                        </p:attrNameLst>
                                      </p:cBhvr>
                                    </p:animRot>
                                    <p:animRot by="120000">
                                      <p:cBhvr>
                                        <p:cTn id="10" dur="200" fill="hold">
                                          <p:stCondLst>
                                            <p:cond delay="800"/>
                                          </p:stCondLst>
                                        </p:cTn>
                                        <p:tgtEl>
                                          <p:spTgt spid="7"/>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1000" fill="hold"/>
                                        <p:tgtEl>
                                          <p:spTgt spid="8"/>
                                        </p:tgtEl>
                                        <p:attrNameLst>
                                          <p:attrName>ppt_w</p:attrName>
                                        </p:attrNameLst>
                                      </p:cBhvr>
                                      <p:tavLst>
                                        <p:tav tm="0">
                                          <p:val>
                                            <p:fltVal val="0"/>
                                          </p:val>
                                        </p:tav>
                                        <p:tav tm="100000">
                                          <p:val>
                                            <p:strVal val="#ppt_w"/>
                                          </p:val>
                                        </p:tav>
                                      </p:tavLst>
                                    </p:anim>
                                    <p:anim calcmode="lin" valueType="num">
                                      <p:cBhvr>
                                        <p:cTn id="16" dur="1000" fill="hold"/>
                                        <p:tgtEl>
                                          <p:spTgt spid="8"/>
                                        </p:tgtEl>
                                        <p:attrNameLst>
                                          <p:attrName>ppt_h</p:attrName>
                                        </p:attrNameLst>
                                      </p:cBhvr>
                                      <p:tavLst>
                                        <p:tav tm="0">
                                          <p:val>
                                            <p:fltVal val="0"/>
                                          </p:val>
                                        </p:tav>
                                        <p:tav tm="100000">
                                          <p:val>
                                            <p:strVal val="#ppt_h"/>
                                          </p:val>
                                        </p:tav>
                                      </p:tavLst>
                                    </p:anim>
                                    <p:anim calcmode="lin" valueType="num">
                                      <p:cBhvr>
                                        <p:cTn id="17" dur="1000" fill="hold"/>
                                        <p:tgtEl>
                                          <p:spTgt spid="8"/>
                                        </p:tgtEl>
                                        <p:attrNameLst>
                                          <p:attrName>style.rotation</p:attrName>
                                        </p:attrNameLst>
                                      </p:cBhvr>
                                      <p:tavLst>
                                        <p:tav tm="0">
                                          <p:val>
                                            <p:fltVal val="90"/>
                                          </p:val>
                                        </p:tav>
                                        <p:tav tm="100000">
                                          <p:val>
                                            <p:fltVal val="0"/>
                                          </p:val>
                                        </p:tav>
                                      </p:tavLst>
                                    </p:anim>
                                    <p:animEffect transition="in" filter="fade">
                                      <p:cBhvr>
                                        <p:cTn id="18" dur="10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Effect transition="in" filter="fade">
                                      <p:cBhvr>
                                        <p:cTn id="23" dur="1000"/>
                                        <p:tgtEl>
                                          <p:spTgt spid="3">
                                            <p:txEl>
                                              <p:pRg st="0" end="0"/>
                                            </p:txEl>
                                          </p:spTgt>
                                        </p:tgtEl>
                                      </p:cBhvr>
                                    </p:animEffect>
                                    <p:anim calcmode="lin" valueType="num">
                                      <p:cBhvr>
                                        <p:cTn id="2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fade">
                                      <p:cBhvr>
                                        <p:cTn id="3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B46FB34-FCFA-96CA-906A-87975523C215}"/>
              </a:ext>
            </a:extLst>
          </p:cNvPr>
          <p:cNvSpPr>
            <a:spLocks noGrp="1"/>
          </p:cNvSpPr>
          <p:nvPr>
            <p:ph type="body" idx="1"/>
          </p:nvPr>
        </p:nvSpPr>
        <p:spPr>
          <a:xfrm>
            <a:off x="836612" y="256381"/>
            <a:ext cx="5157787" cy="823912"/>
          </a:xfrm>
        </p:spPr>
        <p:txBody>
          <a:bodyPr>
            <a:normAutofit fontScale="92500" lnSpcReduction="10000"/>
          </a:bodyPr>
          <a:lstStyle/>
          <a:p>
            <a:r>
              <a:rPr kumimoji="0" lang="en-US" sz="36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Single</a:t>
            </a:r>
            <a:r>
              <a:rPr kumimoji="0" lang="en-US" sz="3600" b="1" i="0" u="none" strike="noStrike" kern="1200" cap="none" spc="-20" normalizeH="0" baseline="0" noProof="0" dirty="0">
                <a:ln>
                  <a:noFill/>
                </a:ln>
                <a:solidFill>
                  <a:srgbClr val="4472C4"/>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 </a:t>
            </a:r>
            <a:r>
              <a:rPr kumimoji="0" lang="en-US" sz="3600" b="1"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valued</a:t>
            </a:r>
            <a:r>
              <a:rPr kumimoji="0" lang="en-US" sz="3600" b="1" i="0" u="none" strike="noStrike" kern="1200" cap="none" spc="-5" normalizeH="0" baseline="0" noProof="0" dirty="0">
                <a:ln>
                  <a:noFill/>
                </a:ln>
                <a:solidFill>
                  <a:srgbClr val="4472C4"/>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 </a:t>
            </a:r>
            <a:r>
              <a:rPr kumimoji="0" lang="en-US" sz="3600" b="1" i="0" u="none" strike="noStrike" kern="1200" cap="none" spc="-10" normalizeH="0" baseline="0" noProof="0" dirty="0">
                <a:ln>
                  <a:noFill/>
                </a:ln>
                <a:solidFill>
                  <a:srgbClr val="4472C4"/>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attribute</a:t>
            </a:r>
            <a:endParaRPr lang="en-IN" dirty="0"/>
          </a:p>
        </p:txBody>
      </p:sp>
      <p:pic>
        <p:nvPicPr>
          <p:cNvPr id="7" name="Content Placeholder 6">
            <a:extLst>
              <a:ext uri="{FF2B5EF4-FFF2-40B4-BE49-F238E27FC236}">
                <a16:creationId xmlns:a16="http://schemas.microsoft.com/office/drawing/2014/main" id="{0C11A628-9282-578C-396F-C55D9492AD6C}"/>
              </a:ext>
            </a:extLst>
          </p:cNvPr>
          <p:cNvPicPr>
            <a:picLocks noGrp="1" noChangeAspect="1"/>
          </p:cNvPicPr>
          <p:nvPr>
            <p:ph sz="half" idx="2"/>
          </p:nvPr>
        </p:nvPicPr>
        <p:blipFill>
          <a:blip r:embed="rId2"/>
          <a:stretch>
            <a:fillRect/>
          </a:stretch>
        </p:blipFill>
        <p:spPr>
          <a:xfrm>
            <a:off x="976584" y="2248907"/>
            <a:ext cx="5337130" cy="3458525"/>
          </a:xfrm>
          <a:prstGeom prst="rect">
            <a:avLst/>
          </a:prstGeom>
          <a:ln w="88900" cap="sq" cmpd="thickThin">
            <a:solidFill>
              <a:srgbClr val="000000"/>
            </a:solidFill>
            <a:prstDash val="solid"/>
            <a:miter lim="800000"/>
          </a:ln>
          <a:effectLst>
            <a:innerShdw blurRad="76200">
              <a:srgbClr val="000000"/>
            </a:innerShdw>
          </a:effectLst>
        </p:spPr>
      </p:pic>
      <p:sp>
        <p:nvSpPr>
          <p:cNvPr id="5" name="Text Placeholder 4">
            <a:extLst>
              <a:ext uri="{FF2B5EF4-FFF2-40B4-BE49-F238E27FC236}">
                <a16:creationId xmlns:a16="http://schemas.microsoft.com/office/drawing/2014/main" id="{6C55FBF1-A5A5-72A3-B54F-E5AA65543E47}"/>
              </a:ext>
            </a:extLst>
          </p:cNvPr>
          <p:cNvSpPr>
            <a:spLocks noGrp="1"/>
          </p:cNvSpPr>
          <p:nvPr>
            <p:ph type="body" sz="quarter" idx="3"/>
          </p:nvPr>
        </p:nvSpPr>
        <p:spPr>
          <a:xfrm>
            <a:off x="6313714" y="713581"/>
            <a:ext cx="5183188" cy="823912"/>
          </a:xfrm>
        </p:spPr>
        <p:txBody>
          <a:bodyPr>
            <a:normAutofit fontScale="92500" lnSpcReduction="10000"/>
          </a:bodyPr>
          <a:lstStyle/>
          <a:p>
            <a:pPr marR="0" lvl="0" algn="l" defTabSz="914400" rtl="0" eaLnBrk="1" fontAlgn="auto" latinLnBrk="0" hangingPunct="1">
              <a:lnSpc>
                <a:spcPct val="150000"/>
              </a:lnSpc>
              <a:spcBef>
                <a:spcPts val="0"/>
              </a:spcBef>
              <a:spcAft>
                <a:spcPts val="0"/>
              </a:spcAft>
              <a:buClr>
                <a:srgbClr val="1F2329"/>
              </a:buClr>
              <a:buSzPts val="1200"/>
              <a:tabLst>
                <a:tab pos="741045" algn="l"/>
              </a:tabLst>
              <a:defRPr/>
            </a:pPr>
            <a:r>
              <a:rPr kumimoji="0" lang="en-US" sz="3600" b="1" i="0" u="none" strike="noStrike" kern="1200" cap="none" spc="0"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Multi</a:t>
            </a:r>
            <a:r>
              <a:rPr kumimoji="0" lang="en-US" sz="3600" b="1" i="0" u="none" strike="noStrike" kern="1200" cap="none" spc="-15"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 </a:t>
            </a:r>
            <a:r>
              <a:rPr kumimoji="0" lang="en-US" sz="3600" b="1" i="0" u="none" strike="noStrike" kern="1200" cap="none" spc="0"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valued </a:t>
            </a:r>
            <a:r>
              <a:rPr kumimoji="0" lang="en-US" sz="3600" b="1" i="0" u="none" strike="noStrike" kern="1200" cap="none" spc="-10"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attribute.</a:t>
            </a:r>
            <a:endParaRPr kumimoji="0" lang="en-IN" sz="3200" b="1" i="0" u="none" strike="noStrike" kern="1200" cap="none" spc="0"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endParaRPr>
          </a:p>
          <a:p>
            <a:endParaRPr lang="en-IN" dirty="0"/>
          </a:p>
        </p:txBody>
      </p:sp>
      <p:pic>
        <p:nvPicPr>
          <p:cNvPr id="8" name="Content Placeholder 7">
            <a:extLst>
              <a:ext uri="{FF2B5EF4-FFF2-40B4-BE49-F238E27FC236}">
                <a16:creationId xmlns:a16="http://schemas.microsoft.com/office/drawing/2014/main" id="{E97C9BF9-350D-69BA-2770-AFC2DBCC4144}"/>
              </a:ext>
            </a:extLst>
          </p:cNvPr>
          <p:cNvPicPr>
            <a:picLocks noGrp="1" noChangeAspect="1"/>
          </p:cNvPicPr>
          <p:nvPr>
            <p:ph sz="quarter" idx="4"/>
          </p:nvPr>
        </p:nvPicPr>
        <p:blipFill>
          <a:blip r:embed="rId3"/>
          <a:stretch>
            <a:fillRect/>
          </a:stretch>
        </p:blipFill>
        <p:spPr>
          <a:xfrm>
            <a:off x="7317509" y="2100942"/>
            <a:ext cx="3557320" cy="3606489"/>
          </a:xfrm>
          <a:prstGeom prst="rect">
            <a:avLst/>
          </a:prstGeom>
          <a:ln w="88900" cap="sq" cmpd="thickThin">
            <a:solidFill>
              <a:srgbClr val="000000"/>
            </a:solidFill>
            <a:prstDash val="solid"/>
            <a:miter lim="800000"/>
          </a:ln>
          <a:effectLst>
            <a:innerShdw blurRad="76200">
              <a:srgbClr val="000000"/>
            </a:innerShdw>
          </a:effectLst>
        </p:spPr>
      </p:pic>
      <p:sp>
        <p:nvSpPr>
          <p:cNvPr id="10" name="TextBox 9">
            <a:extLst>
              <a:ext uri="{FF2B5EF4-FFF2-40B4-BE49-F238E27FC236}">
                <a16:creationId xmlns:a16="http://schemas.microsoft.com/office/drawing/2014/main" id="{5924BBE1-855A-130D-FAB1-CEC64FA70F4A}"/>
              </a:ext>
            </a:extLst>
          </p:cNvPr>
          <p:cNvSpPr txBox="1"/>
          <p:nvPr/>
        </p:nvSpPr>
        <p:spPr>
          <a:xfrm>
            <a:off x="8229600" y="5978492"/>
            <a:ext cx="6096000" cy="584775"/>
          </a:xfrm>
          <a:prstGeom prst="rect">
            <a:avLst/>
          </a:prstGeom>
          <a:noFill/>
        </p:spPr>
        <p:txBody>
          <a:bodyPr wrap="square">
            <a:spAutoFit/>
          </a:bodyPr>
          <a:lstStyle/>
          <a:p>
            <a:r>
              <a:rPr lang="en-US" sz="3200" b="1" dirty="0">
                <a:solidFill>
                  <a:srgbClr val="1F2329"/>
                </a:solidFill>
                <a:effectLst/>
                <a:latin typeface="Times New Roman" panose="02020603050405020304" pitchFamily="18" charset="0"/>
                <a:ea typeface="Times New Roman" panose="02020603050405020304" pitchFamily="18" charset="0"/>
              </a:rPr>
              <a:t>double ellipse</a:t>
            </a:r>
            <a:endParaRPr lang="en-IN" sz="4400" b="1" dirty="0"/>
          </a:p>
        </p:txBody>
      </p:sp>
    </p:spTree>
    <p:extLst>
      <p:ext uri="{BB962C8B-B14F-4D97-AF65-F5344CB8AC3E}">
        <p14:creationId xmlns:p14="http://schemas.microsoft.com/office/powerpoint/2010/main" val="1730768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path" presetSubtype="0" accel="50000" decel="50000" fill="hold" nodeType="clickEffect">
                                  <p:stCondLst>
                                    <p:cond delay="0"/>
                                  </p:stCondLst>
                                  <p:childTnLst>
                                    <p:animMotion origin="layout" path="M 0 0 C 0.069 0 0.125 0.056 0.125 0.125 C 0.125 0.194 0.069 0.25 0 0.25 C -0.069 0.25 -0.125 0.194 -0.125 0.125 C -0.125 0.056 -0.069 0 0 0 Z" pathEditMode="relative" ptsTypes="">
                                      <p:cBhvr>
                                        <p:cTn id="13" dur="2000" fill="hold"/>
                                        <p:tgtEl>
                                          <p:spTgt spid="8"/>
                                        </p:tgtEl>
                                        <p:attrNameLst>
                                          <p:attrName>ppt_x</p:attrName>
                                          <p:attrName>ppt_y</p:attrName>
                                        </p:attrNameLst>
                                      </p:cBhvr>
                                    </p:animMotion>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Effect transition="in" filter="barn(inVertical)">
                                      <p:cBhvr>
                                        <p:cTn id="18" dur="5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animEffect transition="in" filter="barn(inVertical)">
                                      <p:cBhvr>
                                        <p:cTn id="23" dur="500"/>
                                        <p:tgtEl>
                                          <p:spTgt spid="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5D44A8-057E-D37D-1E1D-9FDDC234496A}"/>
              </a:ext>
            </a:extLst>
          </p:cNvPr>
          <p:cNvSpPr>
            <a:spLocks noGrp="1"/>
          </p:cNvSpPr>
          <p:nvPr>
            <p:ph type="body" idx="1"/>
          </p:nvPr>
        </p:nvSpPr>
        <p:spPr>
          <a:xfrm>
            <a:off x="938213" y="961004"/>
            <a:ext cx="5157787" cy="823912"/>
          </a:xfrm>
        </p:spPr>
        <p:txBody>
          <a:bodyPr>
            <a:normAutofit lnSpcReduction="10000"/>
          </a:bodyPr>
          <a:lstStyle/>
          <a:p>
            <a:pPr marL="0" marR="0" lvl="0" indent="0" algn="l" defTabSz="914400" rtl="0" eaLnBrk="1" fontAlgn="auto" latinLnBrk="0" hangingPunct="1">
              <a:lnSpc>
                <a:spcPct val="150000"/>
              </a:lnSpc>
              <a:spcBef>
                <a:spcPts val="0"/>
              </a:spcBef>
              <a:spcAft>
                <a:spcPts val="0"/>
              </a:spcAft>
              <a:buClr>
                <a:srgbClr val="1F2329"/>
              </a:buClr>
              <a:buSzPts val="1200"/>
              <a:buFont typeface="Arial" panose="020B0604020202020204" pitchFamily="34" charset="0"/>
              <a:buNone/>
              <a:tabLst>
                <a:tab pos="741045" algn="l"/>
              </a:tabLst>
              <a:defRPr/>
            </a:pPr>
            <a:r>
              <a:rPr kumimoji="0" lang="en-US" sz="3300" b="1" i="0" u="none" strike="noStrike" kern="1200" cap="none" spc="0"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Stored </a:t>
            </a:r>
            <a:r>
              <a:rPr kumimoji="0" lang="en-US" sz="3300" b="1" i="0" u="none" strike="noStrike" kern="1200" cap="none" spc="-10"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attribute</a:t>
            </a:r>
            <a:endParaRPr kumimoji="0" lang="en-IN" sz="3000" b="1" i="0" u="none" strike="noStrike" kern="1200" cap="none" spc="0" normalizeH="0" baseline="0" noProof="0" dirty="0">
              <a:ln>
                <a:noFill/>
              </a:ln>
              <a:solidFill>
                <a:srgbClr val="ED7D31">
                  <a:lumMod val="50000"/>
                </a:srgbClr>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endParaRPr>
          </a:p>
          <a:p>
            <a:endParaRPr lang="en-IN" dirty="0"/>
          </a:p>
        </p:txBody>
      </p:sp>
      <p:pic>
        <p:nvPicPr>
          <p:cNvPr id="8" name="Content Placeholder 7">
            <a:extLst>
              <a:ext uri="{FF2B5EF4-FFF2-40B4-BE49-F238E27FC236}">
                <a16:creationId xmlns:a16="http://schemas.microsoft.com/office/drawing/2014/main" id="{05C1BE14-5349-9937-6E60-135D901046E0}"/>
              </a:ext>
            </a:extLst>
          </p:cNvPr>
          <p:cNvPicPr>
            <a:picLocks noGrp="1" noChangeAspect="1"/>
          </p:cNvPicPr>
          <p:nvPr>
            <p:ph sz="half" idx="2"/>
          </p:nvPr>
        </p:nvPicPr>
        <p:blipFill>
          <a:blip r:embed="rId2"/>
          <a:stretch>
            <a:fillRect/>
          </a:stretch>
        </p:blipFill>
        <p:spPr>
          <a:xfrm>
            <a:off x="668010" y="2632139"/>
            <a:ext cx="5157788" cy="2285093"/>
          </a:xfrm>
          <a:prstGeom prst="rect">
            <a:avLst/>
          </a:prstGeom>
          <a:ln w="88900" cap="sq" cmpd="thickThin">
            <a:solidFill>
              <a:srgbClr val="000000"/>
            </a:solidFill>
            <a:prstDash val="solid"/>
            <a:miter lim="800000"/>
          </a:ln>
          <a:effectLst>
            <a:innerShdw blurRad="76200">
              <a:srgbClr val="000000"/>
            </a:innerShdw>
          </a:effectLst>
        </p:spPr>
      </p:pic>
      <p:sp>
        <p:nvSpPr>
          <p:cNvPr id="5" name="Text Placeholder 4">
            <a:extLst>
              <a:ext uri="{FF2B5EF4-FFF2-40B4-BE49-F238E27FC236}">
                <a16:creationId xmlns:a16="http://schemas.microsoft.com/office/drawing/2014/main" id="{AE8A77A3-6EBC-1631-AEC9-F73BEC117E65}"/>
              </a:ext>
            </a:extLst>
          </p:cNvPr>
          <p:cNvSpPr>
            <a:spLocks noGrp="1"/>
          </p:cNvSpPr>
          <p:nvPr>
            <p:ph type="body" sz="quarter" idx="3"/>
          </p:nvPr>
        </p:nvSpPr>
        <p:spPr>
          <a:xfrm>
            <a:off x="6172200" y="549048"/>
            <a:ext cx="5183188" cy="823912"/>
          </a:xfrm>
        </p:spPr>
        <p:txBody>
          <a:bodyPr>
            <a:normAutofit lnSpcReduction="10000"/>
          </a:bodyPr>
          <a:lstStyle/>
          <a:p>
            <a:r>
              <a:rPr kumimoji="0" lang="en-US" sz="36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Derived</a:t>
            </a:r>
            <a:r>
              <a:rPr kumimoji="0" lang="en-US" sz="3600" b="1" i="0" u="none" strike="noStrike" kern="1200" cap="none" spc="-15" normalizeH="0" baseline="0" noProof="0" dirty="0">
                <a:ln>
                  <a:noFill/>
                </a:ln>
                <a:solidFill>
                  <a:srgbClr val="FF0000"/>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 </a:t>
            </a:r>
            <a:r>
              <a:rPr kumimoji="0" lang="en-US" sz="3600" b="1" i="0" u="none" strike="noStrike" kern="1200" cap="none" spc="-10" normalizeH="0" baseline="0" noProof="0" dirty="0">
                <a:ln>
                  <a:noFill/>
                </a:ln>
                <a:solidFill>
                  <a:srgbClr val="FF0000"/>
                </a:solidFill>
                <a:effectLst>
                  <a:outerShdw blurRad="38100" dist="38100" dir="2700000" algn="tl">
                    <a:srgbClr val="000000">
                      <a:alpha val="43137"/>
                    </a:srgbClr>
                  </a:outerShdw>
                </a:effectLst>
                <a:uLnTx/>
                <a:uFillTx/>
                <a:latin typeface="Times New Roman" panose="02020603050405020304" pitchFamily="18" charset="0"/>
                <a:ea typeface="Times New Roman" panose="02020603050405020304" pitchFamily="18" charset="0"/>
                <a:cs typeface="+mn-cs"/>
              </a:rPr>
              <a:t>attribute</a:t>
            </a:r>
            <a:endParaRPr lang="en-IN" dirty="0"/>
          </a:p>
        </p:txBody>
      </p:sp>
      <p:pic>
        <p:nvPicPr>
          <p:cNvPr id="7" name="Content Placeholder 6">
            <a:extLst>
              <a:ext uri="{FF2B5EF4-FFF2-40B4-BE49-F238E27FC236}">
                <a16:creationId xmlns:a16="http://schemas.microsoft.com/office/drawing/2014/main" id="{AAD0E5C2-2E46-3308-DBE9-6D7B2AA13429}"/>
              </a:ext>
            </a:extLst>
          </p:cNvPr>
          <p:cNvPicPr>
            <a:picLocks noGrp="1" noChangeAspect="1"/>
          </p:cNvPicPr>
          <p:nvPr>
            <p:ph sz="quarter" idx="4"/>
          </p:nvPr>
        </p:nvPicPr>
        <p:blipFill>
          <a:blip r:embed="rId3"/>
          <a:stretch>
            <a:fillRect/>
          </a:stretch>
        </p:blipFill>
        <p:spPr>
          <a:xfrm>
            <a:off x="6366203" y="2601685"/>
            <a:ext cx="5596644" cy="2285093"/>
          </a:xfrm>
          <a:prstGeom prst="rect">
            <a:avLst/>
          </a:prstGeom>
          <a:ln w="88900" cap="sq" cmpd="thickThin">
            <a:solidFill>
              <a:srgbClr val="000000"/>
            </a:solidFill>
            <a:prstDash val="solid"/>
            <a:miter lim="800000"/>
          </a:ln>
          <a:effectLst>
            <a:innerShdw blurRad="76200">
              <a:srgbClr val="000000"/>
            </a:innerShdw>
          </a:effectLst>
        </p:spPr>
      </p:pic>
      <p:sp>
        <p:nvSpPr>
          <p:cNvPr id="10" name="TextBox 9">
            <a:extLst>
              <a:ext uri="{FF2B5EF4-FFF2-40B4-BE49-F238E27FC236}">
                <a16:creationId xmlns:a16="http://schemas.microsoft.com/office/drawing/2014/main" id="{56861849-C04B-9EAF-7CDC-73354A412790}"/>
              </a:ext>
            </a:extLst>
          </p:cNvPr>
          <p:cNvSpPr txBox="1"/>
          <p:nvPr/>
        </p:nvSpPr>
        <p:spPr>
          <a:xfrm>
            <a:off x="8307388" y="5977003"/>
            <a:ext cx="6096000" cy="523220"/>
          </a:xfrm>
          <a:prstGeom prst="rect">
            <a:avLst/>
          </a:prstGeom>
          <a:noFill/>
        </p:spPr>
        <p:txBody>
          <a:bodyPr wrap="square">
            <a:spAutoFit/>
          </a:bodyPr>
          <a:lstStyle/>
          <a:p>
            <a:r>
              <a:rPr lang="en-US" sz="2800" b="1" dirty="0">
                <a:solidFill>
                  <a:srgbClr val="1F2329"/>
                </a:solidFill>
                <a:effectLst/>
                <a:latin typeface="Times New Roman" panose="02020603050405020304" pitchFamily="18" charset="0"/>
                <a:ea typeface="Times New Roman" panose="02020603050405020304" pitchFamily="18" charset="0"/>
              </a:rPr>
              <a:t>dashed ellipses</a:t>
            </a:r>
            <a:endParaRPr lang="en-IN" sz="4000" b="1" dirty="0"/>
          </a:p>
        </p:txBody>
      </p:sp>
    </p:spTree>
    <p:extLst>
      <p:ext uri="{BB962C8B-B14F-4D97-AF65-F5344CB8AC3E}">
        <p14:creationId xmlns:p14="http://schemas.microsoft.com/office/powerpoint/2010/main" val="140525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4FE657F-3E04-8458-402F-FE69A3606071}"/>
              </a:ext>
            </a:extLst>
          </p:cNvPr>
          <p:cNvSpPr txBox="1"/>
          <p:nvPr/>
        </p:nvSpPr>
        <p:spPr>
          <a:xfrm>
            <a:off x="3907971" y="492872"/>
            <a:ext cx="6096000" cy="646331"/>
          </a:xfrm>
          <a:prstGeom prst="rect">
            <a:avLst/>
          </a:prstGeom>
          <a:noFill/>
        </p:spPr>
        <p:txBody>
          <a:bodyPr wrap="square">
            <a:spAutoFit/>
          </a:bodyPr>
          <a:lstStyle/>
          <a:p>
            <a:r>
              <a:rPr lang="en-US" sz="3600" b="1" dirty="0">
                <a:solidFill>
                  <a:srgbClr val="00B050"/>
                </a:solidFill>
                <a:effectLst/>
                <a:latin typeface="Times New Roman" panose="02020603050405020304" pitchFamily="18" charset="0"/>
                <a:ea typeface="Times New Roman" panose="02020603050405020304" pitchFamily="18" charset="0"/>
              </a:rPr>
              <a:t>Key</a:t>
            </a:r>
            <a:r>
              <a:rPr lang="en-US" sz="3600" b="1" spc="-30" dirty="0">
                <a:solidFill>
                  <a:srgbClr val="00B050"/>
                </a:solidFill>
                <a:effectLst/>
                <a:latin typeface="Times New Roman" panose="02020603050405020304" pitchFamily="18" charset="0"/>
                <a:ea typeface="Times New Roman" panose="02020603050405020304" pitchFamily="18" charset="0"/>
              </a:rPr>
              <a:t> </a:t>
            </a:r>
            <a:r>
              <a:rPr lang="en-US" sz="3600" b="1" dirty="0">
                <a:solidFill>
                  <a:srgbClr val="00B050"/>
                </a:solidFill>
                <a:effectLst/>
                <a:latin typeface="Times New Roman" panose="02020603050405020304" pitchFamily="18" charset="0"/>
                <a:ea typeface="Times New Roman" panose="02020603050405020304" pitchFamily="18" charset="0"/>
              </a:rPr>
              <a:t>Attribute</a:t>
            </a:r>
            <a:endParaRPr lang="en-IN" sz="4800" dirty="0">
              <a:solidFill>
                <a:srgbClr val="00B050"/>
              </a:solidFill>
            </a:endParaRPr>
          </a:p>
        </p:txBody>
      </p:sp>
      <p:pic>
        <p:nvPicPr>
          <p:cNvPr id="9" name="Picture 8">
            <a:extLst>
              <a:ext uri="{FF2B5EF4-FFF2-40B4-BE49-F238E27FC236}">
                <a16:creationId xmlns:a16="http://schemas.microsoft.com/office/drawing/2014/main" id="{2DCC1442-3723-481E-648F-9D8A5FD896FB}"/>
              </a:ext>
            </a:extLst>
          </p:cNvPr>
          <p:cNvPicPr>
            <a:picLocks noChangeAspect="1"/>
          </p:cNvPicPr>
          <p:nvPr/>
        </p:nvPicPr>
        <p:blipFill>
          <a:blip r:embed="rId2"/>
          <a:stretch>
            <a:fillRect/>
          </a:stretch>
        </p:blipFill>
        <p:spPr>
          <a:xfrm>
            <a:off x="2691236" y="2131385"/>
            <a:ext cx="7443364" cy="2320871"/>
          </a:xfrm>
          <a:prstGeom prst="rect">
            <a:avLst/>
          </a:prstGeom>
          <a:ln w="88900" cap="sq" cmpd="thickThin">
            <a:solidFill>
              <a:srgbClr val="000000"/>
            </a:solidFill>
            <a:prstDash val="solid"/>
            <a:miter lim="800000"/>
          </a:ln>
          <a:effectLst>
            <a:innerShdw blurRad="76200">
              <a:srgbClr val="000000"/>
            </a:innerShdw>
          </a:effectLst>
        </p:spPr>
      </p:pic>
      <p:sp>
        <p:nvSpPr>
          <p:cNvPr id="11" name="TextBox 10">
            <a:extLst>
              <a:ext uri="{FF2B5EF4-FFF2-40B4-BE49-F238E27FC236}">
                <a16:creationId xmlns:a16="http://schemas.microsoft.com/office/drawing/2014/main" id="{0BEA78F2-DB21-2CAC-0AE7-B0C04217BD05}"/>
              </a:ext>
            </a:extLst>
          </p:cNvPr>
          <p:cNvSpPr txBox="1"/>
          <p:nvPr/>
        </p:nvSpPr>
        <p:spPr>
          <a:xfrm>
            <a:off x="7511143" y="5444438"/>
            <a:ext cx="6096000" cy="646331"/>
          </a:xfrm>
          <a:prstGeom prst="rect">
            <a:avLst/>
          </a:prstGeom>
          <a:noFill/>
        </p:spPr>
        <p:txBody>
          <a:bodyPr wrap="square">
            <a:spAutoFit/>
          </a:bodyPr>
          <a:lstStyle/>
          <a:p>
            <a:r>
              <a:rPr lang="en-US" sz="3600" b="1" dirty="0">
                <a:solidFill>
                  <a:srgbClr val="1F2329"/>
                </a:solidFill>
                <a:effectLst/>
                <a:latin typeface="Times New Roman" panose="02020603050405020304" pitchFamily="18" charset="0"/>
                <a:ea typeface="Times New Roman" panose="02020603050405020304" pitchFamily="18" charset="0"/>
              </a:rPr>
              <a:t>underlined</a:t>
            </a:r>
            <a:endParaRPr lang="en-IN" sz="4800" b="1" dirty="0"/>
          </a:p>
        </p:txBody>
      </p:sp>
    </p:spTree>
    <p:extLst>
      <p:ext uri="{BB962C8B-B14F-4D97-AF65-F5344CB8AC3E}">
        <p14:creationId xmlns:p14="http://schemas.microsoft.com/office/powerpoint/2010/main" val="21244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A48BBB-37AB-7F75-094C-8721063BB825}"/>
              </a:ext>
            </a:extLst>
          </p:cNvPr>
          <p:cNvSpPr txBox="1"/>
          <p:nvPr/>
        </p:nvSpPr>
        <p:spPr>
          <a:xfrm>
            <a:off x="4114801" y="786787"/>
            <a:ext cx="6096000" cy="707886"/>
          </a:xfrm>
          <a:prstGeom prst="rect">
            <a:avLst/>
          </a:prstGeom>
          <a:noFill/>
        </p:spPr>
        <p:txBody>
          <a:bodyPr wrap="square">
            <a:spAutoFit/>
          </a:bodyPr>
          <a:lstStyle/>
          <a:p>
            <a:r>
              <a:rPr lang="en-US" sz="4000" b="1" dirty="0">
                <a:solidFill>
                  <a:srgbClr val="FF0000"/>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Relationship</a:t>
            </a:r>
            <a:endParaRPr lang="en-IN" sz="5400" b="1" dirty="0">
              <a:solidFill>
                <a:srgbClr val="FF0000"/>
              </a:solidFill>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5B83538C-CEED-4485-FE0C-DA2ADA99B9AF}"/>
              </a:ext>
            </a:extLst>
          </p:cNvPr>
          <p:cNvSpPr txBox="1"/>
          <p:nvPr/>
        </p:nvSpPr>
        <p:spPr>
          <a:xfrm>
            <a:off x="903514" y="1832130"/>
            <a:ext cx="11288486" cy="1141146"/>
          </a:xfrm>
          <a:prstGeom prst="rect">
            <a:avLst/>
          </a:prstGeom>
          <a:noFill/>
        </p:spPr>
        <p:txBody>
          <a:bodyPr wrap="square">
            <a:spAutoFit/>
          </a:bodyPr>
          <a:lstStyle/>
          <a:p>
            <a:pPr algn="just">
              <a:lnSpc>
                <a:spcPct val="150000"/>
              </a:lnSpc>
            </a:pPr>
            <a:r>
              <a:rPr lang="en-US" sz="2400" dirty="0">
                <a:solidFill>
                  <a:srgbClr val="1F2329"/>
                </a:solidFill>
                <a:effectLst/>
                <a:latin typeface="Times New Roman" panose="02020603050405020304" pitchFamily="18" charset="0"/>
                <a:ea typeface="Times New Roman" panose="02020603050405020304" pitchFamily="18" charset="0"/>
              </a:rPr>
              <a:t>A relationship is an association among two or more entities. Entities take part in the relationship. It is represented by a diamond shape.</a:t>
            </a:r>
            <a:endParaRPr lang="en-IN" sz="3600" dirty="0"/>
          </a:p>
        </p:txBody>
      </p:sp>
      <p:sp>
        <p:nvSpPr>
          <p:cNvPr id="7" name="TextBox 6">
            <a:extLst>
              <a:ext uri="{FF2B5EF4-FFF2-40B4-BE49-F238E27FC236}">
                <a16:creationId xmlns:a16="http://schemas.microsoft.com/office/drawing/2014/main" id="{C0EE924B-D186-97AB-7703-758FA695EE8C}"/>
              </a:ext>
            </a:extLst>
          </p:cNvPr>
          <p:cNvSpPr txBox="1"/>
          <p:nvPr/>
        </p:nvSpPr>
        <p:spPr>
          <a:xfrm>
            <a:off x="536121" y="3755571"/>
            <a:ext cx="11514364" cy="1687963"/>
          </a:xfrm>
          <a:prstGeom prst="rect">
            <a:avLst/>
          </a:prstGeom>
          <a:noFill/>
        </p:spPr>
        <p:txBody>
          <a:bodyPr wrap="square">
            <a:spAutoFit/>
          </a:bodyPr>
          <a:lstStyle/>
          <a:p>
            <a:pPr marL="284480" marR="525145" algn="just">
              <a:lnSpc>
                <a:spcPct val="150000"/>
              </a:lnSpc>
              <a:spcBef>
                <a:spcPts val="5"/>
              </a:spcBef>
            </a:pPr>
            <a:r>
              <a:rPr lang="en-US" sz="2400" dirty="0">
                <a:solidFill>
                  <a:srgbClr val="1F2329"/>
                </a:solidFill>
                <a:latin typeface="Times New Roman" panose="02020603050405020304" pitchFamily="18" charset="0"/>
                <a:ea typeface="Times New Roman" panose="02020603050405020304" pitchFamily="18" charset="0"/>
              </a:rPr>
              <a:t>	A</a:t>
            </a:r>
            <a:r>
              <a:rPr lang="en-US" sz="2400" dirty="0">
                <a:solidFill>
                  <a:srgbClr val="1F2329"/>
                </a:solidFill>
                <a:effectLst/>
                <a:latin typeface="Times New Roman" panose="02020603050405020304" pitchFamily="18" charset="0"/>
                <a:ea typeface="Times New Roman" panose="02020603050405020304" pitchFamily="18" charset="0"/>
              </a:rPr>
              <a:t>n </a:t>
            </a:r>
            <a:r>
              <a:rPr lang="en-US" sz="2400" b="1" dirty="0">
                <a:solidFill>
                  <a:srgbClr val="1F2329"/>
                </a:solidFill>
                <a:effectLst/>
                <a:latin typeface="Times New Roman" panose="02020603050405020304" pitchFamily="18" charset="0"/>
                <a:ea typeface="Times New Roman" panose="02020603050405020304" pitchFamily="18" charset="0"/>
              </a:rPr>
              <a:t>employee</a:t>
            </a:r>
            <a:r>
              <a:rPr lang="en-US" sz="2400" dirty="0">
                <a:solidFill>
                  <a:srgbClr val="1F2329"/>
                </a:solidFill>
                <a:effectLst/>
                <a:latin typeface="Times New Roman" panose="02020603050405020304" pitchFamily="18" charset="0"/>
                <a:ea typeface="Times New Roman" panose="02020603050405020304" pitchFamily="18" charset="0"/>
              </a:rPr>
              <a:t> </a:t>
            </a:r>
            <a:r>
              <a:rPr lang="en-US" sz="2400" b="1" i="1" dirty="0">
                <a:solidFill>
                  <a:srgbClr val="FF0000"/>
                </a:solidFill>
                <a:effectLst/>
                <a:latin typeface="Times New Roman" panose="02020603050405020304" pitchFamily="18" charset="0"/>
                <a:ea typeface="Times New Roman" panose="02020603050405020304" pitchFamily="18" charset="0"/>
              </a:rPr>
              <a:t>works</a:t>
            </a:r>
            <a:r>
              <a:rPr lang="en-US" sz="2400" dirty="0">
                <a:solidFill>
                  <a:srgbClr val="1F2329"/>
                </a:solidFill>
                <a:effectLst/>
                <a:latin typeface="Times New Roman" panose="02020603050405020304" pitchFamily="18" charset="0"/>
                <a:ea typeface="Times New Roman" panose="02020603050405020304" pitchFamily="18" charset="0"/>
              </a:rPr>
              <a:t> at a specific </a:t>
            </a:r>
            <a:r>
              <a:rPr lang="en-US" sz="2400" b="1" dirty="0">
                <a:solidFill>
                  <a:srgbClr val="1F2329"/>
                </a:solidFill>
                <a:effectLst/>
                <a:latin typeface="Times New Roman" panose="02020603050405020304" pitchFamily="18" charset="0"/>
                <a:ea typeface="Times New Roman" panose="02020603050405020304" pitchFamily="18" charset="0"/>
              </a:rPr>
              <a:t>department</a:t>
            </a:r>
            <a:r>
              <a:rPr lang="en-US" sz="2400" dirty="0">
                <a:solidFill>
                  <a:srgbClr val="1F2329"/>
                </a:solidFill>
                <a:effectLst/>
                <a:latin typeface="Times New Roman" panose="02020603050405020304" pitchFamily="18" charset="0"/>
                <a:ea typeface="Times New Roman" panose="02020603050405020304" pitchFamily="18" charset="0"/>
              </a:rPr>
              <a:t>. Here, </a:t>
            </a:r>
            <a:r>
              <a:rPr lang="en-US" sz="2400" b="1" dirty="0">
                <a:solidFill>
                  <a:srgbClr val="1F2329"/>
                </a:solidFill>
                <a:effectLst/>
                <a:latin typeface="Times New Roman" panose="02020603050405020304" pitchFamily="18" charset="0"/>
                <a:ea typeface="Times New Roman" panose="02020603050405020304" pitchFamily="18" charset="0"/>
              </a:rPr>
              <a:t>"works at" </a:t>
            </a:r>
            <a:r>
              <a:rPr lang="en-US" sz="2400" dirty="0">
                <a:solidFill>
                  <a:srgbClr val="1F2329"/>
                </a:solidFill>
                <a:effectLst/>
                <a:latin typeface="Times New Roman" panose="02020603050405020304" pitchFamily="18" charset="0"/>
                <a:ea typeface="Times New Roman" panose="02020603050405020304" pitchFamily="18" charset="0"/>
              </a:rPr>
              <a:t>is a relationship</a:t>
            </a:r>
            <a:r>
              <a:rPr lang="en-US" sz="2400" spc="20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and this</a:t>
            </a:r>
            <a:r>
              <a:rPr lang="en-US" sz="2400" spc="-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is the relationship</a:t>
            </a:r>
            <a:r>
              <a:rPr lang="en-US" sz="2400" spc="-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between an Employee entity and a Department entity.</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72607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A8B9BCE-474C-074F-BEE9-A95104079CBF}"/>
              </a:ext>
            </a:extLst>
          </p:cNvPr>
          <p:cNvPicPr>
            <a:picLocks noChangeAspect="1"/>
          </p:cNvPicPr>
          <p:nvPr/>
        </p:nvPicPr>
        <p:blipFill>
          <a:blip r:embed="rId2"/>
          <a:stretch>
            <a:fillRect/>
          </a:stretch>
        </p:blipFill>
        <p:spPr>
          <a:xfrm>
            <a:off x="883108" y="1208314"/>
            <a:ext cx="10425783" cy="2727144"/>
          </a:xfrm>
          <a:prstGeom prst="rect">
            <a:avLst/>
          </a:prstGeom>
          <a:ln w="88900" cap="sq" cmpd="thickThin">
            <a:solidFill>
              <a:srgbClr val="000000"/>
            </a:solidFill>
            <a:prstDash val="solid"/>
            <a:miter lim="800000"/>
          </a:ln>
          <a:effectLst>
            <a:innerShdw blurRad="76200">
              <a:srgbClr val="000000"/>
            </a:innerShdw>
          </a:effectLst>
        </p:spPr>
      </p:pic>
      <p:sp>
        <p:nvSpPr>
          <p:cNvPr id="4" name="TextBox 3">
            <a:extLst>
              <a:ext uri="{FF2B5EF4-FFF2-40B4-BE49-F238E27FC236}">
                <a16:creationId xmlns:a16="http://schemas.microsoft.com/office/drawing/2014/main" id="{645AEE43-A4C9-43AE-2D2D-A542E5FAE3FD}"/>
              </a:ext>
            </a:extLst>
          </p:cNvPr>
          <p:cNvSpPr txBox="1"/>
          <p:nvPr/>
        </p:nvSpPr>
        <p:spPr>
          <a:xfrm>
            <a:off x="5410200" y="4901587"/>
            <a:ext cx="6096000" cy="584775"/>
          </a:xfrm>
          <a:prstGeom prst="rect">
            <a:avLst/>
          </a:prstGeom>
          <a:noFill/>
        </p:spPr>
        <p:txBody>
          <a:bodyPr wrap="square">
            <a:spAutoFit/>
          </a:bodyPr>
          <a:lstStyle/>
          <a:p>
            <a:r>
              <a:rPr lang="en-US" sz="3200" b="1" dirty="0">
                <a:solidFill>
                  <a:schemeClr val="bg2">
                    <a:lumMod val="10000"/>
                  </a:schemeClr>
                </a:solidFill>
                <a:latin typeface="Times New Roman" panose="02020603050405020304" pitchFamily="18" charset="0"/>
                <a:ea typeface="Times New Roman" panose="02020603050405020304" pitchFamily="18" charset="0"/>
              </a:rPr>
              <a:t>“Since”</a:t>
            </a:r>
            <a:r>
              <a:rPr lang="en-US" sz="3200" b="1" spc="-15" dirty="0">
                <a:solidFill>
                  <a:schemeClr val="bg2">
                    <a:lumMod val="10000"/>
                  </a:schemeClr>
                </a:solidFill>
                <a:latin typeface="Times New Roman" panose="02020603050405020304" pitchFamily="18" charset="0"/>
                <a:ea typeface="Times New Roman" panose="02020603050405020304" pitchFamily="18" charset="0"/>
              </a:rPr>
              <a:t> </a:t>
            </a:r>
            <a:r>
              <a:rPr lang="en-US" sz="3200" dirty="0">
                <a:solidFill>
                  <a:schemeClr val="bg2">
                    <a:lumMod val="10000"/>
                  </a:schemeClr>
                </a:solidFill>
                <a:latin typeface="Times New Roman" panose="02020603050405020304" pitchFamily="18" charset="0"/>
                <a:ea typeface="Times New Roman" panose="02020603050405020304" pitchFamily="18" charset="0"/>
              </a:rPr>
              <a:t>is</a:t>
            </a:r>
            <a:r>
              <a:rPr lang="en-US" sz="3200" spc="-25" dirty="0">
                <a:solidFill>
                  <a:schemeClr val="bg2">
                    <a:lumMod val="10000"/>
                  </a:schemeClr>
                </a:solidFill>
                <a:latin typeface="Times New Roman" panose="02020603050405020304" pitchFamily="18" charset="0"/>
                <a:ea typeface="Times New Roman" panose="02020603050405020304" pitchFamily="18" charset="0"/>
              </a:rPr>
              <a:t> </a:t>
            </a:r>
            <a:r>
              <a:rPr lang="en-US" sz="3200" dirty="0">
                <a:solidFill>
                  <a:schemeClr val="bg2">
                    <a:lumMod val="10000"/>
                  </a:schemeClr>
                </a:solidFill>
                <a:latin typeface="Times New Roman" panose="02020603050405020304" pitchFamily="18" charset="0"/>
                <a:ea typeface="Times New Roman" panose="02020603050405020304" pitchFamily="18" charset="0"/>
              </a:rPr>
              <a:t>the</a:t>
            </a:r>
            <a:r>
              <a:rPr lang="en-US" sz="3200" spc="-15" dirty="0">
                <a:solidFill>
                  <a:schemeClr val="bg2">
                    <a:lumMod val="10000"/>
                  </a:schemeClr>
                </a:solidFill>
                <a:latin typeface="Times New Roman" panose="02020603050405020304" pitchFamily="18" charset="0"/>
                <a:ea typeface="Times New Roman" panose="02020603050405020304" pitchFamily="18" charset="0"/>
              </a:rPr>
              <a:t> </a:t>
            </a:r>
            <a:r>
              <a:rPr lang="en-US" sz="3200" dirty="0">
                <a:solidFill>
                  <a:schemeClr val="bg2">
                    <a:lumMod val="10000"/>
                  </a:schemeClr>
                </a:solidFill>
                <a:latin typeface="Times New Roman" panose="02020603050405020304" pitchFamily="18" charset="0"/>
                <a:ea typeface="Times New Roman" panose="02020603050405020304" pitchFamily="18" charset="0"/>
              </a:rPr>
              <a:t>descriptive</a:t>
            </a:r>
            <a:r>
              <a:rPr lang="en-US" sz="3200" spc="-25" dirty="0">
                <a:solidFill>
                  <a:schemeClr val="bg2">
                    <a:lumMod val="10000"/>
                  </a:schemeClr>
                </a:solidFill>
                <a:latin typeface="Times New Roman" panose="02020603050405020304" pitchFamily="18" charset="0"/>
                <a:ea typeface="Times New Roman" panose="02020603050405020304" pitchFamily="18" charset="0"/>
              </a:rPr>
              <a:t> </a:t>
            </a:r>
            <a:r>
              <a:rPr lang="en-US" sz="3200" spc="-10" dirty="0">
                <a:solidFill>
                  <a:schemeClr val="bg2">
                    <a:lumMod val="10000"/>
                  </a:schemeClr>
                </a:solidFill>
                <a:latin typeface="Times New Roman" panose="02020603050405020304" pitchFamily="18" charset="0"/>
                <a:ea typeface="Times New Roman" panose="02020603050405020304" pitchFamily="18" charset="0"/>
              </a:rPr>
              <a:t>attribute</a:t>
            </a:r>
            <a:endParaRPr lang="en-IN" sz="4400" dirty="0">
              <a:solidFill>
                <a:schemeClr val="bg2">
                  <a:lumMod val="10000"/>
                </a:schemeClr>
              </a:solidFill>
            </a:endParaRPr>
          </a:p>
        </p:txBody>
      </p:sp>
    </p:spTree>
    <p:extLst>
      <p:ext uri="{BB962C8B-B14F-4D97-AF65-F5344CB8AC3E}">
        <p14:creationId xmlns:p14="http://schemas.microsoft.com/office/powerpoint/2010/main" val="13134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mph" presetSubtype="0" fill="hold" nodeType="clickEffect">
                                  <p:stCondLst>
                                    <p:cond delay="0"/>
                                  </p:stCondLst>
                                  <p:childTnLst>
                                    <p:animEffect transition="out" filter="fade">
                                      <p:cBhvr>
                                        <p:cTn id="10" dur="500" tmFilter="0, 0; .2, .5; .8, .5; 1, 0"/>
                                        <p:tgtEl>
                                          <p:spTgt spid="2"/>
                                        </p:tgtEl>
                                      </p:cBhvr>
                                    </p:animEffect>
                                    <p:animScale>
                                      <p:cBhvr>
                                        <p:cTn id="11"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B13C1E-BEA2-71B9-6767-92CF9D2C2E5D}"/>
              </a:ext>
            </a:extLst>
          </p:cNvPr>
          <p:cNvSpPr txBox="1"/>
          <p:nvPr/>
        </p:nvSpPr>
        <p:spPr>
          <a:xfrm>
            <a:off x="3733800" y="427558"/>
            <a:ext cx="6096000" cy="646331"/>
          </a:xfrm>
          <a:prstGeom prst="rect">
            <a:avLst/>
          </a:prstGeom>
          <a:noFill/>
        </p:spPr>
        <p:txBody>
          <a:bodyPr wrap="square">
            <a:spAutoFit/>
          </a:bodyPr>
          <a:lstStyle/>
          <a:p>
            <a:r>
              <a:rPr lang="en-US" sz="3600" b="1" dirty="0">
                <a:solidFill>
                  <a:srgbClr val="0070C0"/>
                </a:solidFill>
                <a:effectLst/>
                <a:latin typeface="Times New Roman" panose="02020603050405020304" pitchFamily="18" charset="0"/>
                <a:ea typeface="Times New Roman" panose="02020603050405020304" pitchFamily="18" charset="0"/>
              </a:rPr>
              <a:t>Relationship</a:t>
            </a:r>
            <a:r>
              <a:rPr lang="en-US" sz="3600" b="1" spc="-35" dirty="0">
                <a:solidFill>
                  <a:srgbClr val="0070C0"/>
                </a:solidFill>
                <a:effectLst/>
                <a:latin typeface="Times New Roman" panose="02020603050405020304" pitchFamily="18" charset="0"/>
                <a:ea typeface="Times New Roman" panose="02020603050405020304" pitchFamily="18" charset="0"/>
              </a:rPr>
              <a:t> </a:t>
            </a:r>
            <a:r>
              <a:rPr lang="en-US" sz="3600" b="1" dirty="0">
                <a:solidFill>
                  <a:srgbClr val="0070C0"/>
                </a:solidFill>
                <a:effectLst/>
                <a:latin typeface="Times New Roman" panose="02020603050405020304" pitchFamily="18" charset="0"/>
                <a:ea typeface="Times New Roman" panose="02020603050405020304" pitchFamily="18" charset="0"/>
              </a:rPr>
              <a:t>Set</a:t>
            </a:r>
            <a:endParaRPr lang="en-IN" sz="4800" b="1" dirty="0">
              <a:solidFill>
                <a:srgbClr val="0070C0"/>
              </a:solidFill>
            </a:endParaRPr>
          </a:p>
        </p:txBody>
      </p:sp>
      <p:sp>
        <p:nvSpPr>
          <p:cNvPr id="5" name="TextBox 4">
            <a:extLst>
              <a:ext uri="{FF2B5EF4-FFF2-40B4-BE49-F238E27FC236}">
                <a16:creationId xmlns:a16="http://schemas.microsoft.com/office/drawing/2014/main" id="{3616C90B-0795-DBCA-F461-2F7D24573D0B}"/>
              </a:ext>
            </a:extLst>
          </p:cNvPr>
          <p:cNvSpPr txBox="1"/>
          <p:nvPr/>
        </p:nvSpPr>
        <p:spPr>
          <a:xfrm>
            <a:off x="1709056" y="1429044"/>
            <a:ext cx="8207829" cy="461665"/>
          </a:xfrm>
          <a:prstGeom prst="rect">
            <a:avLst/>
          </a:prstGeom>
          <a:noFill/>
        </p:spPr>
        <p:txBody>
          <a:bodyPr wrap="square">
            <a:spAutoFit/>
          </a:bodyPr>
          <a:lstStyle/>
          <a:p>
            <a:r>
              <a:rPr lang="en-US" sz="2400" dirty="0">
                <a:solidFill>
                  <a:srgbClr val="1F2329"/>
                </a:solidFill>
                <a:effectLst/>
                <a:latin typeface="Times New Roman" panose="02020603050405020304" pitchFamily="18" charset="0"/>
                <a:ea typeface="Times New Roman" panose="02020603050405020304" pitchFamily="18" charset="0"/>
              </a:rPr>
              <a:t>A</a:t>
            </a:r>
            <a:r>
              <a:rPr lang="en-US" sz="2400" spc="-2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set</a:t>
            </a:r>
            <a:r>
              <a:rPr lang="en-US" sz="2400" spc="-2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of</a:t>
            </a:r>
            <a:r>
              <a:rPr lang="en-US" sz="2400" spc="-2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relationships</a:t>
            </a:r>
            <a:r>
              <a:rPr lang="en-US" sz="2400" spc="-2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of</a:t>
            </a:r>
            <a:r>
              <a:rPr lang="en-US" sz="2400" spc="-2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similar</a:t>
            </a:r>
            <a:r>
              <a:rPr lang="en-US" sz="2400" spc="-2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type</a:t>
            </a:r>
            <a:r>
              <a:rPr lang="en-US" sz="2400" spc="-1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is</a:t>
            </a:r>
            <a:r>
              <a:rPr lang="en-US" sz="2400" spc="-2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called</a:t>
            </a:r>
            <a:r>
              <a:rPr lang="en-US" sz="2400" spc="-1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a</a:t>
            </a:r>
            <a:r>
              <a:rPr lang="en-US" sz="2400" spc="-1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relationship</a:t>
            </a:r>
            <a:r>
              <a:rPr lang="en-US" sz="2400" spc="-20" dirty="0">
                <a:solidFill>
                  <a:srgbClr val="1F2329"/>
                </a:solidFill>
                <a:effectLst/>
                <a:latin typeface="Times New Roman" panose="02020603050405020304" pitchFamily="18" charset="0"/>
                <a:ea typeface="Times New Roman" panose="02020603050405020304" pitchFamily="18" charset="0"/>
              </a:rPr>
              <a:t> set</a:t>
            </a:r>
            <a:endParaRPr lang="en-IN" sz="3600" dirty="0"/>
          </a:p>
        </p:txBody>
      </p:sp>
      <p:pic>
        <p:nvPicPr>
          <p:cNvPr id="6" name="Picture 5">
            <a:extLst>
              <a:ext uri="{FF2B5EF4-FFF2-40B4-BE49-F238E27FC236}">
                <a16:creationId xmlns:a16="http://schemas.microsoft.com/office/drawing/2014/main" id="{2F2983C5-B8D5-52C4-B1AC-D300664AFC6C}"/>
              </a:ext>
            </a:extLst>
          </p:cNvPr>
          <p:cNvPicPr>
            <a:picLocks noChangeAspect="1"/>
          </p:cNvPicPr>
          <p:nvPr/>
        </p:nvPicPr>
        <p:blipFill>
          <a:blip r:embed="rId2"/>
          <a:stretch>
            <a:fillRect/>
          </a:stretch>
        </p:blipFill>
        <p:spPr>
          <a:xfrm>
            <a:off x="812930" y="2409150"/>
            <a:ext cx="10754304" cy="3183092"/>
          </a:xfrm>
          <a:prstGeom prst="rect">
            <a:avLst/>
          </a:prstGeom>
        </p:spPr>
      </p:pic>
    </p:spTree>
    <p:extLst>
      <p:ext uri="{BB962C8B-B14F-4D97-AF65-F5344CB8AC3E}">
        <p14:creationId xmlns:p14="http://schemas.microsoft.com/office/powerpoint/2010/main" val="349016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9AA5BE-8BCB-5FB0-BF25-65F816B45E5E}"/>
              </a:ext>
            </a:extLst>
          </p:cNvPr>
          <p:cNvSpPr txBox="1"/>
          <p:nvPr/>
        </p:nvSpPr>
        <p:spPr>
          <a:xfrm>
            <a:off x="3254829" y="816253"/>
            <a:ext cx="6096000" cy="646331"/>
          </a:xfrm>
          <a:prstGeom prst="rect">
            <a:avLst/>
          </a:prstGeom>
          <a:noFill/>
        </p:spPr>
        <p:txBody>
          <a:bodyPr wrap="square">
            <a:spAutoFit/>
          </a:bodyPr>
          <a:lstStyle/>
          <a:p>
            <a:r>
              <a:rPr lang="en-US" sz="3600" b="1" dirty="0">
                <a:solidFill>
                  <a:srgbClr val="002060"/>
                </a:solidFill>
                <a:effectLst/>
                <a:latin typeface="Times New Roman" panose="02020603050405020304" pitchFamily="18" charset="0"/>
                <a:ea typeface="Times New Roman" panose="02020603050405020304" pitchFamily="18" charset="0"/>
              </a:rPr>
              <a:t>Degree</a:t>
            </a:r>
            <a:r>
              <a:rPr lang="en-US" sz="3600" b="1" spc="110" dirty="0">
                <a:solidFill>
                  <a:srgbClr val="002060"/>
                </a:solidFill>
                <a:effectLst/>
                <a:latin typeface="Times New Roman" panose="02020603050405020304" pitchFamily="18" charset="0"/>
                <a:ea typeface="Times New Roman" panose="02020603050405020304" pitchFamily="18" charset="0"/>
              </a:rPr>
              <a:t> </a:t>
            </a:r>
            <a:r>
              <a:rPr lang="en-US" sz="3600" b="1" dirty="0">
                <a:solidFill>
                  <a:srgbClr val="002060"/>
                </a:solidFill>
                <a:effectLst/>
                <a:latin typeface="Times New Roman" panose="02020603050405020304" pitchFamily="18" charset="0"/>
                <a:ea typeface="Times New Roman" panose="02020603050405020304" pitchFamily="18" charset="0"/>
              </a:rPr>
              <a:t>of</a:t>
            </a:r>
            <a:r>
              <a:rPr lang="en-US" sz="3600" b="1" spc="105" dirty="0">
                <a:solidFill>
                  <a:srgbClr val="002060"/>
                </a:solidFill>
                <a:effectLst/>
                <a:latin typeface="Times New Roman" panose="02020603050405020304" pitchFamily="18" charset="0"/>
                <a:ea typeface="Times New Roman" panose="02020603050405020304" pitchFamily="18" charset="0"/>
              </a:rPr>
              <a:t> </a:t>
            </a:r>
            <a:r>
              <a:rPr lang="en-US" sz="3600" b="1" dirty="0">
                <a:solidFill>
                  <a:srgbClr val="002060"/>
                </a:solidFill>
                <a:effectLst/>
                <a:latin typeface="Times New Roman" panose="02020603050405020304" pitchFamily="18" charset="0"/>
                <a:ea typeface="Times New Roman" panose="02020603050405020304" pitchFamily="18" charset="0"/>
              </a:rPr>
              <a:t>a</a:t>
            </a:r>
            <a:r>
              <a:rPr lang="en-US" sz="3600" b="1" spc="110" dirty="0">
                <a:solidFill>
                  <a:srgbClr val="002060"/>
                </a:solidFill>
                <a:effectLst/>
                <a:latin typeface="Times New Roman" panose="02020603050405020304" pitchFamily="18" charset="0"/>
                <a:ea typeface="Times New Roman" panose="02020603050405020304" pitchFamily="18" charset="0"/>
              </a:rPr>
              <a:t> </a:t>
            </a:r>
            <a:r>
              <a:rPr lang="en-US" sz="3600" b="1" dirty="0">
                <a:solidFill>
                  <a:srgbClr val="002060"/>
                </a:solidFill>
                <a:effectLst/>
                <a:latin typeface="Times New Roman" panose="02020603050405020304" pitchFamily="18" charset="0"/>
                <a:ea typeface="Times New Roman" panose="02020603050405020304" pitchFamily="18" charset="0"/>
              </a:rPr>
              <a:t>Relationship</a:t>
            </a:r>
            <a:endParaRPr lang="en-IN" sz="5400" dirty="0">
              <a:solidFill>
                <a:srgbClr val="002060"/>
              </a:solidFill>
            </a:endParaRPr>
          </a:p>
        </p:txBody>
      </p:sp>
      <p:sp>
        <p:nvSpPr>
          <p:cNvPr id="5" name="TextBox 4">
            <a:extLst>
              <a:ext uri="{FF2B5EF4-FFF2-40B4-BE49-F238E27FC236}">
                <a16:creationId xmlns:a16="http://schemas.microsoft.com/office/drawing/2014/main" id="{CE3C1065-93AD-5DC0-319C-75BB6683676B}"/>
              </a:ext>
            </a:extLst>
          </p:cNvPr>
          <p:cNvSpPr txBox="1"/>
          <p:nvPr/>
        </p:nvSpPr>
        <p:spPr>
          <a:xfrm>
            <a:off x="1110344" y="2471057"/>
            <a:ext cx="10178142" cy="2941639"/>
          </a:xfrm>
          <a:prstGeom prst="rect">
            <a:avLst/>
          </a:prstGeom>
          <a:noFill/>
        </p:spPr>
        <p:txBody>
          <a:bodyPr wrap="square">
            <a:spAutoFit/>
          </a:bodyPr>
          <a:lstStyle/>
          <a:p>
            <a:pPr algn="just">
              <a:lnSpc>
                <a:spcPct val="200000"/>
              </a:lnSpc>
            </a:pPr>
            <a:r>
              <a:rPr lang="en-US" sz="2400" dirty="0">
                <a:solidFill>
                  <a:srgbClr val="1F2329"/>
                </a:solidFill>
                <a:effectLst/>
                <a:latin typeface="Times New Roman" panose="02020603050405020304" pitchFamily="18" charset="0"/>
                <a:ea typeface="Times New Roman" panose="02020603050405020304" pitchFamily="18" charset="0"/>
              </a:rPr>
              <a:t>	The</a:t>
            </a:r>
            <a:r>
              <a:rPr lang="en-US" sz="2400" spc="11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number</a:t>
            </a:r>
            <a:r>
              <a:rPr lang="en-US" sz="2400" spc="12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of</a:t>
            </a:r>
            <a:r>
              <a:rPr lang="en-US" sz="2400" spc="14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entity</a:t>
            </a:r>
            <a:r>
              <a:rPr lang="en-US" sz="2400" spc="13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sets</a:t>
            </a:r>
            <a:r>
              <a:rPr lang="en-US" sz="2400" spc="12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that</a:t>
            </a:r>
            <a:r>
              <a:rPr lang="en-US" sz="2400" spc="11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participate</a:t>
            </a:r>
            <a:r>
              <a:rPr lang="en-US" sz="2400" spc="13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in</a:t>
            </a:r>
            <a:r>
              <a:rPr lang="en-US" sz="2400" spc="12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a</a:t>
            </a:r>
            <a:r>
              <a:rPr lang="en-US" sz="2400" spc="13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relationship</a:t>
            </a:r>
            <a:r>
              <a:rPr lang="en-US" sz="2400" spc="130"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set</a:t>
            </a:r>
            <a:r>
              <a:rPr lang="en-US" sz="2400" spc="11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is termed as the degree of that relationship.</a:t>
            </a:r>
          </a:p>
          <a:p>
            <a:pPr algn="just">
              <a:lnSpc>
                <a:spcPct val="200000"/>
              </a:lnSpc>
            </a:pPr>
            <a:endParaRPr lang="en-US" sz="2400" dirty="0">
              <a:solidFill>
                <a:srgbClr val="1F2329"/>
              </a:solidFill>
              <a:latin typeface="Times New Roman" panose="02020603050405020304" pitchFamily="18" charset="0"/>
              <a:ea typeface="Times New Roman" panose="02020603050405020304" pitchFamily="18" charset="0"/>
            </a:endParaRPr>
          </a:p>
          <a:p>
            <a:pPr algn="just">
              <a:lnSpc>
                <a:spcPct val="200000"/>
              </a:lnSpc>
            </a:pPr>
            <a:r>
              <a:rPr lang="en-US" sz="2400" dirty="0">
                <a:solidFill>
                  <a:srgbClr val="1F2329"/>
                </a:solidFill>
                <a:effectLst/>
                <a:latin typeface="Times New Roman" panose="02020603050405020304" pitchFamily="18" charset="0"/>
                <a:ea typeface="Times New Roman" panose="02020603050405020304" pitchFamily="18" charset="0"/>
              </a:rPr>
              <a:t> 		Degree of above relationship is 2</a:t>
            </a:r>
            <a:endParaRPr lang="en-IN" sz="4000" dirty="0"/>
          </a:p>
        </p:txBody>
      </p:sp>
    </p:spTree>
    <p:extLst>
      <p:ext uri="{BB962C8B-B14F-4D97-AF65-F5344CB8AC3E}">
        <p14:creationId xmlns:p14="http://schemas.microsoft.com/office/powerpoint/2010/main" val="128391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D3C9A2-6957-0291-C1D2-567F3E0C11F2}"/>
              </a:ext>
            </a:extLst>
          </p:cNvPr>
          <p:cNvSpPr txBox="1"/>
          <p:nvPr/>
        </p:nvSpPr>
        <p:spPr>
          <a:xfrm>
            <a:off x="3385457" y="664420"/>
            <a:ext cx="6096000" cy="646331"/>
          </a:xfrm>
          <a:prstGeom prst="rect">
            <a:avLst/>
          </a:prstGeom>
          <a:noFill/>
        </p:spPr>
        <p:txBody>
          <a:bodyPr wrap="square">
            <a:spAutoFit/>
          </a:bodyPr>
          <a:lstStyle/>
          <a:p>
            <a:r>
              <a:rPr lang="en-US" sz="3600" b="1" dirty="0">
                <a:solidFill>
                  <a:srgbClr val="FF0000"/>
                </a:solidFill>
                <a:effectLst/>
                <a:latin typeface="Times New Roman" panose="02020603050405020304" pitchFamily="18" charset="0"/>
                <a:ea typeface="Times New Roman" panose="02020603050405020304" pitchFamily="18" charset="0"/>
              </a:rPr>
              <a:t>Types</a:t>
            </a:r>
            <a:r>
              <a:rPr lang="en-US" sz="3600" b="1" spc="85" dirty="0">
                <a:solidFill>
                  <a:srgbClr val="FF0000"/>
                </a:solidFill>
                <a:effectLst/>
                <a:latin typeface="Times New Roman" panose="02020603050405020304" pitchFamily="18" charset="0"/>
                <a:ea typeface="Times New Roman" panose="02020603050405020304" pitchFamily="18" charset="0"/>
              </a:rPr>
              <a:t> </a:t>
            </a:r>
            <a:r>
              <a:rPr lang="en-US" sz="3600" b="1" dirty="0">
                <a:solidFill>
                  <a:srgbClr val="FF0000"/>
                </a:solidFill>
                <a:effectLst/>
                <a:latin typeface="Times New Roman" panose="02020603050405020304" pitchFamily="18" charset="0"/>
                <a:ea typeface="Times New Roman" panose="02020603050405020304" pitchFamily="18" charset="0"/>
              </a:rPr>
              <a:t>of</a:t>
            </a:r>
            <a:r>
              <a:rPr lang="en-US" sz="3600" b="1" spc="85" dirty="0">
                <a:solidFill>
                  <a:srgbClr val="FF0000"/>
                </a:solidFill>
                <a:effectLst/>
                <a:latin typeface="Times New Roman" panose="02020603050405020304" pitchFamily="18" charset="0"/>
                <a:ea typeface="Times New Roman" panose="02020603050405020304" pitchFamily="18" charset="0"/>
              </a:rPr>
              <a:t> </a:t>
            </a:r>
            <a:r>
              <a:rPr lang="en-US" sz="3600" b="1" dirty="0">
                <a:solidFill>
                  <a:srgbClr val="FF0000"/>
                </a:solidFill>
                <a:effectLst/>
                <a:latin typeface="Times New Roman" panose="02020603050405020304" pitchFamily="18" charset="0"/>
                <a:ea typeface="Times New Roman" panose="02020603050405020304" pitchFamily="18" charset="0"/>
              </a:rPr>
              <a:t>Relationships</a:t>
            </a:r>
            <a:endParaRPr lang="en-IN" sz="5400" dirty="0">
              <a:solidFill>
                <a:srgbClr val="FF0000"/>
              </a:solidFill>
            </a:endParaRPr>
          </a:p>
        </p:txBody>
      </p:sp>
      <p:sp>
        <p:nvSpPr>
          <p:cNvPr id="7" name="TextBox 6">
            <a:extLst>
              <a:ext uri="{FF2B5EF4-FFF2-40B4-BE49-F238E27FC236}">
                <a16:creationId xmlns:a16="http://schemas.microsoft.com/office/drawing/2014/main" id="{74947EF9-BB74-29B5-F56B-301CAA422730}"/>
              </a:ext>
            </a:extLst>
          </p:cNvPr>
          <p:cNvSpPr txBox="1"/>
          <p:nvPr/>
        </p:nvSpPr>
        <p:spPr>
          <a:xfrm>
            <a:off x="4735285" y="1507200"/>
            <a:ext cx="8414657" cy="646331"/>
          </a:xfrm>
          <a:prstGeom prst="rect">
            <a:avLst/>
          </a:prstGeom>
          <a:noFill/>
        </p:spPr>
        <p:txBody>
          <a:bodyPr wrap="square">
            <a:spAutoFit/>
          </a:bodyPr>
          <a:lstStyle/>
          <a:p>
            <a:r>
              <a:rPr lang="en-US" sz="2800" dirty="0">
                <a:solidFill>
                  <a:srgbClr val="1F2329"/>
                </a:solidFill>
                <a:effectLst/>
                <a:latin typeface="Times New Roman" panose="02020603050405020304" pitchFamily="18" charset="0"/>
                <a:ea typeface="Times New Roman" panose="02020603050405020304" pitchFamily="18" charset="0"/>
              </a:rPr>
              <a:t>On</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the</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basis</a:t>
            </a:r>
            <a:r>
              <a:rPr lang="en-US" sz="2800" spc="16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of</a:t>
            </a:r>
            <a:r>
              <a:rPr lang="en-US" sz="2800" spc="165" dirty="0">
                <a:solidFill>
                  <a:srgbClr val="1F2329"/>
                </a:solidFill>
                <a:effectLst/>
                <a:latin typeface="Times New Roman" panose="02020603050405020304" pitchFamily="18" charset="0"/>
                <a:ea typeface="Times New Roman" panose="02020603050405020304" pitchFamily="18" charset="0"/>
              </a:rPr>
              <a:t> </a:t>
            </a:r>
            <a:r>
              <a:rPr lang="en-US" sz="3600" b="1" i="1" strike="sngStrike" spc="600" dirty="0">
                <a:solidFill>
                  <a:schemeClr val="accent6">
                    <a:lumMod val="50000"/>
                  </a:schemeClr>
                </a:solidFill>
                <a:effectLst/>
                <a:latin typeface="Times New Roman" panose="02020603050405020304" pitchFamily="18" charset="0"/>
                <a:ea typeface="Times New Roman" panose="02020603050405020304" pitchFamily="18" charset="0"/>
              </a:rPr>
              <a:t>degree</a:t>
            </a:r>
            <a:r>
              <a:rPr lang="en-US" sz="2800" spc="17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of</a:t>
            </a:r>
            <a:r>
              <a:rPr lang="en-US" sz="2800" spc="16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relationship</a:t>
            </a:r>
            <a:r>
              <a:rPr lang="en-US" sz="2800" spc="18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set</a:t>
            </a:r>
            <a:endParaRPr lang="en-IN" sz="4400" dirty="0"/>
          </a:p>
        </p:txBody>
      </p:sp>
      <p:sp>
        <p:nvSpPr>
          <p:cNvPr id="9" name="TextBox 8">
            <a:extLst>
              <a:ext uri="{FF2B5EF4-FFF2-40B4-BE49-F238E27FC236}">
                <a16:creationId xmlns:a16="http://schemas.microsoft.com/office/drawing/2014/main" id="{6EEEC236-7736-3D35-76B3-BBFC3BB2C494}"/>
              </a:ext>
            </a:extLst>
          </p:cNvPr>
          <p:cNvSpPr txBox="1"/>
          <p:nvPr/>
        </p:nvSpPr>
        <p:spPr>
          <a:xfrm>
            <a:off x="1382485" y="2153531"/>
            <a:ext cx="6705600" cy="3881832"/>
          </a:xfrm>
          <a:prstGeom prst="rect">
            <a:avLst/>
          </a:prstGeom>
          <a:noFill/>
        </p:spPr>
        <p:txBody>
          <a:bodyPr wrap="square">
            <a:spAutoFit/>
          </a:bodyPr>
          <a:lstStyle/>
          <a:p>
            <a:pPr marL="342900" lvl="0" indent="-342900">
              <a:lnSpc>
                <a:spcPct val="200000"/>
              </a:lnSpc>
              <a:buClr>
                <a:srgbClr val="1F2329"/>
              </a:buClr>
              <a:buSzPts val="1200"/>
              <a:buFont typeface="Times New Roman" panose="02020603050405020304" pitchFamily="18" charset="0"/>
              <a:buAutoNum type="arabicPeriod"/>
              <a:tabLst>
                <a:tab pos="741045" algn="l"/>
              </a:tabLst>
            </a:pPr>
            <a:r>
              <a:rPr lang="en-US" sz="3200" b="1" spc="0" dirty="0">
                <a:solidFill>
                  <a:srgbClr val="00B050"/>
                </a:solidFill>
                <a:effectLst/>
                <a:latin typeface="Times New Roman" panose="02020603050405020304" pitchFamily="18" charset="0"/>
                <a:ea typeface="Times New Roman" panose="02020603050405020304" pitchFamily="18" charset="0"/>
              </a:rPr>
              <a:t>Unary</a:t>
            </a:r>
            <a:r>
              <a:rPr lang="en-US" sz="3200" b="1" spc="-25" dirty="0">
                <a:solidFill>
                  <a:srgbClr val="00B050"/>
                </a:solidFill>
                <a:effectLst/>
                <a:latin typeface="Times New Roman" panose="02020603050405020304" pitchFamily="18" charset="0"/>
                <a:ea typeface="Times New Roman" panose="02020603050405020304" pitchFamily="18" charset="0"/>
              </a:rPr>
              <a:t> </a:t>
            </a:r>
            <a:r>
              <a:rPr lang="en-US" sz="3200" b="1" spc="-10" dirty="0">
                <a:solidFill>
                  <a:srgbClr val="00B050"/>
                </a:solidFill>
                <a:effectLst/>
                <a:latin typeface="Times New Roman" panose="02020603050405020304" pitchFamily="18" charset="0"/>
                <a:ea typeface="Times New Roman" panose="02020603050405020304" pitchFamily="18" charset="0"/>
              </a:rPr>
              <a:t>relationship.</a:t>
            </a:r>
            <a:endParaRPr lang="en-IN" sz="2800" b="1" spc="0" dirty="0">
              <a:solidFill>
                <a:srgbClr val="00B050"/>
              </a:solidFill>
              <a:effectLst/>
              <a:latin typeface="Times New Roman" panose="02020603050405020304" pitchFamily="18" charset="0"/>
              <a:ea typeface="Times New Roman" panose="02020603050405020304" pitchFamily="18" charset="0"/>
            </a:endParaRPr>
          </a:p>
          <a:p>
            <a:pPr marL="342900" lvl="0" indent="-342900">
              <a:lnSpc>
                <a:spcPct val="200000"/>
              </a:lnSpc>
              <a:buClr>
                <a:srgbClr val="1F2329"/>
              </a:buClr>
              <a:buSzPts val="1200"/>
              <a:buFont typeface="Times New Roman" panose="02020603050405020304" pitchFamily="18" charset="0"/>
              <a:buAutoNum type="arabicPeriod"/>
              <a:tabLst>
                <a:tab pos="741045" algn="l"/>
              </a:tabLst>
            </a:pPr>
            <a:r>
              <a:rPr lang="en-US" sz="3200" b="1" spc="0" dirty="0">
                <a:solidFill>
                  <a:srgbClr val="00B0F0"/>
                </a:solidFill>
                <a:effectLst/>
                <a:latin typeface="Times New Roman" panose="02020603050405020304" pitchFamily="18" charset="0"/>
                <a:ea typeface="Times New Roman" panose="02020603050405020304" pitchFamily="18" charset="0"/>
              </a:rPr>
              <a:t>Binary</a:t>
            </a:r>
            <a:r>
              <a:rPr lang="en-US" sz="3200" b="1" spc="-50" dirty="0">
                <a:solidFill>
                  <a:srgbClr val="00B0F0"/>
                </a:solidFill>
                <a:effectLst/>
                <a:latin typeface="Times New Roman" panose="02020603050405020304" pitchFamily="18" charset="0"/>
                <a:ea typeface="Times New Roman" panose="02020603050405020304" pitchFamily="18" charset="0"/>
              </a:rPr>
              <a:t> </a:t>
            </a:r>
            <a:r>
              <a:rPr lang="en-US" sz="3200" b="1" spc="-10" dirty="0">
                <a:solidFill>
                  <a:srgbClr val="00B0F0"/>
                </a:solidFill>
                <a:effectLst/>
                <a:latin typeface="Times New Roman" panose="02020603050405020304" pitchFamily="18" charset="0"/>
                <a:ea typeface="Times New Roman" panose="02020603050405020304" pitchFamily="18" charset="0"/>
              </a:rPr>
              <a:t>relationship.</a:t>
            </a:r>
            <a:endParaRPr lang="en-IN" sz="2800" b="1" spc="0" dirty="0">
              <a:solidFill>
                <a:srgbClr val="00B0F0"/>
              </a:solidFill>
              <a:effectLst/>
              <a:latin typeface="Times New Roman" panose="02020603050405020304" pitchFamily="18" charset="0"/>
              <a:ea typeface="Times New Roman" panose="02020603050405020304" pitchFamily="18" charset="0"/>
            </a:endParaRPr>
          </a:p>
          <a:p>
            <a:pPr marL="342900" lvl="0" indent="-342900">
              <a:lnSpc>
                <a:spcPct val="200000"/>
              </a:lnSpc>
              <a:buClr>
                <a:srgbClr val="1F2329"/>
              </a:buClr>
              <a:buSzPts val="1200"/>
              <a:buFont typeface="Times New Roman" panose="02020603050405020304" pitchFamily="18" charset="0"/>
              <a:buAutoNum type="arabicPeriod"/>
              <a:tabLst>
                <a:tab pos="741045" algn="l"/>
              </a:tabLst>
            </a:pPr>
            <a:r>
              <a:rPr lang="en-US" sz="3200" b="1" spc="0" dirty="0">
                <a:solidFill>
                  <a:srgbClr val="FF0000"/>
                </a:solidFill>
                <a:effectLst/>
                <a:latin typeface="Times New Roman" panose="02020603050405020304" pitchFamily="18" charset="0"/>
                <a:ea typeface="Times New Roman" panose="02020603050405020304" pitchFamily="18" charset="0"/>
              </a:rPr>
              <a:t>Ternary</a:t>
            </a:r>
            <a:r>
              <a:rPr lang="en-US" sz="3200" b="1" spc="-30" dirty="0">
                <a:solidFill>
                  <a:srgbClr val="FF0000"/>
                </a:solidFill>
                <a:effectLst/>
                <a:latin typeface="Times New Roman" panose="02020603050405020304" pitchFamily="18" charset="0"/>
                <a:ea typeface="Times New Roman" panose="02020603050405020304" pitchFamily="18" charset="0"/>
              </a:rPr>
              <a:t> </a:t>
            </a:r>
            <a:r>
              <a:rPr lang="en-US" sz="3200" b="1" spc="-10" dirty="0">
                <a:solidFill>
                  <a:srgbClr val="FF0000"/>
                </a:solidFill>
                <a:effectLst/>
                <a:latin typeface="Times New Roman" panose="02020603050405020304" pitchFamily="18" charset="0"/>
                <a:ea typeface="Times New Roman" panose="02020603050405020304" pitchFamily="18" charset="0"/>
              </a:rPr>
              <a:t>relationship.</a:t>
            </a:r>
            <a:endParaRPr lang="en-IN" sz="2800" b="1" spc="0" dirty="0">
              <a:solidFill>
                <a:srgbClr val="FF0000"/>
              </a:solidFill>
              <a:effectLst/>
              <a:latin typeface="Times New Roman" panose="02020603050405020304" pitchFamily="18" charset="0"/>
              <a:ea typeface="Times New Roman" panose="02020603050405020304" pitchFamily="18" charset="0"/>
            </a:endParaRPr>
          </a:p>
          <a:p>
            <a:pPr marL="342900" lvl="0" indent="-342900">
              <a:lnSpc>
                <a:spcPct val="200000"/>
              </a:lnSpc>
              <a:buClr>
                <a:srgbClr val="1F2329"/>
              </a:buClr>
              <a:buSzPts val="1200"/>
              <a:buFont typeface="Times New Roman" panose="02020603050405020304" pitchFamily="18" charset="0"/>
              <a:buAutoNum type="arabicPeriod"/>
              <a:tabLst>
                <a:tab pos="741045" algn="l"/>
              </a:tabLst>
            </a:pPr>
            <a:r>
              <a:rPr lang="en-US" sz="3200" b="1" spc="0" dirty="0">
                <a:solidFill>
                  <a:srgbClr val="7030A0"/>
                </a:solidFill>
                <a:effectLst/>
                <a:latin typeface="Times New Roman" panose="02020603050405020304" pitchFamily="18" charset="0"/>
                <a:ea typeface="Times New Roman" panose="02020603050405020304" pitchFamily="18" charset="0"/>
              </a:rPr>
              <a:t>N-</a:t>
            </a:r>
            <a:r>
              <a:rPr lang="en-US" sz="3200" b="1" spc="0" dirty="0" err="1">
                <a:solidFill>
                  <a:srgbClr val="7030A0"/>
                </a:solidFill>
                <a:effectLst/>
                <a:latin typeface="Times New Roman" panose="02020603050405020304" pitchFamily="18" charset="0"/>
                <a:ea typeface="Times New Roman" panose="02020603050405020304" pitchFamily="18" charset="0"/>
              </a:rPr>
              <a:t>ary</a:t>
            </a:r>
            <a:r>
              <a:rPr lang="en-US" sz="3200" b="1" spc="-20" dirty="0">
                <a:solidFill>
                  <a:srgbClr val="7030A0"/>
                </a:solidFill>
                <a:effectLst/>
                <a:latin typeface="Times New Roman" panose="02020603050405020304" pitchFamily="18" charset="0"/>
                <a:ea typeface="Times New Roman" panose="02020603050405020304" pitchFamily="18" charset="0"/>
              </a:rPr>
              <a:t> </a:t>
            </a:r>
            <a:r>
              <a:rPr lang="en-US" sz="3200" b="1" spc="-10" dirty="0">
                <a:solidFill>
                  <a:srgbClr val="7030A0"/>
                </a:solidFill>
                <a:effectLst/>
                <a:latin typeface="Times New Roman" panose="02020603050405020304" pitchFamily="18" charset="0"/>
                <a:ea typeface="Times New Roman" panose="02020603050405020304" pitchFamily="18" charset="0"/>
              </a:rPr>
              <a:t>relationship.</a:t>
            </a:r>
            <a:endParaRPr lang="en-IN" sz="2800" b="1" spc="0"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1187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1136EC-FF3F-7E0B-7D8E-0E33C6591E3C}"/>
              </a:ext>
            </a:extLst>
          </p:cNvPr>
          <p:cNvSpPr txBox="1"/>
          <p:nvPr/>
        </p:nvSpPr>
        <p:spPr>
          <a:xfrm>
            <a:off x="3505200" y="698213"/>
            <a:ext cx="6096000" cy="646331"/>
          </a:xfrm>
          <a:prstGeom prst="rect">
            <a:avLst/>
          </a:prstGeom>
          <a:noFill/>
        </p:spPr>
        <p:txBody>
          <a:bodyPr wrap="square">
            <a:spAutoFit/>
          </a:bodyPr>
          <a:lstStyle/>
          <a:p>
            <a:r>
              <a:rPr kumimoji="0" lang="en-US" sz="3600" b="1" i="0" u="none" strike="noStrike" kern="1200" cap="none" spc="0" normalizeH="0" baseline="0" noProof="0" dirty="0">
                <a:ln>
                  <a:noFill/>
                </a:ln>
                <a:solidFill>
                  <a:srgbClr val="00B050"/>
                </a:solidFill>
                <a:effectLst/>
                <a:uLnTx/>
                <a:uFillTx/>
                <a:latin typeface="Times New Roman" panose="02020603050405020304" pitchFamily="18" charset="0"/>
                <a:ea typeface="Times New Roman" panose="02020603050405020304" pitchFamily="18" charset="0"/>
                <a:cs typeface="+mn-cs"/>
              </a:rPr>
              <a:t>Unary</a:t>
            </a:r>
            <a:r>
              <a:rPr kumimoji="0" lang="en-US" sz="3600" b="1" i="0" u="none" strike="noStrike" kern="1200" cap="none" spc="-25" normalizeH="0" baseline="0" noProof="0" dirty="0">
                <a:ln>
                  <a:noFill/>
                </a:ln>
                <a:solidFill>
                  <a:srgbClr val="00B050"/>
                </a:solidFill>
                <a:effectLst/>
                <a:uLnTx/>
                <a:uFillTx/>
                <a:latin typeface="Times New Roman" panose="02020603050405020304" pitchFamily="18" charset="0"/>
                <a:ea typeface="Times New Roman" panose="02020603050405020304" pitchFamily="18" charset="0"/>
                <a:cs typeface="+mn-cs"/>
              </a:rPr>
              <a:t> </a:t>
            </a:r>
            <a:r>
              <a:rPr kumimoji="0" lang="en-US" sz="3600" b="1" i="0" u="none" strike="noStrike" kern="1200" cap="none" spc="-10" normalizeH="0" baseline="0" noProof="0" dirty="0">
                <a:ln>
                  <a:noFill/>
                </a:ln>
                <a:solidFill>
                  <a:srgbClr val="00B050"/>
                </a:solidFill>
                <a:effectLst/>
                <a:uLnTx/>
                <a:uFillTx/>
                <a:latin typeface="Times New Roman" panose="02020603050405020304" pitchFamily="18" charset="0"/>
                <a:ea typeface="Times New Roman" panose="02020603050405020304" pitchFamily="18" charset="0"/>
                <a:cs typeface="+mn-cs"/>
              </a:rPr>
              <a:t>relationship</a:t>
            </a:r>
            <a:endParaRPr lang="en-IN" sz="2000" dirty="0"/>
          </a:p>
        </p:txBody>
      </p:sp>
      <p:sp>
        <p:nvSpPr>
          <p:cNvPr id="5" name="TextBox 4">
            <a:extLst>
              <a:ext uri="{FF2B5EF4-FFF2-40B4-BE49-F238E27FC236}">
                <a16:creationId xmlns:a16="http://schemas.microsoft.com/office/drawing/2014/main" id="{D54A7744-F760-C3DA-F518-D70A22CB34E6}"/>
              </a:ext>
            </a:extLst>
          </p:cNvPr>
          <p:cNvSpPr txBox="1"/>
          <p:nvPr/>
        </p:nvSpPr>
        <p:spPr>
          <a:xfrm>
            <a:off x="751115" y="1830912"/>
            <a:ext cx="11038114" cy="3892861"/>
          </a:xfrm>
          <a:prstGeom prst="rect">
            <a:avLst/>
          </a:prstGeom>
          <a:noFill/>
        </p:spPr>
        <p:txBody>
          <a:bodyPr wrap="square">
            <a:spAutoFit/>
          </a:bodyPr>
          <a:lstStyle/>
          <a:p>
            <a:pPr marR="553720" lvl="0" algn="just">
              <a:lnSpc>
                <a:spcPct val="150000"/>
              </a:lnSpc>
              <a:buClr>
                <a:srgbClr val="1F2329"/>
              </a:buClr>
              <a:buSzPts val="1200"/>
              <a:tabLst>
                <a:tab pos="456565" algn="l"/>
              </a:tabLst>
            </a:pPr>
            <a:r>
              <a:rPr lang="en-US" sz="2800" spc="0" dirty="0">
                <a:solidFill>
                  <a:srgbClr val="1F2329"/>
                </a:solidFill>
                <a:effectLst/>
                <a:latin typeface="Times New Roman" panose="02020603050405020304" pitchFamily="18" charset="0"/>
                <a:ea typeface="Times New Roman" panose="02020603050405020304" pitchFamily="18" charset="0"/>
              </a:rPr>
              <a:t>	When there is a relationship between two entities of the </a:t>
            </a:r>
            <a:r>
              <a:rPr lang="en-US" sz="2800" b="1" i="1" spc="0" dirty="0">
                <a:solidFill>
                  <a:srgbClr val="FF0000"/>
                </a:solidFill>
                <a:effectLst/>
                <a:latin typeface="Times New Roman" panose="02020603050405020304" pitchFamily="18" charset="0"/>
                <a:ea typeface="Times New Roman" panose="02020603050405020304" pitchFamily="18" charset="0"/>
              </a:rPr>
              <a:t>same type </a:t>
            </a:r>
            <a:r>
              <a:rPr lang="en-US" sz="2800" spc="0" dirty="0">
                <a:solidFill>
                  <a:srgbClr val="1F2329"/>
                </a:solidFill>
                <a:effectLst/>
                <a:latin typeface="Times New Roman" panose="02020603050405020304" pitchFamily="18" charset="0"/>
                <a:ea typeface="Times New Roman" panose="02020603050405020304" pitchFamily="18" charset="0"/>
              </a:rPr>
              <a:t>is known</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as</a:t>
            </a:r>
            <a:r>
              <a:rPr lang="en-US" sz="2800" spc="-75"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Unary relationship. It is known as a </a:t>
            </a:r>
            <a:r>
              <a:rPr lang="en-US" sz="2800" b="1" i="1" u="sng" spc="0" dirty="0">
                <a:solidFill>
                  <a:srgbClr val="7030A0"/>
                </a:solidFill>
                <a:effectLst/>
                <a:latin typeface="Times New Roman" panose="02020603050405020304" pitchFamily="18" charset="0"/>
                <a:ea typeface="Times New Roman" panose="02020603050405020304" pitchFamily="18" charset="0"/>
              </a:rPr>
              <a:t>recursive</a:t>
            </a:r>
            <a:r>
              <a:rPr lang="en-US" sz="2800" spc="0" dirty="0">
                <a:solidFill>
                  <a:srgbClr val="1F2329"/>
                </a:solidFill>
                <a:effectLst/>
                <a:latin typeface="Times New Roman" panose="02020603050405020304" pitchFamily="18" charset="0"/>
                <a:ea typeface="Times New Roman" panose="02020603050405020304" pitchFamily="18" charset="0"/>
              </a:rPr>
              <a:t> relationship. This</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means</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that</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the relationship is between different instances of the same entity type. For example, an </a:t>
            </a:r>
            <a:r>
              <a:rPr lang="en-US" sz="2800" b="1" i="1" spc="0" dirty="0">
                <a:solidFill>
                  <a:srgbClr val="FF0000"/>
                </a:solidFill>
                <a:effectLst/>
                <a:latin typeface="Times New Roman" panose="02020603050405020304" pitchFamily="18" charset="0"/>
                <a:ea typeface="Times New Roman" panose="02020603050405020304" pitchFamily="18" charset="0"/>
              </a:rPr>
              <a:t>employee</a:t>
            </a:r>
            <a:r>
              <a:rPr lang="en-US" sz="2800" spc="0" dirty="0">
                <a:solidFill>
                  <a:srgbClr val="1F2329"/>
                </a:solidFill>
                <a:effectLst/>
                <a:latin typeface="Times New Roman" panose="02020603050405020304" pitchFamily="18" charset="0"/>
                <a:ea typeface="Times New Roman" panose="02020603050405020304" pitchFamily="18" charset="0"/>
              </a:rPr>
              <a:t> can </a:t>
            </a:r>
            <a:r>
              <a:rPr lang="en-US" sz="2800" b="1" i="1" spc="0" dirty="0">
                <a:solidFill>
                  <a:srgbClr val="0070C0"/>
                </a:solidFill>
                <a:effectLst/>
                <a:latin typeface="Times New Roman" panose="02020603050405020304" pitchFamily="18" charset="0"/>
                <a:ea typeface="Times New Roman" panose="02020603050405020304" pitchFamily="18" charset="0"/>
              </a:rPr>
              <a:t>supervise</a:t>
            </a:r>
            <a:r>
              <a:rPr lang="en-US" sz="2800" spc="0" dirty="0">
                <a:solidFill>
                  <a:srgbClr val="1F2329"/>
                </a:solidFill>
                <a:effectLst/>
                <a:latin typeface="Times New Roman" panose="02020603050405020304" pitchFamily="18" charset="0"/>
                <a:ea typeface="Times New Roman" panose="02020603050405020304" pitchFamily="18" charset="0"/>
              </a:rPr>
              <a:t> group of </a:t>
            </a:r>
            <a:r>
              <a:rPr lang="en-US" sz="2800" b="1" i="1" spc="0" dirty="0">
                <a:solidFill>
                  <a:srgbClr val="7030A0"/>
                </a:solidFill>
                <a:effectLst/>
                <a:latin typeface="Times New Roman" panose="02020603050405020304" pitchFamily="18" charset="0"/>
                <a:ea typeface="Times New Roman" panose="02020603050405020304" pitchFamily="18" charset="0"/>
              </a:rPr>
              <a:t>employees</a:t>
            </a:r>
            <a:r>
              <a:rPr lang="en-US" sz="2800" spc="0" dirty="0">
                <a:solidFill>
                  <a:srgbClr val="1F2329"/>
                </a:solidFill>
                <a:effectLst/>
                <a:latin typeface="Times New Roman" panose="02020603050405020304" pitchFamily="18" charset="0"/>
                <a:ea typeface="Times New Roman" panose="02020603050405020304" pitchFamily="18" charset="0"/>
              </a:rPr>
              <a:t>. Hence, this is a recursive</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relationship</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of</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entity employee with itself.</a:t>
            </a:r>
            <a:endParaRPr lang="en-IN" sz="24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8974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5"/>
                                        </p:tgtEl>
                                        <p:attrNameLst>
                                          <p:attrName>style.color</p:attrName>
                                        </p:attrNameLst>
                                      </p:cBhvr>
                                      <p:to>
                                        <a:schemeClr val="accent2"/>
                                      </p:to>
                                    </p:animClr>
                                    <p:animClr clrSpc="rgb" dir="cw">
                                      <p:cBhvr>
                                        <p:cTn id="7" dur="500" fill="hold"/>
                                        <p:tgtEl>
                                          <p:spTgt spid="5"/>
                                        </p:tgtEl>
                                        <p:attrNameLst>
                                          <p:attrName>fillcolor</p:attrName>
                                        </p:attrNameLst>
                                      </p:cBhvr>
                                      <p:to>
                                        <a:schemeClr val="accent2"/>
                                      </p:to>
                                    </p:animClr>
                                    <p:set>
                                      <p:cBhvr>
                                        <p:cTn id="8" dur="500" fill="hold"/>
                                        <p:tgtEl>
                                          <p:spTgt spid="5"/>
                                        </p:tgtEl>
                                        <p:attrNameLst>
                                          <p:attrName>fill.type</p:attrName>
                                        </p:attrNameLst>
                                      </p:cBhvr>
                                      <p:to>
                                        <p:strVal val="solid"/>
                                      </p:to>
                                    </p:set>
                                    <p:set>
                                      <p:cBhvr>
                                        <p:cTn id="9" dur="500" fill="hold"/>
                                        <p:tgtEl>
                                          <p:spTgt spid="5"/>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AF7763-6B2B-CB95-BB0D-1059030A9A98}"/>
              </a:ext>
            </a:extLst>
          </p:cNvPr>
          <p:cNvPicPr>
            <a:picLocks noChangeAspect="1"/>
          </p:cNvPicPr>
          <p:nvPr/>
        </p:nvPicPr>
        <p:blipFill>
          <a:blip r:embed="rId2"/>
          <a:stretch>
            <a:fillRect/>
          </a:stretch>
        </p:blipFill>
        <p:spPr>
          <a:xfrm>
            <a:off x="1549999" y="2220686"/>
            <a:ext cx="8319444" cy="2666999"/>
          </a:xfrm>
          <a:prstGeom prst="rect">
            <a:avLst/>
          </a:prstGeom>
        </p:spPr>
      </p:pic>
    </p:spTree>
    <p:extLst>
      <p:ext uri="{BB962C8B-B14F-4D97-AF65-F5344CB8AC3E}">
        <p14:creationId xmlns:p14="http://schemas.microsoft.com/office/powerpoint/2010/main" val="2671817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B7166A-6BC2-59F8-D057-C0CBD0D33699}"/>
              </a:ext>
            </a:extLst>
          </p:cNvPr>
          <p:cNvSpPr txBox="1"/>
          <p:nvPr/>
        </p:nvSpPr>
        <p:spPr>
          <a:xfrm>
            <a:off x="3407229" y="579958"/>
            <a:ext cx="6096000" cy="584775"/>
          </a:xfrm>
          <a:prstGeom prst="rect">
            <a:avLst/>
          </a:prstGeom>
          <a:noFill/>
        </p:spPr>
        <p:txBody>
          <a:bodyPr wrap="square">
            <a:spAutoFit/>
          </a:bodyPr>
          <a:lstStyle/>
          <a:p>
            <a:r>
              <a:rPr lang="en-US" sz="3200" b="1" dirty="0">
                <a:solidFill>
                  <a:srgbClr val="7030A0"/>
                </a:solidFill>
                <a:effectLst/>
                <a:latin typeface="Times New Roman" panose="02020603050405020304" pitchFamily="18" charset="0"/>
                <a:ea typeface="Times New Roman" panose="02020603050405020304" pitchFamily="18" charset="0"/>
              </a:rPr>
              <a:t>Binary Relationship</a:t>
            </a:r>
            <a:endParaRPr lang="en-IN" sz="4400" dirty="0">
              <a:solidFill>
                <a:srgbClr val="7030A0"/>
              </a:solidFill>
            </a:endParaRPr>
          </a:p>
        </p:txBody>
      </p:sp>
      <p:sp>
        <p:nvSpPr>
          <p:cNvPr id="5" name="TextBox 4">
            <a:extLst>
              <a:ext uri="{FF2B5EF4-FFF2-40B4-BE49-F238E27FC236}">
                <a16:creationId xmlns:a16="http://schemas.microsoft.com/office/drawing/2014/main" id="{BEEB2776-D74A-46E2-7D24-1B677F22DBCC}"/>
              </a:ext>
            </a:extLst>
          </p:cNvPr>
          <p:cNvSpPr txBox="1"/>
          <p:nvPr/>
        </p:nvSpPr>
        <p:spPr>
          <a:xfrm>
            <a:off x="533401" y="1807028"/>
            <a:ext cx="11408227" cy="3531223"/>
          </a:xfrm>
          <a:prstGeom prst="rect">
            <a:avLst/>
          </a:prstGeom>
          <a:noFill/>
        </p:spPr>
        <p:txBody>
          <a:bodyPr wrap="square">
            <a:spAutoFit/>
          </a:bodyPr>
          <a:lstStyle/>
          <a:p>
            <a:pPr marR="553720" lvl="0" algn="just">
              <a:lnSpc>
                <a:spcPct val="200000"/>
              </a:lnSpc>
              <a:buClr>
                <a:srgbClr val="1F2329"/>
              </a:buClr>
              <a:buSzPts val="1200"/>
              <a:tabLst>
                <a:tab pos="456565" algn="l"/>
              </a:tabLst>
            </a:pPr>
            <a:r>
              <a:rPr lang="en-US" sz="2800" spc="0" dirty="0">
                <a:solidFill>
                  <a:srgbClr val="1F2329"/>
                </a:solidFill>
                <a:effectLst/>
                <a:latin typeface="Times New Roman" panose="02020603050405020304" pitchFamily="18" charset="0"/>
                <a:ea typeface="Times New Roman" panose="02020603050405020304" pitchFamily="18" charset="0"/>
              </a:rPr>
              <a:t>	When there are exactly </a:t>
            </a:r>
            <a:r>
              <a:rPr lang="en-US" sz="3200" b="1" i="1" spc="0" dirty="0">
                <a:solidFill>
                  <a:srgbClr val="FF0000"/>
                </a:solidFill>
                <a:effectLst/>
                <a:latin typeface="Times New Roman" panose="02020603050405020304" pitchFamily="18" charset="0"/>
                <a:ea typeface="Times New Roman" panose="02020603050405020304" pitchFamily="18" charset="0"/>
              </a:rPr>
              <a:t>two entity sets</a:t>
            </a:r>
            <a:r>
              <a:rPr lang="en-US" sz="2800" spc="0" dirty="0">
                <a:solidFill>
                  <a:srgbClr val="1F2329"/>
                </a:solidFill>
                <a:effectLst/>
                <a:latin typeface="Times New Roman" panose="02020603050405020304" pitchFamily="18" charset="0"/>
                <a:ea typeface="Times New Roman" panose="02020603050405020304" pitchFamily="18" charset="0"/>
              </a:rPr>
              <a:t> participating in a relationship then such type of relationship is called binary relationship. For example, a student enrolls a course, here, </a:t>
            </a:r>
            <a:r>
              <a:rPr lang="en-US" sz="2800" b="1" i="1" spc="0" dirty="0">
                <a:solidFill>
                  <a:srgbClr val="FF0000"/>
                </a:solidFill>
                <a:effectLst/>
                <a:latin typeface="Times New Roman" panose="02020603050405020304" pitchFamily="18" charset="0"/>
                <a:ea typeface="Times New Roman" panose="02020603050405020304" pitchFamily="18" charset="0"/>
              </a:rPr>
              <a:t>enrolls</a:t>
            </a:r>
            <a:r>
              <a:rPr lang="en-US" sz="2800" spc="0" dirty="0">
                <a:solidFill>
                  <a:srgbClr val="1F2329"/>
                </a:solidFill>
                <a:effectLst/>
                <a:latin typeface="Times New Roman" panose="02020603050405020304" pitchFamily="18" charset="0"/>
                <a:ea typeface="Times New Roman" panose="02020603050405020304" pitchFamily="18" charset="0"/>
              </a:rPr>
              <a:t> is</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a</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spc="0" dirty="0">
                <a:solidFill>
                  <a:srgbClr val="1F2329"/>
                </a:solidFill>
                <a:effectLst/>
                <a:latin typeface="Times New Roman" panose="02020603050405020304" pitchFamily="18" charset="0"/>
                <a:ea typeface="Times New Roman" panose="02020603050405020304" pitchFamily="18" charset="0"/>
              </a:rPr>
              <a:t>relationship and this is the relationship between a </a:t>
            </a:r>
            <a:r>
              <a:rPr lang="en-US" sz="2800" b="1" i="1" spc="0" dirty="0">
                <a:solidFill>
                  <a:srgbClr val="FF0000"/>
                </a:solidFill>
                <a:effectLst/>
                <a:latin typeface="Times New Roman" panose="02020603050405020304" pitchFamily="18" charset="0"/>
                <a:ea typeface="Times New Roman" panose="02020603050405020304" pitchFamily="18" charset="0"/>
              </a:rPr>
              <a:t>Student</a:t>
            </a:r>
            <a:r>
              <a:rPr lang="en-US" sz="2800" spc="0" dirty="0">
                <a:solidFill>
                  <a:srgbClr val="1F2329"/>
                </a:solidFill>
                <a:effectLst/>
                <a:latin typeface="Times New Roman" panose="02020603050405020304" pitchFamily="18" charset="0"/>
                <a:ea typeface="Times New Roman" panose="02020603050405020304" pitchFamily="18" charset="0"/>
              </a:rPr>
              <a:t> entity and a </a:t>
            </a:r>
            <a:r>
              <a:rPr lang="en-US" sz="2800" b="1" i="1" spc="0" dirty="0">
                <a:solidFill>
                  <a:srgbClr val="FF0000"/>
                </a:solidFill>
                <a:effectLst/>
                <a:latin typeface="Times New Roman" panose="02020603050405020304" pitchFamily="18" charset="0"/>
                <a:ea typeface="Times New Roman" panose="02020603050405020304" pitchFamily="18" charset="0"/>
              </a:rPr>
              <a:t>Course</a:t>
            </a:r>
            <a:r>
              <a:rPr lang="en-US" sz="2800" spc="0" dirty="0">
                <a:solidFill>
                  <a:srgbClr val="1F2329"/>
                </a:solidFill>
                <a:effectLst/>
                <a:latin typeface="Times New Roman" panose="02020603050405020304" pitchFamily="18" charset="0"/>
                <a:ea typeface="Times New Roman" panose="02020603050405020304" pitchFamily="18" charset="0"/>
              </a:rPr>
              <a:t> entity.</a:t>
            </a:r>
            <a:endParaRPr lang="en-IN" sz="24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6772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5"/>
                                        </p:tgtEl>
                                        <p:attrNameLst>
                                          <p:attrName>stroke.color</p:attrName>
                                        </p:attrNameLst>
                                      </p:cBhvr>
                                      <p:to>
                                        <a:schemeClr val="accent2"/>
                                      </p:to>
                                    </p:animClr>
                                    <p:set>
                                      <p:cBhvr>
                                        <p:cTn id="7" dur="2000" fill="hold"/>
                                        <p:tgtEl>
                                          <p:spTgt spid="5"/>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DBBE14C-1372-6DED-3AEF-CB981CB06348}"/>
              </a:ext>
            </a:extLst>
          </p:cNvPr>
          <p:cNvPicPr>
            <a:picLocks noChangeAspect="1"/>
          </p:cNvPicPr>
          <p:nvPr/>
        </p:nvPicPr>
        <p:blipFill>
          <a:blip r:embed="rId2"/>
          <a:stretch>
            <a:fillRect/>
          </a:stretch>
        </p:blipFill>
        <p:spPr>
          <a:xfrm>
            <a:off x="1413589" y="2133601"/>
            <a:ext cx="10148900" cy="2383970"/>
          </a:xfrm>
          <a:prstGeom prst="rect">
            <a:avLst/>
          </a:prstGeom>
        </p:spPr>
      </p:pic>
    </p:spTree>
    <p:extLst>
      <p:ext uri="{BB962C8B-B14F-4D97-AF65-F5344CB8AC3E}">
        <p14:creationId xmlns:p14="http://schemas.microsoft.com/office/powerpoint/2010/main" val="106676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xit" presetSubtype="0" fill="hold" nodeType="clickEffect">
                                  <p:stCondLst>
                                    <p:cond delay="0"/>
                                  </p:stCondLst>
                                  <p:childTnLst>
                                    <p:anim calcmode="lin" valueType="num">
                                      <p:cBhvr>
                                        <p:cTn id="6" dur="1000"/>
                                        <p:tgtEl>
                                          <p:spTgt spid="2"/>
                                        </p:tgtEl>
                                        <p:attrNameLst>
                                          <p:attrName>ppt_w</p:attrName>
                                        </p:attrNameLst>
                                      </p:cBhvr>
                                      <p:tavLst>
                                        <p:tav tm="0">
                                          <p:val>
                                            <p:strVal val="ppt_w"/>
                                          </p:val>
                                        </p:tav>
                                        <p:tav tm="100000">
                                          <p:val>
                                            <p:fltVal val="0"/>
                                          </p:val>
                                        </p:tav>
                                      </p:tavLst>
                                    </p:anim>
                                    <p:anim calcmode="lin" valueType="num">
                                      <p:cBhvr>
                                        <p:cTn id="7" dur="1000"/>
                                        <p:tgtEl>
                                          <p:spTgt spid="2"/>
                                        </p:tgtEl>
                                        <p:attrNameLst>
                                          <p:attrName>ppt_h</p:attrName>
                                        </p:attrNameLst>
                                      </p:cBhvr>
                                      <p:tavLst>
                                        <p:tav tm="0">
                                          <p:val>
                                            <p:strVal val="ppt_h"/>
                                          </p:val>
                                        </p:tav>
                                        <p:tav tm="100000">
                                          <p:val>
                                            <p:fltVal val="0"/>
                                          </p:val>
                                        </p:tav>
                                      </p:tavLst>
                                    </p:anim>
                                    <p:anim calcmode="lin" valueType="num">
                                      <p:cBhvr>
                                        <p:cTn id="8" dur="1000"/>
                                        <p:tgtEl>
                                          <p:spTgt spid="2"/>
                                        </p:tgtEl>
                                        <p:attrNameLst>
                                          <p:attrName>style.rotation</p:attrName>
                                        </p:attrNameLst>
                                      </p:cBhvr>
                                      <p:tavLst>
                                        <p:tav tm="0">
                                          <p:val>
                                            <p:fltVal val="0"/>
                                          </p:val>
                                        </p:tav>
                                        <p:tav tm="100000">
                                          <p:val>
                                            <p:fltVal val="90"/>
                                          </p:val>
                                        </p:tav>
                                      </p:tavLst>
                                    </p:anim>
                                    <p:animEffect transition="out" filter="fade">
                                      <p:cBhvr>
                                        <p:cTn id="9" dur="1000"/>
                                        <p:tgtEl>
                                          <p:spTgt spid="2"/>
                                        </p:tgtEl>
                                      </p:cBhvr>
                                    </p:animEffect>
                                    <p:set>
                                      <p:cBhvr>
                                        <p:cTn id="10"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CA8319-7BDA-CF37-C241-570C3491C1C5}"/>
              </a:ext>
            </a:extLst>
          </p:cNvPr>
          <p:cNvSpPr txBox="1"/>
          <p:nvPr/>
        </p:nvSpPr>
        <p:spPr>
          <a:xfrm>
            <a:off x="3331029" y="471101"/>
            <a:ext cx="6096000" cy="646331"/>
          </a:xfrm>
          <a:prstGeom prst="rect">
            <a:avLst/>
          </a:prstGeom>
          <a:noFill/>
        </p:spPr>
        <p:txBody>
          <a:bodyPr wrap="square">
            <a:spAutoFit/>
          </a:bodyPr>
          <a:lstStyle/>
          <a:p>
            <a:r>
              <a:rPr lang="en-US" sz="3600" b="1" dirty="0">
                <a:solidFill>
                  <a:schemeClr val="tx2"/>
                </a:solidFill>
                <a:effectLst/>
                <a:latin typeface="Times New Roman" panose="02020603050405020304" pitchFamily="18" charset="0"/>
                <a:ea typeface="Times New Roman" panose="02020603050405020304" pitchFamily="18" charset="0"/>
              </a:rPr>
              <a:t>Ternary relationship</a:t>
            </a:r>
            <a:endParaRPr lang="en-IN" sz="4800" b="1" dirty="0">
              <a:solidFill>
                <a:schemeClr val="tx2"/>
              </a:solidFill>
            </a:endParaRPr>
          </a:p>
        </p:txBody>
      </p:sp>
      <p:sp>
        <p:nvSpPr>
          <p:cNvPr id="5" name="TextBox 4">
            <a:extLst>
              <a:ext uri="{FF2B5EF4-FFF2-40B4-BE49-F238E27FC236}">
                <a16:creationId xmlns:a16="http://schemas.microsoft.com/office/drawing/2014/main" id="{9FD3D360-44DF-185D-7861-A791CD7956FE}"/>
              </a:ext>
            </a:extLst>
          </p:cNvPr>
          <p:cNvSpPr txBox="1"/>
          <p:nvPr/>
        </p:nvSpPr>
        <p:spPr>
          <a:xfrm>
            <a:off x="849087" y="1458686"/>
            <a:ext cx="10765970" cy="5139997"/>
          </a:xfrm>
          <a:prstGeom prst="rect">
            <a:avLst/>
          </a:prstGeom>
          <a:noFill/>
        </p:spPr>
        <p:txBody>
          <a:bodyPr wrap="square">
            <a:spAutoFit/>
          </a:bodyPr>
          <a:lstStyle/>
          <a:p>
            <a:pPr algn="just">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	When there are exactly </a:t>
            </a:r>
            <a:r>
              <a:rPr lang="en-US" sz="2800" b="1" i="1" dirty="0">
                <a:solidFill>
                  <a:srgbClr val="C00000"/>
                </a:solidFill>
                <a:effectLst/>
                <a:latin typeface="Times New Roman" panose="02020603050405020304" pitchFamily="18" charset="0"/>
                <a:ea typeface="Times New Roman" panose="02020603050405020304" pitchFamily="18" charset="0"/>
              </a:rPr>
              <a:t>three entity sets</a:t>
            </a:r>
            <a:r>
              <a:rPr lang="en-US" sz="2800" dirty="0">
                <a:solidFill>
                  <a:srgbClr val="1F2329"/>
                </a:solidFill>
                <a:effectLst/>
                <a:latin typeface="Times New Roman" panose="02020603050405020304" pitchFamily="18" charset="0"/>
                <a:ea typeface="Times New Roman" panose="02020603050405020304" pitchFamily="18" charset="0"/>
              </a:rPr>
              <a:t> participating in a relationship then such type of relationship is called ternary relationship and </a:t>
            </a:r>
            <a:r>
              <a:rPr lang="en-US" sz="2800" i="1" u="sng" dirty="0">
                <a:solidFill>
                  <a:srgbClr val="1F2329"/>
                </a:solidFill>
                <a:effectLst/>
                <a:latin typeface="Times New Roman" panose="02020603050405020304" pitchFamily="18" charset="0"/>
                <a:ea typeface="Times New Roman" panose="02020603050405020304" pitchFamily="18" charset="0"/>
              </a:rPr>
              <a:t>For</a:t>
            </a:r>
            <a:r>
              <a:rPr lang="en-US" sz="2800" i="1" u="sng" spc="-10" dirty="0">
                <a:solidFill>
                  <a:srgbClr val="1F2329"/>
                </a:solidFill>
                <a:effectLst/>
                <a:latin typeface="Times New Roman" panose="02020603050405020304" pitchFamily="18" charset="0"/>
                <a:ea typeface="Times New Roman" panose="02020603050405020304" pitchFamily="18" charset="0"/>
              </a:rPr>
              <a:t> </a:t>
            </a:r>
            <a:r>
              <a:rPr lang="en-US" sz="2800" i="1" u="sng" dirty="0">
                <a:solidFill>
                  <a:srgbClr val="1F2329"/>
                </a:solidFill>
                <a:effectLst/>
                <a:latin typeface="Times New Roman" panose="02020603050405020304" pitchFamily="18" charset="0"/>
                <a:ea typeface="Times New Roman" panose="02020603050405020304" pitchFamily="18" charset="0"/>
              </a:rPr>
              <a:t>example</a:t>
            </a:r>
            <a:r>
              <a:rPr lang="en-US" sz="2800" dirty="0">
                <a:solidFill>
                  <a:srgbClr val="1F2329"/>
                </a:solidFill>
                <a:effectLst/>
                <a:latin typeface="Times New Roman" panose="02020603050405020304" pitchFamily="18" charset="0"/>
                <a:ea typeface="Times New Roman" panose="02020603050405020304" pitchFamily="18" charset="0"/>
              </a:rPr>
              <a:t>:</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 the real world, a </a:t>
            </a:r>
            <a:r>
              <a:rPr lang="en-US" sz="2800" i="1" dirty="0">
                <a:solidFill>
                  <a:srgbClr val="1F2329"/>
                </a:solidFill>
                <a:effectLst/>
                <a:latin typeface="Times New Roman" panose="02020603050405020304" pitchFamily="18" charset="0"/>
                <a:ea typeface="Times New Roman" panose="02020603050405020304" pitchFamily="18" charset="0"/>
              </a:rPr>
              <a:t>patient</a:t>
            </a:r>
            <a:r>
              <a:rPr lang="en-US" sz="2800" dirty="0">
                <a:solidFill>
                  <a:srgbClr val="1F2329"/>
                </a:solidFill>
                <a:effectLst/>
                <a:latin typeface="Times New Roman" panose="02020603050405020304" pitchFamily="18" charset="0"/>
                <a:ea typeface="Times New Roman" panose="02020603050405020304" pitchFamily="18" charset="0"/>
              </a:rPr>
              <a:t> goes to a </a:t>
            </a:r>
            <a:r>
              <a:rPr lang="en-US" sz="2800" i="1" dirty="0">
                <a:solidFill>
                  <a:srgbClr val="1F2329"/>
                </a:solidFill>
                <a:effectLst/>
                <a:latin typeface="Times New Roman" panose="02020603050405020304" pitchFamily="18" charset="0"/>
                <a:ea typeface="Times New Roman" panose="02020603050405020304" pitchFamily="18" charset="0"/>
              </a:rPr>
              <a:t>doctor</a:t>
            </a:r>
            <a:r>
              <a:rPr lang="en-US" sz="2800" dirty="0">
                <a:solidFill>
                  <a:srgbClr val="1F2329"/>
                </a:solidFill>
                <a:effectLst/>
                <a:latin typeface="Times New Roman" panose="02020603050405020304" pitchFamily="18" charset="0"/>
                <a:ea typeface="Times New Roman" panose="02020603050405020304" pitchFamily="18" charset="0"/>
              </a:rPr>
              <a:t> and doctor </a:t>
            </a:r>
            <a:r>
              <a:rPr lang="en-US" sz="2800" b="1" dirty="0">
                <a:solidFill>
                  <a:srgbClr val="1F2329"/>
                </a:solidFill>
                <a:effectLst/>
                <a:latin typeface="Times New Roman" panose="02020603050405020304" pitchFamily="18" charset="0"/>
                <a:ea typeface="Times New Roman" panose="02020603050405020304" pitchFamily="18" charset="0"/>
              </a:rPr>
              <a:t>prescribes</a:t>
            </a:r>
            <a:r>
              <a:rPr lang="en-US" sz="2800" dirty="0">
                <a:solidFill>
                  <a:srgbClr val="1F2329"/>
                </a:solidFill>
                <a:effectLst/>
                <a:latin typeface="Times New Roman" panose="02020603050405020304" pitchFamily="18" charset="0"/>
                <a:ea typeface="Times New Roman" panose="02020603050405020304" pitchFamily="18" charset="0"/>
              </a:rPr>
              <a:t> the </a:t>
            </a:r>
            <a:r>
              <a:rPr lang="en-US" sz="2800" i="1" dirty="0">
                <a:solidFill>
                  <a:srgbClr val="1F2329"/>
                </a:solidFill>
                <a:effectLst/>
                <a:latin typeface="Times New Roman" panose="02020603050405020304" pitchFamily="18" charset="0"/>
                <a:ea typeface="Times New Roman" panose="02020603050405020304" pitchFamily="18" charset="0"/>
              </a:rPr>
              <a:t>medicine</a:t>
            </a:r>
            <a:r>
              <a:rPr lang="en-US" sz="2800" dirty="0">
                <a:solidFill>
                  <a:srgbClr val="1F2329"/>
                </a:solidFill>
                <a:effectLst/>
                <a:latin typeface="Times New Roman" panose="02020603050405020304" pitchFamily="18" charset="0"/>
                <a:ea typeface="Times New Roman" panose="02020603050405020304" pitchFamily="18" charset="0"/>
              </a:rPr>
              <a:t> to the patient.</a:t>
            </a:r>
          </a:p>
          <a:p>
            <a:pPr algn="just">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latin typeface="Times New Roman" panose="02020603050405020304" pitchFamily="18" charset="0"/>
                <a:ea typeface="Times New Roman" panose="02020603050405020304" pitchFamily="18" charset="0"/>
              </a:rPr>
              <a:t>T</a:t>
            </a:r>
            <a:r>
              <a:rPr lang="en-US" sz="2800" dirty="0">
                <a:solidFill>
                  <a:srgbClr val="1F2329"/>
                </a:solidFill>
                <a:effectLst/>
                <a:latin typeface="Times New Roman" panose="02020603050405020304" pitchFamily="18" charset="0"/>
                <a:ea typeface="Times New Roman" panose="02020603050405020304" pitchFamily="18" charset="0"/>
              </a:rPr>
              <a:t>hree entities Doctor, Patient and Medicine are involved in the relationship ―prescribes.</a:t>
            </a:r>
            <a:endParaRPr lang="en-IN" sz="4000" dirty="0"/>
          </a:p>
        </p:txBody>
      </p:sp>
    </p:spTree>
    <p:extLst>
      <p:ext uri="{BB962C8B-B14F-4D97-AF65-F5344CB8AC3E}">
        <p14:creationId xmlns:p14="http://schemas.microsoft.com/office/powerpoint/2010/main" val="312515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p:cTn id="7"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8"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9" dur="1000" fill="hold"/>
                                        <p:tgtEl>
                                          <p:spTgt spid="5">
                                            <p:txEl>
                                              <p:pRg st="1" end="1"/>
                                            </p:txEl>
                                          </p:spTgt>
                                        </p:tgtEl>
                                        <p:attrNameLst>
                                          <p:attrName>style.rotation</p:attrName>
                                        </p:attrNameLst>
                                      </p:cBhvr>
                                      <p:tavLst>
                                        <p:tav tm="0">
                                          <p:val>
                                            <p:fltVal val="90"/>
                                          </p:val>
                                        </p:tav>
                                        <p:tav tm="100000">
                                          <p:val>
                                            <p:fltVal val="0"/>
                                          </p:val>
                                        </p:tav>
                                      </p:tavLst>
                                    </p:anim>
                                    <p:animEffect transition="in" filter="fade">
                                      <p:cBhvr>
                                        <p:cTn id="10" dur="10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64FD14-C4ED-BEEF-4FC4-BBC868B8AC2C}"/>
              </a:ext>
            </a:extLst>
          </p:cNvPr>
          <p:cNvPicPr>
            <a:picLocks noChangeAspect="1"/>
          </p:cNvPicPr>
          <p:nvPr/>
        </p:nvPicPr>
        <p:blipFill>
          <a:blip r:embed="rId2"/>
          <a:stretch>
            <a:fillRect/>
          </a:stretch>
        </p:blipFill>
        <p:spPr>
          <a:xfrm>
            <a:off x="2149518" y="1970314"/>
            <a:ext cx="7554815" cy="2917371"/>
          </a:xfrm>
          <a:prstGeom prst="rect">
            <a:avLst/>
          </a:prstGeom>
        </p:spPr>
      </p:pic>
    </p:spTree>
    <p:extLst>
      <p:ext uri="{BB962C8B-B14F-4D97-AF65-F5344CB8AC3E}">
        <p14:creationId xmlns:p14="http://schemas.microsoft.com/office/powerpoint/2010/main" val="3241496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DCC375-F072-BDCC-E71D-FEF83981B189}"/>
              </a:ext>
            </a:extLst>
          </p:cNvPr>
          <p:cNvSpPr txBox="1"/>
          <p:nvPr/>
        </p:nvSpPr>
        <p:spPr>
          <a:xfrm>
            <a:off x="3570515" y="271967"/>
            <a:ext cx="6096000" cy="584775"/>
          </a:xfrm>
          <a:prstGeom prst="rect">
            <a:avLst/>
          </a:prstGeom>
          <a:noFill/>
        </p:spPr>
        <p:txBody>
          <a:bodyPr wrap="square">
            <a:spAutoFit/>
          </a:bodyPr>
          <a:lstStyle/>
          <a:p>
            <a:r>
              <a:rPr lang="en-US" sz="3200" b="1" dirty="0">
                <a:solidFill>
                  <a:schemeClr val="accent1">
                    <a:lumMod val="75000"/>
                  </a:schemeClr>
                </a:solidFill>
                <a:effectLst/>
                <a:latin typeface="Times New Roman" panose="02020603050405020304" pitchFamily="18" charset="0"/>
                <a:ea typeface="Times New Roman" panose="02020603050405020304" pitchFamily="18" charset="0"/>
              </a:rPr>
              <a:t>N-</a:t>
            </a:r>
            <a:r>
              <a:rPr lang="en-US" sz="3200" b="1" dirty="0" err="1">
                <a:solidFill>
                  <a:schemeClr val="accent1">
                    <a:lumMod val="75000"/>
                  </a:schemeClr>
                </a:solidFill>
                <a:effectLst/>
                <a:latin typeface="Times New Roman" panose="02020603050405020304" pitchFamily="18" charset="0"/>
                <a:ea typeface="Times New Roman" panose="02020603050405020304" pitchFamily="18" charset="0"/>
              </a:rPr>
              <a:t>ary</a:t>
            </a:r>
            <a:r>
              <a:rPr lang="en-US" sz="3200" b="1" dirty="0">
                <a:solidFill>
                  <a:schemeClr val="accent1">
                    <a:lumMod val="75000"/>
                  </a:schemeClr>
                </a:solidFill>
                <a:effectLst/>
                <a:latin typeface="Times New Roman" panose="02020603050405020304" pitchFamily="18" charset="0"/>
                <a:ea typeface="Times New Roman" panose="02020603050405020304" pitchFamily="18" charset="0"/>
              </a:rPr>
              <a:t> relationship</a:t>
            </a:r>
            <a:endParaRPr lang="en-IN" sz="4800" dirty="0">
              <a:solidFill>
                <a:schemeClr val="accent1">
                  <a:lumMod val="75000"/>
                </a:schemeClr>
              </a:solidFill>
            </a:endParaRPr>
          </a:p>
        </p:txBody>
      </p:sp>
      <p:sp>
        <p:nvSpPr>
          <p:cNvPr id="5" name="TextBox 4">
            <a:extLst>
              <a:ext uri="{FF2B5EF4-FFF2-40B4-BE49-F238E27FC236}">
                <a16:creationId xmlns:a16="http://schemas.microsoft.com/office/drawing/2014/main" id="{4ADE7430-D7E1-328B-9ABB-F9EB134980D1}"/>
              </a:ext>
            </a:extLst>
          </p:cNvPr>
          <p:cNvSpPr txBox="1"/>
          <p:nvPr/>
        </p:nvSpPr>
        <p:spPr>
          <a:xfrm>
            <a:off x="707571" y="762000"/>
            <a:ext cx="10776857" cy="6055632"/>
          </a:xfrm>
          <a:prstGeom prst="rect">
            <a:avLst/>
          </a:prstGeom>
          <a:noFill/>
        </p:spPr>
        <p:txBody>
          <a:bodyPr wrap="square">
            <a:spAutoFit/>
          </a:bodyPr>
          <a:lstStyle/>
          <a:p>
            <a:pPr algn="just">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	When more than three entity sets are participating in a relationship, then such</a:t>
            </a:r>
            <a:r>
              <a:rPr lang="en-US" sz="2800" spc="-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type of relationship is called an N-</a:t>
            </a:r>
            <a:r>
              <a:rPr lang="en-US" sz="2800" dirty="0" err="1">
                <a:solidFill>
                  <a:srgbClr val="1F2329"/>
                </a:solidFill>
                <a:effectLst/>
                <a:latin typeface="Times New Roman" panose="02020603050405020304" pitchFamily="18" charset="0"/>
                <a:ea typeface="Times New Roman" panose="02020603050405020304" pitchFamily="18" charset="0"/>
              </a:rPr>
              <a:t>ary</a:t>
            </a:r>
            <a:r>
              <a:rPr lang="en-US" sz="2800" dirty="0">
                <a:solidFill>
                  <a:srgbClr val="1F2329"/>
                </a:solidFill>
                <a:effectLst/>
                <a:latin typeface="Times New Roman" panose="02020603050405020304" pitchFamily="18" charset="0"/>
                <a:ea typeface="Times New Roman" panose="02020603050405020304" pitchFamily="18" charset="0"/>
              </a:rPr>
              <a:t> relationship. </a:t>
            </a:r>
            <a:endParaRPr lang="en-US" sz="2800" dirty="0">
              <a:solidFill>
                <a:srgbClr val="1F2329"/>
              </a:solidFill>
              <a:latin typeface="Times New Roman" panose="02020603050405020304" pitchFamily="18" charset="0"/>
              <a:ea typeface="Times New Roman" panose="02020603050405020304" pitchFamily="18" charset="0"/>
            </a:endParaRPr>
          </a:p>
          <a:p>
            <a:pPr algn="just">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 a patient goes to a doctor and doctor prescribes the diagnosis and medicine to the patient.</a:t>
            </a:r>
          </a:p>
          <a:p>
            <a:pPr algn="just">
              <a:lnSpc>
                <a:spcPct val="150000"/>
              </a:lnSpc>
            </a:pPr>
            <a:r>
              <a:rPr lang="en-US" sz="2800" dirty="0">
                <a:solidFill>
                  <a:srgbClr val="1F2329"/>
                </a:solidFill>
                <a:effectLst/>
                <a:latin typeface="Times New Roman" panose="02020603050405020304" pitchFamily="18" charset="0"/>
                <a:ea typeface="Times New Roman" panose="02020603050405020304" pitchFamily="18" charset="0"/>
              </a:rPr>
              <a:t> </a:t>
            </a:r>
            <a:r>
              <a:rPr lang="en-US" sz="2800" b="1" dirty="0">
                <a:solidFill>
                  <a:srgbClr val="FF0000"/>
                </a:solidFill>
                <a:effectLst/>
                <a:latin typeface="Times New Roman" panose="02020603050405020304" pitchFamily="18" charset="0"/>
                <a:ea typeface="Times New Roman" panose="02020603050405020304" pitchFamily="18" charset="0"/>
              </a:rPr>
              <a:t>four entities</a:t>
            </a:r>
            <a:r>
              <a:rPr lang="en-US" sz="2800" b="1" spc="-35" dirty="0">
                <a:solidFill>
                  <a:srgbClr val="FF0000"/>
                </a:solidFill>
                <a:effectLst/>
                <a:latin typeface="Times New Roman" panose="02020603050405020304" pitchFamily="18" charset="0"/>
                <a:ea typeface="Times New Roman" panose="02020603050405020304" pitchFamily="18" charset="0"/>
              </a:rPr>
              <a:t> </a:t>
            </a:r>
          </a:p>
          <a:p>
            <a:pPr algn="just">
              <a:lnSpc>
                <a:spcPct val="150000"/>
              </a:lnSpc>
            </a:pPr>
            <a:r>
              <a:rPr lang="en-US" sz="2800" spc="-35" dirty="0">
                <a:solidFill>
                  <a:srgbClr val="1F2329"/>
                </a:solidFill>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Doctor,</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Patient, Medicine</a:t>
            </a:r>
            <a:r>
              <a:rPr lang="en-US" sz="2800" spc="-4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and</a:t>
            </a:r>
            <a:r>
              <a:rPr lang="en-US" sz="2800" spc="-4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Diagnostics</a:t>
            </a:r>
            <a:r>
              <a:rPr lang="en-US" sz="2800" spc="-55" dirty="0">
                <a:solidFill>
                  <a:srgbClr val="1F2329"/>
                </a:solidFill>
                <a:effectLst/>
                <a:latin typeface="Times New Roman" panose="02020603050405020304" pitchFamily="18" charset="0"/>
                <a:ea typeface="Times New Roman" panose="02020603050405020304" pitchFamily="18" charset="0"/>
              </a:rPr>
              <a:t> </a:t>
            </a:r>
          </a:p>
          <a:p>
            <a:pPr algn="just">
              <a:lnSpc>
                <a:spcPct val="150000"/>
              </a:lnSpc>
            </a:pPr>
            <a:r>
              <a:rPr lang="en-US" sz="2800" b="1" dirty="0">
                <a:solidFill>
                  <a:srgbClr val="FF0000"/>
                </a:solidFill>
                <a:effectLst/>
                <a:latin typeface="Times New Roman" panose="02020603050405020304" pitchFamily="18" charset="0"/>
                <a:ea typeface="Times New Roman" panose="02020603050405020304" pitchFamily="18" charset="0"/>
              </a:rPr>
              <a:t>relationship</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latin typeface="Times New Roman" panose="02020603050405020304" pitchFamily="18" charset="0"/>
                <a:ea typeface="Times New Roman" panose="02020603050405020304" pitchFamily="18" charset="0"/>
              </a:rPr>
              <a:t>	</a:t>
            </a:r>
          </a:p>
          <a:p>
            <a:pPr algn="just">
              <a:lnSpc>
                <a:spcPct val="150000"/>
              </a:lnSpc>
            </a:pPr>
            <a:r>
              <a:rPr lang="en-US" sz="2800" dirty="0">
                <a:solidFill>
                  <a:srgbClr val="1F2329"/>
                </a:solidFill>
                <a:effectLst/>
                <a:latin typeface="Times New Roman" panose="02020603050405020304" pitchFamily="18" charset="0"/>
                <a:ea typeface="Times New Roman" panose="02020603050405020304" pitchFamily="18" charset="0"/>
              </a:rPr>
              <a:t>		prescribes</a:t>
            </a:r>
            <a:endParaRPr lang="en-IN" sz="4400" dirty="0"/>
          </a:p>
        </p:txBody>
      </p:sp>
    </p:spTree>
    <p:extLst>
      <p:ext uri="{BB962C8B-B14F-4D97-AF65-F5344CB8AC3E}">
        <p14:creationId xmlns:p14="http://schemas.microsoft.com/office/powerpoint/2010/main" val="978562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p:cTn id="7"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8" dur="1000" fill="hold"/>
                                        <p:tgtEl>
                                          <p:spTgt spid="5">
                                            <p:txEl>
                                              <p:pRg st="2" end="2"/>
                                            </p:txEl>
                                          </p:spTgt>
                                        </p:tgtEl>
                                        <p:attrNameLst>
                                          <p:attrName>ppt_h</p:attrName>
                                        </p:attrNameLst>
                                      </p:cBhvr>
                                      <p:tavLst>
                                        <p:tav tm="0">
                                          <p:val>
                                            <p:fltVal val="0"/>
                                          </p:val>
                                        </p:tav>
                                        <p:tav tm="100000">
                                          <p:val>
                                            <p:strVal val="#ppt_h"/>
                                          </p:val>
                                        </p:tav>
                                      </p:tavLst>
                                    </p:anim>
                                    <p:anim calcmode="lin" valueType="num">
                                      <p:cBhvr>
                                        <p:cTn id="9" dur="1000" fill="hold"/>
                                        <p:tgtEl>
                                          <p:spTgt spid="5">
                                            <p:txEl>
                                              <p:pRg st="2" end="2"/>
                                            </p:txEl>
                                          </p:spTgt>
                                        </p:tgtEl>
                                        <p:attrNameLst>
                                          <p:attrName>style.rotation</p:attrName>
                                        </p:attrNameLst>
                                      </p:cBhvr>
                                      <p:tavLst>
                                        <p:tav tm="0">
                                          <p:val>
                                            <p:fltVal val="90"/>
                                          </p:val>
                                        </p:tav>
                                        <p:tav tm="100000">
                                          <p:val>
                                            <p:fltVal val="0"/>
                                          </p:val>
                                        </p:tav>
                                      </p:tavLst>
                                    </p:anim>
                                    <p:animEffect transition="in" filter="fade">
                                      <p:cBhvr>
                                        <p:cTn id="10" dur="1000"/>
                                        <p:tgtEl>
                                          <p:spTgt spid="5">
                                            <p:txEl>
                                              <p:pRg st="2" end="2"/>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p:cTn id="13" dur="1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14" dur="1000" fill="hold"/>
                                        <p:tgtEl>
                                          <p:spTgt spid="5">
                                            <p:txEl>
                                              <p:pRg st="3" end="3"/>
                                            </p:txEl>
                                          </p:spTgt>
                                        </p:tgtEl>
                                        <p:attrNameLst>
                                          <p:attrName>ppt_h</p:attrName>
                                        </p:attrNameLst>
                                      </p:cBhvr>
                                      <p:tavLst>
                                        <p:tav tm="0">
                                          <p:val>
                                            <p:fltVal val="0"/>
                                          </p:val>
                                        </p:tav>
                                        <p:tav tm="100000">
                                          <p:val>
                                            <p:strVal val="#ppt_h"/>
                                          </p:val>
                                        </p:tav>
                                      </p:tavLst>
                                    </p:anim>
                                    <p:anim calcmode="lin" valueType="num">
                                      <p:cBhvr>
                                        <p:cTn id="15" dur="1000" fill="hold"/>
                                        <p:tgtEl>
                                          <p:spTgt spid="5">
                                            <p:txEl>
                                              <p:pRg st="3" end="3"/>
                                            </p:txEl>
                                          </p:spTgt>
                                        </p:tgtEl>
                                        <p:attrNameLst>
                                          <p:attrName>style.rotation</p:attrName>
                                        </p:attrNameLst>
                                      </p:cBhvr>
                                      <p:tavLst>
                                        <p:tav tm="0">
                                          <p:val>
                                            <p:fltVal val="90"/>
                                          </p:val>
                                        </p:tav>
                                        <p:tav tm="100000">
                                          <p:val>
                                            <p:fltVal val="0"/>
                                          </p:val>
                                        </p:tav>
                                      </p:tavLst>
                                    </p:anim>
                                    <p:animEffect transition="in" filter="fade">
                                      <p:cBhvr>
                                        <p:cTn id="16" dur="1000"/>
                                        <p:tgtEl>
                                          <p:spTgt spid="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p:cTn id="21" dur="1000" fill="hold"/>
                                        <p:tgtEl>
                                          <p:spTgt spid="5">
                                            <p:txEl>
                                              <p:pRg st="4" end="4"/>
                                            </p:txEl>
                                          </p:spTgt>
                                        </p:tgtEl>
                                        <p:attrNameLst>
                                          <p:attrName>ppt_w</p:attrName>
                                        </p:attrNameLst>
                                      </p:cBhvr>
                                      <p:tavLst>
                                        <p:tav tm="0">
                                          <p:val>
                                            <p:fltVal val="0"/>
                                          </p:val>
                                        </p:tav>
                                        <p:tav tm="100000">
                                          <p:val>
                                            <p:strVal val="#ppt_w"/>
                                          </p:val>
                                        </p:tav>
                                      </p:tavLst>
                                    </p:anim>
                                    <p:anim calcmode="lin" valueType="num">
                                      <p:cBhvr>
                                        <p:cTn id="22" dur="1000" fill="hold"/>
                                        <p:tgtEl>
                                          <p:spTgt spid="5">
                                            <p:txEl>
                                              <p:pRg st="4" end="4"/>
                                            </p:txEl>
                                          </p:spTgt>
                                        </p:tgtEl>
                                        <p:attrNameLst>
                                          <p:attrName>ppt_h</p:attrName>
                                        </p:attrNameLst>
                                      </p:cBhvr>
                                      <p:tavLst>
                                        <p:tav tm="0">
                                          <p:val>
                                            <p:fltVal val="0"/>
                                          </p:val>
                                        </p:tav>
                                        <p:tav tm="100000">
                                          <p:val>
                                            <p:strVal val="#ppt_h"/>
                                          </p:val>
                                        </p:tav>
                                      </p:tavLst>
                                    </p:anim>
                                    <p:anim calcmode="lin" valueType="num">
                                      <p:cBhvr>
                                        <p:cTn id="23" dur="1000" fill="hold"/>
                                        <p:tgtEl>
                                          <p:spTgt spid="5">
                                            <p:txEl>
                                              <p:pRg st="4" end="4"/>
                                            </p:txEl>
                                          </p:spTgt>
                                        </p:tgtEl>
                                        <p:attrNameLst>
                                          <p:attrName>style.rotation</p:attrName>
                                        </p:attrNameLst>
                                      </p:cBhvr>
                                      <p:tavLst>
                                        <p:tav tm="0">
                                          <p:val>
                                            <p:fltVal val="90"/>
                                          </p:val>
                                        </p:tav>
                                        <p:tav tm="100000">
                                          <p:val>
                                            <p:fltVal val="0"/>
                                          </p:val>
                                        </p:tav>
                                      </p:tavLst>
                                    </p:anim>
                                    <p:animEffect transition="in" filter="fade">
                                      <p:cBhvr>
                                        <p:cTn id="24" dur="1000"/>
                                        <p:tgtEl>
                                          <p:spTgt spid="5">
                                            <p:txEl>
                                              <p:pRg st="4" end="4"/>
                                            </p:txEl>
                                          </p:spTgt>
                                        </p:tgtEl>
                                      </p:cBhvr>
                                    </p:animEffect>
                                  </p:childTnLst>
                                </p:cTn>
                              </p:par>
                              <p:par>
                                <p:cTn id="25" presetID="31"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 calcmode="lin" valueType="num">
                                      <p:cBhvr>
                                        <p:cTn id="27" dur="1000" fill="hold"/>
                                        <p:tgtEl>
                                          <p:spTgt spid="5">
                                            <p:txEl>
                                              <p:pRg st="5" end="5"/>
                                            </p:txEl>
                                          </p:spTgt>
                                        </p:tgtEl>
                                        <p:attrNameLst>
                                          <p:attrName>ppt_w</p:attrName>
                                        </p:attrNameLst>
                                      </p:cBhvr>
                                      <p:tavLst>
                                        <p:tav tm="0">
                                          <p:val>
                                            <p:fltVal val="0"/>
                                          </p:val>
                                        </p:tav>
                                        <p:tav tm="100000">
                                          <p:val>
                                            <p:strVal val="#ppt_w"/>
                                          </p:val>
                                        </p:tav>
                                      </p:tavLst>
                                    </p:anim>
                                    <p:anim calcmode="lin" valueType="num">
                                      <p:cBhvr>
                                        <p:cTn id="28" dur="1000" fill="hold"/>
                                        <p:tgtEl>
                                          <p:spTgt spid="5">
                                            <p:txEl>
                                              <p:pRg st="5" end="5"/>
                                            </p:txEl>
                                          </p:spTgt>
                                        </p:tgtEl>
                                        <p:attrNameLst>
                                          <p:attrName>ppt_h</p:attrName>
                                        </p:attrNameLst>
                                      </p:cBhvr>
                                      <p:tavLst>
                                        <p:tav tm="0">
                                          <p:val>
                                            <p:fltVal val="0"/>
                                          </p:val>
                                        </p:tav>
                                        <p:tav tm="100000">
                                          <p:val>
                                            <p:strVal val="#ppt_h"/>
                                          </p:val>
                                        </p:tav>
                                      </p:tavLst>
                                    </p:anim>
                                    <p:anim calcmode="lin" valueType="num">
                                      <p:cBhvr>
                                        <p:cTn id="29" dur="1000" fill="hold"/>
                                        <p:tgtEl>
                                          <p:spTgt spid="5">
                                            <p:txEl>
                                              <p:pRg st="5" end="5"/>
                                            </p:txEl>
                                          </p:spTgt>
                                        </p:tgtEl>
                                        <p:attrNameLst>
                                          <p:attrName>style.rotation</p:attrName>
                                        </p:attrNameLst>
                                      </p:cBhvr>
                                      <p:tavLst>
                                        <p:tav tm="0">
                                          <p:val>
                                            <p:fltVal val="90"/>
                                          </p:val>
                                        </p:tav>
                                        <p:tav tm="100000">
                                          <p:val>
                                            <p:fltVal val="0"/>
                                          </p:val>
                                        </p:tav>
                                      </p:tavLst>
                                    </p:anim>
                                    <p:animEffect transition="in" filter="fade">
                                      <p:cBhvr>
                                        <p:cTn id="30" dur="1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332DFA-0408-65CD-79D9-8D078D4809E0}"/>
              </a:ext>
            </a:extLst>
          </p:cNvPr>
          <p:cNvPicPr>
            <a:picLocks noChangeAspect="1"/>
          </p:cNvPicPr>
          <p:nvPr/>
        </p:nvPicPr>
        <p:blipFill>
          <a:blip r:embed="rId2"/>
          <a:stretch>
            <a:fillRect/>
          </a:stretch>
        </p:blipFill>
        <p:spPr>
          <a:xfrm>
            <a:off x="850680" y="1222195"/>
            <a:ext cx="10490640" cy="4413609"/>
          </a:xfrm>
          <a:prstGeom prst="rect">
            <a:avLst/>
          </a:prstGeom>
        </p:spPr>
      </p:pic>
    </p:spTree>
    <p:extLst>
      <p:ext uri="{BB962C8B-B14F-4D97-AF65-F5344CB8AC3E}">
        <p14:creationId xmlns:p14="http://schemas.microsoft.com/office/powerpoint/2010/main" val="4042988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877B31-1D30-C9E7-6EC6-B5106E1C4FD8}"/>
              </a:ext>
            </a:extLst>
          </p:cNvPr>
          <p:cNvSpPr txBox="1"/>
          <p:nvPr/>
        </p:nvSpPr>
        <p:spPr>
          <a:xfrm>
            <a:off x="3178627" y="620876"/>
            <a:ext cx="7587343" cy="584775"/>
          </a:xfrm>
          <a:prstGeom prst="rect">
            <a:avLst/>
          </a:prstGeom>
          <a:noFill/>
        </p:spPr>
        <p:txBody>
          <a:bodyPr wrap="square">
            <a:spAutoFit/>
          </a:bodyPr>
          <a:lstStyle/>
          <a:p>
            <a:r>
              <a:rPr lang="en-US" sz="3200" b="1" dirty="0">
                <a:solidFill>
                  <a:srgbClr val="FF0000"/>
                </a:solidFill>
                <a:effectLst/>
                <a:latin typeface="Times New Roman" panose="02020603050405020304" pitchFamily="18" charset="0"/>
                <a:ea typeface="Times New Roman" panose="02020603050405020304" pitchFamily="18" charset="0"/>
              </a:rPr>
              <a:t>Mapping </a:t>
            </a:r>
            <a:r>
              <a:rPr lang="en-US" sz="3200" b="1" dirty="0">
                <a:effectLst/>
                <a:latin typeface="Times New Roman" panose="02020603050405020304" pitchFamily="18" charset="0"/>
                <a:ea typeface="Times New Roman" panose="02020603050405020304" pitchFamily="18" charset="0"/>
              </a:rPr>
              <a:t>Cardinalities</a:t>
            </a:r>
            <a:r>
              <a:rPr lang="en-US" sz="3200" b="1" dirty="0">
                <a:solidFill>
                  <a:srgbClr val="FF0000"/>
                </a:solidFill>
                <a:effectLst/>
                <a:latin typeface="Times New Roman" panose="02020603050405020304" pitchFamily="18" charset="0"/>
                <a:ea typeface="Times New Roman" panose="02020603050405020304" pitchFamily="18" charset="0"/>
              </a:rPr>
              <a:t> / Constraints</a:t>
            </a:r>
            <a:endParaRPr lang="en-IN" sz="3200" dirty="0">
              <a:solidFill>
                <a:srgbClr val="FF0000"/>
              </a:solidFill>
            </a:endParaRPr>
          </a:p>
        </p:txBody>
      </p:sp>
      <p:sp>
        <p:nvSpPr>
          <p:cNvPr id="5" name="TextBox 4">
            <a:extLst>
              <a:ext uri="{FF2B5EF4-FFF2-40B4-BE49-F238E27FC236}">
                <a16:creationId xmlns:a16="http://schemas.microsoft.com/office/drawing/2014/main" id="{34DE62EE-DEE0-6B0E-363D-49C7249370FA}"/>
              </a:ext>
            </a:extLst>
          </p:cNvPr>
          <p:cNvSpPr txBox="1"/>
          <p:nvPr/>
        </p:nvSpPr>
        <p:spPr>
          <a:xfrm>
            <a:off x="696686" y="2020278"/>
            <a:ext cx="11146971" cy="2554674"/>
          </a:xfrm>
          <a:prstGeom prst="rect">
            <a:avLst/>
          </a:prstGeom>
          <a:noFill/>
        </p:spPr>
        <p:txBody>
          <a:bodyPr wrap="square">
            <a:spAutoFit/>
          </a:bodyPr>
          <a:lstStyle/>
          <a:p>
            <a:pPr>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It defines how many </a:t>
            </a:r>
            <a:r>
              <a:rPr lang="en-US" sz="2800" b="1" i="1" dirty="0">
                <a:solidFill>
                  <a:srgbClr val="FF0000"/>
                </a:solidFill>
                <a:effectLst/>
                <a:latin typeface="Times New Roman" panose="02020603050405020304" pitchFamily="18" charset="0"/>
                <a:ea typeface="Times New Roman" panose="02020603050405020304" pitchFamily="18" charset="0"/>
              </a:rPr>
              <a:t>entities</a:t>
            </a:r>
            <a:r>
              <a:rPr lang="en-US" sz="2800" dirty="0">
                <a:solidFill>
                  <a:srgbClr val="1F2329"/>
                </a:solidFill>
                <a:effectLst/>
                <a:latin typeface="Times New Roman" panose="02020603050405020304" pitchFamily="18" charset="0"/>
                <a:ea typeface="Times New Roman" panose="02020603050405020304" pitchFamily="18" charset="0"/>
              </a:rPr>
              <a:t> in entity set A can be related to </a:t>
            </a:r>
            <a:r>
              <a:rPr lang="en-US" sz="2800" b="1" i="1" dirty="0">
                <a:solidFill>
                  <a:srgbClr val="FF0000"/>
                </a:solidFill>
                <a:effectLst/>
                <a:latin typeface="Times New Roman" panose="02020603050405020304" pitchFamily="18" charset="0"/>
                <a:ea typeface="Times New Roman" panose="02020603050405020304" pitchFamily="18" charset="0"/>
              </a:rPr>
              <a:t>entities</a:t>
            </a:r>
            <a:r>
              <a:rPr lang="en-US" sz="2800" dirty="0">
                <a:solidFill>
                  <a:srgbClr val="1F2329"/>
                </a:solidFill>
                <a:effectLst/>
                <a:latin typeface="Times New Roman" panose="02020603050405020304" pitchFamily="18" charset="0"/>
                <a:ea typeface="Times New Roman" panose="02020603050405020304" pitchFamily="18" charset="0"/>
              </a:rPr>
              <a:t> in entity</a:t>
            </a:r>
            <a:r>
              <a:rPr lang="en-US" sz="2800" spc="-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set B in a relationship set R. (or) it defines number of instances participated in a relationship. </a:t>
            </a:r>
            <a:endParaRPr lang="en-IN" sz="2800" dirty="0"/>
          </a:p>
        </p:txBody>
      </p:sp>
    </p:spTree>
    <p:extLst>
      <p:ext uri="{BB962C8B-B14F-4D97-AF65-F5344CB8AC3E}">
        <p14:creationId xmlns:p14="http://schemas.microsoft.com/office/powerpoint/2010/main" val="2302998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815093-F3E1-5BE7-DAA9-55150294C169}"/>
              </a:ext>
            </a:extLst>
          </p:cNvPr>
          <p:cNvSpPr txBox="1"/>
          <p:nvPr/>
        </p:nvSpPr>
        <p:spPr>
          <a:xfrm>
            <a:off x="2623458" y="1857672"/>
            <a:ext cx="7543799" cy="3142655"/>
          </a:xfrm>
          <a:prstGeom prst="rect">
            <a:avLst/>
          </a:prstGeom>
          <a:noFill/>
        </p:spPr>
        <p:txBody>
          <a:bodyPr wrap="square">
            <a:spAutoFit/>
          </a:bodyPr>
          <a:lstStyle/>
          <a:p>
            <a:pPr marL="1028700" lvl="1" indent="-571500">
              <a:buClr>
                <a:srgbClr val="1F2329"/>
              </a:buClr>
              <a:buSzPts val="1200"/>
              <a:buFont typeface="+mj-lt"/>
              <a:buAutoNum type="romanUcPeriod"/>
              <a:tabLst>
                <a:tab pos="1198245" algn="l"/>
              </a:tabLst>
            </a:pPr>
            <a:r>
              <a:rPr lang="en-US" sz="2800" b="1" spc="0" dirty="0">
                <a:solidFill>
                  <a:srgbClr val="FF0000"/>
                </a:solidFill>
                <a:effectLst/>
                <a:latin typeface="Times New Roman" panose="02020603050405020304" pitchFamily="18" charset="0"/>
                <a:ea typeface="Times New Roman" panose="02020603050405020304" pitchFamily="18" charset="0"/>
              </a:rPr>
              <a:t>One</a:t>
            </a:r>
            <a:r>
              <a:rPr lang="en-US" sz="2800" b="1" spc="-10" dirty="0">
                <a:solidFill>
                  <a:srgbClr val="FF0000"/>
                </a:solidFill>
                <a:effectLst/>
                <a:latin typeface="Times New Roman" panose="02020603050405020304" pitchFamily="18" charset="0"/>
                <a:ea typeface="Times New Roman" panose="02020603050405020304" pitchFamily="18" charset="0"/>
              </a:rPr>
              <a:t> </a:t>
            </a:r>
            <a:r>
              <a:rPr lang="en-US" sz="2800" b="1" spc="0" dirty="0">
                <a:solidFill>
                  <a:srgbClr val="FF0000"/>
                </a:solidFill>
                <a:effectLst/>
                <a:latin typeface="Times New Roman" panose="02020603050405020304" pitchFamily="18" charset="0"/>
                <a:ea typeface="Times New Roman" panose="02020603050405020304" pitchFamily="18" charset="0"/>
              </a:rPr>
              <a:t>to</a:t>
            </a:r>
            <a:r>
              <a:rPr lang="en-US" sz="2800" b="1" spc="-15" dirty="0">
                <a:solidFill>
                  <a:srgbClr val="FF0000"/>
                </a:solidFill>
                <a:effectLst/>
                <a:latin typeface="Times New Roman" panose="02020603050405020304" pitchFamily="18" charset="0"/>
                <a:ea typeface="Times New Roman" panose="02020603050405020304" pitchFamily="18" charset="0"/>
              </a:rPr>
              <a:t> </a:t>
            </a:r>
            <a:r>
              <a:rPr lang="en-US" sz="2800" b="1" spc="0" dirty="0">
                <a:solidFill>
                  <a:srgbClr val="FF0000"/>
                </a:solidFill>
                <a:effectLst/>
                <a:latin typeface="Times New Roman" panose="02020603050405020304" pitchFamily="18" charset="0"/>
                <a:ea typeface="Times New Roman" panose="02020603050405020304" pitchFamily="18" charset="0"/>
              </a:rPr>
              <a:t>one</a:t>
            </a:r>
            <a:r>
              <a:rPr lang="en-US" sz="2800" b="1" spc="-10" dirty="0">
                <a:solidFill>
                  <a:srgbClr val="FF0000"/>
                </a:solidFill>
                <a:effectLst/>
                <a:latin typeface="Times New Roman" panose="02020603050405020304" pitchFamily="18" charset="0"/>
                <a:ea typeface="Times New Roman" panose="02020603050405020304" pitchFamily="18" charset="0"/>
              </a:rPr>
              <a:t> </a:t>
            </a:r>
            <a:r>
              <a:rPr lang="en-US" sz="2800" b="1" spc="-10" dirty="0">
                <a:solidFill>
                  <a:srgbClr val="00B050"/>
                </a:solidFill>
                <a:effectLst/>
                <a:latin typeface="Times New Roman" panose="02020603050405020304" pitchFamily="18" charset="0"/>
                <a:ea typeface="Times New Roman" panose="02020603050405020304" pitchFamily="18" charset="0"/>
              </a:rPr>
              <a:t>(</a:t>
            </a:r>
            <a:r>
              <a:rPr lang="en-US" sz="2800" b="1" spc="-10" dirty="0">
                <a:solidFill>
                  <a:schemeClr val="accent4">
                    <a:lumMod val="50000"/>
                  </a:schemeClr>
                </a:solidFill>
                <a:effectLst/>
                <a:latin typeface="Times New Roman" panose="02020603050405020304" pitchFamily="18" charset="0"/>
                <a:ea typeface="Times New Roman" panose="02020603050405020304" pitchFamily="18" charset="0"/>
              </a:rPr>
              <a:t>1:1</a:t>
            </a:r>
            <a:r>
              <a:rPr lang="en-US" sz="2800" b="1" spc="-10" dirty="0">
                <a:solidFill>
                  <a:srgbClr val="00B050"/>
                </a:solidFill>
                <a:effectLst/>
                <a:latin typeface="Times New Roman" panose="02020603050405020304" pitchFamily="18" charset="0"/>
                <a:ea typeface="Times New Roman" panose="02020603050405020304" pitchFamily="18" charset="0"/>
              </a:rPr>
              <a:t>)</a:t>
            </a:r>
          </a:p>
          <a:p>
            <a:pPr marL="971550" lvl="1" indent="-514350">
              <a:buClr>
                <a:srgbClr val="1F2329"/>
              </a:buClr>
              <a:buSzPts val="1200"/>
              <a:buFont typeface="+mj-lt"/>
              <a:buAutoNum type="romanUcPeriod"/>
              <a:tabLst>
                <a:tab pos="1198245" algn="l"/>
              </a:tabLst>
            </a:pPr>
            <a:endParaRPr lang="en-IN" sz="2400" b="1" spc="0" dirty="0">
              <a:solidFill>
                <a:srgbClr val="00B050"/>
              </a:solidFill>
              <a:effectLst/>
              <a:latin typeface="Times New Roman" panose="02020603050405020304" pitchFamily="18" charset="0"/>
              <a:ea typeface="Times New Roman" panose="02020603050405020304" pitchFamily="18" charset="0"/>
            </a:endParaRPr>
          </a:p>
          <a:p>
            <a:pPr marL="1028700" lvl="1" indent="-571500">
              <a:buClr>
                <a:srgbClr val="1F2329"/>
              </a:buClr>
              <a:buSzPts val="1200"/>
              <a:buFont typeface="+mj-lt"/>
              <a:buAutoNum type="romanUcPeriod"/>
              <a:tabLst>
                <a:tab pos="1198245" algn="l"/>
              </a:tabLst>
            </a:pPr>
            <a:r>
              <a:rPr lang="en-US" sz="2800" b="1" spc="0" dirty="0">
                <a:solidFill>
                  <a:schemeClr val="accent4">
                    <a:lumMod val="50000"/>
                  </a:schemeClr>
                </a:solidFill>
                <a:effectLst/>
                <a:latin typeface="Times New Roman" panose="02020603050405020304" pitchFamily="18" charset="0"/>
                <a:ea typeface="Times New Roman" panose="02020603050405020304" pitchFamily="18" charset="0"/>
              </a:rPr>
              <a:t>One</a:t>
            </a:r>
            <a:r>
              <a:rPr lang="en-US" sz="2800" b="1" spc="-20" dirty="0">
                <a:solidFill>
                  <a:schemeClr val="accent4">
                    <a:lumMod val="50000"/>
                  </a:schemeClr>
                </a:solidFill>
                <a:effectLst/>
                <a:latin typeface="Times New Roman" panose="02020603050405020304" pitchFamily="18" charset="0"/>
                <a:ea typeface="Times New Roman" panose="02020603050405020304" pitchFamily="18" charset="0"/>
              </a:rPr>
              <a:t> </a:t>
            </a:r>
            <a:r>
              <a:rPr lang="en-US" sz="2800" b="1" spc="0" dirty="0">
                <a:solidFill>
                  <a:schemeClr val="accent4">
                    <a:lumMod val="50000"/>
                  </a:schemeClr>
                </a:solidFill>
                <a:effectLst/>
                <a:latin typeface="Times New Roman" panose="02020603050405020304" pitchFamily="18" charset="0"/>
                <a:ea typeface="Times New Roman" panose="02020603050405020304" pitchFamily="18" charset="0"/>
              </a:rPr>
              <a:t>to</a:t>
            </a:r>
            <a:r>
              <a:rPr lang="en-US" sz="2800" b="1" spc="-20" dirty="0">
                <a:solidFill>
                  <a:schemeClr val="accent4">
                    <a:lumMod val="50000"/>
                  </a:schemeClr>
                </a:solidFill>
                <a:effectLst/>
                <a:latin typeface="Times New Roman" panose="02020603050405020304" pitchFamily="18" charset="0"/>
                <a:ea typeface="Times New Roman" panose="02020603050405020304" pitchFamily="18" charset="0"/>
              </a:rPr>
              <a:t> </a:t>
            </a:r>
            <a:r>
              <a:rPr lang="en-US" sz="2800" b="1" spc="0" dirty="0">
                <a:solidFill>
                  <a:schemeClr val="accent4">
                    <a:lumMod val="50000"/>
                  </a:schemeClr>
                </a:solidFill>
                <a:effectLst/>
                <a:latin typeface="Times New Roman" panose="02020603050405020304" pitchFamily="18" charset="0"/>
                <a:ea typeface="Times New Roman" panose="02020603050405020304" pitchFamily="18" charset="0"/>
              </a:rPr>
              <a:t>many</a:t>
            </a:r>
            <a:r>
              <a:rPr lang="en-US" sz="2800" b="1" spc="-15" dirty="0">
                <a:solidFill>
                  <a:schemeClr val="accent4">
                    <a:lumMod val="50000"/>
                  </a:schemeClr>
                </a:solidFill>
                <a:effectLst/>
                <a:latin typeface="Times New Roman" panose="02020603050405020304" pitchFamily="18" charset="0"/>
                <a:ea typeface="Times New Roman" panose="02020603050405020304" pitchFamily="18" charset="0"/>
              </a:rPr>
              <a:t> </a:t>
            </a:r>
            <a:r>
              <a:rPr lang="en-US" sz="2800" b="1" spc="-10" dirty="0">
                <a:solidFill>
                  <a:srgbClr val="00B050"/>
                </a:solidFill>
                <a:effectLst/>
                <a:latin typeface="Times New Roman" panose="02020603050405020304" pitchFamily="18" charset="0"/>
                <a:ea typeface="Times New Roman" panose="02020603050405020304" pitchFamily="18" charset="0"/>
              </a:rPr>
              <a:t>(</a:t>
            </a:r>
            <a:r>
              <a:rPr lang="en-US" sz="2800" b="1" spc="-10" dirty="0">
                <a:solidFill>
                  <a:srgbClr val="FF0000"/>
                </a:solidFill>
                <a:effectLst/>
                <a:latin typeface="Times New Roman" panose="02020603050405020304" pitchFamily="18" charset="0"/>
                <a:ea typeface="Times New Roman" panose="02020603050405020304" pitchFamily="18" charset="0"/>
              </a:rPr>
              <a:t>1:M</a:t>
            </a:r>
            <a:r>
              <a:rPr lang="en-US" sz="2800" b="1" spc="-10" dirty="0">
                <a:solidFill>
                  <a:srgbClr val="00B050"/>
                </a:solidFill>
                <a:effectLst/>
                <a:latin typeface="Times New Roman" panose="02020603050405020304" pitchFamily="18" charset="0"/>
                <a:ea typeface="Times New Roman" panose="02020603050405020304" pitchFamily="18" charset="0"/>
              </a:rPr>
              <a:t>)</a:t>
            </a:r>
          </a:p>
          <a:p>
            <a:pPr marL="971550" lvl="1" indent="-514350">
              <a:buClr>
                <a:srgbClr val="1F2329"/>
              </a:buClr>
              <a:buSzPts val="1200"/>
              <a:buFont typeface="+mj-lt"/>
              <a:buAutoNum type="romanUcPeriod"/>
              <a:tabLst>
                <a:tab pos="1198245" algn="l"/>
              </a:tabLst>
            </a:pPr>
            <a:endParaRPr lang="en-IN" sz="2400" b="1" spc="0" dirty="0">
              <a:solidFill>
                <a:srgbClr val="00B050"/>
              </a:solidFill>
              <a:effectLst/>
              <a:latin typeface="Times New Roman" panose="02020603050405020304" pitchFamily="18" charset="0"/>
              <a:ea typeface="Times New Roman" panose="02020603050405020304" pitchFamily="18" charset="0"/>
            </a:endParaRPr>
          </a:p>
          <a:p>
            <a:pPr marL="1028700" lvl="1" indent="-571500">
              <a:buClr>
                <a:srgbClr val="1F2329"/>
              </a:buClr>
              <a:buSzPts val="1200"/>
              <a:buFont typeface="+mj-lt"/>
              <a:buAutoNum type="romanUcPeriod"/>
              <a:tabLst>
                <a:tab pos="1198245" algn="l"/>
              </a:tabLst>
            </a:pPr>
            <a:r>
              <a:rPr lang="en-US" sz="2800" b="1" spc="0" dirty="0">
                <a:effectLst/>
                <a:latin typeface="Times New Roman" panose="02020603050405020304" pitchFamily="18" charset="0"/>
                <a:ea typeface="Times New Roman" panose="02020603050405020304" pitchFamily="18" charset="0"/>
              </a:rPr>
              <a:t>Many</a:t>
            </a:r>
            <a:r>
              <a:rPr lang="en-US" sz="2800" b="1" spc="-20" dirty="0">
                <a:effectLst/>
                <a:latin typeface="Times New Roman" panose="02020603050405020304" pitchFamily="18" charset="0"/>
                <a:ea typeface="Times New Roman" panose="02020603050405020304" pitchFamily="18" charset="0"/>
              </a:rPr>
              <a:t> </a:t>
            </a:r>
            <a:r>
              <a:rPr lang="en-US" sz="2800" b="1" spc="0" dirty="0">
                <a:effectLst/>
                <a:latin typeface="Times New Roman" panose="02020603050405020304" pitchFamily="18" charset="0"/>
                <a:ea typeface="Times New Roman" panose="02020603050405020304" pitchFamily="18" charset="0"/>
              </a:rPr>
              <a:t>to</a:t>
            </a:r>
            <a:r>
              <a:rPr lang="en-US" sz="2800" b="1" spc="-10" dirty="0">
                <a:effectLst/>
                <a:latin typeface="Times New Roman" panose="02020603050405020304" pitchFamily="18" charset="0"/>
                <a:ea typeface="Times New Roman" panose="02020603050405020304" pitchFamily="18" charset="0"/>
              </a:rPr>
              <a:t> </a:t>
            </a:r>
            <a:r>
              <a:rPr lang="en-US" sz="2800" b="1" spc="0" dirty="0">
                <a:effectLst/>
                <a:latin typeface="Times New Roman" panose="02020603050405020304" pitchFamily="18" charset="0"/>
                <a:ea typeface="Times New Roman" panose="02020603050405020304" pitchFamily="18" charset="0"/>
              </a:rPr>
              <a:t>one</a:t>
            </a:r>
            <a:r>
              <a:rPr lang="en-US" sz="2800" b="1" spc="-20" dirty="0">
                <a:effectLst/>
                <a:latin typeface="Times New Roman" panose="02020603050405020304" pitchFamily="18" charset="0"/>
                <a:ea typeface="Times New Roman" panose="02020603050405020304" pitchFamily="18" charset="0"/>
              </a:rPr>
              <a:t> </a:t>
            </a:r>
            <a:r>
              <a:rPr lang="en-US" sz="2800" b="1" spc="0" dirty="0">
                <a:solidFill>
                  <a:srgbClr val="00B050"/>
                </a:solidFill>
                <a:effectLst/>
                <a:latin typeface="Times New Roman" panose="02020603050405020304" pitchFamily="18" charset="0"/>
                <a:ea typeface="Times New Roman" panose="02020603050405020304" pitchFamily="18" charset="0"/>
              </a:rPr>
              <a:t>(</a:t>
            </a:r>
            <a:r>
              <a:rPr lang="en-US" sz="2800" b="1" spc="0" dirty="0">
                <a:solidFill>
                  <a:srgbClr val="0070C0"/>
                </a:solidFill>
                <a:effectLst/>
                <a:latin typeface="Times New Roman" panose="02020603050405020304" pitchFamily="18" charset="0"/>
                <a:ea typeface="Times New Roman" panose="02020603050405020304" pitchFamily="18" charset="0"/>
              </a:rPr>
              <a:t>M: </a:t>
            </a:r>
            <a:r>
              <a:rPr lang="en-US" sz="2800" b="1" spc="-25" dirty="0">
                <a:solidFill>
                  <a:srgbClr val="0070C0"/>
                </a:solidFill>
                <a:effectLst/>
                <a:latin typeface="Times New Roman" panose="02020603050405020304" pitchFamily="18" charset="0"/>
                <a:ea typeface="Times New Roman" panose="02020603050405020304" pitchFamily="18" charset="0"/>
              </a:rPr>
              <a:t>1</a:t>
            </a:r>
            <a:r>
              <a:rPr lang="en-US" sz="2800" b="1" spc="-25" dirty="0">
                <a:solidFill>
                  <a:srgbClr val="00B050"/>
                </a:solidFill>
                <a:effectLst/>
                <a:latin typeface="Times New Roman" panose="02020603050405020304" pitchFamily="18" charset="0"/>
                <a:ea typeface="Times New Roman" panose="02020603050405020304" pitchFamily="18" charset="0"/>
              </a:rPr>
              <a:t>)</a:t>
            </a:r>
          </a:p>
          <a:p>
            <a:pPr marL="1028700" lvl="1" indent="-571500">
              <a:buClr>
                <a:srgbClr val="1F2329"/>
              </a:buClr>
              <a:buSzPts val="1200"/>
              <a:buFont typeface="+mj-lt"/>
              <a:buAutoNum type="romanUcPeriod"/>
              <a:tabLst>
                <a:tab pos="1198245" algn="l"/>
              </a:tabLst>
            </a:pPr>
            <a:endParaRPr lang="en-US" sz="2800" b="1" spc="-25" dirty="0">
              <a:solidFill>
                <a:srgbClr val="00B050"/>
              </a:solidFill>
              <a:effectLst/>
              <a:latin typeface="Times New Roman" panose="02020603050405020304" pitchFamily="18" charset="0"/>
              <a:ea typeface="Times New Roman" panose="02020603050405020304" pitchFamily="18" charset="0"/>
            </a:endParaRPr>
          </a:p>
          <a:p>
            <a:pPr marL="971550" lvl="1" indent="-514350">
              <a:buClr>
                <a:srgbClr val="1F2329"/>
              </a:buClr>
              <a:buSzPts val="1200"/>
              <a:buFont typeface="+mj-lt"/>
              <a:buAutoNum type="romanUcPeriod"/>
              <a:tabLst>
                <a:tab pos="1198245" algn="l"/>
              </a:tabLst>
            </a:pPr>
            <a:endParaRPr lang="en-IN" sz="2400" b="1" spc="0" dirty="0">
              <a:solidFill>
                <a:srgbClr val="00B050"/>
              </a:solidFill>
              <a:effectLst/>
              <a:latin typeface="Times New Roman" panose="02020603050405020304" pitchFamily="18" charset="0"/>
              <a:ea typeface="Times New Roman" panose="02020603050405020304" pitchFamily="18" charset="0"/>
            </a:endParaRPr>
          </a:p>
          <a:p>
            <a:pPr marL="1028700" lvl="1" indent="-571500">
              <a:lnSpc>
                <a:spcPts val="1375"/>
              </a:lnSpc>
              <a:buClr>
                <a:srgbClr val="1F2329"/>
              </a:buClr>
              <a:buSzPts val="1200"/>
              <a:buFont typeface="+mj-lt"/>
              <a:buAutoNum type="romanUcPeriod"/>
              <a:tabLst>
                <a:tab pos="1198245" algn="l"/>
              </a:tabLst>
            </a:pPr>
            <a:r>
              <a:rPr lang="en-US" sz="2800" b="1" spc="0" dirty="0">
                <a:solidFill>
                  <a:srgbClr val="00B0F0"/>
                </a:solidFill>
                <a:effectLst/>
                <a:latin typeface="Times New Roman" panose="02020603050405020304" pitchFamily="18" charset="0"/>
                <a:ea typeface="Times New Roman" panose="02020603050405020304" pitchFamily="18" charset="0"/>
              </a:rPr>
              <a:t>Many</a:t>
            </a:r>
            <a:r>
              <a:rPr lang="en-US" sz="2800" b="1" spc="-20" dirty="0">
                <a:solidFill>
                  <a:srgbClr val="00B0F0"/>
                </a:solidFill>
                <a:effectLst/>
                <a:latin typeface="Times New Roman" panose="02020603050405020304" pitchFamily="18" charset="0"/>
                <a:ea typeface="Times New Roman" panose="02020603050405020304" pitchFamily="18" charset="0"/>
              </a:rPr>
              <a:t> </a:t>
            </a:r>
            <a:r>
              <a:rPr lang="en-US" sz="2800" b="1" spc="0" dirty="0">
                <a:solidFill>
                  <a:srgbClr val="00B0F0"/>
                </a:solidFill>
                <a:effectLst/>
                <a:latin typeface="Times New Roman" panose="02020603050405020304" pitchFamily="18" charset="0"/>
                <a:ea typeface="Times New Roman" panose="02020603050405020304" pitchFamily="18" charset="0"/>
              </a:rPr>
              <a:t>to</a:t>
            </a:r>
            <a:r>
              <a:rPr lang="en-US" sz="2800" b="1" spc="-10" dirty="0">
                <a:solidFill>
                  <a:srgbClr val="00B0F0"/>
                </a:solidFill>
                <a:effectLst/>
                <a:latin typeface="Times New Roman" panose="02020603050405020304" pitchFamily="18" charset="0"/>
                <a:ea typeface="Times New Roman" panose="02020603050405020304" pitchFamily="18" charset="0"/>
              </a:rPr>
              <a:t> </a:t>
            </a:r>
            <a:r>
              <a:rPr lang="en-US" sz="2800" b="1" spc="0" dirty="0">
                <a:solidFill>
                  <a:srgbClr val="00B0F0"/>
                </a:solidFill>
                <a:effectLst/>
                <a:latin typeface="Times New Roman" panose="02020603050405020304" pitchFamily="18" charset="0"/>
                <a:ea typeface="Times New Roman" panose="02020603050405020304" pitchFamily="18" charset="0"/>
              </a:rPr>
              <a:t>many</a:t>
            </a:r>
            <a:r>
              <a:rPr lang="en-US" sz="2800" b="1" spc="-20" dirty="0">
                <a:solidFill>
                  <a:srgbClr val="00B050"/>
                </a:solidFill>
                <a:effectLst/>
                <a:latin typeface="Times New Roman" panose="02020603050405020304" pitchFamily="18" charset="0"/>
                <a:ea typeface="Times New Roman" panose="02020603050405020304" pitchFamily="18" charset="0"/>
              </a:rPr>
              <a:t> </a:t>
            </a:r>
            <a:r>
              <a:rPr lang="en-US" sz="2800" b="1" spc="-10" dirty="0">
                <a:solidFill>
                  <a:srgbClr val="00B050"/>
                </a:solidFill>
                <a:effectLst/>
                <a:latin typeface="Times New Roman" panose="02020603050405020304" pitchFamily="18" charset="0"/>
                <a:ea typeface="Times New Roman" panose="02020603050405020304" pitchFamily="18" charset="0"/>
              </a:rPr>
              <a:t>(</a:t>
            </a:r>
            <a:r>
              <a:rPr lang="en-US" sz="2800" b="1" spc="-10" dirty="0">
                <a:solidFill>
                  <a:schemeClr val="tx1">
                    <a:lumMod val="95000"/>
                    <a:lumOff val="5000"/>
                  </a:schemeClr>
                </a:solidFill>
                <a:effectLst/>
                <a:latin typeface="Times New Roman" panose="02020603050405020304" pitchFamily="18" charset="0"/>
                <a:ea typeface="Times New Roman" panose="02020603050405020304" pitchFamily="18" charset="0"/>
              </a:rPr>
              <a:t>M:M</a:t>
            </a:r>
            <a:r>
              <a:rPr lang="en-US" sz="2800" b="1" spc="-10" dirty="0">
                <a:solidFill>
                  <a:srgbClr val="00B050"/>
                </a:solidFill>
                <a:effectLst/>
                <a:latin typeface="Times New Roman" panose="02020603050405020304" pitchFamily="18" charset="0"/>
                <a:ea typeface="Times New Roman" panose="02020603050405020304" pitchFamily="18" charset="0"/>
              </a:rPr>
              <a:t>)</a:t>
            </a:r>
            <a:endParaRPr lang="en-IN" sz="2400" b="1" spc="0" dirty="0">
              <a:solidFill>
                <a:srgbClr val="00B05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89554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F832F1-9FAC-59F0-75E0-144E1DD8C0F2}"/>
              </a:ext>
            </a:extLst>
          </p:cNvPr>
          <p:cNvSpPr txBox="1"/>
          <p:nvPr/>
        </p:nvSpPr>
        <p:spPr>
          <a:xfrm>
            <a:off x="1850572" y="403163"/>
            <a:ext cx="6096000" cy="584775"/>
          </a:xfrm>
          <a:prstGeom prst="rect">
            <a:avLst/>
          </a:prstGeom>
          <a:noFill/>
        </p:spPr>
        <p:txBody>
          <a:bodyPr wrap="square">
            <a:spAutoFit/>
          </a:bodyPr>
          <a:lstStyle/>
          <a:p>
            <a:pPr lvl="1" algn="ctr">
              <a:buClr>
                <a:srgbClr val="1F2329"/>
              </a:buClr>
              <a:buSzPts val="1200"/>
              <a:tabLst>
                <a:tab pos="1198245" algn="l"/>
              </a:tabLst>
            </a:pPr>
            <a:r>
              <a:rPr lang="en-US" sz="3200" b="1" spc="0" dirty="0">
                <a:solidFill>
                  <a:srgbClr val="FF0000"/>
                </a:solidFill>
                <a:effectLst/>
                <a:latin typeface="Times New Roman" panose="02020603050405020304" pitchFamily="18" charset="0"/>
                <a:ea typeface="Times New Roman" panose="02020603050405020304" pitchFamily="18" charset="0"/>
              </a:rPr>
              <a:t>One</a:t>
            </a:r>
            <a:r>
              <a:rPr lang="en-US" sz="3200" b="1" spc="-10" dirty="0">
                <a:solidFill>
                  <a:srgbClr val="FF0000"/>
                </a:solidFill>
                <a:effectLst/>
                <a:latin typeface="Times New Roman" panose="02020603050405020304" pitchFamily="18" charset="0"/>
                <a:ea typeface="Times New Roman" panose="02020603050405020304" pitchFamily="18" charset="0"/>
              </a:rPr>
              <a:t> </a:t>
            </a:r>
            <a:r>
              <a:rPr lang="en-US" sz="3200" b="1" spc="0" dirty="0">
                <a:solidFill>
                  <a:srgbClr val="FF0000"/>
                </a:solidFill>
                <a:effectLst/>
                <a:latin typeface="Times New Roman" panose="02020603050405020304" pitchFamily="18" charset="0"/>
                <a:ea typeface="Times New Roman" panose="02020603050405020304" pitchFamily="18" charset="0"/>
              </a:rPr>
              <a:t>to</a:t>
            </a:r>
            <a:r>
              <a:rPr lang="en-US" sz="3200" b="1" spc="-15" dirty="0">
                <a:solidFill>
                  <a:srgbClr val="FF0000"/>
                </a:solidFill>
                <a:effectLst/>
                <a:latin typeface="Times New Roman" panose="02020603050405020304" pitchFamily="18" charset="0"/>
                <a:ea typeface="Times New Roman" panose="02020603050405020304" pitchFamily="18" charset="0"/>
              </a:rPr>
              <a:t> </a:t>
            </a:r>
            <a:r>
              <a:rPr lang="en-US" sz="3200" b="1" spc="0" dirty="0">
                <a:solidFill>
                  <a:srgbClr val="FF0000"/>
                </a:solidFill>
                <a:effectLst/>
                <a:latin typeface="Times New Roman" panose="02020603050405020304" pitchFamily="18" charset="0"/>
                <a:ea typeface="Times New Roman" panose="02020603050405020304" pitchFamily="18" charset="0"/>
              </a:rPr>
              <a:t>one</a:t>
            </a:r>
            <a:r>
              <a:rPr lang="en-US" sz="3200" b="1" spc="-10" dirty="0">
                <a:solidFill>
                  <a:srgbClr val="FF0000"/>
                </a:solidFill>
                <a:effectLst/>
                <a:latin typeface="Times New Roman" panose="02020603050405020304" pitchFamily="18" charset="0"/>
                <a:ea typeface="Times New Roman" panose="02020603050405020304" pitchFamily="18" charset="0"/>
              </a:rPr>
              <a:t> </a:t>
            </a:r>
            <a:r>
              <a:rPr lang="en-US" sz="3200" b="1" spc="-10" dirty="0">
                <a:solidFill>
                  <a:srgbClr val="00B050"/>
                </a:solidFill>
                <a:effectLst/>
                <a:latin typeface="Times New Roman" panose="02020603050405020304" pitchFamily="18" charset="0"/>
                <a:ea typeface="Times New Roman" panose="02020603050405020304" pitchFamily="18" charset="0"/>
              </a:rPr>
              <a:t>(</a:t>
            </a:r>
            <a:r>
              <a:rPr lang="en-US" sz="3200" b="1" spc="-10" dirty="0">
                <a:solidFill>
                  <a:schemeClr val="accent4">
                    <a:lumMod val="50000"/>
                  </a:schemeClr>
                </a:solidFill>
                <a:effectLst/>
                <a:latin typeface="Times New Roman" panose="02020603050405020304" pitchFamily="18" charset="0"/>
                <a:ea typeface="Times New Roman" panose="02020603050405020304" pitchFamily="18" charset="0"/>
              </a:rPr>
              <a:t>1:1</a:t>
            </a:r>
            <a:r>
              <a:rPr lang="en-US" sz="3200" b="1" spc="-10" dirty="0">
                <a:solidFill>
                  <a:srgbClr val="00B050"/>
                </a:solidFill>
                <a:effectLst/>
                <a:latin typeface="Times New Roman" panose="02020603050405020304" pitchFamily="18" charset="0"/>
                <a:ea typeface="Times New Roman" panose="02020603050405020304" pitchFamily="18" charset="0"/>
              </a:rPr>
              <a:t>)</a:t>
            </a:r>
          </a:p>
        </p:txBody>
      </p:sp>
      <p:sp>
        <p:nvSpPr>
          <p:cNvPr id="5" name="TextBox 4">
            <a:extLst>
              <a:ext uri="{FF2B5EF4-FFF2-40B4-BE49-F238E27FC236}">
                <a16:creationId xmlns:a16="http://schemas.microsoft.com/office/drawing/2014/main" id="{1D77F8A5-4062-182C-98A7-61927162CF8A}"/>
              </a:ext>
            </a:extLst>
          </p:cNvPr>
          <p:cNvSpPr txBox="1"/>
          <p:nvPr/>
        </p:nvSpPr>
        <p:spPr>
          <a:xfrm>
            <a:off x="1415143" y="1480456"/>
            <a:ext cx="9699172" cy="1315873"/>
          </a:xfrm>
          <a:prstGeom prst="rect">
            <a:avLst/>
          </a:prstGeom>
          <a:noFill/>
        </p:spPr>
        <p:txBody>
          <a:bodyPr wrap="square">
            <a:spAutoFit/>
          </a:bodyPr>
          <a:lstStyle/>
          <a:p>
            <a:pPr algn="just">
              <a:lnSpc>
                <a:spcPct val="150000"/>
              </a:lnSpc>
            </a:pPr>
            <a:r>
              <a:rPr lang="en-US" sz="2800" dirty="0">
                <a:solidFill>
                  <a:srgbClr val="1F2329"/>
                </a:solidFill>
                <a:effectLst/>
                <a:latin typeface="Times New Roman" panose="02020603050405020304" pitchFamily="18" charset="0"/>
                <a:ea typeface="Times New Roman" panose="02020603050405020304" pitchFamily="18" charset="0"/>
              </a:rPr>
              <a:t>	An entity in </a:t>
            </a:r>
            <a:r>
              <a:rPr lang="en-US" sz="2800" dirty="0">
                <a:solidFill>
                  <a:srgbClr val="FF0000"/>
                </a:solidFill>
                <a:effectLst/>
                <a:latin typeface="Times New Roman" panose="02020603050405020304" pitchFamily="18" charset="0"/>
                <a:ea typeface="Times New Roman" panose="02020603050405020304" pitchFamily="18" charset="0"/>
              </a:rPr>
              <a:t>A</a:t>
            </a:r>
            <a:r>
              <a:rPr lang="en-US" sz="2800" spc="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is associated with</a:t>
            </a:r>
            <a:r>
              <a:rPr lang="en-US" sz="2800" spc="8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at</a:t>
            </a:r>
            <a:r>
              <a:rPr lang="en-US" sz="2800" spc="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most</a:t>
            </a:r>
            <a:r>
              <a:rPr lang="en-US" sz="2800" spc="7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one</a:t>
            </a:r>
            <a:r>
              <a:rPr lang="en-US" sz="2800" spc="8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entity</a:t>
            </a:r>
            <a:r>
              <a:rPr lang="en-US" sz="2800" spc="7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a:t>
            </a:r>
            <a:r>
              <a:rPr lang="en-US" sz="2800" spc="7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FF0000"/>
                </a:solidFill>
                <a:effectLst/>
                <a:latin typeface="Times New Roman" panose="02020603050405020304" pitchFamily="18" charset="0"/>
                <a:ea typeface="Times New Roman" panose="02020603050405020304" pitchFamily="18" charset="0"/>
              </a:rPr>
              <a:t>B</a:t>
            </a:r>
            <a:r>
              <a:rPr lang="en-US" sz="2800" dirty="0">
                <a:solidFill>
                  <a:srgbClr val="1F2329"/>
                </a:solidFill>
                <a:effectLst/>
                <a:latin typeface="Times New Roman" panose="02020603050405020304" pitchFamily="18" charset="0"/>
                <a:ea typeface="Times New Roman" panose="02020603050405020304" pitchFamily="18" charset="0"/>
              </a:rPr>
              <a:t>, and an</a:t>
            </a:r>
            <a:r>
              <a:rPr lang="en-US" sz="2800" spc="7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entity in </a:t>
            </a:r>
            <a:r>
              <a:rPr lang="en-US" sz="2800" dirty="0">
                <a:solidFill>
                  <a:srgbClr val="FF0000"/>
                </a:solidFill>
                <a:effectLst/>
                <a:latin typeface="Times New Roman" panose="02020603050405020304" pitchFamily="18" charset="0"/>
                <a:ea typeface="Times New Roman" panose="02020603050405020304" pitchFamily="18" charset="0"/>
              </a:rPr>
              <a:t>B</a:t>
            </a:r>
            <a:r>
              <a:rPr lang="en-US" sz="2800" dirty="0">
                <a:solidFill>
                  <a:srgbClr val="1F2329"/>
                </a:solidFill>
                <a:effectLst/>
                <a:latin typeface="Times New Roman" panose="02020603050405020304" pitchFamily="18" charset="0"/>
                <a:ea typeface="Times New Roman" panose="02020603050405020304" pitchFamily="18" charset="0"/>
              </a:rPr>
              <a:t> is associated with at most one entity in </a:t>
            </a:r>
            <a:r>
              <a:rPr lang="en-US" sz="2800" dirty="0">
                <a:solidFill>
                  <a:srgbClr val="FF0000"/>
                </a:solidFill>
                <a:effectLst/>
                <a:latin typeface="Times New Roman" panose="02020603050405020304" pitchFamily="18" charset="0"/>
                <a:ea typeface="Times New Roman" panose="02020603050405020304" pitchFamily="18" charset="0"/>
              </a:rPr>
              <a:t>A</a:t>
            </a:r>
            <a:r>
              <a:rPr lang="en-US" sz="2800" dirty="0">
                <a:solidFill>
                  <a:srgbClr val="1F2329"/>
                </a:solidFill>
                <a:effectLst/>
                <a:latin typeface="Times New Roman" panose="02020603050405020304" pitchFamily="18" charset="0"/>
                <a:ea typeface="Times New Roman" panose="02020603050405020304" pitchFamily="18" charset="0"/>
              </a:rPr>
              <a:t>. </a:t>
            </a:r>
            <a:endParaRPr lang="en-IN" sz="2800" dirty="0"/>
          </a:p>
        </p:txBody>
      </p:sp>
      <p:pic>
        <p:nvPicPr>
          <p:cNvPr id="6" name="Picture 5">
            <a:extLst>
              <a:ext uri="{FF2B5EF4-FFF2-40B4-BE49-F238E27FC236}">
                <a16:creationId xmlns:a16="http://schemas.microsoft.com/office/drawing/2014/main" id="{8AD28C9A-5E67-9530-49CF-D60F2C0FB43F}"/>
              </a:ext>
            </a:extLst>
          </p:cNvPr>
          <p:cNvPicPr>
            <a:picLocks noChangeAspect="1"/>
          </p:cNvPicPr>
          <p:nvPr/>
        </p:nvPicPr>
        <p:blipFill>
          <a:blip r:embed="rId2"/>
          <a:stretch>
            <a:fillRect/>
          </a:stretch>
        </p:blipFill>
        <p:spPr>
          <a:xfrm>
            <a:off x="3244731" y="3567867"/>
            <a:ext cx="5073560" cy="1809677"/>
          </a:xfrm>
          <a:prstGeom prst="rect">
            <a:avLst/>
          </a:prstGeom>
        </p:spPr>
      </p:pic>
    </p:spTree>
    <p:extLst>
      <p:ext uri="{BB962C8B-B14F-4D97-AF65-F5344CB8AC3E}">
        <p14:creationId xmlns:p14="http://schemas.microsoft.com/office/powerpoint/2010/main" val="255703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EB3813-245D-C77C-7E80-2A481F78772D}"/>
              </a:ext>
            </a:extLst>
          </p:cNvPr>
          <p:cNvSpPr txBox="1"/>
          <p:nvPr/>
        </p:nvSpPr>
        <p:spPr>
          <a:xfrm>
            <a:off x="1132114" y="468085"/>
            <a:ext cx="10297885" cy="2195794"/>
          </a:xfrm>
          <a:prstGeom prst="rect">
            <a:avLst/>
          </a:prstGeom>
          <a:noFill/>
        </p:spPr>
        <p:txBody>
          <a:bodyPr wrap="square">
            <a:spAutoFit/>
          </a:bodyPr>
          <a:lstStyle/>
          <a:p>
            <a:pPr marL="194945" marR="525145" algn="just">
              <a:lnSpc>
                <a:spcPct val="200000"/>
              </a:lnSpc>
            </a:pPr>
            <a:r>
              <a:rPr lang="en-US" sz="2400" dirty="0">
                <a:solidFill>
                  <a:srgbClr val="1F2329"/>
                </a:solidFill>
                <a:effectLst/>
                <a:latin typeface="Times New Roman" panose="02020603050405020304" pitchFamily="18" charset="0"/>
                <a:ea typeface="Times New Roman" panose="02020603050405020304" pitchFamily="18" charset="0"/>
              </a:rPr>
              <a:t>For example, assume that the</a:t>
            </a:r>
            <a:r>
              <a:rPr lang="en-US" sz="2400" spc="100" dirty="0">
                <a:solidFill>
                  <a:srgbClr val="1F2329"/>
                </a:solidFill>
                <a:effectLst/>
                <a:latin typeface="Times New Roman" panose="02020603050405020304" pitchFamily="18" charset="0"/>
                <a:ea typeface="Times New Roman" panose="02020603050405020304" pitchFamily="18" charset="0"/>
              </a:rPr>
              <a:t> </a:t>
            </a:r>
            <a:r>
              <a:rPr lang="en-US" sz="2400" b="1" dirty="0">
                <a:solidFill>
                  <a:srgbClr val="1F2329"/>
                </a:solidFill>
                <a:effectLst/>
                <a:latin typeface="Times New Roman" panose="02020603050405020304" pitchFamily="18" charset="0"/>
                <a:ea typeface="Times New Roman" panose="02020603050405020304" pitchFamily="18" charset="0"/>
              </a:rPr>
              <a:t>only male can be married to only one female</a:t>
            </a:r>
            <a:r>
              <a:rPr lang="en-US" sz="2400" b="1" spc="105" dirty="0">
                <a:solidFill>
                  <a:srgbClr val="1F2329"/>
                </a:solidFill>
                <a:effectLst/>
                <a:latin typeface="Times New Roman" panose="02020603050405020304" pitchFamily="18" charset="0"/>
                <a:ea typeface="Times New Roman" panose="02020603050405020304" pitchFamily="18" charset="0"/>
              </a:rPr>
              <a:t> </a:t>
            </a:r>
            <a:r>
              <a:rPr lang="en-US" sz="2400" b="1" dirty="0">
                <a:solidFill>
                  <a:srgbClr val="1F2329"/>
                </a:solidFill>
                <a:effectLst/>
                <a:latin typeface="Times New Roman" panose="02020603050405020304" pitchFamily="18" charset="0"/>
                <a:ea typeface="Times New Roman" panose="02020603050405020304" pitchFamily="18" charset="0"/>
              </a:rPr>
              <a:t>and one female</a:t>
            </a:r>
            <a:r>
              <a:rPr lang="en-US" sz="2400" b="1" spc="200" dirty="0">
                <a:solidFill>
                  <a:srgbClr val="1F2329"/>
                </a:solidFill>
                <a:effectLst/>
                <a:latin typeface="Times New Roman" panose="02020603050405020304" pitchFamily="18" charset="0"/>
                <a:ea typeface="Times New Roman" panose="02020603050405020304" pitchFamily="18" charset="0"/>
              </a:rPr>
              <a:t> </a:t>
            </a:r>
            <a:r>
              <a:rPr lang="en-US" sz="2400" b="1" dirty="0">
                <a:solidFill>
                  <a:srgbClr val="1F2329"/>
                </a:solidFill>
                <a:effectLst/>
                <a:latin typeface="Times New Roman" panose="02020603050405020304" pitchFamily="18" charset="0"/>
                <a:ea typeface="Times New Roman" panose="02020603050405020304" pitchFamily="18" charset="0"/>
              </a:rPr>
              <a:t>can be married to only one male</a:t>
            </a:r>
            <a:r>
              <a:rPr lang="en-US" sz="2400" dirty="0">
                <a:solidFill>
                  <a:srgbClr val="1F2329"/>
                </a:solidFill>
                <a:effectLst/>
                <a:latin typeface="Times New Roman" panose="02020603050405020304" pitchFamily="18" charset="0"/>
                <a:ea typeface="Times New Roman" panose="02020603050405020304" pitchFamily="18" charset="0"/>
              </a:rPr>
              <a:t>, this can be viewed as one-to-one cardinality.</a:t>
            </a:r>
            <a:endParaRPr lang="en-IN" sz="20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1F568C32-8CC5-A892-68BC-382C47351B05}"/>
              </a:ext>
            </a:extLst>
          </p:cNvPr>
          <p:cNvPicPr>
            <a:picLocks noChangeAspect="1"/>
          </p:cNvPicPr>
          <p:nvPr/>
        </p:nvPicPr>
        <p:blipFill>
          <a:blip r:embed="rId2"/>
          <a:stretch>
            <a:fillRect/>
          </a:stretch>
        </p:blipFill>
        <p:spPr>
          <a:xfrm>
            <a:off x="1368942" y="3525196"/>
            <a:ext cx="10061057" cy="2195793"/>
          </a:xfrm>
          <a:prstGeom prst="rect">
            <a:avLst/>
          </a:prstGeom>
        </p:spPr>
      </p:pic>
    </p:spTree>
    <p:extLst>
      <p:ext uri="{BB962C8B-B14F-4D97-AF65-F5344CB8AC3E}">
        <p14:creationId xmlns:p14="http://schemas.microsoft.com/office/powerpoint/2010/main" val="197726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7AF28C-DA9A-F9AD-2AF3-4D58F8349303}"/>
              </a:ext>
            </a:extLst>
          </p:cNvPr>
          <p:cNvSpPr txBox="1"/>
          <p:nvPr/>
        </p:nvSpPr>
        <p:spPr>
          <a:xfrm>
            <a:off x="3537858" y="381392"/>
            <a:ext cx="6096000" cy="584775"/>
          </a:xfrm>
          <a:prstGeom prst="rect">
            <a:avLst/>
          </a:prstGeom>
          <a:noFill/>
        </p:spPr>
        <p:txBody>
          <a:bodyPr wrap="square">
            <a:spAutoFit/>
          </a:bodyPr>
          <a:lstStyle/>
          <a:p>
            <a:pPr lvl="1">
              <a:buClr>
                <a:srgbClr val="1F2329"/>
              </a:buClr>
              <a:buSzPts val="1200"/>
              <a:tabLst>
                <a:tab pos="1198245" algn="l"/>
              </a:tabLst>
            </a:pPr>
            <a:r>
              <a:rPr lang="en-US" sz="3200" b="1" spc="0" dirty="0">
                <a:solidFill>
                  <a:schemeClr val="accent4">
                    <a:lumMod val="50000"/>
                  </a:schemeClr>
                </a:solidFill>
                <a:effectLst/>
                <a:latin typeface="Times New Roman" panose="02020603050405020304" pitchFamily="18" charset="0"/>
                <a:ea typeface="Times New Roman" panose="02020603050405020304" pitchFamily="18" charset="0"/>
              </a:rPr>
              <a:t>One</a:t>
            </a:r>
            <a:r>
              <a:rPr lang="en-US" sz="3200" b="1" spc="-20" dirty="0">
                <a:solidFill>
                  <a:schemeClr val="accent4">
                    <a:lumMod val="50000"/>
                  </a:schemeClr>
                </a:solidFill>
                <a:effectLst/>
                <a:latin typeface="Times New Roman" panose="02020603050405020304" pitchFamily="18" charset="0"/>
                <a:ea typeface="Times New Roman" panose="02020603050405020304" pitchFamily="18" charset="0"/>
              </a:rPr>
              <a:t> </a:t>
            </a:r>
            <a:r>
              <a:rPr lang="en-US" sz="3200" b="1" spc="0" dirty="0">
                <a:solidFill>
                  <a:schemeClr val="accent4">
                    <a:lumMod val="50000"/>
                  </a:schemeClr>
                </a:solidFill>
                <a:effectLst/>
                <a:latin typeface="Times New Roman" panose="02020603050405020304" pitchFamily="18" charset="0"/>
                <a:ea typeface="Times New Roman" panose="02020603050405020304" pitchFamily="18" charset="0"/>
              </a:rPr>
              <a:t>to</a:t>
            </a:r>
            <a:r>
              <a:rPr lang="en-US" sz="3200" b="1" spc="-20" dirty="0">
                <a:solidFill>
                  <a:schemeClr val="accent4">
                    <a:lumMod val="50000"/>
                  </a:schemeClr>
                </a:solidFill>
                <a:effectLst/>
                <a:latin typeface="Times New Roman" panose="02020603050405020304" pitchFamily="18" charset="0"/>
                <a:ea typeface="Times New Roman" panose="02020603050405020304" pitchFamily="18" charset="0"/>
              </a:rPr>
              <a:t> </a:t>
            </a:r>
            <a:r>
              <a:rPr lang="en-US" sz="3200" b="1" spc="0" dirty="0">
                <a:solidFill>
                  <a:schemeClr val="accent4">
                    <a:lumMod val="50000"/>
                  </a:schemeClr>
                </a:solidFill>
                <a:effectLst/>
                <a:latin typeface="Times New Roman" panose="02020603050405020304" pitchFamily="18" charset="0"/>
                <a:ea typeface="Times New Roman" panose="02020603050405020304" pitchFamily="18" charset="0"/>
              </a:rPr>
              <a:t>many</a:t>
            </a:r>
            <a:r>
              <a:rPr lang="en-US" sz="3200" b="1" spc="-15" dirty="0">
                <a:solidFill>
                  <a:schemeClr val="accent4">
                    <a:lumMod val="50000"/>
                  </a:schemeClr>
                </a:solidFill>
                <a:effectLst/>
                <a:latin typeface="Times New Roman" panose="02020603050405020304" pitchFamily="18" charset="0"/>
                <a:ea typeface="Times New Roman" panose="02020603050405020304" pitchFamily="18" charset="0"/>
              </a:rPr>
              <a:t> </a:t>
            </a:r>
            <a:r>
              <a:rPr lang="en-US" sz="3200" b="1" spc="-10" dirty="0">
                <a:solidFill>
                  <a:srgbClr val="00B050"/>
                </a:solidFill>
                <a:effectLst/>
                <a:latin typeface="Times New Roman" panose="02020603050405020304" pitchFamily="18" charset="0"/>
                <a:ea typeface="Times New Roman" panose="02020603050405020304" pitchFamily="18" charset="0"/>
              </a:rPr>
              <a:t>(</a:t>
            </a:r>
            <a:r>
              <a:rPr lang="en-US" sz="3200" b="1" spc="-10" dirty="0">
                <a:solidFill>
                  <a:srgbClr val="FF0000"/>
                </a:solidFill>
                <a:effectLst/>
                <a:latin typeface="Times New Roman" panose="02020603050405020304" pitchFamily="18" charset="0"/>
                <a:ea typeface="Times New Roman" panose="02020603050405020304" pitchFamily="18" charset="0"/>
              </a:rPr>
              <a:t>1:M</a:t>
            </a:r>
            <a:r>
              <a:rPr lang="en-US" sz="3200" b="1" spc="-10" dirty="0">
                <a:solidFill>
                  <a:srgbClr val="00B050"/>
                </a:solidFill>
                <a:effectLst/>
                <a:latin typeface="Times New Roman" panose="02020603050405020304" pitchFamily="18" charset="0"/>
                <a:ea typeface="Times New Roman" panose="02020603050405020304" pitchFamily="18" charset="0"/>
              </a:rPr>
              <a:t>)</a:t>
            </a:r>
          </a:p>
        </p:txBody>
      </p:sp>
      <p:sp>
        <p:nvSpPr>
          <p:cNvPr id="5" name="TextBox 4">
            <a:extLst>
              <a:ext uri="{FF2B5EF4-FFF2-40B4-BE49-F238E27FC236}">
                <a16:creationId xmlns:a16="http://schemas.microsoft.com/office/drawing/2014/main" id="{A2279BDC-9B54-C710-4186-68D777A56386}"/>
              </a:ext>
            </a:extLst>
          </p:cNvPr>
          <p:cNvSpPr txBox="1"/>
          <p:nvPr/>
        </p:nvSpPr>
        <p:spPr>
          <a:xfrm>
            <a:off x="1077685" y="1189949"/>
            <a:ext cx="10243457" cy="1692899"/>
          </a:xfrm>
          <a:prstGeom prst="rect">
            <a:avLst/>
          </a:prstGeom>
          <a:noFill/>
        </p:spPr>
        <p:txBody>
          <a:bodyPr wrap="square">
            <a:spAutoFit/>
          </a:bodyPr>
          <a:lstStyle/>
          <a:p>
            <a:pPr algn="just">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An</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entity</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a:t>
            </a:r>
            <a:r>
              <a:rPr lang="en-US" sz="2800" spc="-5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is</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associated</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with</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any</a:t>
            </a:r>
            <a:r>
              <a:rPr lang="en-US" sz="2800" spc="-4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(zero</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or</a:t>
            </a:r>
            <a:r>
              <a:rPr lang="en-US" sz="2800" spc="-4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more)</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entities</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of</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and an entity in B can be associated with at most one entity in A.</a:t>
            </a:r>
            <a:r>
              <a:rPr lang="en-US" sz="2800" spc="200" dirty="0">
                <a:solidFill>
                  <a:srgbClr val="1F2329"/>
                </a:solidFill>
                <a:effectLst/>
                <a:latin typeface="Times New Roman" panose="02020603050405020304" pitchFamily="18" charset="0"/>
                <a:ea typeface="Times New Roman" panose="02020603050405020304" pitchFamily="18" charset="0"/>
              </a:rPr>
              <a:t> </a:t>
            </a:r>
            <a:endParaRPr lang="en-IN" sz="2800" dirty="0"/>
          </a:p>
        </p:txBody>
      </p:sp>
      <p:pic>
        <p:nvPicPr>
          <p:cNvPr id="6" name="Picture 5">
            <a:extLst>
              <a:ext uri="{FF2B5EF4-FFF2-40B4-BE49-F238E27FC236}">
                <a16:creationId xmlns:a16="http://schemas.microsoft.com/office/drawing/2014/main" id="{F90B1C03-6D34-BDF6-8839-19A20EA32CD5}"/>
              </a:ext>
            </a:extLst>
          </p:cNvPr>
          <p:cNvPicPr>
            <a:picLocks noChangeAspect="1"/>
          </p:cNvPicPr>
          <p:nvPr/>
        </p:nvPicPr>
        <p:blipFill>
          <a:blip r:embed="rId2"/>
          <a:stretch>
            <a:fillRect/>
          </a:stretch>
        </p:blipFill>
        <p:spPr>
          <a:xfrm>
            <a:off x="4115962" y="3759397"/>
            <a:ext cx="4840655" cy="1524894"/>
          </a:xfrm>
          <a:prstGeom prst="rect">
            <a:avLst/>
          </a:prstGeom>
        </p:spPr>
      </p:pic>
    </p:spTree>
    <p:extLst>
      <p:ext uri="{BB962C8B-B14F-4D97-AF65-F5344CB8AC3E}">
        <p14:creationId xmlns:p14="http://schemas.microsoft.com/office/powerpoint/2010/main" val="336633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1FA993-8F30-DD39-E36F-DBC277CF2DB2}"/>
              </a:ext>
            </a:extLst>
          </p:cNvPr>
          <p:cNvSpPr txBox="1"/>
          <p:nvPr/>
        </p:nvSpPr>
        <p:spPr>
          <a:xfrm>
            <a:off x="783771" y="696686"/>
            <a:ext cx="10624457" cy="523220"/>
          </a:xfrm>
          <a:prstGeom prst="rect">
            <a:avLst/>
          </a:prstGeom>
          <a:noFill/>
        </p:spPr>
        <p:txBody>
          <a:bodyPr wrap="square">
            <a:spAutoFit/>
          </a:bodyPr>
          <a:lstStyle/>
          <a:p>
            <a:pPr algn="just"/>
            <a:r>
              <a:rPr lang="en-US" sz="2800" dirty="0">
                <a:solidFill>
                  <a:srgbClr val="1F2329"/>
                </a:solidFill>
                <a:effectLst/>
                <a:latin typeface="Times New Roman" panose="02020603050405020304" pitchFamily="18" charset="0"/>
                <a:ea typeface="Times New Roman" panose="02020603050405020304" pitchFamily="18" charset="0"/>
              </a:rPr>
              <a:t>For</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example,</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customer</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can</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place</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multiple</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orders</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from</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spc="-10" dirty="0">
                <a:solidFill>
                  <a:srgbClr val="1F2329"/>
                </a:solidFill>
                <a:effectLst/>
                <a:latin typeface="Times New Roman" panose="02020603050405020304" pitchFamily="18" charset="0"/>
                <a:ea typeface="Times New Roman" panose="02020603050405020304" pitchFamily="18" charset="0"/>
              </a:rPr>
              <a:t>website/shop.</a:t>
            </a:r>
            <a:endParaRPr lang="en-IN" sz="2800" dirty="0"/>
          </a:p>
        </p:txBody>
      </p:sp>
      <p:pic>
        <p:nvPicPr>
          <p:cNvPr id="4" name="Picture 3">
            <a:extLst>
              <a:ext uri="{FF2B5EF4-FFF2-40B4-BE49-F238E27FC236}">
                <a16:creationId xmlns:a16="http://schemas.microsoft.com/office/drawing/2014/main" id="{0A48D8C0-7311-4958-0CD5-A2C22F907F97}"/>
              </a:ext>
            </a:extLst>
          </p:cNvPr>
          <p:cNvPicPr>
            <a:picLocks noChangeAspect="1"/>
          </p:cNvPicPr>
          <p:nvPr/>
        </p:nvPicPr>
        <p:blipFill>
          <a:blip r:embed="rId2"/>
          <a:stretch>
            <a:fillRect/>
          </a:stretch>
        </p:blipFill>
        <p:spPr>
          <a:xfrm>
            <a:off x="1541691" y="2623411"/>
            <a:ext cx="8870216" cy="2536417"/>
          </a:xfrm>
          <a:prstGeom prst="rect">
            <a:avLst/>
          </a:prstGeom>
        </p:spPr>
      </p:pic>
    </p:spTree>
    <p:extLst>
      <p:ext uri="{BB962C8B-B14F-4D97-AF65-F5344CB8AC3E}">
        <p14:creationId xmlns:p14="http://schemas.microsoft.com/office/powerpoint/2010/main" val="2736052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D0721E-B191-FB26-1A81-494D67C2A1CB}"/>
              </a:ext>
            </a:extLst>
          </p:cNvPr>
          <p:cNvSpPr txBox="1"/>
          <p:nvPr/>
        </p:nvSpPr>
        <p:spPr>
          <a:xfrm>
            <a:off x="3385457" y="435820"/>
            <a:ext cx="6096000" cy="584775"/>
          </a:xfrm>
          <a:prstGeom prst="rect">
            <a:avLst/>
          </a:prstGeom>
          <a:noFill/>
        </p:spPr>
        <p:txBody>
          <a:bodyPr wrap="square">
            <a:spAutoFit/>
          </a:bodyPr>
          <a:lstStyle/>
          <a:p>
            <a:pPr lvl="1">
              <a:buClr>
                <a:srgbClr val="1F2329"/>
              </a:buClr>
              <a:buSzPts val="1200"/>
              <a:tabLst>
                <a:tab pos="1198245" algn="l"/>
              </a:tabLst>
            </a:pPr>
            <a:r>
              <a:rPr lang="en-US" sz="3200" b="1" spc="0" dirty="0">
                <a:effectLst/>
                <a:latin typeface="Times New Roman" panose="02020603050405020304" pitchFamily="18" charset="0"/>
                <a:ea typeface="Times New Roman" panose="02020603050405020304" pitchFamily="18" charset="0"/>
              </a:rPr>
              <a:t>Many</a:t>
            </a:r>
            <a:r>
              <a:rPr lang="en-US" sz="3200" b="1" spc="-20" dirty="0">
                <a:effectLst/>
                <a:latin typeface="Times New Roman" panose="02020603050405020304" pitchFamily="18" charset="0"/>
                <a:ea typeface="Times New Roman" panose="02020603050405020304" pitchFamily="18" charset="0"/>
              </a:rPr>
              <a:t> </a:t>
            </a:r>
            <a:r>
              <a:rPr lang="en-US" sz="3200" b="1" spc="0" dirty="0">
                <a:effectLst/>
                <a:latin typeface="Times New Roman" panose="02020603050405020304" pitchFamily="18" charset="0"/>
                <a:ea typeface="Times New Roman" panose="02020603050405020304" pitchFamily="18" charset="0"/>
              </a:rPr>
              <a:t>to</a:t>
            </a:r>
            <a:r>
              <a:rPr lang="en-US" sz="3200" b="1" spc="-10" dirty="0">
                <a:effectLst/>
                <a:latin typeface="Times New Roman" panose="02020603050405020304" pitchFamily="18" charset="0"/>
                <a:ea typeface="Times New Roman" panose="02020603050405020304" pitchFamily="18" charset="0"/>
              </a:rPr>
              <a:t> </a:t>
            </a:r>
            <a:r>
              <a:rPr lang="en-US" sz="3200" b="1" spc="0" dirty="0">
                <a:effectLst/>
                <a:latin typeface="Times New Roman" panose="02020603050405020304" pitchFamily="18" charset="0"/>
                <a:ea typeface="Times New Roman" panose="02020603050405020304" pitchFamily="18" charset="0"/>
              </a:rPr>
              <a:t>one</a:t>
            </a:r>
            <a:r>
              <a:rPr lang="en-US" sz="3200" b="1" spc="-20" dirty="0">
                <a:effectLst/>
                <a:latin typeface="Times New Roman" panose="02020603050405020304" pitchFamily="18" charset="0"/>
                <a:ea typeface="Times New Roman" panose="02020603050405020304" pitchFamily="18" charset="0"/>
              </a:rPr>
              <a:t> </a:t>
            </a:r>
            <a:r>
              <a:rPr lang="en-US" sz="3200" b="1" spc="0" dirty="0">
                <a:solidFill>
                  <a:srgbClr val="00B050"/>
                </a:solidFill>
                <a:effectLst/>
                <a:latin typeface="Times New Roman" panose="02020603050405020304" pitchFamily="18" charset="0"/>
                <a:ea typeface="Times New Roman" panose="02020603050405020304" pitchFamily="18" charset="0"/>
              </a:rPr>
              <a:t>(</a:t>
            </a:r>
            <a:r>
              <a:rPr lang="en-US" sz="3200" b="1" spc="0" dirty="0">
                <a:solidFill>
                  <a:srgbClr val="0070C0"/>
                </a:solidFill>
                <a:effectLst/>
                <a:latin typeface="Times New Roman" panose="02020603050405020304" pitchFamily="18" charset="0"/>
                <a:ea typeface="Times New Roman" panose="02020603050405020304" pitchFamily="18" charset="0"/>
              </a:rPr>
              <a:t>M: </a:t>
            </a:r>
            <a:r>
              <a:rPr lang="en-US" sz="3200" b="1" spc="-25" dirty="0">
                <a:solidFill>
                  <a:srgbClr val="0070C0"/>
                </a:solidFill>
                <a:effectLst/>
                <a:latin typeface="Times New Roman" panose="02020603050405020304" pitchFamily="18" charset="0"/>
                <a:ea typeface="Times New Roman" panose="02020603050405020304" pitchFamily="18" charset="0"/>
              </a:rPr>
              <a:t>1</a:t>
            </a:r>
            <a:r>
              <a:rPr lang="en-US" sz="3200" b="1" spc="-25" dirty="0">
                <a:solidFill>
                  <a:srgbClr val="00B050"/>
                </a:solidFill>
                <a:effectLst/>
                <a:latin typeface="Times New Roman" panose="02020603050405020304" pitchFamily="18" charset="0"/>
                <a:ea typeface="Times New Roman" panose="02020603050405020304" pitchFamily="18" charset="0"/>
              </a:rPr>
              <a:t>)</a:t>
            </a:r>
          </a:p>
        </p:txBody>
      </p:sp>
      <p:sp>
        <p:nvSpPr>
          <p:cNvPr id="5" name="TextBox 4">
            <a:extLst>
              <a:ext uri="{FF2B5EF4-FFF2-40B4-BE49-F238E27FC236}">
                <a16:creationId xmlns:a16="http://schemas.microsoft.com/office/drawing/2014/main" id="{6B3D300C-8F7C-D060-93DA-B8056CF85AE6}"/>
              </a:ext>
            </a:extLst>
          </p:cNvPr>
          <p:cNvSpPr txBox="1"/>
          <p:nvPr/>
        </p:nvSpPr>
        <p:spPr>
          <a:xfrm>
            <a:off x="876300" y="1214735"/>
            <a:ext cx="10439400" cy="1692899"/>
          </a:xfrm>
          <a:prstGeom prst="rect">
            <a:avLst/>
          </a:prstGeom>
          <a:noFill/>
        </p:spPr>
        <p:txBody>
          <a:bodyPr wrap="square">
            <a:spAutoFit/>
          </a:bodyPr>
          <a:lstStyle/>
          <a:p>
            <a:pPr>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An entity</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 A is</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associated with at</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most one</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entity in B</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and an entity in B can be associated with any (zero or more) number of entities in A. </a:t>
            </a:r>
            <a:endParaRPr lang="en-IN" sz="2800" dirty="0"/>
          </a:p>
        </p:txBody>
      </p:sp>
      <p:pic>
        <p:nvPicPr>
          <p:cNvPr id="6" name="Picture 5">
            <a:extLst>
              <a:ext uri="{FF2B5EF4-FFF2-40B4-BE49-F238E27FC236}">
                <a16:creationId xmlns:a16="http://schemas.microsoft.com/office/drawing/2014/main" id="{CF66E31B-A956-0665-394D-C50B16380D74}"/>
              </a:ext>
            </a:extLst>
          </p:cNvPr>
          <p:cNvPicPr>
            <a:picLocks noChangeAspect="1"/>
          </p:cNvPicPr>
          <p:nvPr/>
        </p:nvPicPr>
        <p:blipFill>
          <a:blip r:embed="rId2"/>
          <a:stretch>
            <a:fillRect/>
          </a:stretch>
        </p:blipFill>
        <p:spPr>
          <a:xfrm>
            <a:off x="3385457" y="3819737"/>
            <a:ext cx="5830056" cy="2145633"/>
          </a:xfrm>
          <a:prstGeom prst="rect">
            <a:avLst/>
          </a:prstGeom>
        </p:spPr>
      </p:pic>
    </p:spTree>
    <p:extLst>
      <p:ext uri="{BB962C8B-B14F-4D97-AF65-F5344CB8AC3E}">
        <p14:creationId xmlns:p14="http://schemas.microsoft.com/office/powerpoint/2010/main" val="3611088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99C853-AD49-6CB0-801B-C447AE3B22CF}"/>
              </a:ext>
            </a:extLst>
          </p:cNvPr>
          <p:cNvSpPr txBox="1"/>
          <p:nvPr/>
        </p:nvSpPr>
        <p:spPr>
          <a:xfrm>
            <a:off x="1273628" y="950463"/>
            <a:ext cx="8948057" cy="1307537"/>
          </a:xfrm>
          <a:prstGeom prst="rect">
            <a:avLst/>
          </a:prstGeom>
          <a:noFill/>
        </p:spPr>
        <p:txBody>
          <a:bodyPr wrap="square">
            <a:spAutoFit/>
          </a:bodyPr>
          <a:lstStyle/>
          <a:p>
            <a:pPr marL="194945" algn="just">
              <a:lnSpc>
                <a:spcPct val="150000"/>
              </a:lnSpc>
            </a:pPr>
            <a:r>
              <a:rPr lang="en-US" sz="2800" dirty="0">
                <a:solidFill>
                  <a:srgbClr val="1F2329"/>
                </a:solidFill>
                <a:effectLst/>
                <a:latin typeface="Times New Roman" panose="02020603050405020304" pitchFamily="18" charset="0"/>
                <a:ea typeface="Times New Roman" panose="02020603050405020304" pitchFamily="18" charset="0"/>
              </a:rPr>
              <a:t>For</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example:</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student</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can</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belong</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to</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at</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most</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one</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class</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but</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one</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class</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can</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have many</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spc="-10" dirty="0">
                <a:solidFill>
                  <a:srgbClr val="1F2329"/>
                </a:solidFill>
                <a:effectLst/>
                <a:latin typeface="Times New Roman" panose="02020603050405020304" pitchFamily="18" charset="0"/>
                <a:ea typeface="Times New Roman" panose="02020603050405020304" pitchFamily="18" charset="0"/>
              </a:rPr>
              <a:t>students.</a:t>
            </a:r>
            <a:endParaRPr lang="en-IN" sz="2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9E61FE8C-7712-5401-029A-4D90FF8E4614}"/>
              </a:ext>
            </a:extLst>
          </p:cNvPr>
          <p:cNvPicPr>
            <a:picLocks noChangeAspect="1"/>
          </p:cNvPicPr>
          <p:nvPr/>
        </p:nvPicPr>
        <p:blipFill>
          <a:blip r:embed="rId2"/>
          <a:stretch>
            <a:fillRect/>
          </a:stretch>
        </p:blipFill>
        <p:spPr>
          <a:xfrm>
            <a:off x="1603516" y="2881323"/>
            <a:ext cx="9455814" cy="2637438"/>
          </a:xfrm>
          <a:prstGeom prst="rect">
            <a:avLst/>
          </a:prstGeom>
        </p:spPr>
      </p:pic>
    </p:spTree>
    <p:extLst>
      <p:ext uri="{BB962C8B-B14F-4D97-AF65-F5344CB8AC3E}">
        <p14:creationId xmlns:p14="http://schemas.microsoft.com/office/powerpoint/2010/main" val="114355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35729D-72C6-F6D3-14FD-9E93D2777C62}"/>
              </a:ext>
            </a:extLst>
          </p:cNvPr>
          <p:cNvSpPr txBox="1"/>
          <p:nvPr/>
        </p:nvSpPr>
        <p:spPr>
          <a:xfrm>
            <a:off x="3189515" y="544677"/>
            <a:ext cx="6096000" cy="646331"/>
          </a:xfrm>
          <a:prstGeom prst="rect">
            <a:avLst/>
          </a:prstGeom>
          <a:noFill/>
        </p:spPr>
        <p:txBody>
          <a:bodyPr wrap="square">
            <a:spAutoFit/>
          </a:bodyPr>
          <a:lstStyle/>
          <a:p>
            <a:r>
              <a:rPr lang="en-US" sz="3600" b="1" spc="0" dirty="0">
                <a:solidFill>
                  <a:srgbClr val="00B0F0"/>
                </a:solidFill>
                <a:effectLst/>
                <a:latin typeface="Times New Roman" panose="02020603050405020304" pitchFamily="18" charset="0"/>
                <a:ea typeface="Times New Roman" panose="02020603050405020304" pitchFamily="18" charset="0"/>
              </a:rPr>
              <a:t>Many</a:t>
            </a:r>
            <a:r>
              <a:rPr lang="en-US" sz="3600" b="1" spc="-20" dirty="0">
                <a:solidFill>
                  <a:srgbClr val="00B0F0"/>
                </a:solidFill>
                <a:effectLst/>
                <a:latin typeface="Times New Roman" panose="02020603050405020304" pitchFamily="18" charset="0"/>
                <a:ea typeface="Times New Roman" panose="02020603050405020304" pitchFamily="18" charset="0"/>
              </a:rPr>
              <a:t> </a:t>
            </a:r>
            <a:r>
              <a:rPr lang="en-US" sz="3600" b="1" spc="0" dirty="0">
                <a:solidFill>
                  <a:srgbClr val="00B0F0"/>
                </a:solidFill>
                <a:effectLst/>
                <a:latin typeface="Times New Roman" panose="02020603050405020304" pitchFamily="18" charset="0"/>
                <a:ea typeface="Times New Roman" panose="02020603050405020304" pitchFamily="18" charset="0"/>
              </a:rPr>
              <a:t>to</a:t>
            </a:r>
            <a:r>
              <a:rPr lang="en-US" sz="3600" b="1" spc="-10" dirty="0">
                <a:solidFill>
                  <a:srgbClr val="00B0F0"/>
                </a:solidFill>
                <a:effectLst/>
                <a:latin typeface="Times New Roman" panose="02020603050405020304" pitchFamily="18" charset="0"/>
                <a:ea typeface="Times New Roman" panose="02020603050405020304" pitchFamily="18" charset="0"/>
              </a:rPr>
              <a:t> </a:t>
            </a:r>
            <a:r>
              <a:rPr lang="en-US" sz="3600" b="1" spc="0" dirty="0">
                <a:solidFill>
                  <a:srgbClr val="00B0F0"/>
                </a:solidFill>
                <a:effectLst/>
                <a:latin typeface="Times New Roman" panose="02020603050405020304" pitchFamily="18" charset="0"/>
                <a:ea typeface="Times New Roman" panose="02020603050405020304" pitchFamily="18" charset="0"/>
              </a:rPr>
              <a:t>many</a:t>
            </a:r>
            <a:r>
              <a:rPr lang="en-US" sz="3600" b="1" spc="-20" dirty="0">
                <a:solidFill>
                  <a:srgbClr val="00B050"/>
                </a:solidFill>
                <a:effectLst/>
                <a:latin typeface="Times New Roman" panose="02020603050405020304" pitchFamily="18" charset="0"/>
                <a:ea typeface="Times New Roman" panose="02020603050405020304" pitchFamily="18" charset="0"/>
              </a:rPr>
              <a:t> </a:t>
            </a:r>
            <a:r>
              <a:rPr lang="en-US" sz="3600" b="1" spc="-10" dirty="0">
                <a:solidFill>
                  <a:srgbClr val="00B050"/>
                </a:solidFill>
                <a:effectLst/>
                <a:latin typeface="Times New Roman" panose="02020603050405020304" pitchFamily="18" charset="0"/>
                <a:ea typeface="Times New Roman" panose="02020603050405020304" pitchFamily="18" charset="0"/>
              </a:rPr>
              <a:t>(</a:t>
            </a:r>
            <a:r>
              <a:rPr lang="en-US" sz="3600" b="1" spc="-10" dirty="0">
                <a:solidFill>
                  <a:schemeClr val="tx1">
                    <a:lumMod val="95000"/>
                    <a:lumOff val="5000"/>
                  </a:schemeClr>
                </a:solidFill>
                <a:effectLst/>
                <a:latin typeface="Times New Roman" panose="02020603050405020304" pitchFamily="18" charset="0"/>
                <a:ea typeface="Times New Roman" panose="02020603050405020304" pitchFamily="18" charset="0"/>
              </a:rPr>
              <a:t>M:M</a:t>
            </a:r>
            <a:r>
              <a:rPr lang="en-US" sz="3600" b="1" spc="-10" dirty="0">
                <a:solidFill>
                  <a:srgbClr val="00B050"/>
                </a:solidFill>
                <a:effectLst/>
                <a:latin typeface="Times New Roman" panose="02020603050405020304" pitchFamily="18" charset="0"/>
                <a:ea typeface="Times New Roman" panose="02020603050405020304" pitchFamily="18" charset="0"/>
              </a:rPr>
              <a:t>)</a:t>
            </a:r>
            <a:endParaRPr lang="en-IN" sz="3600" dirty="0"/>
          </a:p>
        </p:txBody>
      </p:sp>
      <p:sp>
        <p:nvSpPr>
          <p:cNvPr id="5" name="TextBox 4">
            <a:extLst>
              <a:ext uri="{FF2B5EF4-FFF2-40B4-BE49-F238E27FC236}">
                <a16:creationId xmlns:a16="http://schemas.microsoft.com/office/drawing/2014/main" id="{563FD8FA-ADC2-E0E9-A7FF-1783C3B44C5A}"/>
              </a:ext>
            </a:extLst>
          </p:cNvPr>
          <p:cNvSpPr txBox="1"/>
          <p:nvPr/>
        </p:nvSpPr>
        <p:spPr>
          <a:xfrm>
            <a:off x="1284514" y="1462092"/>
            <a:ext cx="9971315" cy="1315873"/>
          </a:xfrm>
          <a:prstGeom prst="rect">
            <a:avLst/>
          </a:prstGeom>
          <a:noFill/>
        </p:spPr>
        <p:txBody>
          <a:bodyPr wrap="square">
            <a:spAutoFit/>
          </a:bodyPr>
          <a:lstStyle/>
          <a:p>
            <a:pPr algn="just">
              <a:lnSpc>
                <a:spcPct val="150000"/>
              </a:lnSpc>
            </a:pPr>
            <a:r>
              <a:rPr lang="en-US" sz="2800" dirty="0">
                <a:solidFill>
                  <a:srgbClr val="1F2329"/>
                </a:solidFill>
                <a:effectLst/>
                <a:latin typeface="Times New Roman" panose="02020603050405020304" pitchFamily="18" charset="0"/>
                <a:ea typeface="Times New Roman" panose="02020603050405020304" pitchFamily="18" charset="0"/>
              </a:rPr>
              <a:t>An</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entity</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is</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associated</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with</a:t>
            </a:r>
            <a:r>
              <a:rPr lang="en-US" sz="2800" spc="-1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any</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number</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of</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entities</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and</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 entity in Bis associated with any number of entities in A. </a:t>
            </a:r>
            <a:endParaRPr lang="en-IN" sz="2800" dirty="0"/>
          </a:p>
        </p:txBody>
      </p:sp>
      <p:pic>
        <p:nvPicPr>
          <p:cNvPr id="6" name="Picture 5">
            <a:extLst>
              <a:ext uri="{FF2B5EF4-FFF2-40B4-BE49-F238E27FC236}">
                <a16:creationId xmlns:a16="http://schemas.microsoft.com/office/drawing/2014/main" id="{DA41023D-26E1-6A8D-20A1-9145D5AEBFA4}"/>
              </a:ext>
            </a:extLst>
          </p:cNvPr>
          <p:cNvPicPr>
            <a:picLocks noChangeAspect="1"/>
          </p:cNvPicPr>
          <p:nvPr/>
        </p:nvPicPr>
        <p:blipFill>
          <a:blip r:embed="rId2"/>
          <a:stretch>
            <a:fillRect/>
          </a:stretch>
        </p:blipFill>
        <p:spPr>
          <a:xfrm>
            <a:off x="3289153" y="3755552"/>
            <a:ext cx="6080248" cy="1640356"/>
          </a:xfrm>
          <a:prstGeom prst="rect">
            <a:avLst/>
          </a:prstGeom>
        </p:spPr>
      </p:pic>
    </p:spTree>
    <p:extLst>
      <p:ext uri="{BB962C8B-B14F-4D97-AF65-F5344CB8AC3E}">
        <p14:creationId xmlns:p14="http://schemas.microsoft.com/office/powerpoint/2010/main" val="215439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E2981-159F-5FC8-7839-56ADB8718E80}"/>
              </a:ext>
            </a:extLst>
          </p:cNvPr>
          <p:cNvSpPr txBox="1"/>
          <p:nvPr/>
        </p:nvSpPr>
        <p:spPr>
          <a:xfrm>
            <a:off x="1164771" y="620486"/>
            <a:ext cx="10167258" cy="1307537"/>
          </a:xfrm>
          <a:prstGeom prst="rect">
            <a:avLst/>
          </a:prstGeom>
          <a:noFill/>
        </p:spPr>
        <p:txBody>
          <a:bodyPr wrap="square">
            <a:spAutoFit/>
          </a:bodyPr>
          <a:lstStyle/>
          <a:p>
            <a:pPr marL="194945" marR="525145" algn="just">
              <a:lnSpc>
                <a:spcPct val="150000"/>
              </a:lnSpc>
            </a:pPr>
            <a:r>
              <a:rPr lang="en-US" sz="2800" dirty="0">
                <a:solidFill>
                  <a:srgbClr val="1F2329"/>
                </a:solidFill>
                <a:effectLst/>
                <a:latin typeface="Times New Roman" panose="02020603050405020304" pitchFamily="18" charset="0"/>
                <a:ea typeface="Times New Roman" panose="02020603050405020304" pitchFamily="18" charset="0"/>
              </a:rPr>
              <a:t>For</a:t>
            </a:r>
            <a:r>
              <a:rPr lang="en-US" sz="2800" spc="17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example:</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Here</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many</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books</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are</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written</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by</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many</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authors</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and</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many</a:t>
            </a:r>
            <a:r>
              <a:rPr lang="en-US" sz="2800" spc="17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authors</a:t>
            </a:r>
            <a:r>
              <a:rPr lang="en-US" sz="2800" spc="-8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write</a:t>
            </a:r>
            <a:r>
              <a:rPr lang="en-US" sz="2800" spc="16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many </a:t>
            </a:r>
            <a:r>
              <a:rPr lang="en-US" sz="2800" spc="-10" dirty="0">
                <a:solidFill>
                  <a:srgbClr val="1F2329"/>
                </a:solidFill>
                <a:effectLst/>
                <a:latin typeface="Times New Roman" panose="02020603050405020304" pitchFamily="18" charset="0"/>
                <a:ea typeface="Times New Roman" panose="02020603050405020304" pitchFamily="18" charset="0"/>
              </a:rPr>
              <a:t>books.</a:t>
            </a:r>
            <a:endParaRPr lang="en-IN" sz="2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0491EB9E-6A19-EF7E-5F26-57B95D3973A1}"/>
              </a:ext>
            </a:extLst>
          </p:cNvPr>
          <p:cNvPicPr>
            <a:picLocks noChangeAspect="1"/>
          </p:cNvPicPr>
          <p:nvPr/>
        </p:nvPicPr>
        <p:blipFill>
          <a:blip r:embed="rId2"/>
          <a:stretch>
            <a:fillRect/>
          </a:stretch>
        </p:blipFill>
        <p:spPr>
          <a:xfrm>
            <a:off x="1466364" y="2989970"/>
            <a:ext cx="9707789" cy="2535978"/>
          </a:xfrm>
          <a:prstGeom prst="rect">
            <a:avLst/>
          </a:prstGeom>
        </p:spPr>
      </p:pic>
    </p:spTree>
    <p:extLst>
      <p:ext uri="{BB962C8B-B14F-4D97-AF65-F5344CB8AC3E}">
        <p14:creationId xmlns:p14="http://schemas.microsoft.com/office/powerpoint/2010/main" val="164126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655F80-0F58-19B2-499E-BDDD52DEAED6}"/>
              </a:ext>
            </a:extLst>
          </p:cNvPr>
          <p:cNvSpPr txBox="1"/>
          <p:nvPr/>
        </p:nvSpPr>
        <p:spPr>
          <a:xfrm>
            <a:off x="2775857" y="381391"/>
            <a:ext cx="6096000" cy="584775"/>
          </a:xfrm>
          <a:prstGeom prst="rect">
            <a:avLst/>
          </a:prstGeom>
          <a:noFill/>
        </p:spPr>
        <p:txBody>
          <a:bodyPr wrap="square">
            <a:spAutoFit/>
          </a:bodyPr>
          <a:lstStyle/>
          <a:p>
            <a:r>
              <a:rPr lang="en-US" sz="3200" b="1" dirty="0">
                <a:solidFill>
                  <a:srgbClr val="002060"/>
                </a:solidFill>
                <a:effectLst/>
                <a:latin typeface="Times New Roman" panose="02020603050405020304" pitchFamily="18" charset="0"/>
                <a:ea typeface="Times New Roman" panose="02020603050405020304" pitchFamily="18" charset="0"/>
              </a:rPr>
              <a:t>Participation</a:t>
            </a:r>
            <a:r>
              <a:rPr lang="en-US" sz="3200" b="1" spc="-40" dirty="0">
                <a:solidFill>
                  <a:srgbClr val="002060"/>
                </a:solidFill>
                <a:effectLst/>
                <a:latin typeface="Times New Roman" panose="02020603050405020304" pitchFamily="18" charset="0"/>
                <a:ea typeface="Times New Roman" panose="02020603050405020304" pitchFamily="18" charset="0"/>
              </a:rPr>
              <a:t> </a:t>
            </a:r>
            <a:r>
              <a:rPr lang="en-US" sz="3200" b="1" spc="-10" dirty="0">
                <a:solidFill>
                  <a:srgbClr val="002060"/>
                </a:solidFill>
                <a:effectLst/>
                <a:latin typeface="Times New Roman" panose="02020603050405020304" pitchFamily="18" charset="0"/>
                <a:ea typeface="Times New Roman" panose="02020603050405020304" pitchFamily="18" charset="0"/>
              </a:rPr>
              <a:t>Constraints</a:t>
            </a:r>
            <a:endParaRPr lang="en-IN" sz="3200" b="1" dirty="0">
              <a:solidFill>
                <a:srgbClr val="002060"/>
              </a:solidFill>
            </a:endParaRPr>
          </a:p>
        </p:txBody>
      </p:sp>
      <p:sp>
        <p:nvSpPr>
          <p:cNvPr id="5" name="TextBox 4">
            <a:extLst>
              <a:ext uri="{FF2B5EF4-FFF2-40B4-BE49-F238E27FC236}">
                <a16:creationId xmlns:a16="http://schemas.microsoft.com/office/drawing/2014/main" id="{93227AC2-53B6-E010-B8C8-E88561FC40CA}"/>
              </a:ext>
            </a:extLst>
          </p:cNvPr>
          <p:cNvSpPr txBox="1"/>
          <p:nvPr/>
        </p:nvSpPr>
        <p:spPr>
          <a:xfrm>
            <a:off x="76201" y="1080337"/>
            <a:ext cx="12485914" cy="5150449"/>
          </a:xfrm>
          <a:prstGeom prst="rect">
            <a:avLst/>
          </a:prstGeom>
          <a:noFill/>
        </p:spPr>
        <p:txBody>
          <a:bodyPr wrap="square">
            <a:spAutoFit/>
          </a:bodyPr>
          <a:lstStyle/>
          <a:p>
            <a:pPr marL="742950" lvl="1" indent="-285750">
              <a:lnSpc>
                <a:spcPct val="200000"/>
              </a:lnSpc>
              <a:buSzPts val="1200"/>
              <a:buFont typeface="Wingdings" panose="05000000000000000000" pitchFamily="2" charset="2"/>
              <a:buChar char="Ø"/>
              <a:tabLst>
                <a:tab pos="464820" algn="l"/>
              </a:tabLst>
            </a:pP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There</a:t>
            </a:r>
            <a:r>
              <a:rPr lang="en-US" sz="2400" spc="-3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are</a:t>
            </a:r>
            <a:r>
              <a:rPr lang="en-US" sz="24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two</a:t>
            </a:r>
            <a:r>
              <a:rPr lang="en-US" sz="24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types</a:t>
            </a:r>
            <a:r>
              <a:rPr lang="en-US" sz="24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of</a:t>
            </a:r>
            <a:r>
              <a:rPr lang="en-US" sz="2400" spc="-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participation</a:t>
            </a:r>
            <a:r>
              <a:rPr lang="en-US" sz="24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constraints</a:t>
            </a:r>
            <a:r>
              <a:rPr lang="en-US" sz="24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t>
            </a:r>
            <a:r>
              <a:rPr lang="en-US" sz="24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total</a:t>
            </a:r>
            <a:r>
              <a:rPr lang="en-US" sz="2400" b="1"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and</a:t>
            </a:r>
            <a:r>
              <a:rPr lang="en-US" sz="24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partial</a:t>
            </a:r>
            <a:r>
              <a:rPr lang="en-US" sz="24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t>
            </a:r>
            <a:endParaRPr lang="en-IN" sz="20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641350" lvl="1" indent="-285750">
              <a:lnSpc>
                <a:spcPct val="200000"/>
              </a:lnSpc>
              <a:buSzPts val="1200"/>
              <a:buFont typeface="Wingdings" panose="05000000000000000000" pitchFamily="2" charset="2"/>
              <a:buChar char="Ø"/>
              <a:tabLst>
                <a:tab pos="464820" algn="l"/>
              </a:tabLst>
            </a:pP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400" spc="17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participation</a:t>
            </a:r>
            <a:r>
              <a:rPr lang="en-US" sz="2400" spc="20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of</a:t>
            </a:r>
            <a:r>
              <a:rPr lang="en-US" sz="2400" spc="18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an</a:t>
            </a:r>
            <a:r>
              <a:rPr lang="en-US" sz="2400" spc="18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entity</a:t>
            </a:r>
            <a:r>
              <a:rPr lang="en-US" sz="2400" spc="20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set</a:t>
            </a:r>
            <a:r>
              <a:rPr lang="en-US" sz="2400" spc="20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E</a:t>
            </a:r>
            <a:r>
              <a:rPr lang="en-US" sz="2400" b="1" spc="19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a:t>
            </a:r>
            <a:r>
              <a:rPr lang="en-US" sz="2400" spc="19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a:t>
            </a:r>
            <a:r>
              <a:rPr lang="en-US" sz="2400" spc="19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relationship</a:t>
            </a:r>
            <a:r>
              <a:rPr lang="en-US" sz="2400" spc="19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set</a:t>
            </a:r>
            <a:r>
              <a:rPr lang="en-US" sz="2400" spc="20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R</a:t>
            </a:r>
            <a:r>
              <a:rPr lang="en-US" sz="2400" b="1" spc="19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is</a:t>
            </a:r>
            <a:r>
              <a:rPr lang="en-US" sz="2400" spc="20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said</a:t>
            </a:r>
            <a:r>
              <a:rPr lang="en-US" sz="2400" spc="19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to</a:t>
            </a:r>
            <a:r>
              <a:rPr lang="en-US" sz="2400" spc="20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be</a:t>
            </a:r>
            <a:r>
              <a:rPr lang="en-US" sz="2400" spc="20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total</a:t>
            </a:r>
            <a:r>
              <a:rPr lang="en-US" sz="2400" b="1" spc="19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if</a:t>
            </a:r>
            <a:r>
              <a:rPr lang="en-US" sz="2400" b="1" spc="-13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chemeClr val="accent2">
                    <a:lumMod val="50000"/>
                  </a:schemeClr>
                </a:solidFill>
                <a:effectLst/>
                <a:latin typeface="Times New Roman" panose="02020603050405020304" pitchFamily="18" charset="0"/>
                <a:ea typeface="Symbol" panose="05050102010706020507" pitchFamily="18" charset="2"/>
                <a:cs typeface="Symbol" panose="05050102010706020507" pitchFamily="18" charset="2"/>
              </a:rPr>
              <a:t>every entity</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in E participates in at least one relationship in R</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t>
            </a:r>
            <a:endParaRPr lang="en-IN" sz="2000" spc="0" dirty="0">
              <a:effectLst/>
              <a:latin typeface="Times New Roman" panose="02020603050405020304" pitchFamily="18" charset="0"/>
              <a:ea typeface="Symbol" panose="05050102010706020507" pitchFamily="18" charset="2"/>
              <a:cs typeface="Symbol" panose="05050102010706020507" pitchFamily="18" charset="2"/>
            </a:endParaRPr>
          </a:p>
          <a:p>
            <a:pPr marL="742950" marR="641985" lvl="1" indent="-285750">
              <a:lnSpc>
                <a:spcPct val="200000"/>
              </a:lnSpc>
              <a:buSzPts val="1200"/>
              <a:buFont typeface="Wingdings" panose="05000000000000000000" pitchFamily="2" charset="2"/>
              <a:buChar char="Ø"/>
              <a:tabLst>
                <a:tab pos="464820" algn="l"/>
              </a:tabLst>
            </a:pP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If</a:t>
            </a:r>
            <a:r>
              <a:rPr lang="en-US" sz="2400" spc="14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only</a:t>
            </a:r>
            <a:r>
              <a:rPr lang="en-US" sz="2400" spc="15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chemeClr val="accent2">
                    <a:lumMod val="50000"/>
                  </a:schemeClr>
                </a:solidFill>
                <a:effectLst/>
                <a:latin typeface="Times New Roman" panose="02020603050405020304" pitchFamily="18" charset="0"/>
                <a:ea typeface="Symbol" panose="05050102010706020507" pitchFamily="18" charset="2"/>
                <a:cs typeface="Symbol" panose="05050102010706020507" pitchFamily="18" charset="2"/>
              </a:rPr>
              <a:t>some</a:t>
            </a:r>
            <a:r>
              <a:rPr lang="en-US" sz="2400" b="1" i="1" spc="160" dirty="0">
                <a:solidFill>
                  <a:schemeClr val="accent2">
                    <a:lumMod val="50000"/>
                  </a:schemeClr>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chemeClr val="accent2">
                    <a:lumMod val="50000"/>
                  </a:schemeClr>
                </a:solidFill>
                <a:effectLst/>
                <a:latin typeface="Times New Roman" panose="02020603050405020304" pitchFamily="18" charset="0"/>
                <a:ea typeface="Symbol" panose="05050102010706020507" pitchFamily="18" charset="2"/>
                <a:cs typeface="Symbol" panose="05050102010706020507" pitchFamily="18" charset="2"/>
              </a:rPr>
              <a:t>entities</a:t>
            </a:r>
            <a:r>
              <a:rPr lang="en-US" sz="2400" b="1" i="1" spc="155" dirty="0">
                <a:solidFill>
                  <a:schemeClr val="accent2">
                    <a:lumMod val="50000"/>
                  </a:schemeClr>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a:t>
            </a:r>
            <a:r>
              <a:rPr lang="en-US" sz="2400" b="1" spc="16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E</a:t>
            </a:r>
            <a:r>
              <a:rPr lang="en-US" sz="2400" b="1" spc="14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participate</a:t>
            </a:r>
            <a:r>
              <a:rPr lang="en-US" sz="2400" b="1" spc="16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a:t>
            </a:r>
            <a:r>
              <a:rPr lang="en-US" sz="2400" b="1" spc="15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relationships</a:t>
            </a:r>
            <a:r>
              <a:rPr lang="en-US" sz="2400" b="1" spc="16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a:t>
            </a:r>
            <a:r>
              <a:rPr lang="en-US" sz="2400" b="1" spc="17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R</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t>
            </a:r>
            <a:r>
              <a:rPr lang="en-US" sz="2400" spc="16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400" spc="16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participation of entity set E in relationship R is said to be </a:t>
            </a:r>
            <a:r>
              <a:rPr lang="en-US" sz="2400" b="1"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partial</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t>
            </a:r>
            <a:endParaRPr lang="en-IN" sz="2000" spc="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nSpc>
                <a:spcPct val="200000"/>
              </a:lnSpc>
              <a:buSzPts val="1200"/>
              <a:buFont typeface="Wingdings" panose="05000000000000000000" pitchFamily="2" charset="2"/>
              <a:buChar char="Ø"/>
              <a:tabLst>
                <a:tab pos="464820" algn="l"/>
              </a:tabLst>
            </a:pPr>
            <a:r>
              <a:rPr lang="en-US" sz="2400" b="1" i="1" spc="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Double</a:t>
            </a:r>
            <a:r>
              <a:rPr lang="en-US" sz="2400" b="1" i="1" spc="-25"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line</a:t>
            </a:r>
            <a:r>
              <a:rPr lang="en-US" sz="2400" b="1" i="1" spc="-25"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indicates</a:t>
            </a:r>
            <a:r>
              <a:rPr lang="en-US" sz="2400" spc="-4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4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total</a:t>
            </a:r>
            <a:r>
              <a:rPr lang="en-US" sz="2400" b="1" i="1" spc="-2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rgbClr val="FF0000"/>
                </a:solidFill>
                <a:effectLst/>
                <a:latin typeface="Times New Roman" panose="02020603050405020304" pitchFamily="18" charset="0"/>
                <a:ea typeface="Symbol" panose="05050102010706020507" pitchFamily="18" charset="2"/>
                <a:cs typeface="Symbol" panose="05050102010706020507" pitchFamily="18" charset="2"/>
              </a:rPr>
              <a:t>participation </a:t>
            </a:r>
            <a:r>
              <a:rPr lang="en-US" sz="24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constraint.</a:t>
            </a:r>
            <a:endParaRPr lang="en-IN" sz="2000" spc="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nSpc>
                <a:spcPct val="200000"/>
              </a:lnSpc>
              <a:buSzPts val="1200"/>
              <a:buFont typeface="Wingdings" panose="05000000000000000000" pitchFamily="2" charset="2"/>
              <a:buChar char="Ø"/>
              <a:tabLst>
                <a:tab pos="464820" algn="l"/>
              </a:tabLst>
            </a:pPr>
            <a:r>
              <a:rPr lang="en-US" sz="2400" b="1" i="1" spc="0"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Single</a:t>
            </a:r>
            <a:r>
              <a:rPr lang="en-US" sz="2400" b="1" i="1" spc="-20"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line</a:t>
            </a:r>
            <a:r>
              <a:rPr lang="en-US" sz="2400" b="1" i="1" spc="-25"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indicates</a:t>
            </a:r>
            <a:r>
              <a:rPr lang="en-US" sz="24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4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partial</a:t>
            </a:r>
            <a:r>
              <a:rPr lang="en-US" sz="2400" b="1" i="1" spc="-20"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b="1" i="1" spc="0"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participation</a:t>
            </a:r>
            <a:r>
              <a:rPr lang="en-US" sz="2400" b="1" i="1" spc="-10" dirty="0">
                <a:solidFill>
                  <a:srgbClr val="0070C0"/>
                </a:solidFill>
                <a:effectLst/>
                <a:latin typeface="Times New Roman" panose="02020603050405020304" pitchFamily="18" charset="0"/>
                <a:ea typeface="Symbol" panose="05050102010706020507" pitchFamily="18" charset="2"/>
                <a:cs typeface="Symbol" panose="05050102010706020507" pitchFamily="18" charset="2"/>
              </a:rPr>
              <a:t> </a:t>
            </a:r>
            <a:r>
              <a:rPr lang="en-US" sz="24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constraint.</a:t>
            </a:r>
            <a:endParaRPr lang="en-IN" sz="2000" spc="0" dirty="0">
              <a:effectLst/>
              <a:latin typeface="Times New Roman" panose="02020603050405020304" pitchFamily="18" charset="0"/>
              <a:ea typeface="Symbol" panose="05050102010706020507" pitchFamily="18" charset="2"/>
              <a:cs typeface="Symbol" panose="05050102010706020507" pitchFamily="18" charset="2"/>
            </a:endParaRPr>
          </a:p>
        </p:txBody>
      </p:sp>
    </p:spTree>
    <p:extLst>
      <p:ext uri="{BB962C8B-B14F-4D97-AF65-F5344CB8AC3E}">
        <p14:creationId xmlns:p14="http://schemas.microsoft.com/office/powerpoint/2010/main" val="166620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9B54B1-2B38-8933-6E10-134690A8A0D1}"/>
              </a:ext>
            </a:extLst>
          </p:cNvPr>
          <p:cNvPicPr>
            <a:picLocks noChangeAspect="1"/>
          </p:cNvPicPr>
          <p:nvPr/>
        </p:nvPicPr>
        <p:blipFill>
          <a:blip r:embed="rId2"/>
          <a:stretch>
            <a:fillRect/>
          </a:stretch>
        </p:blipFill>
        <p:spPr>
          <a:xfrm>
            <a:off x="1317770" y="509420"/>
            <a:ext cx="8623631" cy="1493551"/>
          </a:xfrm>
          <a:prstGeom prst="rect">
            <a:avLst/>
          </a:prstGeom>
        </p:spPr>
      </p:pic>
      <p:sp>
        <p:nvSpPr>
          <p:cNvPr id="6" name="TextBox 5">
            <a:extLst>
              <a:ext uri="{FF2B5EF4-FFF2-40B4-BE49-F238E27FC236}">
                <a16:creationId xmlns:a16="http://schemas.microsoft.com/office/drawing/2014/main" id="{9EDB42B5-9910-A805-A637-ADC39E7901AD}"/>
              </a:ext>
            </a:extLst>
          </p:cNvPr>
          <p:cNvSpPr txBox="1"/>
          <p:nvPr/>
        </p:nvSpPr>
        <p:spPr>
          <a:xfrm>
            <a:off x="533400" y="2416629"/>
            <a:ext cx="11288486" cy="3898824"/>
          </a:xfrm>
          <a:prstGeom prst="rect">
            <a:avLst/>
          </a:prstGeom>
          <a:noFill/>
        </p:spPr>
        <p:txBody>
          <a:bodyPr wrap="square">
            <a:spAutoFit/>
          </a:bodyPr>
          <a:lstStyle/>
          <a:p>
            <a:pPr marL="194945" marR="525145" algn="just">
              <a:lnSpc>
                <a:spcPct val="150000"/>
              </a:lnSpc>
              <a:spcBef>
                <a:spcPts val="1365"/>
              </a:spcBef>
            </a:pPr>
            <a:r>
              <a:rPr lang="en-US" sz="2800" dirty="0">
                <a:solidFill>
                  <a:srgbClr val="1F2329"/>
                </a:solidFill>
                <a:effectLst/>
                <a:latin typeface="Times New Roman" panose="02020603050405020304" pitchFamily="18" charset="0"/>
                <a:ea typeface="Times New Roman" panose="02020603050405020304" pitchFamily="18" charset="0"/>
              </a:rPr>
              <a:t>	The</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participation</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of</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entity</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set</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b="1" i="1" dirty="0">
                <a:solidFill>
                  <a:srgbClr val="1F2329"/>
                </a:solidFill>
                <a:effectLst/>
                <a:latin typeface="Times New Roman" panose="02020603050405020304" pitchFamily="18" charset="0"/>
                <a:ea typeface="Times New Roman" panose="02020603050405020304" pitchFamily="18" charset="0"/>
              </a:rPr>
              <a:t>course</a:t>
            </a:r>
            <a:r>
              <a:rPr lang="en-US" sz="2800" b="1" i="1"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b="1" i="1" dirty="0">
                <a:solidFill>
                  <a:srgbClr val="1F2329"/>
                </a:solidFill>
                <a:effectLst/>
                <a:latin typeface="Times New Roman" panose="02020603050405020304" pitchFamily="18" charset="0"/>
                <a:ea typeface="Times New Roman" panose="02020603050405020304" pitchFamily="18" charset="0"/>
              </a:rPr>
              <a:t>enrolled</a:t>
            </a:r>
            <a:r>
              <a:rPr lang="en-US" sz="2800" b="1" i="1"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relationship</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set</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is</a:t>
            </a:r>
            <a:r>
              <a:rPr lang="en-US" sz="2800" spc="200" dirty="0">
                <a:solidFill>
                  <a:srgbClr val="1F2329"/>
                </a:solidFill>
                <a:effectLst/>
                <a:latin typeface="Times New Roman" panose="02020603050405020304" pitchFamily="18" charset="0"/>
                <a:ea typeface="Times New Roman" panose="02020603050405020304" pitchFamily="18" charset="0"/>
              </a:rPr>
              <a:t> </a:t>
            </a:r>
            <a:r>
              <a:rPr lang="en-US" sz="2800" b="1" dirty="0">
                <a:solidFill>
                  <a:srgbClr val="1F2329"/>
                </a:solidFill>
                <a:effectLst/>
                <a:latin typeface="Times New Roman" panose="02020603050405020304" pitchFamily="18" charset="0"/>
                <a:ea typeface="Times New Roman" panose="02020603050405020304" pitchFamily="18" charset="0"/>
              </a:rPr>
              <a:t>partial </a:t>
            </a:r>
            <a:r>
              <a:rPr lang="en-US" sz="2400" dirty="0">
                <a:solidFill>
                  <a:srgbClr val="1F2329"/>
                </a:solidFill>
                <a:effectLst/>
                <a:latin typeface="Times New Roman" panose="02020603050405020304" pitchFamily="18" charset="0"/>
                <a:ea typeface="Times New Roman" panose="02020603050405020304" pitchFamily="18" charset="0"/>
              </a:rPr>
              <a:t>because a course may or may not have students enrolled in.</a:t>
            </a:r>
          </a:p>
          <a:p>
            <a:pPr marL="194945" marR="525145" algn="just">
              <a:lnSpc>
                <a:spcPct val="150000"/>
              </a:lnSpc>
              <a:spcBef>
                <a:spcPts val="1365"/>
              </a:spcBef>
            </a:pPr>
            <a:endParaRPr lang="en-IN" sz="2400" dirty="0">
              <a:effectLst/>
              <a:latin typeface="Times New Roman" panose="02020603050405020304" pitchFamily="18" charset="0"/>
              <a:ea typeface="Times New Roman" panose="02020603050405020304" pitchFamily="18" charset="0"/>
            </a:endParaRPr>
          </a:p>
          <a:p>
            <a:pPr marL="194945" marR="525145" algn="just">
              <a:lnSpc>
                <a:spcPct val="150000"/>
              </a:lnSpc>
            </a:pPr>
            <a:r>
              <a:rPr lang="en-US" sz="2800" dirty="0">
                <a:solidFill>
                  <a:srgbClr val="1F2329"/>
                </a:solidFill>
                <a:effectLst/>
                <a:latin typeface="Times New Roman" panose="02020603050405020304" pitchFamily="18" charset="0"/>
                <a:ea typeface="Times New Roman" panose="02020603050405020304" pitchFamily="18" charset="0"/>
              </a:rPr>
              <a:t>	The</a:t>
            </a:r>
            <a:r>
              <a:rPr lang="en-US" sz="2800" spc="39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participation</a:t>
            </a:r>
            <a:r>
              <a:rPr lang="en-US" sz="2800" spc="4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of</a:t>
            </a:r>
            <a:r>
              <a:rPr lang="en-US" sz="2800" spc="4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entity</a:t>
            </a:r>
            <a:r>
              <a:rPr lang="en-US" sz="2800" spc="4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set</a:t>
            </a:r>
            <a:r>
              <a:rPr lang="en-US" sz="2800" spc="400" dirty="0">
                <a:solidFill>
                  <a:srgbClr val="1F2329"/>
                </a:solidFill>
                <a:effectLst/>
                <a:latin typeface="Times New Roman" panose="02020603050405020304" pitchFamily="18" charset="0"/>
                <a:ea typeface="Times New Roman" panose="02020603050405020304" pitchFamily="18" charset="0"/>
              </a:rPr>
              <a:t> </a:t>
            </a:r>
            <a:r>
              <a:rPr lang="en-US" sz="2800" b="1" i="1" dirty="0">
                <a:solidFill>
                  <a:srgbClr val="1F2329"/>
                </a:solidFill>
                <a:effectLst/>
                <a:latin typeface="Times New Roman" panose="02020603050405020304" pitchFamily="18" charset="0"/>
                <a:ea typeface="Times New Roman" panose="02020603050405020304" pitchFamily="18" charset="0"/>
              </a:rPr>
              <a:t>student</a:t>
            </a:r>
            <a:r>
              <a:rPr lang="en-US" sz="2800" b="1" i="1" spc="4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a:t>
            </a:r>
            <a:r>
              <a:rPr lang="en-US" sz="2800" spc="400" dirty="0">
                <a:solidFill>
                  <a:srgbClr val="1F2329"/>
                </a:solidFill>
                <a:effectLst/>
                <a:latin typeface="Times New Roman" panose="02020603050405020304" pitchFamily="18" charset="0"/>
                <a:ea typeface="Times New Roman" panose="02020603050405020304" pitchFamily="18" charset="0"/>
              </a:rPr>
              <a:t> </a:t>
            </a:r>
            <a:r>
              <a:rPr lang="en-US" sz="2800" b="1" i="1" dirty="0">
                <a:solidFill>
                  <a:srgbClr val="1F2329"/>
                </a:solidFill>
                <a:effectLst/>
                <a:latin typeface="Times New Roman" panose="02020603050405020304" pitchFamily="18" charset="0"/>
                <a:ea typeface="Times New Roman" panose="02020603050405020304" pitchFamily="18" charset="0"/>
              </a:rPr>
              <a:t>enrolled</a:t>
            </a:r>
            <a:r>
              <a:rPr lang="en-US" sz="2800" b="1" i="1" spc="4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relationship</a:t>
            </a:r>
            <a:r>
              <a:rPr lang="en-US" sz="2800" spc="39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set</a:t>
            </a:r>
            <a:r>
              <a:rPr lang="en-US" sz="2800" spc="40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is</a:t>
            </a:r>
            <a:r>
              <a:rPr lang="en-US" sz="2800" spc="400" dirty="0">
                <a:solidFill>
                  <a:srgbClr val="1F2329"/>
                </a:solidFill>
                <a:effectLst/>
                <a:latin typeface="Times New Roman" panose="02020603050405020304" pitchFamily="18" charset="0"/>
                <a:ea typeface="Times New Roman" panose="02020603050405020304" pitchFamily="18" charset="0"/>
              </a:rPr>
              <a:t> </a:t>
            </a:r>
            <a:r>
              <a:rPr lang="en-US" sz="2800" b="1" dirty="0">
                <a:solidFill>
                  <a:srgbClr val="1F2329"/>
                </a:solidFill>
                <a:effectLst/>
                <a:latin typeface="Times New Roman" panose="02020603050405020304" pitchFamily="18" charset="0"/>
                <a:ea typeface="Times New Roman" panose="02020603050405020304" pitchFamily="18" charset="0"/>
              </a:rPr>
              <a:t>total</a:t>
            </a:r>
            <a:r>
              <a:rPr lang="en-US" sz="2800" b="1" spc="18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because</a:t>
            </a:r>
            <a:r>
              <a:rPr lang="en-US" sz="2400" spc="165" dirty="0">
                <a:solidFill>
                  <a:srgbClr val="1F2329"/>
                </a:solidFill>
                <a:effectLst/>
                <a:latin typeface="Times New Roman" panose="02020603050405020304" pitchFamily="18" charset="0"/>
                <a:ea typeface="Times New Roman" panose="02020603050405020304" pitchFamily="18" charset="0"/>
              </a:rPr>
              <a:t> </a:t>
            </a:r>
            <a:r>
              <a:rPr lang="en-US" sz="2400" dirty="0">
                <a:solidFill>
                  <a:srgbClr val="1F2329"/>
                </a:solidFill>
                <a:effectLst/>
                <a:latin typeface="Times New Roman" panose="02020603050405020304" pitchFamily="18" charset="0"/>
                <a:ea typeface="Times New Roman" panose="02020603050405020304" pitchFamily="18" charset="0"/>
              </a:rPr>
              <a:t>every student is expected to relate at least one course through the enrolled relationship set</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4493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938E91-AC37-82E9-3FF9-A4F3C9CA6D16}"/>
              </a:ext>
            </a:extLst>
          </p:cNvPr>
          <p:cNvSpPr txBox="1"/>
          <p:nvPr/>
        </p:nvSpPr>
        <p:spPr>
          <a:xfrm>
            <a:off x="742950" y="897209"/>
            <a:ext cx="10706099" cy="4269887"/>
          </a:xfrm>
          <a:prstGeom prst="rect">
            <a:avLst/>
          </a:prstGeom>
          <a:noFill/>
        </p:spPr>
        <p:txBody>
          <a:bodyPr wrap="square">
            <a:spAutoFit/>
          </a:bodyPr>
          <a:lstStyle/>
          <a:p>
            <a:pPr algn="just">
              <a:lnSpc>
                <a:spcPct val="200000"/>
              </a:lnSpc>
            </a:pPr>
            <a:r>
              <a:rPr lang="en-US" sz="2800" b="0" i="0" dirty="0">
                <a:solidFill>
                  <a:srgbClr val="001D35"/>
                </a:solidFill>
                <a:effectLst/>
                <a:latin typeface="Times New Roman" panose="02020603050405020304" pitchFamily="18" charset="0"/>
                <a:cs typeface="Times New Roman" panose="02020603050405020304" pitchFamily="18" charset="0"/>
              </a:rPr>
              <a:t>	"</a:t>
            </a:r>
            <a:r>
              <a:rPr lang="en-US" sz="2800" b="1" i="1" dirty="0">
                <a:solidFill>
                  <a:srgbClr val="FF0000"/>
                </a:solidFill>
                <a:effectLst/>
                <a:latin typeface="Times New Roman" panose="02020603050405020304" pitchFamily="18" charset="0"/>
                <a:cs typeface="Times New Roman" panose="02020603050405020304" pitchFamily="18" charset="0"/>
              </a:rPr>
              <a:t>cardinality</a:t>
            </a:r>
            <a:r>
              <a:rPr lang="en-US" sz="2800" b="0" i="0" dirty="0">
                <a:solidFill>
                  <a:srgbClr val="001D35"/>
                </a:solidFill>
                <a:effectLst/>
                <a:latin typeface="Times New Roman" panose="02020603050405020304" pitchFamily="18" charset="0"/>
                <a:cs typeface="Times New Roman" panose="02020603050405020304" pitchFamily="18" charset="0"/>
              </a:rPr>
              <a:t>" defines the number of instances of one entity that can be related to the number of instances of another entity (like one-to-one, one-to-many), while "</a:t>
            </a:r>
            <a:r>
              <a:rPr lang="en-US" sz="2800" b="1" i="1" dirty="0">
                <a:solidFill>
                  <a:srgbClr val="00B050"/>
                </a:solidFill>
                <a:effectLst/>
                <a:latin typeface="Times New Roman" panose="02020603050405020304" pitchFamily="18" charset="0"/>
                <a:cs typeface="Times New Roman" panose="02020603050405020304" pitchFamily="18" charset="0"/>
              </a:rPr>
              <a:t>participation</a:t>
            </a:r>
            <a:r>
              <a:rPr lang="en-US" sz="2800" b="0" i="0" dirty="0">
                <a:solidFill>
                  <a:srgbClr val="001D35"/>
                </a:solidFill>
                <a:effectLst/>
                <a:latin typeface="Times New Roman" panose="02020603050405020304" pitchFamily="18" charset="0"/>
                <a:cs typeface="Times New Roman" panose="02020603050405020304" pitchFamily="18" charset="0"/>
              </a:rPr>
              <a:t>" indicates whether an entity must participate in a relationship (</a:t>
            </a:r>
            <a:r>
              <a:rPr lang="en-US" sz="2800" b="1" i="1" dirty="0">
                <a:solidFill>
                  <a:srgbClr val="00B050"/>
                </a:solidFill>
                <a:effectLst/>
                <a:latin typeface="Times New Roman" panose="02020603050405020304" pitchFamily="18" charset="0"/>
                <a:cs typeface="Times New Roman" panose="02020603050405020304" pitchFamily="18" charset="0"/>
              </a:rPr>
              <a:t>total participation</a:t>
            </a:r>
            <a:r>
              <a:rPr lang="en-US" sz="2800" b="0" i="0" dirty="0">
                <a:solidFill>
                  <a:srgbClr val="001D35"/>
                </a:solidFill>
                <a:effectLst/>
                <a:latin typeface="Times New Roman" panose="02020603050405020304" pitchFamily="18" charset="0"/>
                <a:cs typeface="Times New Roman" panose="02020603050405020304" pitchFamily="18" charset="0"/>
              </a:rPr>
              <a:t>) or if it can exist without participating (</a:t>
            </a:r>
            <a:r>
              <a:rPr lang="en-US" sz="2800" b="1" i="1" dirty="0">
                <a:solidFill>
                  <a:srgbClr val="00B050"/>
                </a:solidFill>
                <a:effectLst/>
                <a:latin typeface="Times New Roman" panose="02020603050405020304" pitchFamily="18" charset="0"/>
                <a:cs typeface="Times New Roman" panose="02020603050405020304" pitchFamily="18" charset="0"/>
              </a:rPr>
              <a:t>partial participation</a:t>
            </a:r>
            <a:r>
              <a:rPr lang="en-US" sz="2800" b="0" i="0" dirty="0">
                <a:solidFill>
                  <a:srgbClr val="001D35"/>
                </a:solidFill>
                <a:effectLst/>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5419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785302-8D45-FE69-04D0-C0854AB41211}"/>
              </a:ext>
            </a:extLst>
          </p:cNvPr>
          <p:cNvSpPr txBox="1"/>
          <p:nvPr/>
        </p:nvSpPr>
        <p:spPr>
          <a:xfrm>
            <a:off x="2460171" y="709097"/>
            <a:ext cx="8670471" cy="584775"/>
          </a:xfrm>
          <a:prstGeom prst="rect">
            <a:avLst/>
          </a:prstGeom>
          <a:noFill/>
        </p:spPr>
        <p:txBody>
          <a:bodyPr wrap="square">
            <a:spAutoFit/>
          </a:bodyPr>
          <a:lstStyle/>
          <a:p>
            <a:r>
              <a:rPr lang="en-US" sz="3200" b="1" dirty="0">
                <a:solidFill>
                  <a:srgbClr val="FF0000"/>
                </a:solidFill>
                <a:effectLst/>
                <a:latin typeface="Times New Roman" panose="02020603050405020304" pitchFamily="18" charset="0"/>
                <a:ea typeface="Times New Roman" panose="02020603050405020304" pitchFamily="18" charset="0"/>
              </a:rPr>
              <a:t>Extended Features of E – R Model</a:t>
            </a:r>
            <a:endParaRPr lang="en-IN" sz="3200" dirty="0">
              <a:solidFill>
                <a:srgbClr val="FF0000"/>
              </a:solidFill>
            </a:endParaRPr>
          </a:p>
        </p:txBody>
      </p:sp>
      <p:sp>
        <p:nvSpPr>
          <p:cNvPr id="7" name="TextBox 6">
            <a:extLst>
              <a:ext uri="{FF2B5EF4-FFF2-40B4-BE49-F238E27FC236}">
                <a16:creationId xmlns:a16="http://schemas.microsoft.com/office/drawing/2014/main" id="{6C482543-C65C-8C46-C4F7-945C9A0A89B8}"/>
              </a:ext>
            </a:extLst>
          </p:cNvPr>
          <p:cNvSpPr txBox="1"/>
          <p:nvPr/>
        </p:nvSpPr>
        <p:spPr>
          <a:xfrm>
            <a:off x="549729" y="1611086"/>
            <a:ext cx="11244942" cy="4354286"/>
          </a:xfrm>
          <a:prstGeom prst="rect">
            <a:avLst/>
          </a:prstGeom>
          <a:noFill/>
        </p:spPr>
        <p:txBody>
          <a:bodyPr wrap="square">
            <a:spAutoFit/>
          </a:bodyPr>
          <a:lstStyle/>
          <a:p>
            <a:pPr marL="194945" marR="554355" algn="just">
              <a:lnSpc>
                <a:spcPct val="200000"/>
              </a:lnSpc>
            </a:pPr>
            <a:r>
              <a:rPr lang="en-US" sz="2800" dirty="0">
                <a:solidFill>
                  <a:srgbClr val="1F2329"/>
                </a:solidFill>
                <a:effectLst/>
                <a:latin typeface="Times New Roman" panose="02020603050405020304" pitchFamily="18" charset="0"/>
                <a:ea typeface="Times New Roman" panose="02020603050405020304" pitchFamily="18" charset="0"/>
              </a:rPr>
              <a:t>	As</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the</a:t>
            </a:r>
            <a:r>
              <a:rPr lang="en-US" sz="2800" spc="-3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complexity</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of</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data</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increased</a:t>
            </a:r>
            <a:r>
              <a:rPr lang="en-US" sz="2800" spc="-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in</a:t>
            </a:r>
            <a:r>
              <a:rPr lang="en-US" sz="2800" spc="-2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the</a:t>
            </a:r>
            <a:r>
              <a:rPr lang="en-US" sz="2800" spc="-15"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late</a:t>
            </a:r>
            <a:r>
              <a:rPr lang="en-US" sz="2800" spc="-2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1980s,</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it</a:t>
            </a:r>
            <a:r>
              <a:rPr lang="en-US" sz="2800" spc="-30" dirty="0">
                <a:solidFill>
                  <a:srgbClr val="1F2329"/>
                </a:solidFill>
                <a:effectLst/>
                <a:latin typeface="Times New Roman" panose="02020603050405020304" pitchFamily="18" charset="0"/>
                <a:ea typeface="Times New Roman" panose="02020603050405020304" pitchFamily="18" charset="0"/>
              </a:rPr>
              <a:t> </a:t>
            </a:r>
            <a:r>
              <a:rPr lang="en-US" sz="2800" dirty="0">
                <a:solidFill>
                  <a:srgbClr val="1F2329"/>
                </a:solidFill>
                <a:effectLst/>
                <a:latin typeface="Times New Roman" panose="02020603050405020304" pitchFamily="18" charset="0"/>
                <a:ea typeface="Times New Roman" panose="02020603050405020304" pitchFamily="18" charset="0"/>
              </a:rPr>
              <a:t>became more and more difficult to use the traditional ER Model for database modeling. Hence some improvements or enhancements were made to the existing ER Model to make it able to handle the complex applications better.</a:t>
            </a:r>
            <a:endParaRPr lang="en-IN"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3224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3DD55A-395B-5A99-F869-689EF3487461}"/>
              </a:ext>
            </a:extLst>
          </p:cNvPr>
          <p:cNvSpPr txBox="1"/>
          <p:nvPr/>
        </p:nvSpPr>
        <p:spPr>
          <a:xfrm>
            <a:off x="500742" y="827314"/>
            <a:ext cx="11310257" cy="4866717"/>
          </a:xfrm>
          <a:prstGeom prst="rect">
            <a:avLst/>
          </a:prstGeom>
          <a:noFill/>
        </p:spPr>
        <p:txBody>
          <a:bodyPr wrap="square">
            <a:spAutoFit/>
          </a:bodyPr>
          <a:lstStyle/>
          <a:p>
            <a:pPr marL="194945" marR="553720" algn="just">
              <a:lnSpc>
                <a:spcPct val="200000"/>
              </a:lnSpc>
            </a:pPr>
            <a:r>
              <a:rPr lang="en-US" sz="3200" dirty="0">
                <a:solidFill>
                  <a:srgbClr val="1F2329"/>
                </a:solidFill>
                <a:latin typeface="Times New Roman" panose="02020603050405020304" pitchFamily="18" charset="0"/>
                <a:ea typeface="Times New Roman" panose="02020603050405020304" pitchFamily="18" charset="0"/>
              </a:rPr>
              <a:t>	A</a:t>
            </a:r>
            <a:r>
              <a:rPr lang="en-US" sz="3200" dirty="0">
                <a:solidFill>
                  <a:srgbClr val="1F2329"/>
                </a:solidFill>
                <a:effectLst/>
                <a:latin typeface="Times New Roman" panose="02020603050405020304" pitchFamily="18" charset="0"/>
                <a:ea typeface="Times New Roman" panose="02020603050405020304" pitchFamily="18" charset="0"/>
              </a:rPr>
              <a:t>s</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part</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of</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the</a:t>
            </a:r>
            <a:r>
              <a:rPr lang="en-US" sz="3200" spc="115" dirty="0">
                <a:solidFill>
                  <a:srgbClr val="1F2329"/>
                </a:solidFill>
                <a:effectLst/>
                <a:latin typeface="Times New Roman" panose="02020603050405020304" pitchFamily="18" charset="0"/>
                <a:ea typeface="Times New Roman" panose="02020603050405020304" pitchFamily="18" charset="0"/>
              </a:rPr>
              <a:t> </a:t>
            </a:r>
            <a:r>
              <a:rPr lang="en-US" sz="3200" b="1" dirty="0">
                <a:solidFill>
                  <a:srgbClr val="1F2329"/>
                </a:solidFill>
                <a:effectLst/>
                <a:latin typeface="Times New Roman" panose="02020603050405020304" pitchFamily="18" charset="0"/>
                <a:ea typeface="Times New Roman" panose="02020603050405020304" pitchFamily="18" charset="0"/>
              </a:rPr>
              <a:t>Enhanced</a:t>
            </a:r>
            <a:r>
              <a:rPr lang="en-US" sz="3200" b="1" spc="200" dirty="0">
                <a:solidFill>
                  <a:srgbClr val="1F2329"/>
                </a:solidFill>
                <a:effectLst/>
                <a:latin typeface="Times New Roman" panose="02020603050405020304" pitchFamily="18" charset="0"/>
                <a:ea typeface="Times New Roman" panose="02020603050405020304" pitchFamily="18" charset="0"/>
              </a:rPr>
              <a:t> </a:t>
            </a:r>
            <a:r>
              <a:rPr lang="en-US" sz="3200" b="1" dirty="0">
                <a:solidFill>
                  <a:srgbClr val="1F2329"/>
                </a:solidFill>
                <a:effectLst/>
                <a:latin typeface="Times New Roman" panose="02020603050405020304" pitchFamily="18" charset="0"/>
                <a:ea typeface="Times New Roman" panose="02020603050405020304" pitchFamily="18" charset="0"/>
              </a:rPr>
              <a:t>ER</a:t>
            </a:r>
            <a:r>
              <a:rPr lang="en-US" sz="3200" b="1" spc="200" dirty="0">
                <a:solidFill>
                  <a:srgbClr val="1F2329"/>
                </a:solidFill>
                <a:effectLst/>
                <a:latin typeface="Times New Roman" panose="02020603050405020304" pitchFamily="18" charset="0"/>
                <a:ea typeface="Times New Roman" panose="02020603050405020304" pitchFamily="18" charset="0"/>
              </a:rPr>
              <a:t> </a:t>
            </a:r>
            <a:r>
              <a:rPr lang="en-US" sz="3200" b="1" dirty="0">
                <a:solidFill>
                  <a:srgbClr val="1F2329"/>
                </a:solidFill>
                <a:effectLst/>
                <a:latin typeface="Times New Roman" panose="02020603050405020304" pitchFamily="18" charset="0"/>
                <a:ea typeface="Times New Roman" panose="02020603050405020304" pitchFamily="18" charset="0"/>
              </a:rPr>
              <a:t>Model</a:t>
            </a:r>
            <a:r>
              <a:rPr lang="en-US" sz="3200" dirty="0">
                <a:solidFill>
                  <a:srgbClr val="1F2329"/>
                </a:solidFill>
                <a:effectLst/>
                <a:latin typeface="Times New Roman" panose="02020603050405020304" pitchFamily="18" charset="0"/>
                <a:ea typeface="Times New Roman" panose="02020603050405020304" pitchFamily="18" charset="0"/>
              </a:rPr>
              <a:t>,</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three</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new</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concepts</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were</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added</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to</a:t>
            </a:r>
            <a:r>
              <a:rPr lang="en-US" sz="3200" spc="200" dirty="0">
                <a:solidFill>
                  <a:srgbClr val="1F2329"/>
                </a:solidFill>
                <a:effectLst/>
                <a:latin typeface="Times New Roman" panose="02020603050405020304" pitchFamily="18" charset="0"/>
                <a:ea typeface="Times New Roman" panose="02020603050405020304" pitchFamily="18" charset="0"/>
              </a:rPr>
              <a:t> </a:t>
            </a:r>
            <a:r>
              <a:rPr lang="en-US" sz="3200" dirty="0">
                <a:solidFill>
                  <a:srgbClr val="1F2329"/>
                </a:solidFill>
                <a:effectLst/>
                <a:latin typeface="Times New Roman" panose="02020603050405020304" pitchFamily="18" charset="0"/>
                <a:ea typeface="Times New Roman" panose="02020603050405020304" pitchFamily="18" charset="0"/>
              </a:rPr>
              <a:t>the existing ER Model, they were:</a:t>
            </a:r>
            <a:endParaRPr lang="en-IN" sz="3200" dirty="0">
              <a:effectLst/>
              <a:latin typeface="Times New Roman" panose="02020603050405020304" pitchFamily="18" charset="0"/>
              <a:ea typeface="Times New Roman" panose="02020603050405020304" pitchFamily="18" charset="0"/>
            </a:endParaRPr>
          </a:p>
          <a:p>
            <a:pPr marL="342900" lvl="0" indent="-342900" algn="just">
              <a:lnSpc>
                <a:spcPct val="200000"/>
              </a:lnSpc>
              <a:buClr>
                <a:srgbClr val="1F2329"/>
              </a:buClr>
              <a:buSzPts val="1200"/>
              <a:buFont typeface="Times New Roman" panose="02020603050405020304" pitchFamily="18" charset="0"/>
              <a:buAutoNum type="arabicPeriod"/>
              <a:tabLst>
                <a:tab pos="736600" algn="l"/>
              </a:tabLst>
            </a:pPr>
            <a:r>
              <a:rPr lang="en-US" sz="3200" b="1" spc="-10" dirty="0">
                <a:solidFill>
                  <a:srgbClr val="FF0000"/>
                </a:solidFill>
                <a:effectLst/>
                <a:latin typeface="Times New Roman" panose="02020603050405020304" pitchFamily="18" charset="0"/>
                <a:ea typeface="Times New Roman" panose="02020603050405020304" pitchFamily="18" charset="0"/>
              </a:rPr>
              <a:t>Generalization.</a:t>
            </a:r>
            <a:endParaRPr lang="en-IN" sz="2800" b="1" spc="0" dirty="0">
              <a:solidFill>
                <a:srgbClr val="FF0000"/>
              </a:solidFill>
              <a:effectLst/>
              <a:latin typeface="Times New Roman" panose="02020603050405020304" pitchFamily="18" charset="0"/>
              <a:ea typeface="Times New Roman" panose="02020603050405020304" pitchFamily="18" charset="0"/>
            </a:endParaRPr>
          </a:p>
          <a:p>
            <a:pPr marL="342900" lvl="0" indent="-342900" algn="just">
              <a:lnSpc>
                <a:spcPct val="200000"/>
              </a:lnSpc>
              <a:buClr>
                <a:srgbClr val="1F2329"/>
              </a:buClr>
              <a:buSzPts val="1200"/>
              <a:buFont typeface="Times New Roman" panose="02020603050405020304" pitchFamily="18" charset="0"/>
              <a:buAutoNum type="arabicPeriod"/>
              <a:tabLst>
                <a:tab pos="736600" algn="l"/>
              </a:tabLst>
            </a:pPr>
            <a:r>
              <a:rPr lang="en-US" sz="3200" b="1" spc="-10" dirty="0">
                <a:solidFill>
                  <a:srgbClr val="00B050"/>
                </a:solidFill>
                <a:effectLst/>
                <a:latin typeface="Times New Roman" panose="02020603050405020304" pitchFamily="18" charset="0"/>
                <a:ea typeface="Times New Roman" panose="02020603050405020304" pitchFamily="18" charset="0"/>
              </a:rPr>
              <a:t>Specialization.</a:t>
            </a:r>
            <a:endParaRPr lang="en-IN" sz="2800" b="1" spc="0" dirty="0">
              <a:solidFill>
                <a:srgbClr val="00B050"/>
              </a:solidFill>
              <a:effectLst/>
              <a:latin typeface="Times New Roman" panose="02020603050405020304" pitchFamily="18" charset="0"/>
              <a:ea typeface="Times New Roman" panose="02020603050405020304" pitchFamily="18" charset="0"/>
            </a:endParaRPr>
          </a:p>
          <a:p>
            <a:pPr marL="342900" lvl="0" indent="-342900" algn="just">
              <a:lnSpc>
                <a:spcPct val="200000"/>
              </a:lnSpc>
              <a:buClr>
                <a:srgbClr val="1F2329"/>
              </a:buClr>
              <a:buSzPts val="1200"/>
              <a:buFont typeface="Times New Roman" panose="02020603050405020304" pitchFamily="18" charset="0"/>
              <a:buAutoNum type="arabicPeriod"/>
              <a:tabLst>
                <a:tab pos="736600" algn="l"/>
              </a:tabLst>
            </a:pPr>
            <a:r>
              <a:rPr lang="en-US" sz="3200" b="1" spc="-10" dirty="0">
                <a:solidFill>
                  <a:srgbClr val="00B050"/>
                </a:solidFill>
                <a:effectLst/>
                <a:latin typeface="Times New Roman" panose="02020603050405020304" pitchFamily="18" charset="0"/>
                <a:ea typeface="Times New Roman" panose="02020603050405020304" pitchFamily="18" charset="0"/>
              </a:rPr>
              <a:t>Aggregation</a:t>
            </a:r>
            <a:r>
              <a:rPr lang="en-US" sz="3200" spc="-10" dirty="0">
                <a:solidFill>
                  <a:srgbClr val="1F2329"/>
                </a:solidFill>
                <a:effectLst/>
                <a:latin typeface="Times New Roman" panose="02020603050405020304" pitchFamily="18" charset="0"/>
                <a:ea typeface="Times New Roman" panose="02020603050405020304" pitchFamily="18" charset="0"/>
              </a:rPr>
              <a:t>.</a:t>
            </a:r>
            <a:endParaRPr lang="en-IN" sz="2800" spc="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53624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202B90-7C6A-F8F6-FE29-FD708F61604E}"/>
              </a:ext>
            </a:extLst>
          </p:cNvPr>
          <p:cNvSpPr txBox="1"/>
          <p:nvPr/>
        </p:nvSpPr>
        <p:spPr>
          <a:xfrm>
            <a:off x="250371" y="609601"/>
            <a:ext cx="11691258" cy="5377882"/>
          </a:xfrm>
          <a:prstGeom prst="rect">
            <a:avLst/>
          </a:prstGeom>
          <a:noFill/>
        </p:spPr>
        <p:txBody>
          <a:bodyPr wrap="square">
            <a:spAutoFit/>
          </a:bodyPr>
          <a:lstStyle/>
          <a:p>
            <a:pPr marL="194945" algn="ctr">
              <a:lnSpc>
                <a:spcPct val="200000"/>
              </a:lnSpc>
            </a:pPr>
            <a:r>
              <a:rPr lang="en-US" sz="3600" b="1" kern="0" dirty="0">
                <a:solidFill>
                  <a:srgbClr val="C00000"/>
                </a:solidFill>
                <a:effectLst/>
                <a:latin typeface="Times New Roman" panose="02020603050405020304" pitchFamily="18" charset="0"/>
                <a:ea typeface="Times New Roman" panose="02020603050405020304" pitchFamily="18" charset="0"/>
              </a:rPr>
              <a:t>Features</a:t>
            </a:r>
            <a:r>
              <a:rPr lang="en-US" sz="3600" b="1" kern="0" spc="-25" dirty="0">
                <a:solidFill>
                  <a:srgbClr val="C00000"/>
                </a:solidFill>
                <a:effectLst/>
                <a:latin typeface="Times New Roman" panose="02020603050405020304" pitchFamily="18" charset="0"/>
                <a:ea typeface="Times New Roman" panose="02020603050405020304" pitchFamily="18" charset="0"/>
              </a:rPr>
              <a:t> </a:t>
            </a:r>
            <a:r>
              <a:rPr lang="en-US" sz="3600" b="1" kern="0" dirty="0">
                <a:solidFill>
                  <a:srgbClr val="C00000"/>
                </a:solidFill>
                <a:effectLst/>
                <a:latin typeface="Times New Roman" panose="02020603050405020304" pitchFamily="18" charset="0"/>
                <a:ea typeface="Times New Roman" panose="02020603050405020304" pitchFamily="18" charset="0"/>
              </a:rPr>
              <a:t>of</a:t>
            </a:r>
            <a:r>
              <a:rPr lang="en-US" sz="3600" b="1" kern="0" spc="-20" dirty="0">
                <a:solidFill>
                  <a:srgbClr val="C00000"/>
                </a:solidFill>
                <a:effectLst/>
                <a:latin typeface="Times New Roman" panose="02020603050405020304" pitchFamily="18" charset="0"/>
                <a:ea typeface="Times New Roman" panose="02020603050405020304" pitchFamily="18" charset="0"/>
              </a:rPr>
              <a:t> </a:t>
            </a:r>
            <a:r>
              <a:rPr lang="en-US" sz="3600" b="1" kern="0" dirty="0">
                <a:solidFill>
                  <a:srgbClr val="C00000"/>
                </a:solidFill>
                <a:effectLst/>
                <a:latin typeface="Times New Roman" panose="02020603050405020304" pitchFamily="18" charset="0"/>
                <a:ea typeface="Times New Roman" panose="02020603050405020304" pitchFamily="18" charset="0"/>
              </a:rPr>
              <a:t>Extended</a:t>
            </a:r>
            <a:r>
              <a:rPr lang="en-US" sz="3600" b="1" kern="0" spc="-25" dirty="0">
                <a:solidFill>
                  <a:srgbClr val="C00000"/>
                </a:solidFill>
                <a:effectLst/>
                <a:latin typeface="Times New Roman" panose="02020603050405020304" pitchFamily="18" charset="0"/>
                <a:ea typeface="Times New Roman" panose="02020603050405020304" pitchFamily="18" charset="0"/>
              </a:rPr>
              <a:t> </a:t>
            </a:r>
            <a:r>
              <a:rPr lang="en-US" sz="3600" b="1" kern="0" dirty="0">
                <a:solidFill>
                  <a:srgbClr val="C00000"/>
                </a:solidFill>
                <a:effectLst/>
                <a:latin typeface="Times New Roman" panose="02020603050405020304" pitchFamily="18" charset="0"/>
                <a:ea typeface="Times New Roman" panose="02020603050405020304" pitchFamily="18" charset="0"/>
              </a:rPr>
              <a:t>E-R</a:t>
            </a:r>
            <a:r>
              <a:rPr lang="en-US" sz="3600" b="1" kern="0" spc="-25" dirty="0">
                <a:solidFill>
                  <a:srgbClr val="C00000"/>
                </a:solidFill>
                <a:effectLst/>
                <a:latin typeface="Times New Roman" panose="02020603050405020304" pitchFamily="18" charset="0"/>
                <a:ea typeface="Times New Roman" panose="02020603050405020304" pitchFamily="18" charset="0"/>
              </a:rPr>
              <a:t> </a:t>
            </a:r>
            <a:r>
              <a:rPr lang="en-US" sz="3600" b="1" kern="0" spc="-10" dirty="0">
                <a:solidFill>
                  <a:srgbClr val="C00000"/>
                </a:solidFill>
                <a:effectLst/>
                <a:latin typeface="Times New Roman" panose="02020603050405020304" pitchFamily="18" charset="0"/>
                <a:ea typeface="Times New Roman" panose="02020603050405020304" pitchFamily="18" charset="0"/>
              </a:rPr>
              <a:t>Model</a:t>
            </a:r>
          </a:p>
          <a:p>
            <a:pPr marL="742950" lvl="1" indent="-285750">
              <a:lnSpc>
                <a:spcPct val="200000"/>
              </a:lnSpc>
              <a:buClr>
                <a:srgbClr val="1F2329"/>
              </a:buClr>
              <a:buSzPts val="1200"/>
              <a:buFont typeface="Symbol" panose="05050102010706020507" pitchFamily="18" charset="2"/>
              <a:buChar char=""/>
              <a:tabLst>
                <a:tab pos="741045" algn="l"/>
              </a:tabLst>
            </a:pP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EER</a:t>
            </a:r>
            <a:r>
              <a:rPr lang="en-US" sz="2800" spc="-3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creates</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design</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more</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accurate</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to</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database</a:t>
            </a:r>
            <a:r>
              <a:rPr lang="en-US" sz="2800" spc="-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schemas.</a:t>
            </a:r>
            <a:endParaRPr lang="en-IN" sz="2400" spc="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nSpc>
                <a:spcPct val="200000"/>
              </a:lnSpc>
              <a:buClr>
                <a:srgbClr val="1F2329"/>
              </a:buClr>
              <a:buSzPts val="1200"/>
              <a:buFont typeface="Symbol" panose="05050102010706020507" pitchFamily="18" charset="2"/>
              <a:buChar char=""/>
              <a:tabLst>
                <a:tab pos="741045" algn="l"/>
              </a:tabLst>
            </a:pP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It</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reflects</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data</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properties</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and</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constraints</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more</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precisely.</a:t>
            </a:r>
            <a:endParaRPr lang="en-IN" sz="2400" spc="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nSpc>
                <a:spcPct val="200000"/>
              </a:lnSpc>
              <a:buClr>
                <a:srgbClr val="1F2329"/>
              </a:buClr>
              <a:buSzPts val="1200"/>
              <a:buFont typeface="Symbol" panose="05050102010706020507" pitchFamily="18" charset="2"/>
              <a:buChar char=""/>
              <a:tabLst>
                <a:tab pos="741045" algn="l"/>
              </a:tabLst>
            </a:pP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It</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includes</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all</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modeling</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concepts</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of</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ER</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model.</a:t>
            </a:r>
            <a:endParaRPr lang="en-IN" sz="2400" spc="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nSpc>
                <a:spcPct val="200000"/>
              </a:lnSpc>
              <a:buClr>
                <a:srgbClr val="1F2329"/>
              </a:buClr>
              <a:buSzPts val="1200"/>
              <a:buFont typeface="Symbol" panose="05050102010706020507" pitchFamily="18" charset="2"/>
              <a:buChar char=""/>
              <a:tabLst>
                <a:tab pos="741045" algn="l"/>
              </a:tabLst>
            </a:pP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Diagrammatic</a:t>
            </a:r>
            <a:r>
              <a:rPr lang="en-US" sz="2800" spc="-3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technique</a:t>
            </a:r>
            <a:r>
              <a:rPr lang="en-US" sz="2800" spc="-3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helps</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for</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displaying</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800" spc="-3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EER</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schema.</a:t>
            </a:r>
            <a:endParaRPr lang="en-IN" sz="2400" spc="0" dirty="0">
              <a:effectLst/>
              <a:latin typeface="Times New Roman" panose="02020603050405020304" pitchFamily="18" charset="0"/>
              <a:ea typeface="Symbol" panose="05050102010706020507" pitchFamily="18" charset="2"/>
              <a:cs typeface="Symbol" panose="05050102010706020507" pitchFamily="18" charset="2"/>
            </a:endParaRPr>
          </a:p>
          <a:p>
            <a:pPr marL="742950" lvl="1" indent="-285750">
              <a:lnSpc>
                <a:spcPct val="200000"/>
              </a:lnSpc>
              <a:buClr>
                <a:srgbClr val="1F2329"/>
              </a:buClr>
              <a:buSzPts val="1200"/>
              <a:buFont typeface="Symbol" panose="05050102010706020507" pitchFamily="18" charset="2"/>
              <a:buChar char=""/>
              <a:tabLst>
                <a:tab pos="741045" algn="l"/>
              </a:tabLst>
            </a:pP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It</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includes</a:t>
            </a:r>
            <a:r>
              <a:rPr lang="en-US" sz="2800" spc="-3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the</a:t>
            </a:r>
            <a:r>
              <a:rPr lang="en-US" sz="2800" spc="-2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concept</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of</a:t>
            </a:r>
            <a:r>
              <a:rPr lang="en-US" sz="2800" spc="-3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specialization</a:t>
            </a:r>
            <a:r>
              <a:rPr lang="en-US" sz="2800" spc="-15"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and</a:t>
            </a:r>
            <a:r>
              <a:rPr lang="en-US" sz="2800" spc="-2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 </a:t>
            </a:r>
            <a:r>
              <a:rPr lang="en-US" sz="2800" spc="-10" dirty="0">
                <a:solidFill>
                  <a:srgbClr val="1F2329"/>
                </a:solidFill>
                <a:effectLst/>
                <a:latin typeface="Times New Roman" panose="02020603050405020304" pitchFamily="18" charset="0"/>
                <a:ea typeface="Symbol" panose="05050102010706020507" pitchFamily="18" charset="2"/>
                <a:cs typeface="Symbol" panose="05050102010706020507" pitchFamily="18" charset="2"/>
              </a:rPr>
              <a:t>generalization.</a:t>
            </a:r>
            <a:endParaRPr lang="en-IN" sz="2400" spc="0" dirty="0">
              <a:effectLst/>
              <a:latin typeface="Times New Roman" panose="02020603050405020304" pitchFamily="18" charset="0"/>
              <a:ea typeface="Symbol" panose="05050102010706020507" pitchFamily="18" charset="2"/>
              <a:cs typeface="Symbol" panose="05050102010706020507" pitchFamily="18" charset="2"/>
            </a:endParaRPr>
          </a:p>
        </p:txBody>
      </p:sp>
    </p:spTree>
    <p:extLst>
      <p:ext uri="{BB962C8B-B14F-4D97-AF65-F5344CB8AC3E}">
        <p14:creationId xmlns:p14="http://schemas.microsoft.com/office/powerpoint/2010/main" val="1128591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98E9C1-85E9-BEBF-8A2D-9EAB8B5AEAE5}"/>
              </a:ext>
            </a:extLst>
          </p:cNvPr>
          <p:cNvSpPr txBox="1"/>
          <p:nvPr/>
        </p:nvSpPr>
        <p:spPr>
          <a:xfrm>
            <a:off x="-304799" y="740229"/>
            <a:ext cx="12333514" cy="5724131"/>
          </a:xfrm>
          <a:prstGeom prst="rect">
            <a:avLst/>
          </a:prstGeom>
          <a:noFill/>
        </p:spPr>
        <p:txBody>
          <a:bodyPr wrap="square">
            <a:spAutoFit/>
          </a:bodyPr>
          <a:lstStyle/>
          <a:p>
            <a:pPr marL="194945" algn="just">
              <a:lnSpc>
                <a:spcPts val="1375"/>
              </a:lnSpc>
            </a:pPr>
            <a:r>
              <a:rPr lang="en-US" sz="3600" b="1" kern="0" dirty="0">
                <a:solidFill>
                  <a:srgbClr val="FF0000"/>
                </a:solidFill>
                <a:effectLst/>
                <a:latin typeface="Times New Roman" panose="02020603050405020304" pitchFamily="18" charset="0"/>
                <a:ea typeface="Times New Roman" panose="02020603050405020304" pitchFamily="18" charset="0"/>
              </a:rPr>
              <a:t>			Enhanced</a:t>
            </a:r>
            <a:r>
              <a:rPr lang="en-US" sz="3600" b="1" kern="0" spc="-5" dirty="0">
                <a:solidFill>
                  <a:srgbClr val="FF0000"/>
                </a:solidFill>
                <a:effectLst/>
                <a:latin typeface="Times New Roman" panose="02020603050405020304" pitchFamily="18" charset="0"/>
                <a:ea typeface="Times New Roman" panose="02020603050405020304" pitchFamily="18" charset="0"/>
              </a:rPr>
              <a:t> </a:t>
            </a:r>
            <a:r>
              <a:rPr lang="en-US" sz="3600" b="1" kern="0" dirty="0">
                <a:solidFill>
                  <a:srgbClr val="FF0000"/>
                </a:solidFill>
                <a:effectLst/>
                <a:latin typeface="Times New Roman" panose="02020603050405020304" pitchFamily="18" charset="0"/>
                <a:ea typeface="Times New Roman" panose="02020603050405020304" pitchFamily="18" charset="0"/>
              </a:rPr>
              <a:t>ER</a:t>
            </a:r>
            <a:r>
              <a:rPr lang="en-US" sz="3600" b="1" kern="0" spc="-5" dirty="0">
                <a:solidFill>
                  <a:srgbClr val="FF0000"/>
                </a:solidFill>
                <a:effectLst/>
                <a:latin typeface="Times New Roman" panose="02020603050405020304" pitchFamily="18" charset="0"/>
                <a:ea typeface="Times New Roman" panose="02020603050405020304" pitchFamily="18" charset="0"/>
              </a:rPr>
              <a:t> </a:t>
            </a:r>
            <a:r>
              <a:rPr lang="en-US" sz="3600" b="1" kern="0" spc="-10" dirty="0">
                <a:solidFill>
                  <a:srgbClr val="FF0000"/>
                </a:solidFill>
                <a:effectLst/>
                <a:latin typeface="Times New Roman" panose="02020603050405020304" pitchFamily="18" charset="0"/>
                <a:ea typeface="Times New Roman" panose="02020603050405020304" pitchFamily="18" charset="0"/>
              </a:rPr>
              <a:t>modeling</a:t>
            </a:r>
            <a:r>
              <a:rPr lang="en-US" sz="3600" b="1" kern="0" spc="200" dirty="0">
                <a:solidFill>
                  <a:srgbClr val="FF0000"/>
                </a:solidFill>
                <a:effectLst/>
                <a:latin typeface="Times New Roman" panose="02020603050405020304" pitchFamily="18" charset="0"/>
                <a:ea typeface="Times New Roman" panose="02020603050405020304" pitchFamily="18" charset="0"/>
              </a:rPr>
              <a:t> </a:t>
            </a:r>
          </a:p>
          <a:p>
            <a:pPr marL="194945" algn="just">
              <a:lnSpc>
                <a:spcPts val="1375"/>
              </a:lnSpc>
            </a:pPr>
            <a:endParaRPr lang="en-US" sz="2800" b="1" u="sng" kern="0" spc="200" dirty="0">
              <a:latin typeface="Times New Roman" panose="02020603050405020304" pitchFamily="18" charset="0"/>
              <a:ea typeface="Times New Roman" panose="02020603050405020304" pitchFamily="18" charset="0"/>
            </a:endParaRPr>
          </a:p>
          <a:p>
            <a:pPr marL="194945" algn="just">
              <a:lnSpc>
                <a:spcPts val="1375"/>
              </a:lnSpc>
            </a:pPr>
            <a:endParaRPr lang="en-US" sz="2800" b="1" u="sng" kern="0" spc="200" dirty="0">
              <a:effectLst/>
              <a:latin typeface="Times New Roman" panose="02020603050405020304" pitchFamily="18" charset="0"/>
              <a:ea typeface="Times New Roman" panose="02020603050405020304" pitchFamily="18" charset="0"/>
            </a:endParaRPr>
          </a:p>
          <a:p>
            <a:pPr marL="1143000" lvl="2" indent="-228600" algn="just">
              <a:lnSpc>
                <a:spcPct val="150000"/>
              </a:lnSpc>
              <a:buSzPts val="1200"/>
              <a:buFont typeface="Wingdings" panose="05000000000000000000" pitchFamily="2" charset="2"/>
              <a:buChar char=""/>
              <a:tabLst>
                <a:tab pos="651510" algn="l"/>
              </a:tabLst>
            </a:pPr>
            <a:r>
              <a:rPr lang="en-US" sz="2800" spc="0" dirty="0">
                <a:effectLst/>
                <a:latin typeface="Times New Roman" panose="02020603050405020304" pitchFamily="18" charset="0"/>
                <a:ea typeface="Wingdings" panose="05000000000000000000" pitchFamily="2" charset="2"/>
                <a:cs typeface="Wingdings" panose="05000000000000000000" pitchFamily="2" charset="2"/>
              </a:rPr>
              <a:t>Enhanced</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features of</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ER model are</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specialization</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and </a:t>
            </a:r>
            <a:r>
              <a:rPr lang="en-US" sz="2800" spc="-10" dirty="0">
                <a:effectLst/>
                <a:latin typeface="Times New Roman" panose="02020603050405020304" pitchFamily="18" charset="0"/>
                <a:ea typeface="Wingdings" panose="05000000000000000000" pitchFamily="2" charset="2"/>
                <a:cs typeface="Wingdings" panose="05000000000000000000" pitchFamily="2" charset="2"/>
              </a:rPr>
              <a:t>Generalization.</a:t>
            </a:r>
            <a:endParaRPr lang="en-IN" sz="2400" spc="0" dirty="0">
              <a:effectLst/>
              <a:latin typeface="Times New Roman" panose="02020603050405020304" pitchFamily="18" charset="0"/>
              <a:ea typeface="Wingdings" panose="05000000000000000000" pitchFamily="2" charset="2"/>
              <a:cs typeface="Wingdings" panose="05000000000000000000" pitchFamily="2" charset="2"/>
            </a:endParaRPr>
          </a:p>
          <a:p>
            <a:pPr marL="1143000" lvl="2" indent="-228600" algn="just">
              <a:lnSpc>
                <a:spcPct val="150000"/>
              </a:lnSpc>
              <a:buSzPts val="1200"/>
              <a:buFont typeface="Wingdings" panose="05000000000000000000" pitchFamily="2" charset="2"/>
              <a:buChar char=""/>
              <a:tabLst>
                <a:tab pos="651510" algn="l"/>
              </a:tabLst>
            </a:pPr>
            <a:r>
              <a:rPr lang="en-US" sz="2800" b="1" spc="0" dirty="0">
                <a:effectLst/>
                <a:latin typeface="Times New Roman" panose="02020603050405020304" pitchFamily="18" charset="0"/>
                <a:ea typeface="Wingdings" panose="05000000000000000000" pitchFamily="2" charset="2"/>
                <a:cs typeface="Wingdings" panose="05000000000000000000" pitchFamily="2" charset="2"/>
              </a:rPr>
              <a:t>Specialization</a:t>
            </a:r>
            <a:r>
              <a:rPr lang="en-US" sz="2800" b="1" spc="8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a:t>
            </a:r>
            <a:r>
              <a:rPr lang="en-US" sz="2800" spc="8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Specialization</a:t>
            </a:r>
            <a:r>
              <a:rPr lang="en-US" sz="2800" spc="7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is</a:t>
            </a:r>
            <a:r>
              <a:rPr lang="en-US" sz="2800" spc="7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the</a:t>
            </a:r>
            <a:r>
              <a:rPr lang="en-US" sz="2800" spc="8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process</a:t>
            </a:r>
            <a:r>
              <a:rPr lang="en-US" sz="2800" spc="7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of</a:t>
            </a:r>
            <a:r>
              <a:rPr lang="en-US" sz="2800" spc="7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identifying</a:t>
            </a:r>
            <a:r>
              <a:rPr lang="en-US" sz="2800" spc="7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subsets</a:t>
            </a:r>
            <a:r>
              <a:rPr lang="en-US" sz="2800" spc="8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of</a:t>
            </a:r>
            <a:r>
              <a:rPr lang="en-US" sz="2800" spc="7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an</a:t>
            </a:r>
            <a:r>
              <a:rPr lang="en-US" sz="2800" spc="8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entity</a:t>
            </a:r>
            <a:r>
              <a:rPr lang="en-US" sz="2800" spc="7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set</a:t>
            </a:r>
            <a:r>
              <a:rPr lang="en-US" sz="2800" spc="7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20" dirty="0">
                <a:effectLst/>
                <a:latin typeface="Times New Roman" panose="02020603050405020304" pitchFamily="18" charset="0"/>
                <a:ea typeface="Wingdings" panose="05000000000000000000" pitchFamily="2" charset="2"/>
                <a:cs typeface="Wingdings" panose="05000000000000000000" pitchFamily="2" charset="2"/>
              </a:rPr>
              <a:t>(the </a:t>
            </a:r>
            <a:r>
              <a:rPr lang="en-US" sz="2800" b="1" dirty="0">
                <a:effectLst/>
                <a:latin typeface="Times New Roman" panose="02020603050405020304" pitchFamily="18" charset="0"/>
                <a:ea typeface="Times New Roman" panose="02020603050405020304" pitchFamily="18" charset="0"/>
              </a:rPr>
              <a:t>superclass</a:t>
            </a:r>
            <a:r>
              <a:rPr lang="en-US" sz="2800" dirty="0">
                <a:effectLst/>
                <a:latin typeface="Times New Roman" panose="02020603050405020304" pitchFamily="18" charset="0"/>
                <a:ea typeface="Times New Roman" panose="02020603050405020304" pitchFamily="18" charset="0"/>
              </a:rPr>
              <a:t>)</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that</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share</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some</a:t>
            </a:r>
            <a:r>
              <a:rPr lang="en-US" sz="2800" spc="-5" dirty="0">
                <a:effectLst/>
                <a:latin typeface="Times New Roman" panose="02020603050405020304" pitchFamily="18" charset="0"/>
                <a:ea typeface="Times New Roman" panose="02020603050405020304" pitchFamily="18" charset="0"/>
              </a:rPr>
              <a:t> </a:t>
            </a:r>
            <a:r>
              <a:rPr lang="en-US" sz="2800" dirty="0">
                <a:effectLst/>
                <a:latin typeface="Times New Roman" panose="02020603050405020304" pitchFamily="18" charset="0"/>
                <a:ea typeface="Times New Roman" panose="02020603050405020304" pitchFamily="18" charset="0"/>
              </a:rPr>
              <a:t>distinguishing </a:t>
            </a:r>
            <a:r>
              <a:rPr lang="en-US" sz="2800" spc="-10" dirty="0">
                <a:effectLst/>
                <a:latin typeface="Times New Roman" panose="02020603050405020304" pitchFamily="18" charset="0"/>
                <a:ea typeface="Times New Roman" panose="02020603050405020304" pitchFamily="18" charset="0"/>
              </a:rPr>
              <a:t>characteristic.</a:t>
            </a:r>
            <a:endParaRPr lang="en-IN" sz="2800" dirty="0">
              <a:effectLst/>
              <a:latin typeface="Times New Roman" panose="02020603050405020304" pitchFamily="18" charset="0"/>
              <a:ea typeface="Times New Roman" panose="02020603050405020304" pitchFamily="18" charset="0"/>
            </a:endParaRPr>
          </a:p>
          <a:p>
            <a:pPr marL="1143000" marR="556260" lvl="2" indent="-228600" algn="just">
              <a:lnSpc>
                <a:spcPct val="150000"/>
              </a:lnSpc>
              <a:buSzPts val="1200"/>
              <a:buFont typeface="Wingdings" panose="05000000000000000000" pitchFamily="2" charset="2"/>
              <a:buChar char=""/>
              <a:tabLst>
                <a:tab pos="652145" algn="l"/>
              </a:tabLst>
            </a:pPr>
            <a:r>
              <a:rPr lang="en-US" sz="2800" b="1" spc="0" dirty="0">
                <a:effectLst/>
                <a:latin typeface="Times New Roman" panose="02020603050405020304" pitchFamily="18" charset="0"/>
                <a:ea typeface="Wingdings" panose="05000000000000000000" pitchFamily="2" charset="2"/>
                <a:cs typeface="Wingdings" panose="05000000000000000000" pitchFamily="2" charset="2"/>
              </a:rPr>
              <a:t>Generalization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 Generalization consists of identifying some common characteristics of a collection of entity sets and creating a new entity set that contains entities possessing these common characteristics.</a:t>
            </a:r>
            <a:endParaRPr lang="en-IN" sz="2400" spc="0" dirty="0">
              <a:effectLst/>
              <a:latin typeface="Times New Roman" panose="02020603050405020304" pitchFamily="18" charset="0"/>
              <a:ea typeface="Wingdings" panose="05000000000000000000" pitchFamily="2" charset="2"/>
              <a:cs typeface="Wingdings" panose="05000000000000000000" pitchFamily="2" charset="2"/>
            </a:endParaRPr>
          </a:p>
          <a:p>
            <a:pPr marL="1143000" lvl="2" indent="-228600" algn="just">
              <a:lnSpc>
                <a:spcPct val="150000"/>
              </a:lnSpc>
              <a:spcAft>
                <a:spcPts val="35"/>
              </a:spcAft>
              <a:buSzPts val="1200"/>
              <a:buFont typeface="Wingdings" panose="05000000000000000000" pitchFamily="2" charset="2"/>
              <a:buChar char=""/>
              <a:tabLst>
                <a:tab pos="651510" algn="l"/>
              </a:tabLst>
            </a:pPr>
            <a:r>
              <a:rPr lang="en-US" sz="2800" spc="0" dirty="0">
                <a:effectLst/>
                <a:latin typeface="Times New Roman" panose="02020603050405020304" pitchFamily="18" charset="0"/>
                <a:ea typeface="Wingdings" panose="05000000000000000000" pitchFamily="2" charset="2"/>
                <a:cs typeface="Wingdings" panose="05000000000000000000" pitchFamily="2" charset="2"/>
              </a:rPr>
              <a:t>We</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can inherit</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the</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properties of super</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class into sub</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class by</a:t>
            </a:r>
            <a:r>
              <a:rPr lang="en-US" sz="28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ISA </a:t>
            </a:r>
            <a:r>
              <a:rPr lang="en-US" sz="2800" spc="-10" dirty="0">
                <a:effectLst/>
                <a:latin typeface="Times New Roman" panose="02020603050405020304" pitchFamily="18" charset="0"/>
                <a:ea typeface="Wingdings" panose="05000000000000000000" pitchFamily="2" charset="2"/>
                <a:cs typeface="Wingdings" panose="05000000000000000000" pitchFamily="2" charset="2"/>
              </a:rPr>
              <a:t>relationship.</a:t>
            </a:r>
            <a:endParaRPr lang="en-IN" sz="2400" spc="0" dirty="0">
              <a:effectLst/>
              <a:latin typeface="Times New Roman" panose="02020603050405020304" pitchFamily="18" charset="0"/>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3356978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715A57-90BD-3466-7F08-147F47431EA7}"/>
              </a:ext>
            </a:extLst>
          </p:cNvPr>
          <p:cNvPicPr>
            <a:picLocks noChangeAspect="1"/>
          </p:cNvPicPr>
          <p:nvPr/>
        </p:nvPicPr>
        <p:blipFill>
          <a:blip r:embed="rId2"/>
          <a:stretch>
            <a:fillRect/>
          </a:stretch>
        </p:blipFill>
        <p:spPr>
          <a:xfrm>
            <a:off x="0" y="914400"/>
            <a:ext cx="11567157" cy="5029200"/>
          </a:xfrm>
          <a:prstGeom prst="rect">
            <a:avLst/>
          </a:prstGeom>
        </p:spPr>
      </p:pic>
    </p:spTree>
    <p:extLst>
      <p:ext uri="{BB962C8B-B14F-4D97-AF65-F5344CB8AC3E}">
        <p14:creationId xmlns:p14="http://schemas.microsoft.com/office/powerpoint/2010/main" val="260175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2EAE5BA-3424-8174-4803-DB8BD482D15A}"/>
              </a:ext>
            </a:extLst>
          </p:cNvPr>
          <p:cNvSpPr txBox="1"/>
          <p:nvPr/>
        </p:nvSpPr>
        <p:spPr>
          <a:xfrm>
            <a:off x="0" y="762001"/>
            <a:ext cx="11234057" cy="5131661"/>
          </a:xfrm>
          <a:prstGeom prst="rect">
            <a:avLst/>
          </a:prstGeom>
          <a:noFill/>
        </p:spPr>
        <p:txBody>
          <a:bodyPr wrap="square">
            <a:spAutoFit/>
          </a:bodyPr>
          <a:lstStyle/>
          <a:p>
            <a:pPr marR="553720" lvl="2" algn="just">
              <a:lnSpc>
                <a:spcPct val="200000"/>
              </a:lnSpc>
              <a:buSzPts val="1200"/>
              <a:tabLst>
                <a:tab pos="652145" algn="l"/>
              </a:tabLst>
            </a:pPr>
            <a:r>
              <a:rPr lang="en-US" sz="2800" spc="0" dirty="0">
                <a:effectLst/>
                <a:latin typeface="Times New Roman" panose="02020603050405020304" pitchFamily="18" charset="0"/>
                <a:ea typeface="Wingdings" panose="05000000000000000000" pitchFamily="2" charset="2"/>
                <a:cs typeface="Wingdings" panose="05000000000000000000" pitchFamily="2" charset="2"/>
              </a:rPr>
              <a:t>	We can specify two kinds of</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constraints with respect</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to</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ISA</a:t>
            </a:r>
            <a:r>
              <a:rPr lang="en-US" sz="2800" spc="-1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hierarchies,</a:t>
            </a:r>
            <a:r>
              <a:rPr lang="en-US" sz="2800" spc="-5"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namely, </a:t>
            </a:r>
            <a:r>
              <a:rPr lang="en-US" sz="2800" b="1" i="1" spc="0" dirty="0">
                <a:solidFill>
                  <a:srgbClr val="FF0000"/>
                </a:solidFill>
                <a:effectLst/>
                <a:latin typeface="Times New Roman" panose="02020603050405020304" pitchFamily="18" charset="0"/>
                <a:ea typeface="Wingdings" panose="05000000000000000000" pitchFamily="2" charset="2"/>
                <a:cs typeface="Wingdings" panose="05000000000000000000" pitchFamily="2" charset="2"/>
              </a:rPr>
              <a:t>overlap</a:t>
            </a:r>
            <a:r>
              <a:rPr lang="en-US" sz="2800" i="1" spc="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and </a:t>
            </a:r>
            <a:r>
              <a:rPr lang="en-US" sz="2800" b="1" i="1" spc="0" dirty="0">
                <a:solidFill>
                  <a:srgbClr val="FF0000"/>
                </a:solidFill>
                <a:effectLst/>
                <a:latin typeface="Times New Roman" panose="02020603050405020304" pitchFamily="18" charset="0"/>
                <a:ea typeface="Wingdings" panose="05000000000000000000" pitchFamily="2" charset="2"/>
                <a:cs typeface="Wingdings" panose="05000000000000000000" pitchFamily="2" charset="2"/>
              </a:rPr>
              <a:t>covering</a:t>
            </a:r>
            <a:r>
              <a:rPr lang="en-US" sz="2800" i="1" spc="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constraints. </a:t>
            </a:r>
            <a:r>
              <a:rPr lang="en-US" sz="2800" b="1" i="1" spc="0" dirty="0">
                <a:solidFill>
                  <a:srgbClr val="00B050"/>
                </a:solidFill>
                <a:effectLst/>
                <a:latin typeface="Times New Roman" panose="02020603050405020304" pitchFamily="18" charset="0"/>
                <a:ea typeface="Wingdings" panose="05000000000000000000" pitchFamily="2" charset="2"/>
                <a:cs typeface="Wingdings" panose="05000000000000000000" pitchFamily="2" charset="2"/>
              </a:rPr>
              <a:t>Overlap</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 constraints determine whether </a:t>
            </a:r>
            <a:r>
              <a:rPr lang="en-US" sz="2800" b="1" i="1" spc="0" dirty="0">
                <a:solidFill>
                  <a:srgbClr val="00B050"/>
                </a:solidFill>
                <a:effectLst/>
                <a:latin typeface="Times New Roman" panose="02020603050405020304" pitchFamily="18" charset="0"/>
                <a:ea typeface="Wingdings" panose="05000000000000000000" pitchFamily="2" charset="2"/>
                <a:cs typeface="Wingdings" panose="05000000000000000000" pitchFamily="2" charset="2"/>
              </a:rPr>
              <a:t>two subclasses are allowed to contain the same entity</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b="1" spc="0" dirty="0">
                <a:solidFill>
                  <a:srgbClr val="7030A0"/>
                </a:solidFill>
                <a:effectLst/>
                <a:latin typeface="Times New Roman" panose="02020603050405020304" pitchFamily="18" charset="0"/>
                <a:ea typeface="Wingdings" panose="05000000000000000000" pitchFamily="2" charset="2"/>
                <a:cs typeface="Wingdings" panose="05000000000000000000" pitchFamily="2" charset="2"/>
              </a:rPr>
              <a:t>Covering</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 constraints determine whether the entities</a:t>
            </a:r>
            <a:r>
              <a:rPr lang="en-US" sz="2800" spc="200" dirty="0">
                <a:effectLst/>
                <a:latin typeface="Times New Roman" panose="02020603050405020304" pitchFamily="18" charset="0"/>
                <a:ea typeface="Wingdings" panose="05000000000000000000" pitchFamily="2" charset="2"/>
                <a:cs typeface="Wingdings" panose="05000000000000000000" pitchFamily="2" charset="2"/>
              </a:rPr>
              <a:t> </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in the </a:t>
            </a:r>
            <a:r>
              <a:rPr lang="en-US" sz="2800" b="1" spc="0" dirty="0">
                <a:solidFill>
                  <a:srgbClr val="7030A0"/>
                </a:solidFill>
                <a:effectLst/>
                <a:latin typeface="Times New Roman" panose="02020603050405020304" pitchFamily="18" charset="0"/>
                <a:ea typeface="Wingdings" panose="05000000000000000000" pitchFamily="2" charset="2"/>
                <a:cs typeface="Wingdings" panose="05000000000000000000" pitchFamily="2" charset="2"/>
              </a:rPr>
              <a:t>subclasses collectively include all entities in the superclass</a:t>
            </a:r>
            <a:r>
              <a:rPr lang="en-US" sz="2800" spc="0" dirty="0">
                <a:effectLst/>
                <a:latin typeface="Times New Roman" panose="02020603050405020304" pitchFamily="18" charset="0"/>
                <a:ea typeface="Wingdings" panose="05000000000000000000" pitchFamily="2" charset="2"/>
                <a:cs typeface="Wingdings" panose="05000000000000000000" pitchFamily="2" charset="2"/>
              </a:rPr>
              <a:t>.</a:t>
            </a:r>
            <a:endParaRPr lang="en-IN" sz="2400" spc="0" dirty="0">
              <a:effectLst/>
              <a:latin typeface="Times New Roman" panose="02020603050405020304" pitchFamily="18" charset="0"/>
              <a:ea typeface="Wingdings" panose="05000000000000000000" pitchFamily="2" charset="2"/>
              <a:cs typeface="Wingdings" panose="05000000000000000000" pitchFamily="2" charset="2"/>
            </a:endParaRPr>
          </a:p>
        </p:txBody>
      </p:sp>
    </p:spTree>
    <p:extLst>
      <p:ext uri="{BB962C8B-B14F-4D97-AF65-F5344CB8AC3E}">
        <p14:creationId xmlns:p14="http://schemas.microsoft.com/office/powerpoint/2010/main" val="3307310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01BB29-EC9B-C606-442B-CF48511A11EF}"/>
              </a:ext>
            </a:extLst>
          </p:cNvPr>
          <p:cNvSpPr>
            <a:spLocks noChangeArrowheads="1"/>
          </p:cNvSpPr>
          <p:nvPr/>
        </p:nvSpPr>
        <p:spPr bwMode="auto">
          <a:xfrm>
            <a:off x="283029" y="-207838"/>
            <a:ext cx="10853057" cy="289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an employee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be both</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Professor</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Researcher</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simultaneously, </a:t>
            </a:r>
          </a:p>
          <a:p>
            <a:pPr marL="0" marR="0" lvl="0" indent="0" algn="just" defTabSz="914400" rtl="0" eaLnBrk="0" fontAlgn="base" latinLnBrk="0" hangingPunct="0">
              <a:lnSpc>
                <a:spcPct val="2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then the specialization is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overlapping</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Rectangle 2">
            <a:extLst>
              <a:ext uri="{FF2B5EF4-FFF2-40B4-BE49-F238E27FC236}">
                <a16:creationId xmlns:a16="http://schemas.microsoft.com/office/drawing/2014/main" id="{0AEE4479-B578-4060-B333-F41BB8218277}"/>
              </a:ext>
            </a:extLst>
          </p:cNvPr>
          <p:cNvSpPr>
            <a:spLocks noChangeArrowheads="1"/>
          </p:cNvSpPr>
          <p:nvPr/>
        </p:nvSpPr>
        <p:spPr bwMode="auto">
          <a:xfrm>
            <a:off x="1693998" y="4489411"/>
            <a:ext cx="10498002" cy="191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every</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Employee must be either a Professor or a Researcher, </a:t>
            </a:r>
          </a:p>
          <a:p>
            <a:pPr marL="0" marR="0" lvl="0" indent="0" algn="l" defTabSz="914400" rtl="0" eaLnBrk="0" fontAlgn="base" latinLnBrk="0" hangingPunct="0">
              <a:lnSpc>
                <a:spcPct val="200000"/>
              </a:lnSpc>
              <a:spcBef>
                <a:spcPct val="0"/>
              </a:spcBef>
              <a:spcAft>
                <a:spcPct val="0"/>
              </a:spcAft>
              <a:buClrTx/>
              <a:buSzTx/>
              <a:buFontTx/>
              <a:buNone/>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then it is a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covering constraint</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(total specialization). </a:t>
            </a:r>
          </a:p>
        </p:txBody>
      </p:sp>
    </p:spTree>
    <p:extLst>
      <p:ext uri="{BB962C8B-B14F-4D97-AF65-F5344CB8AC3E}">
        <p14:creationId xmlns:p14="http://schemas.microsoft.com/office/powerpoint/2010/main" val="137620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C67A5E0-01BD-F49A-4627-6DDEE60CD7B1}"/>
              </a:ext>
            </a:extLst>
          </p:cNvPr>
          <p:cNvPicPr>
            <a:picLocks noChangeAspect="1"/>
          </p:cNvPicPr>
          <p:nvPr/>
        </p:nvPicPr>
        <p:blipFill>
          <a:blip r:embed="rId2"/>
          <a:stretch>
            <a:fillRect/>
          </a:stretch>
        </p:blipFill>
        <p:spPr>
          <a:xfrm>
            <a:off x="-62951" y="3955109"/>
            <a:ext cx="12309374" cy="2902891"/>
          </a:xfrm>
          <a:prstGeom prst="rect">
            <a:avLst/>
          </a:prstGeom>
        </p:spPr>
      </p:pic>
      <p:pic>
        <p:nvPicPr>
          <p:cNvPr id="7" name="Picture 6">
            <a:extLst>
              <a:ext uri="{FF2B5EF4-FFF2-40B4-BE49-F238E27FC236}">
                <a16:creationId xmlns:a16="http://schemas.microsoft.com/office/drawing/2014/main" id="{79581DDB-5799-C152-EC17-20454E00A317}"/>
              </a:ext>
            </a:extLst>
          </p:cNvPr>
          <p:cNvPicPr>
            <a:picLocks noChangeAspect="1"/>
          </p:cNvPicPr>
          <p:nvPr/>
        </p:nvPicPr>
        <p:blipFill>
          <a:blip r:embed="rId3"/>
          <a:stretch>
            <a:fillRect/>
          </a:stretch>
        </p:blipFill>
        <p:spPr>
          <a:xfrm>
            <a:off x="3499042" y="392899"/>
            <a:ext cx="5579643" cy="3562210"/>
          </a:xfrm>
          <a:prstGeom prst="rect">
            <a:avLst/>
          </a:prstGeom>
        </p:spPr>
      </p:pic>
      <p:sp>
        <p:nvSpPr>
          <p:cNvPr id="8" name="TextBox 7">
            <a:extLst>
              <a:ext uri="{FF2B5EF4-FFF2-40B4-BE49-F238E27FC236}">
                <a16:creationId xmlns:a16="http://schemas.microsoft.com/office/drawing/2014/main" id="{26E5AEF6-C5E2-D0EF-6E96-26A249B86BAA}"/>
              </a:ext>
            </a:extLst>
          </p:cNvPr>
          <p:cNvSpPr txBox="1"/>
          <p:nvPr/>
        </p:nvSpPr>
        <p:spPr>
          <a:xfrm>
            <a:off x="8767732" y="130629"/>
            <a:ext cx="4227936"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Aggregation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880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1353</Words>
  <Application>Microsoft Office PowerPoint</Application>
  <PresentationFormat>Widescreen</PresentationFormat>
  <Paragraphs>115</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murali krishna</dc:creator>
  <cp:lastModifiedBy>murali krishna</cp:lastModifiedBy>
  <cp:revision>71</cp:revision>
  <dcterms:created xsi:type="dcterms:W3CDTF">2025-02-12T13:22:30Z</dcterms:created>
  <dcterms:modified xsi:type="dcterms:W3CDTF">2025-02-19T03:50:47Z</dcterms:modified>
</cp:coreProperties>
</file>