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67" r:id="rId2"/>
    <p:sldId id="26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  <p:sldId id="270" r:id="rId16"/>
    <p:sldId id="272" r:id="rId17"/>
    <p:sldId id="273" r:id="rId18"/>
    <p:sldId id="271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B74630-B870-4548-82B9-7A0840D63814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6990E-2279-4FCC-8A4C-79447030E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575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6990E-2279-4FCC-8A4C-79447030E623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044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85611-1350-1A6D-7145-CB919857C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02082A-D83C-9EB6-5DDC-941165524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24B4D-ED40-80AA-B88C-782B6E04C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D1A6-225E-4D87-B205-1DEA77D49DE8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B8281-11E7-1F9F-DAC6-7EFEDEDD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A3864-4620-47C0-2A35-9A742E25E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DCD-6DF6-4629-86C0-784CA1023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429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F9504-08D3-370D-BB77-7BC502F20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3CD6-CF0C-3090-949E-938E4A808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F6E34-8BA6-C3BD-C011-842AD5E74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D1A6-225E-4D87-B205-1DEA77D49DE8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AEE67-4707-FD48-0065-C50BCDFF3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BC24F-8D05-E44D-17C4-2C42EFEB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DCD-6DF6-4629-86C0-784CA1023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513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136EC-AA32-598F-3C6D-4541B68C4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FA240-722B-206B-A076-BF18841CB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1A19E-96A2-8DC5-16C6-D12E23E00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D1A6-225E-4D87-B205-1DEA77D49DE8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0DC07-8374-0C89-FA1D-F477B0A6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6F0D6-F6F5-C049-623E-6B2171589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DCD-6DF6-4629-86C0-784CA1023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476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731A5-296F-7C93-1BD9-3E40BC300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EB24F-A374-3870-7782-0569A906B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6E8EB-1D54-45AC-BB92-AEFB925EA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8652D-56D7-D935-2C2C-4D817A0A8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D1A6-225E-4D87-B205-1DEA77D49DE8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752AE-76A3-313A-4298-20F5F750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B696A-2D37-C579-E9DF-AAB6ECC8F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DCD-6DF6-4629-86C0-784CA1023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399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1D18D-AFF2-C10D-10F0-3EFC83079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41871-05BB-E480-0955-E76E25B7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4D61D-13E4-9B22-879D-555B9CDFF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743842-DC68-310A-A591-CBFCD08121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6EF8A5-0D30-9A67-9B46-F69233FB4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1C9E6A-0D9B-F07B-6C5D-F623A50B3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D1A6-225E-4D87-B205-1DEA77D49DE8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4143F-ED93-17AC-E590-9C3C6C5E5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1369A9-703E-7AF3-0507-FD61517C2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DCD-6DF6-4629-86C0-784CA1023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685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8F278-61ED-F32D-09BA-C1DAAFD8F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4DF517-E78D-F81B-E180-3345EA723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D1A6-225E-4D87-B205-1DEA77D49DE8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43C4C-3AF5-72F5-1FE3-D58D17A3A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CC1FAC-60F7-2699-A4DC-56D943EC9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DCD-6DF6-4629-86C0-784CA1023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060C21-E427-AF77-E092-6260310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D1A6-225E-4D87-B205-1DEA77D49DE8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30C05-59A8-8E70-7106-2A9173B8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31F44-0BF5-0FC9-7731-BA12856BD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DCD-6DF6-4629-86C0-784CA1023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382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360C-846B-FA89-630B-38C5CD9FA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E89CB-AF2D-A84C-A994-FCE92E2E4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529BCF-586E-0DF1-4DE1-596A1458F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3AE4E-DE62-BB52-43CE-6FEE91548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D1A6-225E-4D87-B205-1DEA77D49DE8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F90B75-1B3F-FBA5-F870-D96ACA26C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0CB38-0148-AC63-5F7D-69E619A2F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DCD-6DF6-4629-86C0-784CA1023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075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5AC7-6916-6ECD-2D9A-F63BDA87A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615ABD-A286-BC70-DD90-321B93F3F6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16110D-8D59-E3CD-5B97-745240A27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6E711-7F12-4ADD-0E1C-CD0481B0C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D1A6-225E-4D87-B205-1DEA77D49DE8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AF7C3-FB25-30BF-C32D-CBE1F8EAB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2C4C1-526D-A483-D9B5-6FF1F8AF3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DCD-6DF6-4629-86C0-784CA1023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050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D0C06-2BAE-FEE3-8818-CF5A1F16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C0BAF-C9EF-B06E-3132-419B09F2C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80E51-20D1-F37D-DED5-81C7DDDB9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D1A6-225E-4D87-B205-1DEA77D49DE8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F9D51-CB03-8675-C318-730184F7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05B70-185D-027D-3647-2709C6ADB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DCD-6DF6-4629-86C0-784CA1023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090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9F89CC-69C4-CA9D-A19F-5CF2D6408D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A050D-2421-443B-08F6-13C004F9F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8B1E5-67F9-A03F-E6B4-43CFB2D12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D1A6-225E-4D87-B205-1DEA77D49DE8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6E40B-A024-5DB9-B336-78D155969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4222D-E673-24BD-6661-6BF39297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E5DCD-6DF6-4629-86C0-784CA1023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54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D6E41D-5E78-7613-AEF5-8565E202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8E221-6FF2-8379-0376-DE9D29A87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9DF59-E0D9-010D-CD72-A92CDD255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9D1A6-225E-4D87-B205-1DEA77D49DE8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3BD77-4290-EF81-7D88-94B04777F0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2B09D-ACA6-CA01-12E2-D0E9E1138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E5DCD-6DF6-4629-86C0-784CA1023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701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A463-0CC5-A1AA-AAA4-98C13A45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162F9C-31B9-1F31-6112-0CC8611C9F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6436" y="539015"/>
            <a:ext cx="9398730" cy="164591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C46A07-A26D-3812-6570-1987F9798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47" y="2572927"/>
            <a:ext cx="10714706" cy="308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812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9D2AE-2D0F-2072-617B-213680DEC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16BE59-12B1-14AF-F176-75C78E7ADE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1232" y="715696"/>
            <a:ext cx="7889536" cy="116123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B7576D-5B4F-BA0A-0893-8B6501D68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40" y="2227497"/>
            <a:ext cx="11170133" cy="45384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53805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BF12D5-AA64-AF76-1B14-2B74D960E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218"/>
          </a:xfrm>
        </p:spPr>
        <p:txBody>
          <a:bodyPr>
            <a:normAutofit fontScale="90000"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Operators in Oracle SQL</a:t>
            </a:r>
            <a:br>
              <a:rPr lang="en-IN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3CD816-0F5B-D56F-E18C-E6626A8CD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344"/>
            <a:ext cx="10515600" cy="5066619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Arithmetic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Comparison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Logical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Bitwise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other operations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7970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4347B5-F855-3854-01E4-D4487172A5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3112939"/>
              </p:ext>
            </p:extLst>
          </p:nvPr>
        </p:nvGraphicFramePr>
        <p:xfrm>
          <a:off x="1556657" y="391932"/>
          <a:ext cx="8708570" cy="6237471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305659546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69130021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6567817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368334258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055294767"/>
                    </a:ext>
                  </a:extLst>
                </a:gridCol>
              </a:tblGrid>
              <a:tr h="82348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0">
                          <a:effectLst/>
                        </a:rPr>
                        <a:t>Operator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 dirty="0">
                          <a:effectLst/>
                        </a:rPr>
                        <a:t>Description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0">
                          <a:effectLst/>
                        </a:rPr>
                        <a:t>Syntax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0">
                          <a:effectLst/>
                        </a:rPr>
                        <a:t>Example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0">
                          <a:effectLst/>
                        </a:rPr>
                        <a:t>Output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40437548"/>
                  </a:ext>
                </a:extLst>
              </a:tr>
              <a:tr h="10430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 dirty="0">
                          <a:effectLst/>
                        </a:rPr>
                        <a:t>+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0">
                          <a:effectLst/>
                        </a:rPr>
                        <a:t>Addition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 dirty="0">
                          <a:effectLst/>
                        </a:rPr>
                        <a:t>SELECT column1 + column2 FROM table;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 dirty="0">
                          <a:effectLst/>
                        </a:rPr>
                        <a:t>SELECT 10 + 5 FROM dual;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 dirty="0">
                          <a:effectLst/>
                        </a:rPr>
                        <a:t>15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19776442"/>
                  </a:ext>
                </a:extLst>
              </a:tr>
              <a:tr h="10430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 dirty="0">
                          <a:effectLst/>
                        </a:rPr>
                        <a:t>-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0">
                          <a:effectLst/>
                        </a:rPr>
                        <a:t>Subtraction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>
                          <a:effectLst/>
                        </a:rPr>
                        <a:t>SELECT column1 - column2 FROM table;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>
                          <a:effectLst/>
                        </a:rPr>
                        <a:t>SELECT 10 - 5 FROM dual;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 dirty="0">
                          <a:effectLst/>
                        </a:rPr>
                        <a:t>5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20295881"/>
                  </a:ext>
                </a:extLst>
              </a:tr>
              <a:tr h="10430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>
                          <a:effectLst/>
                        </a:rPr>
                        <a:t>*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0">
                          <a:effectLst/>
                        </a:rPr>
                        <a:t>Multiplication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>
                          <a:effectLst/>
                        </a:rPr>
                        <a:t>SELECT column1 * column2 FROM table;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>
                          <a:effectLst/>
                        </a:rPr>
                        <a:t>SELECT 10 * 5 FROM dual;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>
                          <a:effectLst/>
                        </a:rPr>
                        <a:t>50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97952884"/>
                  </a:ext>
                </a:extLst>
              </a:tr>
              <a:tr h="10430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>
                          <a:effectLst/>
                        </a:rPr>
                        <a:t>/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kern="0">
                          <a:effectLst/>
                        </a:rPr>
                        <a:t>Division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>
                          <a:effectLst/>
                        </a:rPr>
                        <a:t>SELECT column1 / column2 FROM table;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 dirty="0">
                          <a:effectLst/>
                        </a:rPr>
                        <a:t>SELECT 10 / 5 FROM dual;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>
                          <a:effectLst/>
                        </a:rPr>
                        <a:t>2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59528226"/>
                  </a:ext>
                </a:extLst>
              </a:tr>
              <a:tr h="12416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>
                          <a:effectLst/>
                        </a:rPr>
                        <a:t>MOD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 dirty="0">
                          <a:effectLst/>
                        </a:rPr>
                        <a:t>Modulus (Remainder)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>
                          <a:effectLst/>
                        </a:rPr>
                        <a:t>SELECT MOD (column1, column2) FROM table;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 dirty="0">
                          <a:effectLst/>
                        </a:rPr>
                        <a:t>SELECT MOD (10, 3) FROM dual;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0" dirty="0">
                          <a:effectLst/>
                        </a:rPr>
                        <a:t>1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82508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3230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34180-8B8B-6898-4DC1-4F0488385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F50BC0-6DD4-E0DC-2948-AD7613AF61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9831" y="1138416"/>
            <a:ext cx="6684425" cy="3988755"/>
          </a:xfrm>
        </p:spPr>
      </p:pic>
    </p:spTree>
    <p:extLst>
      <p:ext uri="{BB962C8B-B14F-4D97-AF65-F5344CB8AC3E}">
        <p14:creationId xmlns:p14="http://schemas.microsoft.com/office/powerpoint/2010/main" val="2658047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C8553-F10F-FCB7-FB55-3610B3140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7585EB-3EA9-E280-0C19-5823770C9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045" y="995291"/>
            <a:ext cx="8069241" cy="4867417"/>
          </a:xfrm>
        </p:spPr>
      </p:pic>
    </p:spTree>
    <p:extLst>
      <p:ext uri="{BB962C8B-B14F-4D97-AF65-F5344CB8AC3E}">
        <p14:creationId xmlns:p14="http://schemas.microsoft.com/office/powerpoint/2010/main" val="2450780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719ED-E67C-7458-6B9E-85BCBEB55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F750F8-3ECA-CDE5-D48C-7DD1779D2C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2314" y="795767"/>
            <a:ext cx="6727372" cy="5266466"/>
          </a:xfrm>
        </p:spPr>
      </p:pic>
    </p:spTree>
    <p:extLst>
      <p:ext uri="{BB962C8B-B14F-4D97-AF65-F5344CB8AC3E}">
        <p14:creationId xmlns:p14="http://schemas.microsoft.com/office/powerpoint/2010/main" val="296302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72356-1E35-0AC9-EC84-1BEDF5605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C4F1F0-F0E3-AE59-B8B8-9EC907647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1128" y="849087"/>
            <a:ext cx="6450471" cy="4740119"/>
          </a:xfrm>
        </p:spPr>
      </p:pic>
    </p:spTree>
    <p:extLst>
      <p:ext uri="{BB962C8B-B14F-4D97-AF65-F5344CB8AC3E}">
        <p14:creationId xmlns:p14="http://schemas.microsoft.com/office/powerpoint/2010/main" val="3650991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AD88C-46F9-B560-7182-6CE2595CC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9A0E30-03B4-D38A-9B77-BAC58D2957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5229" y="937223"/>
            <a:ext cx="6259285" cy="4768198"/>
          </a:xfrm>
        </p:spPr>
      </p:pic>
    </p:spTree>
    <p:extLst>
      <p:ext uri="{BB962C8B-B14F-4D97-AF65-F5344CB8AC3E}">
        <p14:creationId xmlns:p14="http://schemas.microsoft.com/office/powerpoint/2010/main" val="2130659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DE67-03FD-6F6D-F8D5-98ED9AD14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93E0AD-220F-8BA3-A4E3-0BDD77FB54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2787" y="1034143"/>
            <a:ext cx="6627679" cy="4495800"/>
          </a:xfrm>
        </p:spPr>
      </p:pic>
    </p:spTree>
    <p:extLst>
      <p:ext uri="{BB962C8B-B14F-4D97-AF65-F5344CB8AC3E}">
        <p14:creationId xmlns:p14="http://schemas.microsoft.com/office/powerpoint/2010/main" val="3400422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3C2FB-05D7-75FD-5A3C-03E6CCAAF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6D39B4-C96A-4448-F8BF-23503D7D6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547" y="1690688"/>
            <a:ext cx="11983453" cy="2408511"/>
          </a:xfrm>
        </p:spPr>
      </p:pic>
    </p:spTree>
    <p:extLst>
      <p:ext uri="{BB962C8B-B14F-4D97-AF65-F5344CB8AC3E}">
        <p14:creationId xmlns:p14="http://schemas.microsoft.com/office/powerpoint/2010/main" val="3691386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D8D7-F688-F38E-9F5A-1D8C2BE0D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9A1F3-9863-E9B9-F683-06EE991F4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B7305-3724-8E72-8755-F13E189F541F}"/>
              </a:ext>
            </a:extLst>
          </p:cNvPr>
          <p:cNvSpPr txBox="1"/>
          <p:nvPr/>
        </p:nvSpPr>
        <p:spPr>
          <a:xfrm>
            <a:off x="2721543" y="2967335"/>
            <a:ext cx="75871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Comparison Operators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208225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DC8B3-77DC-5B69-12D6-0ED16EBDA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0958FB-B4C5-BEC2-197B-B76A99819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492" y="442762"/>
            <a:ext cx="10515599" cy="5996932"/>
          </a:xfrm>
        </p:spPr>
      </p:pic>
    </p:spTree>
    <p:extLst>
      <p:ext uri="{BB962C8B-B14F-4D97-AF65-F5344CB8AC3E}">
        <p14:creationId xmlns:p14="http://schemas.microsoft.com/office/powerpoint/2010/main" val="3492670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B02F7-8270-80FE-0973-0D348316C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36D9E5-CE7E-AFD0-8C9F-B481202CF2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804" y="910156"/>
            <a:ext cx="4879589" cy="423935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F1CEFE-DC93-B238-21C1-2B68BE294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013" y="1027906"/>
            <a:ext cx="5775787" cy="412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41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28DB-4F7B-0185-A691-EC13C257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88FACAF-587D-B402-F301-735D538AE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688" y="601607"/>
            <a:ext cx="4660286" cy="4432406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F735B6-BF0B-DDAE-160D-B49BC183A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056" y="656365"/>
            <a:ext cx="5928256" cy="43776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4FC9CC-1B65-9C19-9D8D-370726D0A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0096" y="3467501"/>
            <a:ext cx="6211341" cy="292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19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14108-CAD8-2619-7A32-D238E364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58EEB8-14A0-E60E-CA01-21D696CBF7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547" y="445537"/>
            <a:ext cx="5661333" cy="4925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EB1BB2-ADD6-97A5-6EBB-5B130C7EA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754" y="566756"/>
            <a:ext cx="5529572" cy="362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68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B4C9D-9D93-F728-87CA-C195500E0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60C14E-F717-24DD-C43D-66698EC08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298" y="484038"/>
            <a:ext cx="6026429" cy="52429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CCEF50-67F0-81F6-9E66-63F5E16FF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091" y="1027906"/>
            <a:ext cx="5050685" cy="292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5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1AB8C-CDFA-9B73-0A7B-77D8D445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10B5E0-42F7-94BA-DD7C-EA68D8CEE6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0195" y="1450056"/>
            <a:ext cx="6007713" cy="2592554"/>
          </a:xfrm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906392A4-B720-B2A5-5A6B-685CE1D4D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37" y="652521"/>
            <a:ext cx="5089950" cy="442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342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5EC40-1D3D-9D36-166B-62C6A7455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6D80D6-CE5D-4CDB-8054-262C9D6886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1026" y="1027906"/>
            <a:ext cx="6108631" cy="2841450"/>
          </a:xfrm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6321FA3C-087F-6288-5E36-309178A02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37" y="652521"/>
            <a:ext cx="5089950" cy="442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43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F72A4E-6A42-F957-349C-1E9D0EC2B79A}"/>
              </a:ext>
            </a:extLst>
          </p:cNvPr>
          <p:cNvSpPr txBox="1"/>
          <p:nvPr/>
        </p:nvSpPr>
        <p:spPr>
          <a:xfrm>
            <a:off x="3211286" y="250567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Logical Operators</a:t>
            </a:r>
            <a:endParaRPr lang="en-IN" sz="5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5B0F67-C48B-5D7F-074D-5F9605468CF2}"/>
              </a:ext>
            </a:extLst>
          </p:cNvPr>
          <p:cNvSpPr txBox="1"/>
          <p:nvPr/>
        </p:nvSpPr>
        <p:spPr>
          <a:xfrm>
            <a:off x="5943600" y="4176659"/>
            <a:ext cx="7685313" cy="593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 to combine multiple conditions.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288A03-2951-2CB6-3232-36ADD7D41AF8}"/>
              </a:ext>
            </a:extLst>
          </p:cNvPr>
          <p:cNvCxnSpPr/>
          <p:nvPr/>
        </p:nvCxnSpPr>
        <p:spPr>
          <a:xfrm>
            <a:off x="4615544" y="3429000"/>
            <a:ext cx="0" cy="1077685"/>
          </a:xfrm>
          <a:prstGeom prst="line">
            <a:avLst/>
          </a:prstGeom>
          <a:ln w="4445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6FE97F-2ADE-47E5-AAB8-B3F325855EDD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4615544" y="4473311"/>
            <a:ext cx="1328056" cy="2177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742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92D26E-82D1-3AFA-F695-A59C79B2B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11753"/>
              </p:ext>
            </p:extLst>
          </p:nvPr>
        </p:nvGraphicFramePr>
        <p:xfrm>
          <a:off x="925286" y="653143"/>
          <a:ext cx="9503229" cy="5480976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923105">
                  <a:extLst>
                    <a:ext uri="{9D8B030D-6E8A-4147-A177-3AD203B41FA5}">
                      <a16:colId xmlns:a16="http://schemas.microsoft.com/office/drawing/2014/main" val="421274288"/>
                    </a:ext>
                  </a:extLst>
                </a:gridCol>
                <a:gridCol w="4412381">
                  <a:extLst>
                    <a:ext uri="{9D8B030D-6E8A-4147-A177-3AD203B41FA5}">
                      <a16:colId xmlns:a16="http://schemas.microsoft.com/office/drawing/2014/main" val="521623648"/>
                    </a:ext>
                  </a:extLst>
                </a:gridCol>
                <a:gridCol w="3167743">
                  <a:extLst>
                    <a:ext uri="{9D8B030D-6E8A-4147-A177-3AD203B41FA5}">
                      <a16:colId xmlns:a16="http://schemas.microsoft.com/office/drawing/2014/main" val="2402156734"/>
                    </a:ext>
                  </a:extLst>
                </a:gridCol>
              </a:tblGrid>
              <a:tr h="3995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</a:rPr>
                        <a:t>Operator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</a:rPr>
                        <a:t>Description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</a:rPr>
                        <a:t>Syntax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8657760"/>
                  </a:ext>
                </a:extLst>
              </a:tr>
              <a:tr h="15929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AND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b="1" kern="0" dirty="0">
                          <a:effectLst/>
                        </a:rPr>
                        <a:t>Returns </a:t>
                      </a:r>
                      <a:r>
                        <a:rPr lang="en-IN" sz="1800" b="1" kern="0" dirty="0">
                          <a:effectLst/>
                        </a:rPr>
                        <a:t>TRUE</a:t>
                      </a:r>
                      <a:r>
                        <a:rPr lang="en-IN" sz="2800" b="1" kern="0" dirty="0">
                          <a:effectLst/>
                        </a:rPr>
                        <a:t> if both conditions are true</a:t>
                      </a:r>
                      <a:endParaRPr lang="en-IN" sz="2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1" kern="0" dirty="0">
                          <a:effectLst/>
                        </a:rPr>
                        <a:t>SELECT * FROM employees WHERE age &gt; 30 AND department = 'HR';</a:t>
                      </a:r>
                      <a:endParaRPr lang="en-IN" sz="2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348730"/>
                  </a:ext>
                </a:extLst>
              </a:tr>
              <a:tr h="19907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OR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b="1" kern="0" dirty="0">
                          <a:effectLst/>
                        </a:rPr>
                        <a:t>Returns </a:t>
                      </a:r>
                      <a:r>
                        <a:rPr lang="en-IN" sz="1800" b="1" kern="0" dirty="0">
                          <a:effectLst/>
                        </a:rPr>
                        <a:t>TRUE</a:t>
                      </a:r>
                      <a:r>
                        <a:rPr lang="en-IN" sz="2800" b="1" kern="0" dirty="0">
                          <a:effectLst/>
                        </a:rPr>
                        <a:t> if at least one condition is true</a:t>
                      </a:r>
                      <a:endParaRPr lang="en-IN" sz="2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1" kern="0" dirty="0">
                          <a:effectLst/>
                        </a:rPr>
                        <a:t>SELECT * FROM employees WHERE age &gt; 30 OR department = 'HR';</a:t>
                      </a:r>
                      <a:endParaRPr lang="en-IN" sz="2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17534664"/>
                  </a:ext>
                </a:extLst>
              </a:tr>
              <a:tr h="14977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NOT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800" b="1" kern="0">
                          <a:effectLst/>
                        </a:rPr>
                        <a:t>Negates a condition</a:t>
                      </a:r>
                      <a:endParaRPr lang="en-IN" sz="2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1" kern="0" dirty="0">
                          <a:effectLst/>
                        </a:rPr>
                        <a:t>SELECT * FROM employees WHERE NOT department = 'HR';</a:t>
                      </a:r>
                      <a:endParaRPr lang="en-IN" sz="2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63938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851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8512DD-64B0-B0E3-4C99-88FA60A57C47}"/>
              </a:ext>
            </a:extLst>
          </p:cNvPr>
          <p:cNvSpPr txBox="1"/>
          <p:nvPr/>
        </p:nvSpPr>
        <p:spPr>
          <a:xfrm>
            <a:off x="2024743" y="370113"/>
            <a:ext cx="7935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DIFFERENCE BETWEEN     </a:t>
            </a:r>
            <a:r>
              <a:rPr lang="en-IN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I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IN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3BF3A0-3C3A-8FC7-0020-B29DD4E9B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71" y="1404258"/>
            <a:ext cx="8087435" cy="116477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09DAA3-1213-DBC0-DC0B-2F6600572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764" y="3189704"/>
            <a:ext cx="7996683" cy="85909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075952-E0DF-EAC7-D711-E9D87FFFA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698" y="4692616"/>
            <a:ext cx="11264884" cy="85909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4270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150020-7EE9-D312-7852-E33B10173EC9}"/>
              </a:ext>
            </a:extLst>
          </p:cNvPr>
          <p:cNvSpPr txBox="1"/>
          <p:nvPr/>
        </p:nvSpPr>
        <p:spPr>
          <a:xfrm>
            <a:off x="2057399" y="533400"/>
            <a:ext cx="73478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Concatenation Operator </a:t>
            </a:r>
            <a:r>
              <a:rPr lang="en-IN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endParaRPr lang="en-IN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2EB7A6-1C31-E3C9-9F01-98C440A3DDAE}"/>
              </a:ext>
            </a:extLst>
          </p:cNvPr>
          <p:cNvSpPr txBox="1"/>
          <p:nvPr/>
        </p:nvSpPr>
        <p:spPr>
          <a:xfrm>
            <a:off x="718456" y="1647149"/>
            <a:ext cx="7826829" cy="130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 operator (||) is used to combine two or more strings into a single string.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16D215-6AFF-48AF-72EB-56B5CFF0C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33" y="3358115"/>
            <a:ext cx="8106252" cy="109039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5800E5-98E1-513F-42E0-10F2A7821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840" y="4851942"/>
            <a:ext cx="2473846" cy="182153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3525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0735AF-4778-BA00-2CA7-3FD29AFE9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01" y="179056"/>
            <a:ext cx="8210172" cy="145340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585897-119C-8646-F5B4-A1033A8D3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708" y="179056"/>
            <a:ext cx="2380378" cy="145340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B7F568-43B1-5430-0429-7768F3C98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67818"/>
            <a:ext cx="10435470" cy="108903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C72533-634A-0BD3-32F9-C8DCD5C737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5973" y="2555147"/>
            <a:ext cx="3198385" cy="151216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307A73-C1BD-F683-0EA8-044D08FC1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801" y="3701143"/>
            <a:ext cx="7536744" cy="119742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8012DF-CA68-5FB7-30C2-108D1994F0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489" y="5497284"/>
            <a:ext cx="9467869" cy="118165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5569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0602C2-8E6A-3227-97C6-C9D4F61D5E32}"/>
              </a:ext>
            </a:extLst>
          </p:cNvPr>
          <p:cNvSpPr txBox="1"/>
          <p:nvPr/>
        </p:nvSpPr>
        <p:spPr>
          <a:xfrm>
            <a:off x="1338943" y="151350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 Operators</a:t>
            </a:r>
            <a:endParaRPr lang="en-IN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741C77-7160-3B22-8B55-96CA562AF3D1}"/>
              </a:ext>
            </a:extLst>
          </p:cNvPr>
          <p:cNvSpPr txBox="1"/>
          <p:nvPr/>
        </p:nvSpPr>
        <p:spPr>
          <a:xfrm>
            <a:off x="3559630" y="2898406"/>
            <a:ext cx="9829799" cy="530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 to combine the results of multiple </a:t>
            </a:r>
            <a:r>
              <a:rPr lang="en-IN" b="1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queries.</a:t>
            </a:r>
            <a:endParaRPr lang="en-IN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7F2B4B-FCCE-4206-F745-1F8737062110}"/>
              </a:ext>
            </a:extLst>
          </p:cNvPr>
          <p:cNvCxnSpPr>
            <a:cxnSpLocks/>
          </p:cNvCxnSpPr>
          <p:nvPr/>
        </p:nvCxnSpPr>
        <p:spPr>
          <a:xfrm>
            <a:off x="2351314" y="2344502"/>
            <a:ext cx="0" cy="819201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8B170E-401D-BC63-3418-8ECBB055178D}"/>
              </a:ext>
            </a:extLst>
          </p:cNvPr>
          <p:cNvCxnSpPr>
            <a:endCxn id="5" idx="1"/>
          </p:cNvCxnSpPr>
          <p:nvPr/>
        </p:nvCxnSpPr>
        <p:spPr>
          <a:xfrm>
            <a:off x="2351314" y="3163703"/>
            <a:ext cx="1208316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226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2D4472-6251-5266-26F0-8280806CD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504853"/>
              </p:ext>
            </p:extLst>
          </p:nvPr>
        </p:nvGraphicFramePr>
        <p:xfrm>
          <a:off x="1632855" y="446314"/>
          <a:ext cx="8316687" cy="6077045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861412">
                  <a:extLst>
                    <a:ext uri="{9D8B030D-6E8A-4147-A177-3AD203B41FA5}">
                      <a16:colId xmlns:a16="http://schemas.microsoft.com/office/drawing/2014/main" val="1957921195"/>
                    </a:ext>
                  </a:extLst>
                </a:gridCol>
                <a:gridCol w="3006894">
                  <a:extLst>
                    <a:ext uri="{9D8B030D-6E8A-4147-A177-3AD203B41FA5}">
                      <a16:colId xmlns:a16="http://schemas.microsoft.com/office/drawing/2014/main" val="681760673"/>
                    </a:ext>
                  </a:extLst>
                </a:gridCol>
                <a:gridCol w="3448381">
                  <a:extLst>
                    <a:ext uri="{9D8B030D-6E8A-4147-A177-3AD203B41FA5}">
                      <a16:colId xmlns:a16="http://schemas.microsoft.com/office/drawing/2014/main" val="2856143618"/>
                    </a:ext>
                  </a:extLst>
                </a:gridCol>
              </a:tblGrid>
              <a:tr h="12154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50597919"/>
                  </a:ext>
                </a:extLst>
              </a:tr>
              <a:tr h="12154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UNION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unique records from both queries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 column1 FROM table1 UNION SELECT column1 FROM table2;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88411839"/>
                  </a:ext>
                </a:extLst>
              </a:tr>
              <a:tr h="12154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UNION ALL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all records (including duplicates)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 column1 FROM table1 UNION ALL SELECT column1 FROM table2;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83455307"/>
                  </a:ext>
                </a:extLst>
              </a:tr>
              <a:tr h="12154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INTERSECT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common records from both queries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 column1 FROM table1 INTERSECT SELECT column1 FROM table2;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8027856"/>
                  </a:ext>
                </a:extLst>
              </a:tr>
              <a:tr h="12154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MINUS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 records in first query but not in second</a:t>
                      </a:r>
                      <a:endParaRPr lang="en-IN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 column1 FROM table1 MINUS SELECT column1 FROM table2;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35606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9718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C34CFF-8DB8-B8A5-7452-2B16F9922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64" y="609601"/>
            <a:ext cx="11752671" cy="525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9397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080030-651E-B80E-8B38-60EDAA01F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9743"/>
            <a:ext cx="7499949" cy="211182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4C4BFE-B59A-5C04-47CC-8CCD0D921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" y="2421118"/>
            <a:ext cx="7404222" cy="202923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91691D-8A89-2856-2632-9FAC5B0B1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464" y="4639897"/>
            <a:ext cx="6658545" cy="190683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591F66-6827-C4C0-BCA5-151BC453A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8971" y="1048623"/>
            <a:ext cx="2903999" cy="394792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8421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A5780C-6CC7-0DC4-F418-3FECAD741D09}"/>
              </a:ext>
            </a:extLst>
          </p:cNvPr>
          <p:cNvSpPr txBox="1"/>
          <p:nvPr/>
        </p:nvSpPr>
        <p:spPr>
          <a:xfrm>
            <a:off x="1469572" y="362634"/>
            <a:ext cx="831668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UNION vs UNION ALL</a:t>
            </a:r>
          </a:p>
          <a:p>
            <a:endParaRPr lang="en-US" sz="2800" b="1" dirty="0"/>
          </a:p>
          <a:p>
            <a:r>
              <a:rPr lang="en-US" sz="2800" b="1" dirty="0">
                <a:solidFill>
                  <a:srgbClr val="FF0000"/>
                </a:solidFill>
              </a:rPr>
              <a:t>If you want to include duplicate rows, use UNION ALL: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46CD29-CC27-28F1-BEDA-FFF816FEC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5" y="2048077"/>
            <a:ext cx="7857607" cy="197305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62BEF6-8580-56CB-1601-EFE9990FF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6231" y="2506150"/>
            <a:ext cx="2293284" cy="371225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660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02BD9F-1B99-5265-0A60-2435B6C39607}"/>
              </a:ext>
            </a:extLst>
          </p:cNvPr>
          <p:cNvSpPr txBox="1"/>
          <p:nvPr/>
        </p:nvSpPr>
        <p:spPr>
          <a:xfrm>
            <a:off x="647700" y="174171"/>
            <a:ext cx="10896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The </a:t>
            </a:r>
            <a:r>
              <a:rPr lang="en-US" sz="2800" b="1" dirty="0"/>
              <a:t>INTERSECT</a:t>
            </a:r>
            <a:r>
              <a:rPr lang="en-US" sz="2800" dirty="0"/>
              <a:t> operator in </a:t>
            </a:r>
            <a:r>
              <a:rPr lang="en-US" sz="2800" b="1" dirty="0"/>
              <a:t>DBMS</a:t>
            </a:r>
            <a:r>
              <a:rPr lang="en-US" sz="2800" dirty="0"/>
              <a:t> is used to return the common records (intersection) from two or more </a:t>
            </a:r>
            <a:r>
              <a:rPr lang="en-US" sz="2800" b="1" dirty="0"/>
              <a:t>SELECT</a:t>
            </a:r>
            <a:r>
              <a:rPr lang="en-US" sz="2800" dirty="0"/>
              <a:t> queries. It only includes rows that appear in </a:t>
            </a:r>
            <a:r>
              <a:rPr lang="en-US" sz="2800" b="1" dirty="0"/>
              <a:t>both</a:t>
            </a:r>
            <a:r>
              <a:rPr lang="en-US" sz="2800" dirty="0"/>
              <a:t> result sets.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04E225-51E0-E78C-1E22-C4B288D31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307" y="1670720"/>
            <a:ext cx="7256985" cy="19651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329CA2-17A8-C036-3E36-94DB13E9A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075" y="3899855"/>
            <a:ext cx="8224410" cy="278397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552055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8341BA-2343-2F83-F4EA-3F99091F7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924"/>
            <a:ext cx="5742747" cy="279494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075C79-DE37-11A9-E3FA-47BB77BC5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79" y="3602482"/>
            <a:ext cx="5805770" cy="279494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0188C6-7401-322D-5B53-49F374736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49683"/>
            <a:ext cx="6248751" cy="209869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04EC2E-7C4B-3534-B4D5-B0B19E4B24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0691" y="3429000"/>
            <a:ext cx="2064679" cy="252012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7197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79D6E5-2CC8-8C15-E199-C39E08612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389"/>
            <a:ext cx="12159251" cy="524695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9112825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DEF699-518F-8554-D86B-3774BCE89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392" y="1263615"/>
            <a:ext cx="8049322" cy="391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4703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7B7D9C-BD0B-16F9-72CA-3AE8BF35D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289518" cy="4866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queries must have the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same number of columns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 includes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unique rows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the first query that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 not exist in the second query. </a:t>
            </a:r>
          </a:p>
        </p:txBody>
      </p:sp>
    </p:spTree>
    <p:extLst>
      <p:ext uri="{BB962C8B-B14F-4D97-AF65-F5344CB8AC3E}">
        <p14:creationId xmlns:p14="http://schemas.microsoft.com/office/powerpoint/2010/main" val="13821148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BF61AE-EAFE-63DE-A95F-84261CC61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7550"/>
            <a:ext cx="7543800" cy="307810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DB2367-D496-8CEE-57A6-DD6D44F75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40986"/>
            <a:ext cx="8025802" cy="24601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FABEE0-CBB6-C84D-46D2-C343DE1D3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511" y="287216"/>
            <a:ext cx="4969568" cy="228857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DB8DA7-5CC2-A680-6945-1E05CDE5C3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7005" y="3887445"/>
            <a:ext cx="5154880" cy="223702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7656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01D6DD-A9A7-487E-AFDC-A8504424C585}"/>
              </a:ext>
            </a:extLst>
          </p:cNvPr>
          <p:cNvSpPr txBox="1"/>
          <p:nvPr/>
        </p:nvSpPr>
        <p:spPr>
          <a:xfrm>
            <a:off x="87086" y="965145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Bitwise Operators</a:t>
            </a:r>
            <a:endParaRPr lang="en-IN" sz="6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733A44-02E1-A39A-A0FD-811C2B77C776}"/>
              </a:ext>
            </a:extLst>
          </p:cNvPr>
          <p:cNvSpPr txBox="1"/>
          <p:nvPr/>
        </p:nvSpPr>
        <p:spPr>
          <a:xfrm>
            <a:off x="1534885" y="3101057"/>
            <a:ext cx="10929257" cy="655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Bitwise operators perform operations at the </a:t>
            </a:r>
            <a:r>
              <a:rPr lang="en-IN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binary level</a:t>
            </a:r>
            <a:r>
              <a:rPr lang="en-IN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A002B0-880C-9B10-6656-9F866743104A}"/>
              </a:ext>
            </a:extLst>
          </p:cNvPr>
          <p:cNvCxnSpPr>
            <a:cxnSpLocks/>
          </p:cNvCxnSpPr>
          <p:nvPr/>
        </p:nvCxnSpPr>
        <p:spPr>
          <a:xfrm>
            <a:off x="468086" y="1980808"/>
            <a:ext cx="0" cy="1448191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6A4201-8818-17BC-DEF3-CA4D59C5824A}"/>
              </a:ext>
            </a:extLst>
          </p:cNvPr>
          <p:cNvCxnSpPr>
            <a:endCxn id="5" idx="1"/>
          </p:cNvCxnSpPr>
          <p:nvPr/>
        </p:nvCxnSpPr>
        <p:spPr>
          <a:xfrm>
            <a:off x="500743" y="3428999"/>
            <a:ext cx="1034142" cy="1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747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560832-0925-5D2C-51F4-C148FF45F8B8}"/>
              </a:ext>
            </a:extLst>
          </p:cNvPr>
          <p:cNvSpPr txBox="1"/>
          <p:nvPr/>
        </p:nvSpPr>
        <p:spPr>
          <a:xfrm>
            <a:off x="1012372" y="956493"/>
            <a:ext cx="10341428" cy="4866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Bitwise operators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perform operations at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level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3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values. These operators manipulate individual bits of numbers and are useful in scenarios like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permissions handling, flag operations, and data compression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9376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41E9F3-059B-13BC-929A-DF8FF68AD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95" y="100163"/>
            <a:ext cx="12039599" cy="624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216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307E38-9D5E-37C8-F274-134093CD0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56" y="204077"/>
            <a:ext cx="8766230" cy="483833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1FA1DD-E79E-C90C-21F6-E1FBF2A77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56" y="5329931"/>
            <a:ext cx="11588087" cy="132399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EC513B-42A8-5362-6E61-A91BA6EBA6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63567">
            <a:off x="9000443" y="1488622"/>
            <a:ext cx="2333625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9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E2D0C3-28F8-4FE0-904D-385296C3E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977" y="479211"/>
            <a:ext cx="5365892" cy="166962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530FE9-6D12-8868-B2EC-F7D2BC2AE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91" y="2809397"/>
            <a:ext cx="5365892" cy="167616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930C53-8CD7-76E8-26F3-47C3F5DF7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947" y="4876322"/>
            <a:ext cx="5508709" cy="166030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7928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882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429</Words>
  <Application>Microsoft Office PowerPoint</Application>
  <PresentationFormat>Widescreen</PresentationFormat>
  <Paragraphs>84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Operators in Oracle SQL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murali krishna</dc:creator>
  <cp:lastModifiedBy>murali krishna</cp:lastModifiedBy>
  <cp:revision>54</cp:revision>
  <dcterms:created xsi:type="dcterms:W3CDTF">2025-02-04T03:27:07Z</dcterms:created>
  <dcterms:modified xsi:type="dcterms:W3CDTF">2025-02-07T03:37:36Z</dcterms:modified>
</cp:coreProperties>
</file>