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3E06C0-202B-4888-A18A-181A30C0160E}" type="datetimeFigureOut">
              <a:rPr lang="en-US" smtClean="0"/>
              <a:t>3/23/2025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C72F48-84BD-40C5-9C4E-0691F8F561F9}" type="slidenum">
              <a:rPr lang="en-US" smtClean="0"/>
              <a:t>‹#›</a:t>
            </a:fld>
            <a:endParaRPr lang="en-US"/>
          </a:p>
        </p:txBody>
      </p:sp>
    </p:spTree>
    <p:extLst>
      <p:ext uri="{BB962C8B-B14F-4D97-AF65-F5344CB8AC3E}">
        <p14:creationId xmlns:p14="http://schemas.microsoft.com/office/powerpoint/2010/main" val="944430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AB32887-C516-4939-8A67-41AE96ADA5B6}" type="slidenum">
              <a:rPr lang="en-IN" smtClean="0"/>
              <a:t>17</a:t>
            </a:fld>
            <a:endParaRPr lang="en-IN"/>
          </a:p>
        </p:txBody>
      </p:sp>
    </p:spTree>
    <p:extLst>
      <p:ext uri="{BB962C8B-B14F-4D97-AF65-F5344CB8AC3E}">
        <p14:creationId xmlns:p14="http://schemas.microsoft.com/office/powerpoint/2010/main" val="293493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C72F48-84BD-40C5-9C4E-0691F8F561F9}" type="slidenum">
              <a:rPr lang="en-US" smtClean="0"/>
              <a:t>18</a:t>
            </a:fld>
            <a:endParaRPr lang="en-US"/>
          </a:p>
        </p:txBody>
      </p:sp>
    </p:spTree>
    <p:extLst>
      <p:ext uri="{BB962C8B-B14F-4D97-AF65-F5344CB8AC3E}">
        <p14:creationId xmlns:p14="http://schemas.microsoft.com/office/powerpoint/2010/main" val="216718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1F0688-CE4A-48A5-8B7B-BF595DE4D543}"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1970504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F0688-CE4A-48A5-8B7B-BF595DE4D543}"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3882566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1F0688-CE4A-48A5-8B7B-BF595DE4D543}"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1699921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1F0688-CE4A-48A5-8B7B-BF595DE4D543}"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4293104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1F0688-CE4A-48A5-8B7B-BF595DE4D543}" type="datetimeFigureOut">
              <a:rPr lang="en-US" smtClean="0"/>
              <a:t>3/23/2025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175332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1F0688-CE4A-48A5-8B7B-BF595DE4D543}" type="datetimeFigureOut">
              <a:rPr lang="en-US" smtClean="0"/>
              <a:t>3/23/2025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2851109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1F0688-CE4A-48A5-8B7B-BF595DE4D543}" type="datetimeFigureOut">
              <a:rPr lang="en-US" smtClean="0"/>
              <a:t>3/23/2025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2290164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1F0688-CE4A-48A5-8B7B-BF595DE4D543}"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325971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1F0688-CE4A-48A5-8B7B-BF595DE4D543}"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2440608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F0688-CE4A-48A5-8B7B-BF595DE4D543}"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1725254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F0688-CE4A-48A5-8B7B-BF595DE4D543}"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2DB77-DCED-48D0-A6D9-1DBBF2168CC0}" type="slidenum">
              <a:rPr lang="en-US" smtClean="0"/>
              <a:t>‹#›</a:t>
            </a:fld>
            <a:endParaRPr lang="en-US"/>
          </a:p>
        </p:txBody>
      </p:sp>
    </p:spTree>
    <p:extLst>
      <p:ext uri="{BB962C8B-B14F-4D97-AF65-F5344CB8AC3E}">
        <p14:creationId xmlns:p14="http://schemas.microsoft.com/office/powerpoint/2010/main" val="382142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F0688-CE4A-48A5-8B7B-BF595DE4D543}" type="datetimeFigureOut">
              <a:rPr lang="en-US" smtClean="0"/>
              <a:t>3/23/2025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42DB77-DCED-48D0-A6D9-1DBBF2168CC0}" type="slidenum">
              <a:rPr lang="en-US" smtClean="0"/>
              <a:t>‹#›</a:t>
            </a:fld>
            <a:endParaRPr lang="en-US"/>
          </a:p>
        </p:txBody>
      </p:sp>
    </p:spTree>
    <p:extLst>
      <p:ext uri="{BB962C8B-B14F-4D97-AF65-F5344CB8AC3E}">
        <p14:creationId xmlns:p14="http://schemas.microsoft.com/office/powerpoint/2010/main" val="1500303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1817" y="0"/>
            <a:ext cx="10577015" cy="5505353"/>
          </a:xfrm>
          <a:prstGeom prst="rect">
            <a:avLst/>
          </a:prstGeom>
        </p:spPr>
        <p:txBody>
          <a:bodyPr wrap="square">
            <a:spAutoFit/>
          </a:bodyPr>
          <a:lstStyle/>
          <a:p>
            <a:pPr algn="just">
              <a:lnSpc>
                <a:spcPct val="150000"/>
              </a:lnSpc>
            </a:pPr>
            <a:r>
              <a:rPr lang="en-US" sz="2000" b="1" i="0" dirty="0">
                <a:solidFill>
                  <a:srgbClr val="000000"/>
                </a:solidFill>
                <a:effectLst/>
                <a:latin typeface="Times New Roman" panose="02020603050405020304" pitchFamily="18" charset="0"/>
                <a:cs typeface="Times New Roman" panose="02020603050405020304" pitchFamily="18" charset="0"/>
              </a:rPr>
              <a:t>Declarations</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This section starts with the keyword </a:t>
            </a:r>
            <a:r>
              <a:rPr lang="en-US" sz="2000" b="1" i="0" dirty="0">
                <a:solidFill>
                  <a:srgbClr val="000000"/>
                </a:solidFill>
                <a:effectLst/>
                <a:latin typeface="Times New Roman" panose="02020603050405020304" pitchFamily="18" charset="0"/>
                <a:cs typeface="Times New Roman" panose="02020603050405020304" pitchFamily="18" charset="0"/>
              </a:rPr>
              <a:t>DECLARE</a:t>
            </a:r>
            <a:r>
              <a:rPr lang="en-US" sz="2000" b="0" i="0" dirty="0">
                <a:solidFill>
                  <a:srgbClr val="000000"/>
                </a:solidFill>
                <a:effectLst/>
                <a:latin typeface="Times New Roman" panose="02020603050405020304" pitchFamily="18" charset="0"/>
                <a:cs typeface="Times New Roman" panose="02020603050405020304" pitchFamily="18" charset="0"/>
              </a:rPr>
              <a:t>. It is an optional section and defines all variables, cursors, subprograms, and other elements to be used in the program.</a:t>
            </a:r>
          </a:p>
          <a:p>
            <a:pPr algn="just">
              <a:lnSpc>
                <a:spcPct val="150000"/>
              </a:lnSpc>
            </a:pPr>
            <a:r>
              <a:rPr lang="en-US" sz="2000" b="1" dirty="0">
                <a:latin typeface="Times New Roman" panose="02020603050405020304" pitchFamily="18" charset="0"/>
                <a:cs typeface="Times New Roman" panose="02020603050405020304" pitchFamily="18" charset="0"/>
              </a:rPr>
              <a:t>Executable Commands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This section is enclosed between the keywords </a:t>
            </a:r>
            <a:r>
              <a:rPr lang="en-US" sz="2000" b="1" dirty="0">
                <a:latin typeface="Times New Roman" panose="02020603050405020304" pitchFamily="18" charset="0"/>
                <a:cs typeface="Times New Roman" panose="02020603050405020304" pitchFamily="18" charset="0"/>
              </a:rPr>
              <a:t>BEGIN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END</a:t>
            </a:r>
            <a:r>
              <a:rPr lang="en-US" sz="2000" dirty="0">
                <a:latin typeface="Times New Roman" panose="02020603050405020304" pitchFamily="18" charset="0"/>
                <a:cs typeface="Times New Roman" panose="02020603050405020304" pitchFamily="18" charset="0"/>
              </a:rPr>
              <a:t> and it is a mandatory section. It consists of the executable PL/SQL statements of the program. It should have at least one executable line of code, which may be just a </a:t>
            </a:r>
            <a:r>
              <a:rPr lang="en-US" sz="2000" b="1" dirty="0">
                <a:latin typeface="Times New Roman" panose="02020603050405020304" pitchFamily="18" charset="0"/>
                <a:cs typeface="Times New Roman" panose="02020603050405020304" pitchFamily="18" charset="0"/>
              </a:rPr>
              <a:t>NULL command</a:t>
            </a:r>
            <a:r>
              <a:rPr lang="en-US" sz="2000" dirty="0">
                <a:latin typeface="Times New Roman" panose="02020603050405020304" pitchFamily="18" charset="0"/>
                <a:cs typeface="Times New Roman" panose="02020603050405020304" pitchFamily="18" charset="0"/>
              </a:rPr>
              <a:t> to indicate that nothing should be executed.</a:t>
            </a:r>
          </a:p>
          <a:p>
            <a:pPr algn="just">
              <a:lnSpc>
                <a:spcPct val="150000"/>
              </a:lnSpc>
            </a:pPr>
            <a:r>
              <a:rPr lang="en-US" sz="2000" b="1" dirty="0">
                <a:latin typeface="Times New Roman" panose="02020603050405020304" pitchFamily="18" charset="0"/>
                <a:cs typeface="Times New Roman" panose="02020603050405020304" pitchFamily="18" charset="0"/>
              </a:rPr>
              <a:t>Exception Handling</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This section starts with the keyword </a:t>
            </a:r>
            <a:r>
              <a:rPr lang="en-US" sz="2000" b="1" dirty="0">
                <a:latin typeface="Times New Roman" panose="02020603050405020304" pitchFamily="18" charset="0"/>
                <a:cs typeface="Times New Roman" panose="02020603050405020304" pitchFamily="18" charset="0"/>
              </a:rPr>
              <a:t>EXCEPTION</a:t>
            </a:r>
            <a:r>
              <a:rPr lang="en-US" sz="2000" dirty="0">
                <a:latin typeface="Times New Roman" panose="02020603050405020304" pitchFamily="18" charset="0"/>
                <a:cs typeface="Times New Roman" panose="02020603050405020304" pitchFamily="18" charset="0"/>
              </a:rPr>
              <a:t>. This optional section contains </a:t>
            </a:r>
            <a:r>
              <a:rPr lang="en-US" sz="2000" b="1" dirty="0">
                <a:latin typeface="Times New Roman" panose="02020603050405020304" pitchFamily="18" charset="0"/>
                <a:cs typeface="Times New Roman" panose="02020603050405020304" pitchFamily="18" charset="0"/>
              </a:rPr>
              <a:t>exception(s)</a:t>
            </a:r>
            <a:r>
              <a:rPr lang="en-US" sz="2000" dirty="0">
                <a:latin typeface="Times New Roman" panose="02020603050405020304" pitchFamily="18" charset="0"/>
                <a:cs typeface="Times New Roman" panose="02020603050405020304" pitchFamily="18" charset="0"/>
              </a:rPr>
              <a:t> that handle errors in the program.</a:t>
            </a:r>
          </a:p>
          <a:p>
            <a:pPr algn="just">
              <a:lnSpc>
                <a:spcPct val="150000"/>
              </a:lnSpc>
            </a:pPr>
            <a:endParaRPr lang="en-US" b="0" i="0" dirty="0">
              <a:solidFill>
                <a:srgbClr val="000000"/>
              </a:solidFill>
              <a:effectLst/>
              <a:latin typeface="Nunito"/>
            </a:endParaRPr>
          </a:p>
          <a:p>
            <a:pPr algn="just">
              <a:lnSpc>
                <a:spcPct val="150000"/>
              </a:lnSpc>
            </a:pPr>
            <a:endParaRPr lang="en-US" b="0" i="0" dirty="0">
              <a:solidFill>
                <a:srgbClr val="000000"/>
              </a:solidFill>
              <a:effectLst/>
              <a:latin typeface="Nunito"/>
            </a:endParaRPr>
          </a:p>
        </p:txBody>
      </p:sp>
      <p:sp>
        <p:nvSpPr>
          <p:cNvPr id="7" name="Rectangle 2"/>
          <p:cNvSpPr>
            <a:spLocks noChangeArrowheads="1"/>
          </p:cNvSpPr>
          <p:nvPr/>
        </p:nvSpPr>
        <p:spPr bwMode="auto">
          <a:xfrm>
            <a:off x="2765946" y="4952073"/>
            <a:ext cx="6660107" cy="152349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&lt;declarations section&gt;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BEGIN &lt;executable command(s)&gt;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EXCEPTION &lt;exception handling&gt; END</a:t>
            </a:r>
            <a:r>
              <a:rPr kumimoji="0" lang="en-US" sz="1100" b="0" i="0" u="none" strike="noStrike" cap="none" normalizeH="0" baseline="0" dirty="0">
                <a:ln>
                  <a:noFill/>
                </a:ln>
                <a:solidFill>
                  <a:srgbClr val="000000"/>
                </a:solidFill>
                <a:effectLst/>
                <a:latin typeface="var(--bs-font-monospace)"/>
              </a:rPr>
              <a:t>;</a:t>
            </a:r>
            <a:r>
              <a:rPr kumimoji="0" lang="en-US" sz="1100" b="0" i="0" u="none" strike="noStrike" cap="none" normalizeH="0" baseline="0" dirty="0">
                <a:ln>
                  <a:noFill/>
                </a:ln>
                <a:solidFill>
                  <a:schemeClr val="tx1"/>
                </a:solidFill>
                <a:effectLst/>
              </a:rPr>
              <a:t> </a:t>
            </a: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4986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97006" y="539932"/>
            <a:ext cx="8333096" cy="220060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message varchar2</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20</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'Hello, World!'</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BEGIN</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dbms_output</a:t>
            </a:r>
            <a:r>
              <a:rPr kumimoji="0" lang="en-US" b="0" i="0" u="none" strike="noStrike" cap="none" normalizeH="0" baseline="0" dirty="0" err="1">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put_line</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message</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497007" y="3244334"/>
            <a:ext cx="7512338" cy="830997"/>
          </a:xfrm>
          <a:prstGeom prst="rect">
            <a:avLst/>
          </a:prstGeom>
        </p:spPr>
        <p:txBody>
          <a:bodyPr wrap="square">
            <a:spAutoFit/>
          </a:bodyPr>
          <a:lstStyle/>
          <a:p>
            <a:pPr marL="285750" indent="-285750">
              <a:buFont typeface="Arial" panose="020B0604020202020204" pitchFamily="34" charset="0"/>
              <a:buChar char="•"/>
            </a:pPr>
            <a:r>
              <a:rPr lang="en-US" sz="2400" i="0" dirty="0">
                <a:solidFill>
                  <a:srgbClr val="000000"/>
                </a:solidFill>
                <a:effectLst/>
                <a:latin typeface="Times New Roman" panose="02020603050405020304" pitchFamily="18" charset="0"/>
                <a:cs typeface="Times New Roman" panose="02020603050405020304" pitchFamily="18" charset="0"/>
              </a:rPr>
              <a:t>identifiers are not case-sensitive.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cannot use a reserved keyword as an identifier.</a:t>
            </a:r>
          </a:p>
        </p:txBody>
      </p:sp>
    </p:spTree>
    <p:extLst>
      <p:ext uri="{BB962C8B-B14F-4D97-AF65-F5344CB8AC3E}">
        <p14:creationId xmlns:p14="http://schemas.microsoft.com/office/powerpoint/2010/main" val="147205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PL/SQL Delimiters</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0956842"/>
              </p:ext>
            </p:extLst>
          </p:nvPr>
        </p:nvGraphicFramePr>
        <p:xfrm>
          <a:off x="1160059" y="900752"/>
          <a:ext cx="10099344" cy="2715077"/>
        </p:xfrm>
        <a:graphic>
          <a:graphicData uri="http://schemas.openxmlformats.org/drawingml/2006/table">
            <a:tbl>
              <a:tblPr/>
              <a:tblGrid>
                <a:gridCol w="3092409">
                  <a:extLst>
                    <a:ext uri="{9D8B030D-6E8A-4147-A177-3AD203B41FA5}">
                      <a16:colId xmlns:a16="http://schemas.microsoft.com/office/drawing/2014/main" val="20000"/>
                    </a:ext>
                  </a:extLst>
                </a:gridCol>
                <a:gridCol w="7006935">
                  <a:extLst>
                    <a:ext uri="{9D8B030D-6E8A-4147-A177-3AD203B41FA5}">
                      <a16:colId xmlns:a16="http://schemas.microsoft.com/office/drawing/2014/main" val="20001"/>
                    </a:ext>
                  </a:extLst>
                </a:gridCol>
              </a:tblGrid>
              <a:tr h="445909">
                <a:tc>
                  <a:txBody>
                    <a:bodyPr/>
                    <a:lstStyle/>
                    <a:p>
                      <a:pPr algn="ctr" fontAlgn="t"/>
                      <a:r>
                        <a:rPr lang="en-US" dirty="0">
                          <a:effectLst/>
                        </a:rPr>
                        <a:t>Delimiter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82139">
                <a:tc>
                  <a:txBody>
                    <a:bodyPr/>
                    <a:lstStyle/>
                    <a:p>
                      <a:pPr algn="ctr" fontAlgn="t"/>
                      <a:r>
                        <a:rPr lang="en-US" sz="1200" b="1" dirty="0">
                          <a:effectLst/>
                        </a:rPr>
                        <a:t>+, -, *, /</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a:effectLst/>
                        </a:rPr>
                        <a:t>Addition, subtraction/negation, multiplication, division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77878">
                <a:tc>
                  <a:txBody>
                    <a:bodyPr/>
                    <a:lstStyle/>
                    <a:p>
                      <a:pPr algn="ctr" fontAlgn="t"/>
                      <a:r>
                        <a:rPr lang="en-US" sz="1200" b="1" dirty="0">
                          <a:effectLst/>
                        </a:rPr>
                        <a:t>%</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a:effectLst/>
                        </a:rPr>
                        <a:t>Attribute indicator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11087">
                <a:tc>
                  <a:txBody>
                    <a:bodyPr/>
                    <a:lstStyle/>
                    <a:p>
                      <a:pPr algn="ctr" fontAlgn="t"/>
                      <a:r>
                        <a:rPr lang="en-US" sz="1200" b="1" dirty="0">
                          <a:effectLst/>
                        </a:rPr>
                        <a:t>'</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a:effectLst/>
                        </a:rPr>
                        <a:t>Character string delimiter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03353">
                <a:tc>
                  <a:txBody>
                    <a:bodyPr/>
                    <a:lstStyle/>
                    <a:p>
                      <a:pPr algn="ctr" fontAlgn="t"/>
                      <a:r>
                        <a:rPr lang="en-US" sz="1200" b="1" dirty="0">
                          <a:effectLst/>
                        </a:rPr>
                        <a:t>.</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dirty="0">
                          <a:effectLst/>
                        </a:rPr>
                        <a:t>Component selector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27381">
                <a:tc>
                  <a:txBody>
                    <a:bodyPr/>
                    <a:lstStyle/>
                    <a:p>
                      <a:pPr algn="ctr" fontAlgn="t"/>
                      <a:r>
                        <a:rPr lang="en-US" sz="1200" b="1" dirty="0">
                          <a:effectLst/>
                        </a:rPr>
                        <a:t>(,)</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dirty="0">
                          <a:effectLst/>
                        </a:rPr>
                        <a:t>Expression or list delimiter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445909">
                <a:tc>
                  <a:txBody>
                    <a:bodyPr/>
                    <a:lstStyle/>
                    <a:p>
                      <a:pPr algn="ctr" fontAlgn="t"/>
                      <a:r>
                        <a:rPr lang="en-US" sz="1200" b="1" dirty="0">
                          <a:effectLst/>
                        </a:rPr>
                        <a:t>:</a:t>
                      </a:r>
                      <a:endParaRPr lang="en-US" sz="12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200" dirty="0">
                          <a:effectLst/>
                        </a:rPr>
                        <a:t>Host variable indicator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84352010"/>
              </p:ext>
            </p:extLst>
          </p:nvPr>
        </p:nvGraphicFramePr>
        <p:xfrm>
          <a:off x="1174164" y="3630307"/>
          <a:ext cx="10071591" cy="5452941"/>
        </p:xfrm>
        <a:graphic>
          <a:graphicData uri="http://schemas.openxmlformats.org/drawingml/2006/table">
            <a:tbl>
              <a:tblPr/>
              <a:tblGrid>
                <a:gridCol w="3084166">
                  <a:extLst>
                    <a:ext uri="{9D8B030D-6E8A-4147-A177-3AD203B41FA5}">
                      <a16:colId xmlns:a16="http://schemas.microsoft.com/office/drawing/2014/main" val="20000"/>
                    </a:ext>
                  </a:extLst>
                </a:gridCol>
                <a:gridCol w="6987425">
                  <a:extLst>
                    <a:ext uri="{9D8B030D-6E8A-4147-A177-3AD203B41FA5}">
                      <a16:colId xmlns:a16="http://schemas.microsoft.com/office/drawing/2014/main" val="20001"/>
                    </a:ext>
                  </a:extLst>
                </a:gridCol>
              </a:tblGrid>
              <a:tr h="322984">
                <a:tc>
                  <a:txBody>
                    <a:bodyPr/>
                    <a:lstStyle/>
                    <a:p>
                      <a:pPr algn="ctr" fontAlgn="t"/>
                      <a:r>
                        <a:rPr lang="en-US" sz="1100" b="1" dirty="0">
                          <a:effectLst/>
                        </a:rPr>
                        <a:t>,</a:t>
                      </a:r>
                      <a:endParaRPr lang="en-US" sz="1100" dirty="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Item separator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322984">
                <a:tc>
                  <a:txBody>
                    <a:bodyPr/>
                    <a:lstStyle/>
                    <a:p>
                      <a:pPr algn="ctr" fontAlgn="t"/>
                      <a:r>
                        <a:rPr lang="en-US" sz="1100" b="1" dirty="0">
                          <a:effectLst/>
                        </a:rPr>
                        <a:t>"</a:t>
                      </a:r>
                      <a:endParaRPr lang="en-US" sz="1100" dirty="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Quoted identifier delimiter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Relational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Remote access indicator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Statement terminator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Assignment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322984">
                <a:tc>
                  <a:txBody>
                    <a:bodyPr/>
                    <a:lstStyle/>
                    <a:p>
                      <a:pPr algn="ctr" fontAlgn="t"/>
                      <a:r>
                        <a:rPr lang="en-US" sz="1100" b="1">
                          <a:effectLst/>
                        </a:rPr>
                        <a:t>=&gt;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Association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Concatenation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Exponentiation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r h="525711">
                <a:tc>
                  <a:txBody>
                    <a:bodyPr/>
                    <a:lstStyle/>
                    <a:p>
                      <a:pPr algn="ctr" fontAlgn="t"/>
                      <a:r>
                        <a:rPr lang="en-US" sz="1100" b="1">
                          <a:effectLst/>
                        </a:rPr>
                        <a:t>&lt;&lt;, &gt;&gt;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Label delimiter (begin and end)</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9"/>
                  </a:ext>
                </a:extLst>
              </a:tr>
              <a:tr h="525711">
                <a:tc>
                  <a:txBody>
                    <a:bodyPr/>
                    <a:lstStyle/>
                    <a:p>
                      <a:pPr algn="ctr" fontAlgn="t"/>
                      <a:r>
                        <a:rPr lang="en-US" sz="1100" b="1">
                          <a:effectLst/>
                        </a:rPr>
                        <a:t>/*, */</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Multi-line comment delimiter (begin and end)</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0"/>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Single-line comment indicator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1"/>
                  </a:ext>
                </a:extLst>
              </a:tr>
              <a:tr h="322984">
                <a:tc>
                  <a:txBody>
                    <a:bodyPr/>
                    <a:lstStyle/>
                    <a:p>
                      <a:pPr algn="ctr" fontAlgn="t"/>
                      <a:r>
                        <a:rPr lang="en-US" sz="1100" b="1">
                          <a:effectLst/>
                        </a:rPr>
                        <a: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Range operator</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2"/>
                  </a:ext>
                </a:extLst>
              </a:tr>
              <a:tr h="322984">
                <a:tc>
                  <a:txBody>
                    <a:bodyPr/>
                    <a:lstStyle/>
                    <a:p>
                      <a:pPr algn="ctr" fontAlgn="t"/>
                      <a:r>
                        <a:rPr lang="en-US" sz="1100" b="1">
                          <a:effectLst/>
                        </a:rPr>
                        <a:t>&lt;, &gt;, &lt;=, &gt;=</a:t>
                      </a:r>
                      <a:endParaRPr lang="en-US" sz="110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a:effectLst/>
                        </a:rPr>
                        <a:t>Relational operators</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3"/>
                  </a:ext>
                </a:extLst>
              </a:tr>
              <a:tr h="525711">
                <a:tc>
                  <a:txBody>
                    <a:bodyPr/>
                    <a:lstStyle/>
                    <a:p>
                      <a:pPr algn="ctr" fontAlgn="t"/>
                      <a:r>
                        <a:rPr lang="en-US" sz="1100" b="1" dirty="0">
                          <a:effectLst/>
                        </a:rPr>
                        <a:t>&lt;&gt;, '=, ~=, ^=</a:t>
                      </a:r>
                      <a:endParaRPr lang="en-US" sz="1100" dirty="0">
                        <a:effectLst/>
                      </a:endParaRP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100" dirty="0">
                          <a:effectLst/>
                        </a:rPr>
                        <a:t>Different versions of NOT EQUAL</a:t>
                      </a:r>
                    </a:p>
                  </a:txBody>
                  <a:tcPr marL="45900" marR="45900" marT="45900" marB="459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72880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267154"/>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The PL/SQL Comments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79160"/>
            <a:ext cx="10515600" cy="4351338"/>
          </a:xfrm>
        </p:spPr>
        <p:txBody>
          <a:bodyPr/>
          <a:lstStyle/>
          <a:p>
            <a:pPr>
              <a:lnSpc>
                <a:spcPct val="150000"/>
              </a:lnSpc>
            </a:pPr>
            <a:r>
              <a:rPr lang="en-US" dirty="0">
                <a:latin typeface="Times New Roman" panose="02020603050405020304" pitchFamily="18" charset="0"/>
                <a:cs typeface="Times New Roman" panose="02020603050405020304" pitchFamily="18" charset="0"/>
              </a:rPr>
              <a:t>The PL/SQL single-line comments start with the delimiter -- (double hyphen) and multi-line comments are enclosed by /* and */.</a:t>
            </a:r>
          </a:p>
          <a:p>
            <a:endParaRPr lang="en-US" dirty="0"/>
          </a:p>
        </p:txBody>
      </p:sp>
      <p:sp>
        <p:nvSpPr>
          <p:cNvPr id="4" name="Rectangle 1"/>
          <p:cNvSpPr>
            <a:spLocks noChangeArrowheads="1"/>
          </p:cNvSpPr>
          <p:nvPr/>
        </p:nvSpPr>
        <p:spPr bwMode="auto">
          <a:xfrm>
            <a:off x="2262279" y="2364975"/>
            <a:ext cx="9091521" cy="449302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 -- variable declaration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message varchar2(20):= 'Hello, World!';</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 BEGIN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 /* * PL/SQL executable statement(s) */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(message);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a:ln>
                  <a:noFill/>
                </a:ln>
                <a:effectLst/>
                <a:latin typeface="Times New Roman" panose="02020603050405020304" pitchFamily="18" charset="0"/>
                <a:cs typeface="Times New Roman" panose="02020603050405020304" pitchFamily="18" charset="0"/>
              </a:rPr>
              <a:t>END; </a:t>
            </a:r>
            <a:endParaRPr kumimoji="0" lang="en-US" sz="4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0149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7246"/>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PL/SQL - Data Types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4837540"/>
              </p:ext>
            </p:extLst>
          </p:nvPr>
        </p:nvGraphicFramePr>
        <p:xfrm>
          <a:off x="696686" y="892630"/>
          <a:ext cx="10515600" cy="5416806"/>
        </p:xfrm>
        <a:graphic>
          <a:graphicData uri="http://schemas.openxmlformats.org/drawingml/2006/table">
            <a:tbl>
              <a:tblPr/>
              <a:tblGrid>
                <a:gridCol w="10515600">
                  <a:extLst>
                    <a:ext uri="{9D8B030D-6E8A-4147-A177-3AD203B41FA5}">
                      <a16:colId xmlns:a16="http://schemas.microsoft.com/office/drawing/2014/main" val="20000"/>
                    </a:ext>
                  </a:extLst>
                </a:gridCol>
              </a:tblGrid>
              <a:tr h="954238">
                <a:tc>
                  <a:txBody>
                    <a:bodyPr/>
                    <a:lstStyle/>
                    <a:p>
                      <a:pPr algn="just" fontAlgn="t">
                        <a:lnSpc>
                          <a:spcPct val="150000"/>
                        </a:lnSpc>
                      </a:pPr>
                      <a:r>
                        <a:rPr lang="en-US" sz="2800" b="1" dirty="0">
                          <a:solidFill>
                            <a:srgbClr val="FF0000"/>
                          </a:solidFill>
                          <a:effectLst/>
                          <a:latin typeface="Times New Roman" panose="02020603050405020304" pitchFamily="18" charset="0"/>
                          <a:cs typeface="Times New Roman" panose="02020603050405020304" pitchFamily="18" charset="0"/>
                        </a:rPr>
                        <a:t>Scalar</a:t>
                      </a:r>
                      <a:endParaRPr lang="en-US" sz="2800" dirty="0">
                        <a:solidFill>
                          <a:srgbClr val="FF0000"/>
                        </a:solidFill>
                        <a:effectLst/>
                        <a:latin typeface="Times New Roman" panose="02020603050405020304" pitchFamily="18" charset="0"/>
                        <a:cs typeface="Times New Roman" panose="02020603050405020304" pitchFamily="18" charset="0"/>
                      </a:endParaRPr>
                    </a:p>
                    <a:p>
                      <a:pPr algn="just" fontAlgn="t">
                        <a:lnSpc>
                          <a:spcPct val="150000"/>
                        </a:lnSpc>
                      </a:pPr>
                      <a:r>
                        <a:rPr lang="en-US" sz="2800" dirty="0">
                          <a:solidFill>
                            <a:srgbClr val="000000"/>
                          </a:solidFill>
                          <a:effectLst/>
                          <a:latin typeface="Times New Roman" panose="02020603050405020304" pitchFamily="18" charset="0"/>
                          <a:cs typeface="Times New Roman" panose="02020603050405020304" pitchFamily="18" charset="0"/>
                        </a:rPr>
                        <a:t>Single values with no internal components, such as a </a:t>
                      </a:r>
                      <a:r>
                        <a:rPr lang="en-US" sz="2800" b="1" dirty="0">
                          <a:solidFill>
                            <a:srgbClr val="000000"/>
                          </a:solidFill>
                          <a:effectLst/>
                          <a:latin typeface="Times New Roman" panose="02020603050405020304" pitchFamily="18" charset="0"/>
                          <a:cs typeface="Times New Roman" panose="02020603050405020304" pitchFamily="18" charset="0"/>
                        </a:rPr>
                        <a:t>NUMBER, DATE,</a:t>
                      </a:r>
                      <a:r>
                        <a:rPr lang="en-US" sz="2800" dirty="0">
                          <a:solidFill>
                            <a:srgbClr val="000000"/>
                          </a:solidFill>
                          <a:effectLst/>
                          <a:latin typeface="Times New Roman" panose="02020603050405020304" pitchFamily="18" charset="0"/>
                          <a:cs typeface="Times New Roman" panose="02020603050405020304" pitchFamily="18" charset="0"/>
                        </a:rPr>
                        <a:t> or </a:t>
                      </a:r>
                      <a:r>
                        <a:rPr lang="en-US" sz="2800" b="1" dirty="0">
                          <a:solidFill>
                            <a:srgbClr val="000000"/>
                          </a:solidFill>
                          <a:effectLst/>
                          <a:latin typeface="Times New Roman" panose="02020603050405020304" pitchFamily="18" charset="0"/>
                          <a:cs typeface="Times New Roman" panose="02020603050405020304" pitchFamily="18" charset="0"/>
                        </a:rPr>
                        <a:t>BOOLEAN</a:t>
                      </a:r>
                      <a:endParaRPr lang="en-US" sz="2800" dirty="0">
                        <a:latin typeface="Times New Roman" panose="02020603050405020304" pitchFamily="18" charset="0"/>
                        <a:cs typeface="Times New Roman" panose="02020603050405020304" pitchFamily="18" charset="0"/>
                      </a:endParaRPr>
                    </a:p>
                  </a:txBody>
                  <a:tcPr marL="68346" marR="68346" marT="34173" marB="34173">
                    <a:lnL w="9525" cap="flat" cmpd="sng" algn="ctr">
                      <a:solidFill>
                        <a:srgbClr val="DDDDDD"/>
                      </a:solidFill>
                      <a:prstDash val="solid"/>
                      <a:round/>
                      <a:headEnd type="none" w="med" len="med"/>
                      <a:tailEnd type="none" w="med" len="med"/>
                    </a:lnL>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1350646">
                <a:tc>
                  <a:txBody>
                    <a:bodyPr/>
                    <a:lstStyle/>
                    <a:p>
                      <a:pPr algn="just" fontAlgn="t">
                        <a:lnSpc>
                          <a:spcPct val="150000"/>
                        </a:lnSpc>
                      </a:pPr>
                      <a:r>
                        <a:rPr lang="en-US" sz="2800" b="1" dirty="0">
                          <a:solidFill>
                            <a:srgbClr val="FF0000"/>
                          </a:solidFill>
                          <a:effectLst/>
                          <a:latin typeface="Times New Roman" panose="02020603050405020304" pitchFamily="18" charset="0"/>
                          <a:cs typeface="Times New Roman" panose="02020603050405020304" pitchFamily="18" charset="0"/>
                        </a:rPr>
                        <a:t>Composite</a:t>
                      </a:r>
                      <a:endParaRPr lang="en-US" sz="2800" dirty="0">
                        <a:solidFill>
                          <a:srgbClr val="FF0000"/>
                        </a:solidFill>
                        <a:effectLst/>
                        <a:latin typeface="Times New Roman" panose="02020603050405020304" pitchFamily="18" charset="0"/>
                        <a:cs typeface="Times New Roman" panose="02020603050405020304" pitchFamily="18" charset="0"/>
                      </a:endParaRPr>
                    </a:p>
                    <a:p>
                      <a:pPr algn="just" fontAlgn="t">
                        <a:lnSpc>
                          <a:spcPct val="150000"/>
                        </a:lnSpc>
                      </a:pPr>
                      <a:r>
                        <a:rPr lang="en-US" sz="2800" dirty="0">
                          <a:solidFill>
                            <a:srgbClr val="000000"/>
                          </a:solidFill>
                          <a:effectLst/>
                          <a:latin typeface="Times New Roman" panose="02020603050405020304" pitchFamily="18" charset="0"/>
                          <a:cs typeface="Times New Roman" panose="02020603050405020304" pitchFamily="18" charset="0"/>
                        </a:rPr>
                        <a:t>Data items that have internal components that can be accessed individually. For example, collections and records.</a:t>
                      </a:r>
                    </a:p>
                  </a:txBody>
                  <a:tcPr marL="56955" marR="56955" marT="56955" marB="5695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021772">
                <a:tc>
                  <a:txBody>
                    <a:bodyPr/>
                    <a:lstStyle/>
                    <a:p>
                      <a:pPr algn="just" fontAlgn="t">
                        <a:lnSpc>
                          <a:spcPct val="150000"/>
                        </a:lnSpc>
                      </a:pPr>
                      <a:r>
                        <a:rPr lang="en-US" sz="2800" b="1" dirty="0">
                          <a:solidFill>
                            <a:srgbClr val="FF0000"/>
                          </a:solidFill>
                          <a:effectLst/>
                          <a:latin typeface="Times New Roman" panose="02020603050405020304" pitchFamily="18" charset="0"/>
                          <a:cs typeface="Times New Roman" panose="02020603050405020304" pitchFamily="18" charset="0"/>
                        </a:rPr>
                        <a:t>Reference</a:t>
                      </a:r>
                      <a:endParaRPr lang="en-US" sz="2800" dirty="0">
                        <a:solidFill>
                          <a:srgbClr val="FF0000"/>
                        </a:solidFill>
                        <a:effectLst/>
                        <a:latin typeface="Times New Roman" panose="02020603050405020304" pitchFamily="18" charset="0"/>
                        <a:cs typeface="Times New Roman" panose="02020603050405020304" pitchFamily="18" charset="0"/>
                      </a:endParaRPr>
                    </a:p>
                    <a:p>
                      <a:pPr algn="just" fontAlgn="t">
                        <a:lnSpc>
                          <a:spcPct val="150000"/>
                        </a:lnSpc>
                      </a:pPr>
                      <a:r>
                        <a:rPr lang="en-US" sz="2800" dirty="0">
                          <a:solidFill>
                            <a:srgbClr val="000000"/>
                          </a:solidFill>
                          <a:effectLst/>
                          <a:latin typeface="Times New Roman" panose="02020603050405020304" pitchFamily="18" charset="0"/>
                          <a:cs typeface="Times New Roman" panose="02020603050405020304" pitchFamily="18" charset="0"/>
                        </a:rPr>
                        <a:t>Pointers to other data items.</a:t>
                      </a:r>
                    </a:p>
                  </a:txBody>
                  <a:tcPr marL="56955" marR="56955" marT="56955" marB="5695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42200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882"/>
            <a:ext cx="10515600" cy="1190720"/>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Variable Declaration in PL/SQL</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507729" y="1052567"/>
            <a:ext cx="10829499" cy="4154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variable_name</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[CONSTANT]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datatype</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[NOT NULL] [:= | DEFAULT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initial_value</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17473" y="1876478"/>
            <a:ext cx="6269522" cy="2677656"/>
          </a:xfrm>
          <a:prstGeom prst="rect">
            <a:avLst/>
          </a:prstGeom>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Initializing Variables in PL/SQL :</a:t>
            </a:r>
          </a:p>
          <a:p>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DEFAULT</a:t>
            </a:r>
            <a:r>
              <a:rPr lang="en-US" sz="2400" dirty="0">
                <a:latin typeface="Times New Roman" panose="02020603050405020304" pitchFamily="18" charset="0"/>
                <a:cs typeface="Times New Roman" panose="02020603050405020304" pitchFamily="18" charset="0"/>
              </a:rPr>
              <a:t> keyword</a:t>
            </a: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assignment</a:t>
            </a:r>
            <a:r>
              <a:rPr lang="en-US" sz="2400" dirty="0">
                <a:latin typeface="Times New Roman" panose="02020603050405020304" pitchFamily="18" charset="0"/>
                <a:cs typeface="Times New Roman" panose="02020603050405020304" pitchFamily="18" charset="0"/>
              </a:rPr>
              <a:t> operator</a:t>
            </a:r>
          </a:p>
          <a:p>
            <a:r>
              <a:rPr lang="en-US" sz="2400" b="0" i="0" dirty="0">
                <a:solidFill>
                  <a:srgbClr val="000000"/>
                </a:solidFill>
                <a:effectLst/>
                <a:latin typeface="Times New Roman" panose="02020603050405020304" pitchFamily="18" charset="0"/>
                <a:cs typeface="Times New Roman" panose="02020603050405020304" pitchFamily="18" charset="0"/>
              </a:rPr>
              <a:t>Example:</a:t>
            </a:r>
          </a:p>
          <a:p>
            <a:r>
              <a:rPr lang="en-US" sz="2400" b="0" i="0" dirty="0">
                <a:solidFill>
                  <a:srgbClr val="000000"/>
                </a:solidFill>
                <a:effectLst/>
                <a:latin typeface="Times New Roman" panose="02020603050405020304" pitchFamily="18" charset="0"/>
                <a:cs typeface="Times New Roman" panose="02020603050405020304" pitchFamily="18" charset="0"/>
              </a:rPr>
              <a:t> a:=0;</a:t>
            </a:r>
          </a:p>
          <a:p>
            <a:r>
              <a:rPr lang="en-US" sz="2400" dirty="0">
                <a:solidFill>
                  <a:srgbClr val="000000"/>
                </a:solidFill>
                <a:latin typeface="Times New Roman" panose="02020603050405020304" pitchFamily="18" charset="0"/>
                <a:cs typeface="Times New Roman" panose="02020603050405020304" pitchFamily="18" charset="0"/>
              </a:rPr>
              <a:t>B Varchar2(10) DEFAULT ‘Good Morning’</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Rectangle 3"/>
          <p:cNvSpPr>
            <a:spLocks noChangeArrowheads="1"/>
          </p:cNvSpPr>
          <p:nvPr/>
        </p:nvSpPr>
        <p:spPr bwMode="auto">
          <a:xfrm>
            <a:off x="6183736" y="1696616"/>
            <a:ext cx="6269521" cy="410881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a integer :=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b integer := 20;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c integer;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f real;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BEGIN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c := a + b;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('Value of c: ' ||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f := 70.0/3.0;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('Value of f: '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END; </a:t>
            </a:r>
            <a:endParaRPr kumimoji="0" lang="en-US" sz="4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68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Variable Scope in PL/SQL</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737735"/>
            <a:ext cx="11125200" cy="4351338"/>
          </a:xfrm>
        </p:spPr>
        <p:txBody>
          <a:bodyPr>
            <a:normAutofit/>
          </a:bodyPr>
          <a:lstStyle/>
          <a:p>
            <a:r>
              <a:rPr lang="en-US" b="1" dirty="0">
                <a:latin typeface="Times New Roman" panose="02020603050405020304" pitchFamily="18" charset="0"/>
                <a:cs typeface="Times New Roman" panose="02020603050405020304" pitchFamily="18" charset="0"/>
              </a:rPr>
              <a:t>Local variables</a:t>
            </a:r>
            <a:r>
              <a:rPr lang="en-US" dirty="0">
                <a:latin typeface="Times New Roman" panose="02020603050405020304" pitchFamily="18" charset="0"/>
                <a:cs typeface="Times New Roman" panose="02020603050405020304" pitchFamily="18" charset="0"/>
              </a:rPr>
              <a:t> − Variables declared in an inner block and not accessible to outer blocks.</a:t>
            </a:r>
          </a:p>
          <a:p>
            <a:r>
              <a:rPr lang="en-US" b="1" dirty="0">
                <a:latin typeface="Times New Roman" panose="02020603050405020304" pitchFamily="18" charset="0"/>
                <a:cs typeface="Times New Roman" panose="02020603050405020304" pitchFamily="18" charset="0"/>
              </a:rPr>
              <a:t>Global variables</a:t>
            </a:r>
            <a:r>
              <a:rPr lang="en-US" dirty="0">
                <a:latin typeface="Times New Roman" panose="02020603050405020304" pitchFamily="18" charset="0"/>
                <a:cs typeface="Times New Roman" panose="02020603050405020304" pitchFamily="18" charset="0"/>
              </a:rPr>
              <a:t> − Variables declared in the outermost block or a package</a:t>
            </a:r>
            <a:r>
              <a:rPr lang="en-US" sz="3600" dirty="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3122947" y="2225963"/>
            <a:ext cx="8350596" cy="463203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 Global variables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num1 number := 95;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num2 number := 85;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BEGIN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('Outer Variable num1: ' || num1);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('Outer Variable num2: ' || num2);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 Local variables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num1 number := 195;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num2 number := 185;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BEGIN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('Inner Variable num1: ' || num1);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('Inner Variable num2: ' || num2);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END;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END; </a:t>
            </a:r>
            <a:endParaRPr kumimoji="0" lang="en-US" sz="3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125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PL/SQL - Operators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nSpc>
                <a:spcPct val="200000"/>
              </a:lnSpc>
            </a:pPr>
            <a:r>
              <a:rPr lang="en-US" dirty="0">
                <a:latin typeface="Times New Roman" panose="02020603050405020304" pitchFamily="18" charset="0"/>
                <a:cs typeface="Times New Roman" panose="02020603050405020304" pitchFamily="18" charset="0"/>
              </a:rPr>
              <a:t>Arithmetic operators</a:t>
            </a:r>
          </a:p>
          <a:p>
            <a:pPr>
              <a:lnSpc>
                <a:spcPct val="200000"/>
              </a:lnSpc>
            </a:pPr>
            <a:r>
              <a:rPr lang="en-US" dirty="0">
                <a:latin typeface="Times New Roman" panose="02020603050405020304" pitchFamily="18" charset="0"/>
                <a:cs typeface="Times New Roman" panose="02020603050405020304" pitchFamily="18" charset="0"/>
              </a:rPr>
              <a:t>Relational operators</a:t>
            </a:r>
          </a:p>
          <a:p>
            <a:pPr>
              <a:lnSpc>
                <a:spcPct val="200000"/>
              </a:lnSpc>
            </a:pPr>
            <a:r>
              <a:rPr lang="en-US" dirty="0">
                <a:latin typeface="Times New Roman" panose="02020603050405020304" pitchFamily="18" charset="0"/>
                <a:cs typeface="Times New Roman" panose="02020603050405020304" pitchFamily="18" charset="0"/>
              </a:rPr>
              <a:t>Comparison operators</a:t>
            </a:r>
          </a:p>
          <a:p>
            <a:pPr>
              <a:lnSpc>
                <a:spcPct val="200000"/>
              </a:lnSpc>
            </a:pPr>
            <a:r>
              <a:rPr lang="en-US" dirty="0">
                <a:latin typeface="Times New Roman" panose="02020603050405020304" pitchFamily="18" charset="0"/>
                <a:cs typeface="Times New Roman" panose="02020603050405020304" pitchFamily="18" charset="0"/>
              </a:rPr>
              <a:t>Logical operators</a:t>
            </a:r>
          </a:p>
          <a:p>
            <a:pPr>
              <a:lnSpc>
                <a:spcPct val="200000"/>
              </a:lnSpc>
            </a:pPr>
            <a:r>
              <a:rPr lang="en-US" dirty="0">
                <a:latin typeface="Times New Roman" panose="02020603050405020304" pitchFamily="18" charset="0"/>
                <a:cs typeface="Times New Roman" panose="02020603050405020304" pitchFamily="18" charset="0"/>
              </a:rPr>
              <a:t>String operators</a:t>
            </a:r>
          </a:p>
          <a:p>
            <a:pPr>
              <a:lnSpc>
                <a:spcPct val="2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36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FF0000"/>
                </a:solidFill>
                <a:latin typeface="Times New Roman" panose="02020603050405020304" pitchFamily="18" charset="0"/>
                <a:cs typeface="Times New Roman" panose="02020603050405020304" pitchFamily="18" charset="0"/>
              </a:rPr>
              <a:t>Arithmetic Operators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84870618"/>
              </p:ext>
            </p:extLst>
          </p:nvPr>
        </p:nvGraphicFramePr>
        <p:xfrm>
          <a:off x="662892" y="1368425"/>
          <a:ext cx="10866216" cy="4841348"/>
        </p:xfrm>
        <a:graphic>
          <a:graphicData uri="http://schemas.openxmlformats.org/drawingml/2006/table">
            <a:tbl>
              <a:tblPr/>
              <a:tblGrid>
                <a:gridCol w="3622072">
                  <a:extLst>
                    <a:ext uri="{9D8B030D-6E8A-4147-A177-3AD203B41FA5}">
                      <a16:colId xmlns:a16="http://schemas.microsoft.com/office/drawing/2014/main" val="20000"/>
                    </a:ext>
                  </a:extLst>
                </a:gridCol>
                <a:gridCol w="3622072">
                  <a:extLst>
                    <a:ext uri="{9D8B030D-6E8A-4147-A177-3AD203B41FA5}">
                      <a16:colId xmlns:a16="http://schemas.microsoft.com/office/drawing/2014/main" val="20001"/>
                    </a:ext>
                  </a:extLst>
                </a:gridCol>
                <a:gridCol w="3622072">
                  <a:extLst>
                    <a:ext uri="{9D8B030D-6E8A-4147-A177-3AD203B41FA5}">
                      <a16:colId xmlns:a16="http://schemas.microsoft.com/office/drawing/2014/main" val="20002"/>
                    </a:ext>
                  </a:extLst>
                </a:gridCol>
              </a:tblGrid>
              <a:tr h="414413">
                <a:tc>
                  <a:txBody>
                    <a:bodyPr/>
                    <a:lstStyle/>
                    <a:p>
                      <a:pPr algn="ctr" fontAlgn="t"/>
                      <a:r>
                        <a:rPr lang="en-US" sz="2800" b="1" dirty="0">
                          <a:effectLst/>
                          <a:latin typeface="Times New Roman" panose="02020603050405020304" pitchFamily="18" charset="0"/>
                          <a:cs typeface="Times New Roman" panose="02020603050405020304" pitchFamily="18" charset="0"/>
                        </a:rPr>
                        <a:t>Operator</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b="1" dirty="0">
                          <a:effectLst/>
                          <a:latin typeface="Times New Roman" panose="02020603050405020304" pitchFamily="18" charset="0"/>
                          <a:cs typeface="Times New Roman" panose="02020603050405020304" pitchFamily="18" charset="0"/>
                        </a:rPr>
                        <a:t>Description</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b="1" dirty="0">
                          <a:effectLst/>
                          <a:latin typeface="Times New Roman" panose="02020603050405020304" pitchFamily="18" charset="0"/>
                          <a:cs typeface="Times New Roman" panose="02020603050405020304" pitchFamily="18" charset="0"/>
                        </a:rPr>
                        <a:t>Example</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414413">
                <a:tc>
                  <a:txBody>
                    <a:bodyPr/>
                    <a:lstStyle/>
                    <a:p>
                      <a:pPr algn="ctr" fontAlgn="t"/>
                      <a:r>
                        <a:rPr lang="en-US" sz="2400">
                          <a:effectLst/>
                          <a:latin typeface="Times New Roman" panose="02020603050405020304" pitchFamily="18" charset="0"/>
                          <a:cs typeface="Times New Roman" panose="02020603050405020304" pitchFamily="18" charset="0"/>
                        </a:rPr>
                        <a: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Adds two operands</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 B will give 15</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947230">
                <a:tc>
                  <a:txBody>
                    <a:bodyPr/>
                    <a:lstStyle/>
                    <a:p>
                      <a:pPr algn="ctr" fontAlgn="t"/>
                      <a:r>
                        <a:rPr lang="en-US" sz="2400">
                          <a:effectLst/>
                          <a:latin typeface="Times New Roman" panose="02020603050405020304" pitchFamily="18" charset="0"/>
                          <a:cs typeface="Times New Roman" panose="02020603050405020304" pitchFamily="18" charset="0"/>
                        </a:rPr>
                        <a: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Subtracts second operand from the first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 B will give 5</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680822">
                <a:tc>
                  <a:txBody>
                    <a:bodyPr/>
                    <a:lstStyle/>
                    <a:p>
                      <a:pPr algn="ctr" fontAlgn="t"/>
                      <a:r>
                        <a:rPr lang="en-US" sz="2400">
                          <a:effectLst/>
                          <a:latin typeface="Times New Roman" panose="02020603050405020304" pitchFamily="18" charset="0"/>
                          <a:cs typeface="Times New Roman" panose="02020603050405020304" pitchFamily="18" charset="0"/>
                        </a:rPr>
                        <a: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latin typeface="Times New Roman" panose="02020603050405020304" pitchFamily="18" charset="0"/>
                          <a:cs typeface="Times New Roman" panose="02020603050405020304" pitchFamily="18" charset="0"/>
                        </a:rPr>
                        <a:t>Multiplies both operands</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 B will give 50</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680822">
                <a:tc>
                  <a:txBody>
                    <a:bodyPr/>
                    <a:lstStyle/>
                    <a:p>
                      <a:pPr algn="ctr" fontAlgn="t"/>
                      <a:r>
                        <a:rPr lang="en-US" sz="2400">
                          <a:effectLst/>
                          <a:latin typeface="Times New Roman" panose="02020603050405020304" pitchFamily="18" charset="0"/>
                          <a:cs typeface="Times New Roman" panose="02020603050405020304" pitchFamily="18" charset="0"/>
                        </a:rPr>
                        <a: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Divides numerator by de-numerator</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 B will give 2</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1213638">
                <a:tc>
                  <a:txBody>
                    <a:bodyPr/>
                    <a:lstStyle/>
                    <a:p>
                      <a:pPr algn="ctr" fontAlgn="t"/>
                      <a:r>
                        <a:rPr lang="en-US" sz="2400">
                          <a:effectLst/>
                          <a:latin typeface="Times New Roman" panose="02020603050405020304" pitchFamily="18" charset="0"/>
                          <a:cs typeface="Times New Roman" panose="02020603050405020304" pitchFamily="18" charset="0"/>
                        </a:rPr>
                        <a:t>**</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Exponentiation operator, raises one operand to the power of other</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latin typeface="Times New Roman" panose="02020603050405020304" pitchFamily="18" charset="0"/>
                          <a:cs typeface="Times New Roman" panose="02020603050405020304" pitchFamily="18" charset="0"/>
                        </a:rPr>
                        <a:t>A ** B will give 100000</a:t>
                      </a:r>
                    </a:p>
                  </a:txBody>
                  <a:tcPr marL="74002" marR="74002" marT="74002" marB="7400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1872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9" y="0"/>
            <a:ext cx="10515600" cy="1325563"/>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Relational Operators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63742554"/>
              </p:ext>
            </p:extLst>
          </p:nvPr>
        </p:nvGraphicFramePr>
        <p:xfrm>
          <a:off x="0" y="774541"/>
          <a:ext cx="12235542" cy="5972388"/>
        </p:xfrm>
        <a:graphic>
          <a:graphicData uri="http://schemas.openxmlformats.org/drawingml/2006/table">
            <a:tbl>
              <a:tblPr/>
              <a:tblGrid>
                <a:gridCol w="4078514">
                  <a:extLst>
                    <a:ext uri="{9D8B030D-6E8A-4147-A177-3AD203B41FA5}">
                      <a16:colId xmlns:a16="http://schemas.microsoft.com/office/drawing/2014/main" val="20000"/>
                    </a:ext>
                  </a:extLst>
                </a:gridCol>
                <a:gridCol w="4078514">
                  <a:extLst>
                    <a:ext uri="{9D8B030D-6E8A-4147-A177-3AD203B41FA5}">
                      <a16:colId xmlns:a16="http://schemas.microsoft.com/office/drawing/2014/main" val="20001"/>
                    </a:ext>
                  </a:extLst>
                </a:gridCol>
                <a:gridCol w="4078514">
                  <a:extLst>
                    <a:ext uri="{9D8B030D-6E8A-4147-A177-3AD203B41FA5}">
                      <a16:colId xmlns:a16="http://schemas.microsoft.com/office/drawing/2014/main" val="20002"/>
                    </a:ext>
                  </a:extLst>
                </a:gridCol>
              </a:tblGrid>
              <a:tr h="0">
                <a:tc>
                  <a:txBody>
                    <a:bodyPr/>
                    <a:lstStyle/>
                    <a:p>
                      <a:pPr algn="ctr" fontAlgn="t"/>
                      <a:r>
                        <a:rPr lang="en-US" sz="2400" b="1" dirty="0">
                          <a:solidFill>
                            <a:srgbClr val="FF0000"/>
                          </a:solidFill>
                          <a:effectLst/>
                          <a:latin typeface="Times New Roman" panose="02020603050405020304" pitchFamily="18" charset="0"/>
                          <a:cs typeface="Times New Roman" panose="02020603050405020304" pitchFamily="18" charset="0"/>
                        </a:rPr>
                        <a:t>Operator</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b="1" dirty="0">
                          <a:solidFill>
                            <a:srgbClr val="FF0000"/>
                          </a:solidFill>
                          <a:effectLst/>
                          <a:latin typeface="Times New Roman" panose="02020603050405020304" pitchFamily="18" charset="0"/>
                          <a:cs typeface="Times New Roman" panose="02020603050405020304" pitchFamily="18" charset="0"/>
                        </a:rPr>
                        <a:t>Description</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b="1" dirty="0">
                          <a:solidFill>
                            <a:srgbClr val="FF0000"/>
                          </a:solidFill>
                          <a:effectLst/>
                          <a:latin typeface="Times New Roman" panose="02020603050405020304" pitchFamily="18" charset="0"/>
                          <a:cs typeface="Times New Roman" panose="02020603050405020304" pitchFamily="18" charset="0"/>
                        </a:rPr>
                        <a:t>Example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563645">
                <a:tc>
                  <a:txBody>
                    <a:bodyPr/>
                    <a:lstStyle/>
                    <a:p>
                      <a:pPr algn="ctr" fontAlgn="ctr"/>
                      <a:r>
                        <a:rPr lang="en-US" sz="1800" dirty="0">
                          <a:effectLst/>
                          <a:latin typeface="Times New Roman" panose="02020603050405020304" pitchFamily="18" charset="0"/>
                          <a:cs typeface="Times New Roman" panose="02020603050405020304" pitchFamily="18" charset="0"/>
                        </a:rPr>
                        <a:t>=</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dirty="0">
                          <a:effectLst/>
                          <a:latin typeface="Times New Roman" panose="02020603050405020304" pitchFamily="18" charset="0"/>
                          <a:cs typeface="Times New Roman" panose="02020603050405020304" pitchFamily="18" charset="0"/>
                        </a:rPr>
                        <a:t>Checks if the values of two operands are equal or not, if yes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(A = B) is not true.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665101">
                <a:tc>
                  <a:txBody>
                    <a:bodyPr/>
                    <a:lstStyle/>
                    <a:p>
                      <a:pPr algn="ctr" fontAlgn="t"/>
                      <a:r>
                        <a:rPr lang="en-US" sz="1800">
                          <a:solidFill>
                            <a:srgbClr val="000000"/>
                          </a:solidFill>
                          <a:effectLst/>
                          <a:latin typeface="Times New Roman" panose="02020603050405020304" pitchFamily="18" charset="0"/>
                          <a:cs typeface="Times New Roman" panose="02020603050405020304" pitchFamily="18" charset="0"/>
                        </a:rPr>
                        <a:t>!=</a:t>
                      </a:r>
                    </a:p>
                    <a:p>
                      <a:pPr algn="ctr" fontAlgn="t"/>
                      <a:r>
                        <a:rPr lang="en-US" sz="1800">
                          <a:solidFill>
                            <a:srgbClr val="000000"/>
                          </a:solidFill>
                          <a:effectLst/>
                          <a:latin typeface="Times New Roman" panose="02020603050405020304" pitchFamily="18" charset="0"/>
                          <a:cs typeface="Times New Roman" panose="02020603050405020304" pitchFamily="18" charset="0"/>
                        </a:rPr>
                        <a:t>&lt;&gt;</a:t>
                      </a:r>
                    </a:p>
                    <a:p>
                      <a:pPr algn="ctr" fontAlgn="t"/>
                      <a:r>
                        <a:rPr lang="en-US" sz="1800">
                          <a:solidFill>
                            <a:srgbClr val="000000"/>
                          </a:solidFill>
                          <a:effectLst/>
                          <a:latin typeface="Times New Roman" panose="02020603050405020304" pitchFamily="18" charset="0"/>
                          <a:cs typeface="Times New Roman" panose="02020603050405020304" pitchFamily="18" charset="0"/>
                        </a:rPr>
                        <a:t>~=</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a:effectLst/>
                          <a:latin typeface="Times New Roman" panose="02020603050405020304" pitchFamily="18" charset="0"/>
                          <a:cs typeface="Times New Roman" panose="02020603050405020304" pitchFamily="18" charset="0"/>
                        </a:rPr>
                        <a:t>Checks if the values of two operands are equal or not, if values are not equal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r>
                        <a:rPr lang="en-US" sz="1800" dirty="0">
                          <a:effectLst/>
                          <a:latin typeface="Times New Roman" panose="02020603050405020304" pitchFamily="18" charset="0"/>
                          <a:cs typeface="Times New Roman" panose="02020603050405020304" pitchFamily="18" charset="0"/>
                        </a:rPr>
                        <a:t>(A != B) is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766557">
                <a:tc>
                  <a:txBody>
                    <a:bodyPr/>
                    <a:lstStyle/>
                    <a:p>
                      <a:pPr algn="ctr" fontAlgn="ctr"/>
                      <a:r>
                        <a:rPr lang="en-US" sz="1800">
                          <a:effectLst/>
                          <a:latin typeface="Times New Roman" panose="02020603050405020304" pitchFamily="18" charset="0"/>
                          <a:cs typeface="Times New Roman" panose="02020603050405020304" pitchFamily="18" charset="0"/>
                        </a:rPr>
                        <a:t>&gt;</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a:effectLst/>
                          <a:latin typeface="Times New Roman" panose="02020603050405020304" pitchFamily="18" charset="0"/>
                          <a:cs typeface="Times New Roman" panose="02020603050405020304" pitchFamily="18" charset="0"/>
                        </a:rPr>
                        <a:t>Checks if the value of left operand is greater than the value of right operand, if yes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(A &gt; B) is not true.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665101">
                <a:tc>
                  <a:txBody>
                    <a:bodyPr/>
                    <a:lstStyle/>
                    <a:p>
                      <a:pPr algn="ctr" fontAlgn="ctr"/>
                      <a:r>
                        <a:rPr lang="en-US" sz="1800">
                          <a:effectLst/>
                          <a:latin typeface="Times New Roman" panose="02020603050405020304" pitchFamily="18" charset="0"/>
                          <a:cs typeface="Times New Roman" panose="02020603050405020304" pitchFamily="18" charset="0"/>
                        </a:rPr>
                        <a:t>&lt;</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a:effectLst/>
                          <a:latin typeface="Times New Roman" panose="02020603050405020304" pitchFamily="18" charset="0"/>
                          <a:cs typeface="Times New Roman" panose="02020603050405020304" pitchFamily="18" charset="0"/>
                        </a:rPr>
                        <a:t>Checks if the value of left operand is less than the value of right operand, if yes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(A &lt; B) is true.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766557">
                <a:tc>
                  <a:txBody>
                    <a:bodyPr/>
                    <a:lstStyle/>
                    <a:p>
                      <a:pPr algn="ctr" fontAlgn="ctr"/>
                      <a:r>
                        <a:rPr lang="en-US" sz="1800">
                          <a:effectLst/>
                          <a:latin typeface="Times New Roman" panose="02020603050405020304" pitchFamily="18" charset="0"/>
                          <a:cs typeface="Times New Roman" panose="02020603050405020304" pitchFamily="18" charset="0"/>
                        </a:rPr>
                        <a:t>&gt;=</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a:effectLst/>
                          <a:latin typeface="Times New Roman" panose="02020603050405020304" pitchFamily="18" charset="0"/>
                          <a:cs typeface="Times New Roman" panose="02020603050405020304" pitchFamily="18" charset="0"/>
                        </a:rPr>
                        <a:t>Checks if the value of left operand is greater than or equal to the value of right operand, if yes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(A &gt;= B) is not true.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766557">
                <a:tc>
                  <a:txBody>
                    <a:bodyPr/>
                    <a:lstStyle/>
                    <a:p>
                      <a:pPr algn="ctr" fontAlgn="ctr"/>
                      <a:r>
                        <a:rPr lang="en-US" sz="1800">
                          <a:effectLst/>
                          <a:latin typeface="Times New Roman" panose="02020603050405020304" pitchFamily="18" charset="0"/>
                          <a:cs typeface="Times New Roman" panose="02020603050405020304" pitchFamily="18" charset="0"/>
                        </a:rPr>
                        <a:t>&lt;=</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1800">
                          <a:effectLst/>
                          <a:latin typeface="Times New Roman" panose="02020603050405020304" pitchFamily="18" charset="0"/>
                          <a:cs typeface="Times New Roman" panose="02020603050405020304" pitchFamily="18" charset="0"/>
                        </a:rPr>
                        <a:t>Checks if the value of left operand is less than or equal to the value of right operand, if yes then condition becomes true.</a:t>
                      </a:r>
                    </a:p>
                  </a:txBody>
                  <a:tcPr marL="28182" marR="28182" marT="28182" marB="2818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(A &lt;= B) is true</a:t>
                      </a:r>
                    </a:p>
                  </a:txBody>
                  <a:tcPr marL="28182" marR="28182" marT="28182" marB="2818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5422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fontScale="90000"/>
          </a:bodyPr>
          <a:lstStyle/>
          <a:p>
            <a:pPr algn="ctr"/>
            <a:r>
              <a:rPr lang="en-US" sz="4800" b="1" dirty="0">
                <a:solidFill>
                  <a:srgbClr val="FF0000"/>
                </a:solidFill>
                <a:latin typeface="Times New Roman" panose="02020603050405020304" pitchFamily="18" charset="0"/>
                <a:cs typeface="Times New Roman" panose="02020603050405020304" pitchFamily="18" charset="0"/>
              </a:rPr>
              <a:t>Comparison Operators</a:t>
            </a:r>
            <a:br>
              <a:rPr lang="en-US" sz="4800" b="1" dirty="0">
                <a:solidFill>
                  <a:srgbClr val="FF0000"/>
                </a:solidFill>
                <a:latin typeface="Times New Roman" panose="02020603050405020304" pitchFamily="18" charset="0"/>
                <a:cs typeface="Times New Roman" panose="02020603050405020304" pitchFamily="18" charset="0"/>
              </a:rPr>
            </a:br>
            <a:endParaRPr lang="en-US" sz="4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60603819"/>
              </p:ext>
            </p:extLst>
          </p:nvPr>
        </p:nvGraphicFramePr>
        <p:xfrm>
          <a:off x="609925" y="911840"/>
          <a:ext cx="10972149" cy="5653089"/>
        </p:xfrm>
        <a:graphic>
          <a:graphicData uri="http://schemas.openxmlformats.org/drawingml/2006/table">
            <a:tbl>
              <a:tblPr/>
              <a:tblGrid>
                <a:gridCol w="2764646">
                  <a:extLst>
                    <a:ext uri="{9D8B030D-6E8A-4147-A177-3AD203B41FA5}">
                      <a16:colId xmlns:a16="http://schemas.microsoft.com/office/drawing/2014/main" val="20000"/>
                    </a:ext>
                  </a:extLst>
                </a:gridCol>
                <a:gridCol w="4550120">
                  <a:extLst>
                    <a:ext uri="{9D8B030D-6E8A-4147-A177-3AD203B41FA5}">
                      <a16:colId xmlns:a16="http://schemas.microsoft.com/office/drawing/2014/main" val="20001"/>
                    </a:ext>
                  </a:extLst>
                </a:gridCol>
                <a:gridCol w="3657383">
                  <a:extLst>
                    <a:ext uri="{9D8B030D-6E8A-4147-A177-3AD203B41FA5}">
                      <a16:colId xmlns:a16="http://schemas.microsoft.com/office/drawing/2014/main" val="20002"/>
                    </a:ext>
                  </a:extLst>
                </a:gridCol>
              </a:tblGrid>
              <a:tr h="211718">
                <a:tc>
                  <a:txBody>
                    <a:bodyPr/>
                    <a:lstStyle/>
                    <a:p>
                      <a:pPr algn="ctr" fontAlgn="t"/>
                      <a:r>
                        <a:rPr lang="en-US" sz="2800" b="1" dirty="0">
                          <a:effectLst/>
                          <a:latin typeface="Times New Roman" panose="02020603050405020304" pitchFamily="18" charset="0"/>
                          <a:cs typeface="Times New Roman" panose="02020603050405020304" pitchFamily="18" charset="0"/>
                        </a:rPr>
                        <a:t>Operator</a:t>
                      </a:r>
                    </a:p>
                  </a:txBody>
                  <a:tcPr marL="33784" marR="33784" marT="33784" marB="3378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b="1" dirty="0">
                          <a:effectLst/>
                          <a:latin typeface="Times New Roman" panose="02020603050405020304" pitchFamily="18" charset="0"/>
                          <a:cs typeface="Times New Roman" panose="02020603050405020304" pitchFamily="18" charset="0"/>
                        </a:rPr>
                        <a:t>Description</a:t>
                      </a:r>
                    </a:p>
                  </a:txBody>
                  <a:tcPr marL="33784" marR="33784" marT="33784" marB="3378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b="1" dirty="0">
                          <a:effectLst/>
                          <a:latin typeface="Times New Roman" panose="02020603050405020304" pitchFamily="18" charset="0"/>
                          <a:cs typeface="Times New Roman" panose="02020603050405020304" pitchFamily="18" charset="0"/>
                        </a:rPr>
                        <a:t>Example</a:t>
                      </a:r>
                    </a:p>
                  </a:txBody>
                  <a:tcPr marL="33784" marR="33784" marT="33784" marB="3378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1298497">
                <a:tc>
                  <a:txBody>
                    <a:bodyPr/>
                    <a:lstStyle/>
                    <a:p>
                      <a:pPr algn="ctr" fontAlgn="ctr"/>
                      <a:r>
                        <a:rPr lang="en-US" sz="2000" dirty="0">
                          <a:effectLst/>
                          <a:latin typeface="Times New Roman" panose="02020603050405020304" pitchFamily="18" charset="0"/>
                          <a:cs typeface="Times New Roman" panose="02020603050405020304" pitchFamily="18" charset="0"/>
                        </a:rPr>
                        <a:t>LIKE</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The LIKE operator compares a character, string, or CLOB value to a pattern and returns TRUE if the value matches the pattern and FALSE if it does not.</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latin typeface="Times New Roman" panose="02020603050405020304" pitchFamily="18" charset="0"/>
                          <a:cs typeface="Times New Roman" panose="02020603050405020304" pitchFamily="18" charset="0"/>
                        </a:rPr>
                        <a:t>If 'Zara Ali' like 'Z% A_i' returns a Boolean true, whereas, 'Nuha Ali' like 'Z% A_i' returns a Boolean false.</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026718">
                <a:tc>
                  <a:txBody>
                    <a:bodyPr/>
                    <a:lstStyle/>
                    <a:p>
                      <a:pPr algn="ctr" fontAlgn="ctr"/>
                      <a:r>
                        <a:rPr lang="en-US" sz="2000">
                          <a:effectLst/>
                          <a:latin typeface="Times New Roman" panose="02020603050405020304" pitchFamily="18" charset="0"/>
                          <a:cs typeface="Times New Roman" panose="02020603050405020304" pitchFamily="18" charset="0"/>
                        </a:rPr>
                        <a:t>BETWEEN</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The BETWEEN operator tests whether a value lies in a specified range. x BETWEEN a AND b means that x &gt;= a and x &lt;= b.</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If x = 10 then, x between 5 and 20 returns true, x between 5 and 10 returns true, but x between 11 and 20 returns false.</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890829">
                <a:tc>
                  <a:txBody>
                    <a:bodyPr/>
                    <a:lstStyle/>
                    <a:p>
                      <a:pPr algn="ctr" fontAlgn="ctr"/>
                      <a:r>
                        <a:rPr lang="en-US" sz="2000">
                          <a:effectLst/>
                          <a:latin typeface="Times New Roman" panose="02020603050405020304" pitchFamily="18" charset="0"/>
                          <a:cs typeface="Times New Roman" panose="02020603050405020304" pitchFamily="18" charset="0"/>
                        </a:rPr>
                        <a:t>IN</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The IN operator tests set membership. x IN (set) means that x is equal to any member of set.</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If x = 'm' then, x in ('a', 'b', 'c') returns Boolean false but x in ('m', 'n', 'o') returns Boolean true.</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1434386">
                <a:tc>
                  <a:txBody>
                    <a:bodyPr/>
                    <a:lstStyle/>
                    <a:p>
                      <a:pPr algn="ctr" fontAlgn="ctr"/>
                      <a:r>
                        <a:rPr lang="en-US" sz="2000">
                          <a:effectLst/>
                          <a:latin typeface="Times New Roman" panose="02020603050405020304" pitchFamily="18" charset="0"/>
                          <a:cs typeface="Times New Roman" panose="02020603050405020304" pitchFamily="18" charset="0"/>
                        </a:rPr>
                        <a:t>IS NULL</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latin typeface="Times New Roman" panose="02020603050405020304" pitchFamily="18" charset="0"/>
                          <a:cs typeface="Times New Roman" panose="02020603050405020304" pitchFamily="18" charset="0"/>
                        </a:rPr>
                        <a:t>The IS NULL operator returns the BOOLEAN value TRUE if its operand is NULL or FALSE if it is not NULL. Comparisons involving NULL values always yield NULL.</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latin typeface="Times New Roman" panose="02020603050405020304" pitchFamily="18" charset="0"/>
                          <a:cs typeface="Times New Roman" panose="02020603050405020304" pitchFamily="18" charset="0"/>
                        </a:rPr>
                        <a:t>If x = 'm', then 'x is null' returns Boolean false.</a:t>
                      </a:r>
                    </a:p>
                  </a:txBody>
                  <a:tcPr marL="33784" marR="33784" marT="33784" marB="3378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03768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8389"/>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Logical Operators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6427625"/>
              </p:ext>
            </p:extLst>
          </p:nvPr>
        </p:nvGraphicFramePr>
        <p:xfrm>
          <a:off x="425965" y="1234146"/>
          <a:ext cx="11340069" cy="5101398"/>
        </p:xfrm>
        <a:graphic>
          <a:graphicData uri="http://schemas.openxmlformats.org/drawingml/2006/table">
            <a:tbl>
              <a:tblPr/>
              <a:tblGrid>
                <a:gridCol w="2664156">
                  <a:extLst>
                    <a:ext uri="{9D8B030D-6E8A-4147-A177-3AD203B41FA5}">
                      <a16:colId xmlns:a16="http://schemas.microsoft.com/office/drawing/2014/main" val="20000"/>
                    </a:ext>
                  </a:extLst>
                </a:gridCol>
                <a:gridCol w="4895890">
                  <a:extLst>
                    <a:ext uri="{9D8B030D-6E8A-4147-A177-3AD203B41FA5}">
                      <a16:colId xmlns:a16="http://schemas.microsoft.com/office/drawing/2014/main" val="20001"/>
                    </a:ext>
                  </a:extLst>
                </a:gridCol>
                <a:gridCol w="3780023">
                  <a:extLst>
                    <a:ext uri="{9D8B030D-6E8A-4147-A177-3AD203B41FA5}">
                      <a16:colId xmlns:a16="http://schemas.microsoft.com/office/drawing/2014/main" val="20002"/>
                    </a:ext>
                  </a:extLst>
                </a:gridCol>
              </a:tblGrid>
              <a:tr h="310287">
                <a:tc>
                  <a:txBody>
                    <a:bodyPr/>
                    <a:lstStyle/>
                    <a:p>
                      <a:pPr algn="ctr" fontAlgn="t"/>
                      <a:r>
                        <a:rPr lang="en-US" sz="3200" b="1" dirty="0">
                          <a:effectLst/>
                          <a:latin typeface="Times New Roman" panose="02020603050405020304" pitchFamily="18" charset="0"/>
                          <a:cs typeface="Times New Roman" panose="02020603050405020304" pitchFamily="18" charset="0"/>
                        </a:rPr>
                        <a:t>Operator</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3200" b="1" dirty="0">
                          <a:effectLst/>
                          <a:latin typeface="Times New Roman" panose="02020603050405020304" pitchFamily="18" charset="0"/>
                          <a:cs typeface="Times New Roman" panose="02020603050405020304" pitchFamily="18" charset="0"/>
                        </a:rPr>
                        <a:t>Description</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3200" b="1" dirty="0">
                          <a:effectLst/>
                          <a:latin typeface="Times New Roman" panose="02020603050405020304" pitchFamily="18" charset="0"/>
                          <a:cs typeface="Times New Roman" panose="02020603050405020304" pitchFamily="18" charset="0"/>
                        </a:rPr>
                        <a:t>Examples</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1292657">
                <a:tc>
                  <a:txBody>
                    <a:bodyPr/>
                    <a:lstStyle/>
                    <a:p>
                      <a:pPr algn="ctr" fontAlgn="ctr"/>
                      <a:r>
                        <a:rPr lang="en-US" sz="2400">
                          <a:effectLst/>
                          <a:latin typeface="Times New Roman" panose="02020603050405020304" pitchFamily="18" charset="0"/>
                          <a:cs typeface="Times New Roman" panose="02020603050405020304" pitchFamily="18" charset="0"/>
                        </a:rPr>
                        <a:t>and</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dirty="0">
                          <a:effectLst/>
                          <a:latin typeface="Times New Roman" panose="02020603050405020304" pitchFamily="18" charset="0"/>
                          <a:cs typeface="Times New Roman" panose="02020603050405020304" pitchFamily="18" charset="0"/>
                        </a:rPr>
                        <a:t>Called the logical AND operator. If both the operands are true then condition becomes true.</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and B) is false.</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292657">
                <a:tc>
                  <a:txBody>
                    <a:bodyPr/>
                    <a:lstStyle/>
                    <a:p>
                      <a:pPr algn="ctr" fontAlgn="ctr"/>
                      <a:r>
                        <a:rPr lang="en-US" sz="2400">
                          <a:effectLst/>
                          <a:latin typeface="Times New Roman" panose="02020603050405020304" pitchFamily="18" charset="0"/>
                          <a:cs typeface="Times New Roman" panose="02020603050405020304" pitchFamily="18" charset="0"/>
                        </a:rPr>
                        <a:t>or</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a:effectLst/>
                          <a:latin typeface="Times New Roman" panose="02020603050405020304" pitchFamily="18" charset="0"/>
                          <a:cs typeface="Times New Roman" panose="02020603050405020304" pitchFamily="18" charset="0"/>
                        </a:rPr>
                        <a:t>Called the logical OR Operator. If any of the two operands is true then condition becomes true.</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latin typeface="Times New Roman" panose="02020603050405020304" pitchFamily="18" charset="0"/>
                          <a:cs typeface="Times New Roman" panose="02020603050405020304" pitchFamily="18" charset="0"/>
                        </a:rPr>
                        <a:t>(A or B) is true.</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1884211">
                <a:tc>
                  <a:txBody>
                    <a:bodyPr/>
                    <a:lstStyle/>
                    <a:p>
                      <a:pPr algn="ctr" fontAlgn="ctr"/>
                      <a:r>
                        <a:rPr lang="en-US" sz="2400">
                          <a:effectLst/>
                          <a:latin typeface="Times New Roman" panose="02020603050405020304" pitchFamily="18" charset="0"/>
                          <a:cs typeface="Times New Roman" panose="02020603050405020304" pitchFamily="18" charset="0"/>
                        </a:rPr>
                        <a:t>not</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a:effectLst/>
                          <a:latin typeface="Times New Roman" panose="02020603050405020304" pitchFamily="18" charset="0"/>
                          <a:cs typeface="Times New Roman" panose="02020603050405020304" pitchFamily="18" charset="0"/>
                        </a:rPr>
                        <a:t>Called the logical NOT Operator. Used to reverse the logical state of its operand. If a condition is true then Logical NOT operator will make it false.</a:t>
                      </a:r>
                    </a:p>
                  </a:txBody>
                  <a:tcPr marL="49901" marR="49901" marT="49901" marB="4990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latin typeface="Times New Roman" panose="02020603050405020304" pitchFamily="18" charset="0"/>
                          <a:cs typeface="Times New Roman" panose="02020603050405020304" pitchFamily="18" charset="0"/>
                        </a:rPr>
                        <a:t>not (A and B) is true.</a:t>
                      </a:r>
                    </a:p>
                  </a:txBody>
                  <a:tcPr marL="49901" marR="49901" marT="49901" marB="4990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4597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361"/>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PL/SQL – Control Structures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1722" y="1169973"/>
            <a:ext cx="10515600" cy="4351338"/>
          </a:xfrm>
        </p:spPr>
        <p:txBody>
          <a:bodyPr/>
          <a:lstStyle/>
          <a:p>
            <a:r>
              <a:rPr lang="en-US" b="1" dirty="0"/>
              <a:t>IF-THEN</a:t>
            </a:r>
          </a:p>
          <a:p>
            <a:endParaRPr lang="en-US" dirty="0"/>
          </a:p>
        </p:txBody>
      </p:sp>
      <p:sp>
        <p:nvSpPr>
          <p:cNvPr id="4" name="Rectangle 1"/>
          <p:cNvSpPr>
            <a:spLocks noChangeArrowheads="1"/>
          </p:cNvSpPr>
          <p:nvPr/>
        </p:nvSpPr>
        <p:spPr bwMode="auto">
          <a:xfrm>
            <a:off x="701722" y="1914660"/>
            <a:ext cx="6558887" cy="72327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Nunito"/>
              </a:rPr>
              <a:t>Syntax for </a:t>
            </a:r>
            <a:r>
              <a:rPr kumimoji="0" lang="en-US" sz="2400" b="1" i="0" u="none" strike="noStrike" cap="none" normalizeH="0" baseline="0" dirty="0">
                <a:ln>
                  <a:noFill/>
                </a:ln>
                <a:solidFill>
                  <a:srgbClr val="000000"/>
                </a:solidFill>
                <a:effectLst/>
                <a:latin typeface="Nunito"/>
              </a:rPr>
              <a:t>IF-THEN</a:t>
            </a:r>
            <a:r>
              <a:rPr kumimoji="0" lang="en-US" sz="2400" b="0" i="0" u="none" strike="noStrike" cap="none" normalizeH="0" baseline="0" dirty="0">
                <a:ln>
                  <a:noFill/>
                </a:ln>
                <a:solidFill>
                  <a:srgbClr val="000000"/>
                </a:solidFill>
                <a:effectLst/>
                <a:latin typeface="Nunito"/>
              </a:rPr>
              <a:t> statement is −</a:t>
            </a:r>
            <a:endParaRPr kumimoji="0" lang="en-US" sz="2000" b="0" i="0" u="none" strike="noStrike" cap="none" normalizeH="0" baseline="0" dirty="0">
              <a:ln>
                <a:noFill/>
              </a:ln>
              <a:solidFill>
                <a:srgbClr val="000000"/>
              </a:solidFill>
              <a:effectLst/>
              <a:latin typeface="var(--bs-font-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ar(--bs-font-monospace)"/>
              </a:rPr>
              <a:t>IF condition THEN S; END IF; </a:t>
            </a:r>
            <a:endParaRPr kumimoji="0" lang="en-US" sz="36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544286" y="2908347"/>
            <a:ext cx="3217547" cy="369332"/>
          </a:xfrm>
          <a:prstGeom prst="rect">
            <a:avLst/>
          </a:prstGeom>
        </p:spPr>
        <p:txBody>
          <a:bodyPr wrap="none">
            <a:spAutoFit/>
          </a:bodyPr>
          <a:lstStyle/>
          <a:p>
            <a:pPr marL="285750" indent="-285750">
              <a:buFont typeface="Arial" panose="020B0604020202020204" pitchFamily="34" charset="0"/>
              <a:buChar char="•"/>
            </a:pPr>
            <a:r>
              <a:rPr lang="en-US" b="1" i="0" dirty="0">
                <a:solidFill>
                  <a:srgbClr val="000000"/>
                </a:solidFill>
                <a:effectLst/>
                <a:latin typeface="Nunito"/>
              </a:rPr>
              <a:t>IF-THEN-ELSE statement</a:t>
            </a:r>
            <a:endParaRPr lang="en-US" b="1" dirty="0"/>
          </a:p>
        </p:txBody>
      </p:sp>
      <p:sp>
        <p:nvSpPr>
          <p:cNvPr id="7" name="Rectangle 3"/>
          <p:cNvSpPr>
            <a:spLocks noChangeArrowheads="1"/>
          </p:cNvSpPr>
          <p:nvPr/>
        </p:nvSpPr>
        <p:spPr bwMode="auto">
          <a:xfrm>
            <a:off x="660694" y="3382622"/>
            <a:ext cx="6537278" cy="1277273"/>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ar(--bs-font-monospace)"/>
              </a:rPr>
              <a:t>IF condition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ar(--bs-font-monospace)"/>
              </a:rPr>
              <a:t> THEN S1;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ar(--bs-font-monospace)"/>
              </a:rPr>
              <a:t> ELSE S2;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ar(--bs-font-monospace)"/>
              </a:rPr>
              <a:t>END IF;</a:t>
            </a:r>
            <a:r>
              <a:rPr kumimoji="0" lang="en-US" sz="2000" b="0" i="0" u="none" strike="noStrike" cap="none" normalizeH="0" baseline="0" dirty="0">
                <a:ln>
                  <a:noFill/>
                </a:ln>
                <a:solidFill>
                  <a:schemeClr val="tx1"/>
                </a:solidFill>
                <a:effectLst/>
              </a:rPr>
              <a:t> </a:t>
            </a:r>
            <a:endParaRPr kumimoji="0" lang="en-US" sz="36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p:nvPr/>
        </p:nvSpPr>
        <p:spPr>
          <a:xfrm>
            <a:off x="544286" y="5102519"/>
            <a:ext cx="2954655" cy="369332"/>
          </a:xfrm>
          <a:prstGeom prst="rect">
            <a:avLst/>
          </a:prstGeom>
        </p:spPr>
        <p:txBody>
          <a:bodyPr wrap="none">
            <a:spAutoFit/>
          </a:bodyPr>
          <a:lstStyle/>
          <a:p>
            <a:r>
              <a:rPr lang="en-US" b="1" i="0" dirty="0">
                <a:solidFill>
                  <a:srgbClr val="000000"/>
                </a:solidFill>
                <a:effectLst/>
                <a:latin typeface="Nunito"/>
              </a:rPr>
              <a:t>IF-THEN-ELSE Statement</a:t>
            </a:r>
            <a:endParaRPr lang="en-US" dirty="0"/>
          </a:p>
        </p:txBody>
      </p:sp>
      <p:sp>
        <p:nvSpPr>
          <p:cNvPr id="9" name="Rectangle 4"/>
          <p:cNvSpPr>
            <a:spLocks noChangeArrowheads="1"/>
          </p:cNvSpPr>
          <p:nvPr/>
        </p:nvSpPr>
        <p:spPr bwMode="auto">
          <a:xfrm>
            <a:off x="3656377" y="5121409"/>
            <a:ext cx="7806432" cy="152349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boolean_expression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 S1; -- Executes when the </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expression 1 is 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ELSIF( </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boolean_expression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 THEN S2; -- Executes when the </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expression 2 is 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ELSIF( </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boolean_expression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3) THEN S3; -- Executes when the </a:t>
            </a:r>
            <a:r>
              <a:rPr kumimoji="0" 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boolean</a:t>
            </a: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expression 3 is true</a:t>
            </a:r>
            <a:b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b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ELSE S4; -- executes when the none of the above condition is 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 IF; </a:t>
            </a:r>
            <a:endPar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2536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029" y="61904"/>
            <a:ext cx="10515600" cy="886732"/>
          </a:xfrm>
        </p:spPr>
        <p:txBody>
          <a:bodyPr>
            <a:normAutofit/>
          </a:bodyPr>
          <a:lstStyle/>
          <a:p>
            <a:pPr algn="ctr"/>
            <a:r>
              <a:rPr lang="en-US" sz="5400" b="1" dirty="0">
                <a:solidFill>
                  <a:srgbClr val="FF0000"/>
                </a:solidFill>
                <a:latin typeface="Times New Roman" panose="02020603050405020304" pitchFamily="18" charset="0"/>
                <a:cs typeface="Times New Roman" panose="02020603050405020304" pitchFamily="18" charset="0"/>
              </a:rPr>
              <a:t>Loops</a:t>
            </a:r>
          </a:p>
        </p:txBody>
      </p:sp>
      <p:sp>
        <p:nvSpPr>
          <p:cNvPr id="3" name="Content Placeholder 2"/>
          <p:cNvSpPr>
            <a:spLocks noGrp="1"/>
          </p:cNvSpPr>
          <p:nvPr>
            <p:ph idx="1"/>
          </p:nvPr>
        </p:nvSpPr>
        <p:spPr>
          <a:xfrm>
            <a:off x="413657" y="948636"/>
            <a:ext cx="10940143" cy="5228327"/>
          </a:xfrm>
        </p:spPr>
        <p:txBody>
          <a:bodyPr/>
          <a:lstStyle/>
          <a:p>
            <a:r>
              <a:rPr lang="en-US" b="1" dirty="0">
                <a:latin typeface="Tahoma" panose="020B0604030504040204" pitchFamily="34" charset="0"/>
                <a:ea typeface="Tahoma" panose="020B0604030504040204" pitchFamily="34" charset="0"/>
                <a:cs typeface="Tahoma" panose="020B0604030504040204" pitchFamily="34" charset="0"/>
              </a:rPr>
              <a:t>WHILE LOOP</a:t>
            </a:r>
          </a:p>
          <a:p>
            <a:endParaRPr lang="en-US" dirty="0"/>
          </a:p>
        </p:txBody>
      </p:sp>
      <p:sp>
        <p:nvSpPr>
          <p:cNvPr id="4" name="Rectangle 1"/>
          <p:cNvSpPr>
            <a:spLocks noChangeArrowheads="1"/>
          </p:cNvSpPr>
          <p:nvPr/>
        </p:nvSpPr>
        <p:spPr bwMode="auto">
          <a:xfrm>
            <a:off x="664029" y="1691868"/>
            <a:ext cx="6400799" cy="2472793"/>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3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Syntax</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WHILE condition LOOP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sequence_of_statements</a:t>
            </a: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END LOOP; </a:t>
            </a:r>
            <a:endParaRPr kumimoji="0" 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5784213" y="2170952"/>
            <a:ext cx="5139548" cy="441178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 number(2) := 10;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BEGIN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WHILE a &lt; 20 LOOP</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('value of a: ' || a);</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 := a + 1;</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END LOOP;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END; </a:t>
            </a:r>
            <a:endParaRPr kumimoji="0" lang="en-US" sz="4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862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0"/>
            <a:ext cx="10515600" cy="1325563"/>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FOR LOOP</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473365" y="1101358"/>
            <a:ext cx="9072836" cy="2472793"/>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3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Syntax</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counter IN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initial_value</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final_value</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LOOP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sequence_of_statements</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 LOOP;</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a:off x="5846769" y="2746615"/>
            <a:ext cx="5216493" cy="385778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 number(2);</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BEGIN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FOR a in 10 .. 20 LOOP</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('value of a: ' || a);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END LOOP;</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END; </a:t>
            </a:r>
            <a:endParaRPr kumimoji="0" lang="en-US" sz="4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23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381001"/>
            <a:ext cx="7772400" cy="762000"/>
          </a:xfrm>
        </p:spPr>
        <p:txBody>
          <a:bodyPr>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VARRAY</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587828" y="1034144"/>
            <a:ext cx="10693671" cy="3246530"/>
          </a:xfrm>
          <a:prstGeom prst="rect">
            <a:avLst/>
          </a:prstGeom>
        </p:spPr>
        <p:txBody>
          <a:bodyPr wrap="square">
            <a:spAutoFit/>
          </a:bodyPr>
          <a:lstStyle/>
          <a:p>
            <a:pPr marL="285750" indent="-285750">
              <a:lnSpc>
                <a:spcPct val="150000"/>
              </a:lnSpc>
              <a:buFont typeface="Arial" pitchFamily="34" charset="0"/>
              <a:buChar char="•"/>
            </a:pPr>
            <a:r>
              <a:rPr lang="en-US" sz="2800" dirty="0">
                <a:latin typeface="Times New Roman" pitchFamily="18" charset="0"/>
                <a:cs typeface="Times New Roman" pitchFamily="18" charset="0"/>
              </a:rPr>
              <a:t>Which can store a fixed-size sequential collection of elements of the same type.</a:t>
            </a:r>
          </a:p>
          <a:p>
            <a:pPr marL="285750" indent="-285750">
              <a:lnSpc>
                <a:spcPct val="150000"/>
              </a:lnSpc>
              <a:buFont typeface="Arial" pitchFamily="34" charset="0"/>
              <a:buChar char="•"/>
            </a:pPr>
            <a:r>
              <a:rPr lang="en-US" sz="2800" dirty="0">
                <a:latin typeface="Times New Roman" pitchFamily="18" charset="0"/>
                <a:cs typeface="Times New Roman" pitchFamily="18" charset="0"/>
              </a:rPr>
              <a:t>All </a:t>
            </a:r>
            <a:r>
              <a:rPr lang="en-US" sz="2800" dirty="0" err="1">
                <a:latin typeface="Times New Roman" pitchFamily="18" charset="0"/>
                <a:cs typeface="Times New Roman" pitchFamily="18" charset="0"/>
              </a:rPr>
              <a:t>varrays</a:t>
            </a:r>
            <a:r>
              <a:rPr lang="en-US" sz="2800" dirty="0">
                <a:latin typeface="Times New Roman" pitchFamily="18" charset="0"/>
                <a:cs typeface="Times New Roman" pitchFamily="18" charset="0"/>
              </a:rPr>
              <a:t> consist of contiguous memory locations. </a:t>
            </a:r>
          </a:p>
          <a:p>
            <a:pPr marL="285750" indent="-285750">
              <a:lnSpc>
                <a:spcPct val="150000"/>
              </a:lnSpc>
              <a:buFont typeface="Arial" pitchFamily="34" charset="0"/>
              <a:buChar char="•"/>
            </a:pPr>
            <a:r>
              <a:rPr lang="en-US" sz="2800" dirty="0">
                <a:latin typeface="Times New Roman" pitchFamily="18" charset="0"/>
                <a:cs typeface="Times New Roman" pitchFamily="18" charset="0"/>
              </a:rPr>
              <a:t>The lowest address corresponds to the first element and the highest address to the last element.</a:t>
            </a:r>
            <a:endParaRPr lang="en-IN" sz="2800" dirty="0">
              <a:latin typeface="Times New Roman" panose="02020603050405020304" pitchFamily="18" charset="0"/>
              <a:cs typeface="Times New Roman" panose="02020603050405020304" pitchFamily="18" charset="0"/>
            </a:endParaRPr>
          </a:p>
        </p:txBody>
      </p:sp>
      <p:pic>
        <p:nvPicPr>
          <p:cNvPr id="1026" name="Picture 2" descr="Varrays in PL/SQ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9754" y="4802387"/>
            <a:ext cx="7129817" cy="1551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619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Creating a </a:t>
            </a:r>
            <a:r>
              <a:rPr lang="en-IN" b="1" dirty="0" err="1">
                <a:solidFill>
                  <a:srgbClr val="FF0000"/>
                </a:solidFill>
                <a:latin typeface="Times New Roman" panose="02020603050405020304" pitchFamily="18" charset="0"/>
                <a:cs typeface="Times New Roman" panose="02020603050405020304" pitchFamily="18" charset="0"/>
              </a:rPr>
              <a:t>Varray</a:t>
            </a:r>
            <a:r>
              <a:rPr lang="en-IN" b="1" dirty="0">
                <a:solidFill>
                  <a:srgbClr val="FF0000"/>
                </a:solidFill>
                <a:latin typeface="Times New Roman" panose="02020603050405020304" pitchFamily="18" charset="0"/>
                <a:cs typeface="Times New Roman" panose="02020603050405020304" pitchFamily="18" charset="0"/>
              </a:rPr>
              <a:t> Type</a:t>
            </a:r>
            <a:br>
              <a:rPr lang="en-IN" b="1" dirty="0">
                <a:solidFill>
                  <a:srgbClr val="FF0000"/>
                </a:solidFill>
                <a:latin typeface="Times New Roman" panose="02020603050405020304" pitchFamily="18" charset="0"/>
                <a:cs typeface="Times New Roman" panose="02020603050405020304" pitchFamily="18" charset="0"/>
              </a:rPr>
            </a:b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1037230" y="1295400"/>
            <a:ext cx="10153934" cy="5632311"/>
          </a:xfrm>
          <a:prstGeom prst="rect">
            <a:avLst/>
          </a:prstGeom>
        </p:spPr>
        <p:txBody>
          <a:bodyPr wrap="square">
            <a:spAutoFit/>
          </a:bodyPr>
          <a:lstStyle/>
          <a:p>
            <a:pPr marL="342900" indent="-342900">
              <a:buFont typeface="Arial" pitchFamily="34" charset="0"/>
              <a:buChar char="•"/>
            </a:pP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varray</a:t>
            </a:r>
            <a:r>
              <a:rPr lang="en-US" sz="2400" dirty="0">
                <a:latin typeface="Times New Roman" pitchFamily="18" charset="0"/>
                <a:cs typeface="Times New Roman" pitchFamily="18" charset="0"/>
              </a:rPr>
              <a:t> type is created with the </a:t>
            </a:r>
            <a:r>
              <a:rPr lang="en-US" sz="2400" b="1" dirty="0">
                <a:latin typeface="Times New Roman" pitchFamily="18" charset="0"/>
                <a:cs typeface="Times New Roman" pitchFamily="18" charset="0"/>
              </a:rPr>
              <a:t>CREATE TYPE</a:t>
            </a:r>
            <a:r>
              <a:rPr lang="en-US" sz="2400" dirty="0">
                <a:latin typeface="Times New Roman" pitchFamily="18" charset="0"/>
                <a:cs typeface="Times New Roman" pitchFamily="18" charset="0"/>
              </a:rPr>
              <a:t> statement. </a:t>
            </a:r>
          </a:p>
          <a:p>
            <a:pPr marL="342900" indent="-342900">
              <a:buFont typeface="Arial" pitchFamily="34" charset="0"/>
              <a:buChar char="•"/>
            </a:pPr>
            <a:r>
              <a:rPr lang="en-US" sz="2400" dirty="0">
                <a:latin typeface="Times New Roman" pitchFamily="18" charset="0"/>
                <a:cs typeface="Times New Roman" pitchFamily="18" charset="0"/>
              </a:rPr>
              <a:t>You must specify the maximum size and the type of elements stored in the </a:t>
            </a:r>
            <a:r>
              <a:rPr lang="en-US" sz="2400" dirty="0" err="1">
                <a:latin typeface="Times New Roman" pitchFamily="18" charset="0"/>
                <a:cs typeface="Times New Roman" pitchFamily="18" charset="0"/>
              </a:rPr>
              <a:t>varray</a:t>
            </a:r>
            <a:r>
              <a:rPr lang="en-US" sz="24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The basic syntax for creating a VARRAY type within a PL/SQL block is −</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TYPE </a:t>
            </a:r>
            <a:r>
              <a:rPr lang="en-US" sz="2400" dirty="0" err="1">
                <a:latin typeface="Times New Roman" pitchFamily="18" charset="0"/>
                <a:cs typeface="Times New Roman" pitchFamily="18" charset="0"/>
              </a:rPr>
              <a:t>varray_type_name</a:t>
            </a:r>
            <a:r>
              <a:rPr lang="en-US" sz="2400" dirty="0">
                <a:latin typeface="Times New Roman" pitchFamily="18" charset="0"/>
                <a:cs typeface="Times New Roman" pitchFamily="18" charset="0"/>
              </a:rPr>
              <a:t> IS VARRAY(n) of &lt;</a:t>
            </a:r>
            <a:r>
              <a:rPr lang="en-US" sz="2400" dirty="0" err="1">
                <a:latin typeface="Times New Roman" pitchFamily="18" charset="0"/>
                <a:cs typeface="Times New Roman" pitchFamily="18" charset="0"/>
              </a:rPr>
              <a:t>element_type</a:t>
            </a:r>
            <a:r>
              <a:rPr lang="en-US" sz="2400" dirty="0">
                <a:latin typeface="Times New Roman" pitchFamily="18" charset="0"/>
                <a:cs typeface="Times New Roman" pitchFamily="18" charset="0"/>
              </a:rPr>
              <a:t>&gt;</a:t>
            </a:r>
          </a:p>
          <a:p>
            <a:r>
              <a:rPr lang="en-US" sz="2400" dirty="0">
                <a:latin typeface="Times New Roman" panose="02020603050405020304" pitchFamily="18" charset="0"/>
                <a:cs typeface="Times New Roman" panose="02020603050405020304" pitchFamily="18" charset="0"/>
              </a:rPr>
              <a:t>Where,</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varray_type_name</a:t>
            </a:r>
            <a:r>
              <a:rPr lang="en-US" sz="2400" dirty="0">
                <a:latin typeface="Times New Roman" panose="02020603050405020304" pitchFamily="18" charset="0"/>
                <a:cs typeface="Times New Roman" panose="02020603050405020304" pitchFamily="18" charset="0"/>
              </a:rPr>
              <a:t> is a valid attribute name,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 is the number of elements (maximum) in the </a:t>
            </a:r>
            <a:r>
              <a:rPr lang="en-US" sz="2400" dirty="0" err="1">
                <a:latin typeface="Times New Roman" panose="02020603050405020304" pitchFamily="18" charset="0"/>
                <a:cs typeface="Times New Roman" panose="02020603050405020304" pitchFamily="18" charset="0"/>
              </a:rPr>
              <a:t>varray</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element_type</a:t>
            </a:r>
            <a:r>
              <a:rPr lang="en-US" sz="2400" dirty="0">
                <a:latin typeface="Times New Roman" panose="02020603050405020304" pitchFamily="18" charset="0"/>
                <a:cs typeface="Times New Roman" panose="02020603050405020304" pitchFamily="18" charset="0"/>
              </a:rPr>
              <a:t> is the data type of the elements of the array.</a:t>
            </a:r>
          </a:p>
          <a:p>
            <a:pPr marL="342900" indent="-342900">
              <a:buFont typeface="Arial" panose="020B0604020202020204" pitchFamily="34" charset="0"/>
              <a:buChar char="•"/>
            </a:pPr>
            <a:endParaRPr lang="en-US" sz="2400" dirty="0">
              <a:latin typeface="Times New Roman" pitchFamily="18" charset="0"/>
              <a:cs typeface="Times New Roman" pitchFamily="18" charset="0"/>
            </a:endParaRPr>
          </a:p>
          <a:p>
            <a:pPr marL="342900" indent="-342900">
              <a:buFont typeface="Arial" panose="020B0604020202020204" pitchFamily="34" charset="0"/>
              <a:buChar char="•"/>
            </a:pPr>
            <a:r>
              <a:rPr lang="en-US" sz="2400" dirty="0">
                <a:latin typeface="Times New Roman" pitchFamily="18" charset="0"/>
                <a:cs typeface="Times New Roman" pitchFamily="18" charset="0"/>
              </a:rPr>
              <a:t>For example −</a:t>
            </a:r>
          </a:p>
          <a:p>
            <a:r>
              <a:rPr lang="en-US" sz="2400" dirty="0">
                <a:latin typeface="Times New Roman" pitchFamily="18" charset="0"/>
                <a:cs typeface="Times New Roman" pitchFamily="18" charset="0"/>
              </a:rPr>
              <a:t>	TYPE </a:t>
            </a:r>
            <a:r>
              <a:rPr lang="en-US" sz="2400" dirty="0" err="1">
                <a:latin typeface="Times New Roman" pitchFamily="18" charset="0"/>
                <a:cs typeface="Times New Roman" pitchFamily="18" charset="0"/>
              </a:rPr>
              <a:t>namearray</a:t>
            </a:r>
            <a:r>
              <a:rPr lang="en-US" sz="2400" dirty="0">
                <a:latin typeface="Times New Roman" pitchFamily="18" charset="0"/>
                <a:cs typeface="Times New Roman" pitchFamily="18" charset="0"/>
              </a:rPr>
              <a:t> IS VARRAY(5) OF VARCHAR2(10); </a:t>
            </a:r>
          </a:p>
          <a:p>
            <a:r>
              <a:rPr lang="en-US" sz="2400" dirty="0">
                <a:latin typeface="Times New Roman" pitchFamily="18" charset="0"/>
                <a:cs typeface="Times New Roman" pitchFamily="18" charset="0"/>
              </a:rPr>
              <a:t>	Type grades IS VARRAY(5) OF INTEGER</a:t>
            </a:r>
            <a:r>
              <a:rPr lang="en-US" dirty="0"/>
              <a:t>;</a:t>
            </a:r>
          </a:p>
        </p:txBody>
      </p:sp>
    </p:spTree>
    <p:extLst>
      <p:ext uri="{BB962C8B-B14F-4D97-AF65-F5344CB8AC3E}">
        <p14:creationId xmlns:p14="http://schemas.microsoft.com/office/powerpoint/2010/main" val="266537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2513" y="163773"/>
            <a:ext cx="10631606" cy="6313227"/>
          </a:xfrm>
        </p:spPr>
        <p:txBody>
          <a:bodyPr>
            <a:noAutofit/>
          </a:bodyPr>
          <a:lstStyle/>
          <a:p>
            <a:r>
              <a:rPr lang="en-US" sz="3200" b="1" dirty="0">
                <a:latin typeface="Times New Roman" pitchFamily="18" charset="0"/>
                <a:cs typeface="Times New Roman" pitchFamily="18" charset="0"/>
              </a:rPr>
              <a:t>Example:</a:t>
            </a:r>
          </a:p>
          <a:p>
            <a:pPr marL="0" indent="0">
              <a:buNone/>
            </a:pPr>
            <a:r>
              <a:rPr lang="en-IN" sz="1800" dirty="0">
                <a:latin typeface="Times New Roman" pitchFamily="18" charset="0"/>
                <a:cs typeface="Times New Roman" pitchFamily="18" charset="0"/>
              </a:rPr>
              <a:t>DECLARE </a:t>
            </a:r>
          </a:p>
          <a:p>
            <a:pPr marL="0" indent="0">
              <a:buNone/>
            </a:pPr>
            <a:r>
              <a:rPr lang="en-IN" sz="1800" dirty="0">
                <a:latin typeface="Times New Roman" pitchFamily="18" charset="0"/>
                <a:cs typeface="Times New Roman" pitchFamily="18" charset="0"/>
              </a:rPr>
              <a:t>type </a:t>
            </a:r>
            <a:r>
              <a:rPr lang="en-IN" sz="1800" b="1" dirty="0" err="1">
                <a:latin typeface="Times New Roman" pitchFamily="18" charset="0"/>
                <a:cs typeface="Times New Roman" pitchFamily="18" charset="0"/>
              </a:rPr>
              <a:t>namesarray</a:t>
            </a:r>
            <a:r>
              <a:rPr lang="en-IN" sz="1800" dirty="0">
                <a:latin typeface="Times New Roman" pitchFamily="18" charset="0"/>
                <a:cs typeface="Times New Roman" pitchFamily="18" charset="0"/>
              </a:rPr>
              <a:t>  IS  VARRAY(5) OF VARCHAR2(10); </a:t>
            </a:r>
          </a:p>
          <a:p>
            <a:pPr marL="0" indent="0">
              <a:buNone/>
            </a:pPr>
            <a:r>
              <a:rPr lang="en-IN" sz="1800" dirty="0">
                <a:latin typeface="Times New Roman" pitchFamily="18" charset="0"/>
                <a:cs typeface="Times New Roman" pitchFamily="18" charset="0"/>
              </a:rPr>
              <a:t>type </a:t>
            </a:r>
            <a:r>
              <a:rPr lang="en-IN" sz="1800" b="1" dirty="0">
                <a:latin typeface="Times New Roman" pitchFamily="18" charset="0"/>
                <a:cs typeface="Times New Roman" pitchFamily="18" charset="0"/>
              </a:rPr>
              <a:t>grades</a:t>
            </a:r>
            <a:r>
              <a:rPr lang="en-IN" sz="1800" dirty="0">
                <a:latin typeface="Times New Roman" pitchFamily="18" charset="0"/>
                <a:cs typeface="Times New Roman" pitchFamily="18" charset="0"/>
              </a:rPr>
              <a:t> IS VARRAY(5) OF INTEGER; </a:t>
            </a:r>
          </a:p>
          <a:p>
            <a:pPr marL="0" indent="0">
              <a:buNone/>
            </a:pPr>
            <a:r>
              <a:rPr lang="en-IN" sz="1800" dirty="0">
                <a:latin typeface="Times New Roman" pitchFamily="18" charset="0"/>
                <a:cs typeface="Times New Roman" pitchFamily="18" charset="0"/>
              </a:rPr>
              <a:t>names </a:t>
            </a:r>
            <a:r>
              <a:rPr lang="en-IN" sz="1800" dirty="0" err="1">
                <a:latin typeface="Times New Roman" pitchFamily="18" charset="0"/>
                <a:cs typeface="Times New Roman" pitchFamily="18" charset="0"/>
              </a:rPr>
              <a:t>namesarray</a:t>
            </a:r>
            <a:r>
              <a:rPr lang="en-IN" sz="1800" dirty="0">
                <a:latin typeface="Times New Roman" pitchFamily="18" charset="0"/>
                <a:cs typeface="Times New Roman" pitchFamily="18" charset="0"/>
              </a:rPr>
              <a:t>; </a:t>
            </a:r>
          </a:p>
          <a:p>
            <a:pPr marL="0" indent="0">
              <a:buNone/>
            </a:pPr>
            <a:r>
              <a:rPr lang="en-IN" sz="1800" dirty="0">
                <a:latin typeface="Times New Roman" pitchFamily="18" charset="0"/>
                <a:cs typeface="Times New Roman" pitchFamily="18" charset="0"/>
              </a:rPr>
              <a:t>marks grades; </a:t>
            </a:r>
          </a:p>
          <a:p>
            <a:pPr marL="0" indent="0">
              <a:buNone/>
            </a:pPr>
            <a:r>
              <a:rPr lang="en-IN" sz="1800" dirty="0">
                <a:latin typeface="Times New Roman" pitchFamily="18" charset="0"/>
                <a:cs typeface="Times New Roman" pitchFamily="18" charset="0"/>
              </a:rPr>
              <a:t>total integer; </a:t>
            </a:r>
          </a:p>
          <a:p>
            <a:pPr marL="0" indent="0">
              <a:buNone/>
            </a:pPr>
            <a:r>
              <a:rPr lang="en-IN" sz="1800" dirty="0">
                <a:latin typeface="Times New Roman" pitchFamily="18" charset="0"/>
                <a:cs typeface="Times New Roman" pitchFamily="18" charset="0"/>
              </a:rPr>
              <a:t>BEGIN </a:t>
            </a:r>
          </a:p>
          <a:p>
            <a:pPr marL="0" indent="0">
              <a:buNone/>
            </a:pPr>
            <a:r>
              <a:rPr lang="en-IN" sz="1800" dirty="0">
                <a:latin typeface="Times New Roman" pitchFamily="18" charset="0"/>
                <a:cs typeface="Times New Roman" pitchFamily="18" charset="0"/>
              </a:rPr>
              <a:t>names := </a:t>
            </a:r>
            <a:r>
              <a:rPr lang="en-IN" sz="1800" dirty="0" err="1">
                <a:latin typeface="Times New Roman" pitchFamily="18" charset="0"/>
                <a:cs typeface="Times New Roman" pitchFamily="18" charset="0"/>
              </a:rPr>
              <a:t>namesarray</a:t>
            </a:r>
            <a:r>
              <a:rPr lang="en-IN" sz="1800" dirty="0">
                <a:latin typeface="Times New Roman" pitchFamily="18" charset="0"/>
                <a:cs typeface="Times New Roman" pitchFamily="18" charset="0"/>
              </a:rPr>
              <a:t>('</a:t>
            </a:r>
            <a:r>
              <a:rPr lang="en-IN" sz="1800" dirty="0" err="1">
                <a:latin typeface="Times New Roman" pitchFamily="18" charset="0"/>
                <a:cs typeface="Times New Roman" pitchFamily="18" charset="0"/>
              </a:rPr>
              <a:t>Kavita</a:t>
            </a:r>
            <a:r>
              <a:rPr lang="en-IN" sz="1800" dirty="0">
                <a:latin typeface="Times New Roman" pitchFamily="18" charset="0"/>
                <a:cs typeface="Times New Roman" pitchFamily="18" charset="0"/>
              </a:rPr>
              <a:t>', '</a:t>
            </a:r>
            <a:r>
              <a:rPr lang="en-IN" sz="1800" dirty="0" err="1">
                <a:latin typeface="Times New Roman" pitchFamily="18" charset="0"/>
                <a:cs typeface="Times New Roman" pitchFamily="18" charset="0"/>
              </a:rPr>
              <a:t>Pritam</a:t>
            </a:r>
            <a:r>
              <a:rPr lang="en-IN" sz="1800" dirty="0">
                <a:latin typeface="Times New Roman" pitchFamily="18" charset="0"/>
                <a:cs typeface="Times New Roman" pitchFamily="18" charset="0"/>
              </a:rPr>
              <a:t>', '</a:t>
            </a:r>
            <a:r>
              <a:rPr lang="en-IN" sz="1800" dirty="0" err="1">
                <a:latin typeface="Times New Roman" pitchFamily="18" charset="0"/>
                <a:cs typeface="Times New Roman" pitchFamily="18" charset="0"/>
              </a:rPr>
              <a:t>Ayan</a:t>
            </a:r>
            <a:r>
              <a:rPr lang="en-IN" sz="1800" dirty="0">
                <a:latin typeface="Times New Roman" pitchFamily="18" charset="0"/>
                <a:cs typeface="Times New Roman" pitchFamily="18" charset="0"/>
              </a:rPr>
              <a:t>', '</a:t>
            </a:r>
            <a:r>
              <a:rPr lang="en-IN" sz="1800" dirty="0" err="1">
                <a:latin typeface="Times New Roman" pitchFamily="18" charset="0"/>
                <a:cs typeface="Times New Roman" pitchFamily="18" charset="0"/>
              </a:rPr>
              <a:t>Rishav</a:t>
            </a:r>
            <a:r>
              <a:rPr lang="en-IN" sz="1800" dirty="0">
                <a:latin typeface="Times New Roman" pitchFamily="18" charset="0"/>
                <a:cs typeface="Times New Roman" pitchFamily="18" charset="0"/>
              </a:rPr>
              <a:t>', 'Aziz'); </a:t>
            </a:r>
          </a:p>
          <a:p>
            <a:pPr marL="0" indent="0">
              <a:buNone/>
            </a:pPr>
            <a:r>
              <a:rPr lang="en-IN" sz="1800" dirty="0">
                <a:latin typeface="Times New Roman" pitchFamily="18" charset="0"/>
                <a:cs typeface="Times New Roman" pitchFamily="18" charset="0"/>
              </a:rPr>
              <a:t>marks:= grades(98, 97, 78, 87, 92); </a:t>
            </a:r>
          </a:p>
          <a:p>
            <a:pPr marL="0" indent="0">
              <a:buNone/>
            </a:pPr>
            <a:r>
              <a:rPr lang="en-IN" sz="1800" dirty="0">
                <a:latin typeface="Times New Roman" pitchFamily="18" charset="0"/>
                <a:cs typeface="Times New Roman" pitchFamily="18" charset="0"/>
              </a:rPr>
              <a:t>total := </a:t>
            </a:r>
            <a:r>
              <a:rPr lang="en-IN" sz="1800" dirty="0" err="1">
                <a:latin typeface="Times New Roman" pitchFamily="18" charset="0"/>
                <a:cs typeface="Times New Roman" pitchFamily="18" charset="0"/>
              </a:rPr>
              <a:t>names.count</a:t>
            </a:r>
            <a:r>
              <a:rPr lang="en-IN" sz="1800" dirty="0">
                <a:latin typeface="Times New Roman" pitchFamily="18" charset="0"/>
                <a:cs typeface="Times New Roman" pitchFamily="18" charset="0"/>
              </a:rPr>
              <a:t>; </a:t>
            </a:r>
          </a:p>
          <a:p>
            <a:pPr marL="0" indent="0">
              <a:buNone/>
            </a:pPr>
            <a:r>
              <a:rPr lang="en-IN" sz="1800" dirty="0" err="1">
                <a:latin typeface="Times New Roman" pitchFamily="18" charset="0"/>
                <a:cs typeface="Times New Roman" pitchFamily="18" charset="0"/>
              </a:rPr>
              <a:t>dbms_output.put_line</a:t>
            </a:r>
            <a:r>
              <a:rPr lang="en-IN" sz="1800" dirty="0">
                <a:latin typeface="Times New Roman" pitchFamily="18" charset="0"/>
                <a:cs typeface="Times New Roman" pitchFamily="18" charset="0"/>
              </a:rPr>
              <a:t>('Total '|| total || ' Students'); </a:t>
            </a:r>
          </a:p>
          <a:p>
            <a:pPr marL="0" indent="0">
              <a:buNone/>
            </a:pPr>
            <a:r>
              <a:rPr lang="en-IN" sz="1800" dirty="0">
                <a:latin typeface="Times New Roman" pitchFamily="18" charset="0"/>
                <a:cs typeface="Times New Roman" pitchFamily="18" charset="0"/>
              </a:rPr>
              <a:t>FOR i in 1 .. total LOOP</a:t>
            </a:r>
          </a:p>
          <a:p>
            <a:pPr marL="0" indent="0">
              <a:buNone/>
            </a:pPr>
            <a:r>
              <a:rPr lang="en-IN" sz="1800" dirty="0">
                <a:latin typeface="Times New Roman" pitchFamily="18" charset="0"/>
                <a:cs typeface="Times New Roman" pitchFamily="18" charset="0"/>
              </a:rPr>
              <a:t> </a:t>
            </a:r>
            <a:r>
              <a:rPr lang="en-IN" sz="1800" dirty="0" err="1">
                <a:latin typeface="Times New Roman" pitchFamily="18" charset="0"/>
                <a:cs typeface="Times New Roman" pitchFamily="18" charset="0"/>
              </a:rPr>
              <a:t>dbms_output.put_line</a:t>
            </a:r>
            <a:r>
              <a:rPr lang="en-IN" sz="1800" dirty="0">
                <a:latin typeface="Times New Roman" pitchFamily="18" charset="0"/>
                <a:cs typeface="Times New Roman" pitchFamily="18" charset="0"/>
              </a:rPr>
              <a:t>('Student: ' || names(i) || ' Marks: ' || marks(i)); </a:t>
            </a:r>
          </a:p>
          <a:p>
            <a:pPr marL="0" indent="0">
              <a:buNone/>
            </a:pPr>
            <a:r>
              <a:rPr lang="en-IN" sz="1800" dirty="0">
                <a:latin typeface="Times New Roman" pitchFamily="18" charset="0"/>
                <a:cs typeface="Times New Roman" pitchFamily="18" charset="0"/>
              </a:rPr>
              <a:t>END LOOP;</a:t>
            </a:r>
          </a:p>
          <a:p>
            <a:pPr marL="0" indent="0">
              <a:buNone/>
            </a:pPr>
            <a:r>
              <a:rPr lang="en-IN" sz="1800" dirty="0">
                <a:latin typeface="Times New Roman" pitchFamily="18" charset="0"/>
                <a:cs typeface="Times New Roman" pitchFamily="18" charset="0"/>
              </a:rPr>
              <a:t> END; </a:t>
            </a:r>
          </a:p>
        </p:txBody>
      </p:sp>
      <p:sp>
        <p:nvSpPr>
          <p:cNvPr id="2" name="Rectangle 1"/>
          <p:cNvSpPr/>
          <p:nvPr/>
        </p:nvSpPr>
        <p:spPr>
          <a:xfrm>
            <a:off x="7443066" y="967524"/>
            <a:ext cx="6096000" cy="5169172"/>
          </a:xfrm>
          <a:prstGeom prst="rect">
            <a:avLst/>
          </a:prstGeom>
        </p:spPr>
        <p:txBody>
          <a:bodyPr>
            <a:spAutoFit/>
          </a:bodyPr>
          <a:lstStyle/>
          <a:p>
            <a:pPr>
              <a:lnSpc>
                <a:spcPct val="200000"/>
              </a:lnSpc>
            </a:pPr>
            <a:r>
              <a:rPr lang="en-US" sz="2800" b="1" dirty="0">
                <a:latin typeface="Times New Roman" pitchFamily="18" charset="0"/>
                <a:cs typeface="Times New Roman" pitchFamily="18" charset="0"/>
              </a:rPr>
              <a:t>Output:</a:t>
            </a:r>
          </a:p>
          <a:p>
            <a:pPr>
              <a:lnSpc>
                <a:spcPct val="200000"/>
              </a:lnSpc>
            </a:pPr>
            <a:r>
              <a:rPr lang="en-IN" sz="2000" dirty="0">
                <a:latin typeface="Times New Roman" pitchFamily="18" charset="0"/>
                <a:cs typeface="Times New Roman" pitchFamily="18" charset="0"/>
              </a:rPr>
              <a:t>Total 5 Students </a:t>
            </a:r>
          </a:p>
          <a:p>
            <a:pPr>
              <a:lnSpc>
                <a:spcPct val="200000"/>
              </a:lnSpc>
            </a:pPr>
            <a:r>
              <a:rPr lang="en-IN" sz="2000" dirty="0">
                <a:latin typeface="Times New Roman" pitchFamily="18" charset="0"/>
                <a:cs typeface="Times New Roman" pitchFamily="18" charset="0"/>
              </a:rPr>
              <a:t>Student: </a:t>
            </a:r>
            <a:r>
              <a:rPr lang="en-IN" sz="2000" dirty="0" err="1">
                <a:latin typeface="Times New Roman" pitchFamily="18" charset="0"/>
                <a:cs typeface="Times New Roman" pitchFamily="18" charset="0"/>
              </a:rPr>
              <a:t>Kavita</a:t>
            </a:r>
            <a:r>
              <a:rPr lang="en-IN" sz="2000" dirty="0">
                <a:latin typeface="Times New Roman" pitchFamily="18" charset="0"/>
                <a:cs typeface="Times New Roman" pitchFamily="18" charset="0"/>
              </a:rPr>
              <a:t> Marks: 98 </a:t>
            </a:r>
          </a:p>
          <a:p>
            <a:pPr>
              <a:lnSpc>
                <a:spcPct val="200000"/>
              </a:lnSpc>
            </a:pPr>
            <a:r>
              <a:rPr lang="en-IN" sz="2000" dirty="0">
                <a:latin typeface="Times New Roman" pitchFamily="18" charset="0"/>
                <a:cs typeface="Times New Roman" pitchFamily="18" charset="0"/>
              </a:rPr>
              <a:t>Student: </a:t>
            </a:r>
            <a:r>
              <a:rPr lang="en-IN" sz="2000" dirty="0" err="1">
                <a:latin typeface="Times New Roman" pitchFamily="18" charset="0"/>
                <a:cs typeface="Times New Roman" pitchFamily="18" charset="0"/>
              </a:rPr>
              <a:t>Pritam</a:t>
            </a:r>
            <a:r>
              <a:rPr lang="en-IN" sz="2000" dirty="0">
                <a:latin typeface="Times New Roman" pitchFamily="18" charset="0"/>
                <a:cs typeface="Times New Roman" pitchFamily="18" charset="0"/>
              </a:rPr>
              <a:t> Marks: 97 </a:t>
            </a:r>
          </a:p>
          <a:p>
            <a:pPr>
              <a:lnSpc>
                <a:spcPct val="200000"/>
              </a:lnSpc>
            </a:pPr>
            <a:r>
              <a:rPr lang="en-IN" sz="2000" dirty="0">
                <a:latin typeface="Times New Roman" pitchFamily="18" charset="0"/>
                <a:cs typeface="Times New Roman" pitchFamily="18" charset="0"/>
              </a:rPr>
              <a:t>Student: </a:t>
            </a:r>
            <a:r>
              <a:rPr lang="en-IN" sz="2000" dirty="0" err="1">
                <a:latin typeface="Times New Roman" pitchFamily="18" charset="0"/>
                <a:cs typeface="Times New Roman" pitchFamily="18" charset="0"/>
              </a:rPr>
              <a:t>Ayan</a:t>
            </a:r>
            <a:r>
              <a:rPr lang="en-IN" sz="2000" dirty="0">
                <a:latin typeface="Times New Roman" pitchFamily="18" charset="0"/>
                <a:cs typeface="Times New Roman" pitchFamily="18" charset="0"/>
              </a:rPr>
              <a:t> Marks: 78 </a:t>
            </a:r>
          </a:p>
          <a:p>
            <a:pPr>
              <a:lnSpc>
                <a:spcPct val="200000"/>
              </a:lnSpc>
            </a:pPr>
            <a:r>
              <a:rPr lang="en-IN" sz="2000" dirty="0">
                <a:latin typeface="Times New Roman" pitchFamily="18" charset="0"/>
                <a:cs typeface="Times New Roman" pitchFamily="18" charset="0"/>
              </a:rPr>
              <a:t>Student: </a:t>
            </a:r>
            <a:r>
              <a:rPr lang="en-IN" sz="2000" dirty="0" err="1">
                <a:latin typeface="Times New Roman" pitchFamily="18" charset="0"/>
                <a:cs typeface="Times New Roman" pitchFamily="18" charset="0"/>
              </a:rPr>
              <a:t>Rishav</a:t>
            </a:r>
            <a:r>
              <a:rPr lang="en-IN" sz="2000" dirty="0">
                <a:latin typeface="Times New Roman" pitchFamily="18" charset="0"/>
                <a:cs typeface="Times New Roman" pitchFamily="18" charset="0"/>
              </a:rPr>
              <a:t> Marks: 87</a:t>
            </a:r>
          </a:p>
          <a:p>
            <a:pPr>
              <a:lnSpc>
                <a:spcPct val="200000"/>
              </a:lnSpc>
            </a:pPr>
            <a:r>
              <a:rPr lang="en-IN" sz="2000" dirty="0">
                <a:latin typeface="Times New Roman" pitchFamily="18" charset="0"/>
                <a:cs typeface="Times New Roman" pitchFamily="18" charset="0"/>
              </a:rPr>
              <a:t>Student: Aziz Marks: 92 </a:t>
            </a:r>
          </a:p>
          <a:p>
            <a:pPr>
              <a:lnSpc>
                <a:spcPct val="200000"/>
              </a:lnSpc>
            </a:pPr>
            <a:r>
              <a:rPr lang="en-IN" sz="2000" dirty="0">
                <a:latin typeface="Times New Roman" pitchFamily="18" charset="0"/>
                <a:cs typeface="Times New Roman" pitchFamily="18" charset="0"/>
              </a:rPr>
              <a:t> </a:t>
            </a:r>
          </a:p>
        </p:txBody>
      </p:sp>
    </p:spTree>
    <p:extLst>
      <p:ext uri="{BB962C8B-B14F-4D97-AF65-F5344CB8AC3E}">
        <p14:creationId xmlns:p14="http://schemas.microsoft.com/office/powerpoint/2010/main" val="579313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982"/>
            <a:ext cx="10515600" cy="1325563"/>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PL/SQL - Procedures</a:t>
            </a:r>
            <a:br>
              <a:rPr lang="en-IN" b="1" dirty="0">
                <a:solidFill>
                  <a:srgbClr val="FF0000"/>
                </a:solidFill>
                <a:latin typeface="Times New Roman" panose="02020603050405020304" pitchFamily="18" charset="0"/>
                <a:cs typeface="Times New Roman" panose="02020603050405020304" pitchFamily="18" charset="0"/>
              </a:rPr>
            </a:b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762000" y="916794"/>
            <a:ext cx="10243782" cy="1938992"/>
          </a:xfrm>
          <a:prstGeom prst="rect">
            <a:avLst/>
          </a:prstGeom>
        </p:spPr>
        <p:txBody>
          <a:bodyPr wrap="square">
            <a:spAutoFit/>
          </a:bodyPr>
          <a:lstStyle/>
          <a:p>
            <a:pPr marL="342900" indent="-342900">
              <a:buFont typeface="Arial" pitchFamily="34" charset="0"/>
              <a:buChar char="•"/>
            </a:pPr>
            <a:r>
              <a:rPr lang="en-US" sz="2400" dirty="0">
                <a:latin typeface="Times New Roman" pitchFamily="18" charset="0"/>
                <a:cs typeface="Times New Roman" pitchFamily="18" charset="0"/>
              </a:rPr>
              <a:t>A </a:t>
            </a:r>
            <a:r>
              <a:rPr lang="en-US" sz="2400" b="1" dirty="0">
                <a:latin typeface="Times New Roman" pitchFamily="18" charset="0"/>
                <a:cs typeface="Times New Roman" pitchFamily="18" charset="0"/>
              </a:rPr>
              <a:t>subprogram</a:t>
            </a:r>
            <a:r>
              <a:rPr lang="en-US" sz="2400" dirty="0">
                <a:latin typeface="Times New Roman" pitchFamily="18" charset="0"/>
                <a:cs typeface="Times New Roman" pitchFamily="18" charset="0"/>
              </a:rPr>
              <a:t> is a program unit/module that performs a particular task. </a:t>
            </a:r>
          </a:p>
          <a:p>
            <a:pPr marL="342900" indent="-342900">
              <a:buFont typeface="Arial" pitchFamily="34" charset="0"/>
              <a:buChar char="•"/>
            </a:pPr>
            <a:r>
              <a:rPr lang="en-US" sz="2400" dirty="0">
                <a:latin typeface="Times New Roman" pitchFamily="18" charset="0"/>
                <a:cs typeface="Times New Roman" pitchFamily="18" charset="0"/>
              </a:rPr>
              <a:t>These subprograms are combined to form larger programs. </a:t>
            </a:r>
          </a:p>
          <a:p>
            <a:pPr marL="342900" indent="-342900">
              <a:buFont typeface="Arial" pitchFamily="34" charset="0"/>
              <a:buChar char="•"/>
            </a:pPr>
            <a:r>
              <a:rPr lang="en-US" sz="2400" dirty="0">
                <a:latin typeface="Times New Roman" pitchFamily="18" charset="0"/>
                <a:cs typeface="Times New Roman" pitchFamily="18" charset="0"/>
              </a:rPr>
              <a:t>This is basically called the 'Modular design'. </a:t>
            </a:r>
          </a:p>
          <a:p>
            <a:pPr marL="342900" indent="-342900">
              <a:buFont typeface="Arial" pitchFamily="34" charset="0"/>
              <a:buChar char="•"/>
            </a:pPr>
            <a:r>
              <a:rPr lang="en-US" sz="2400" dirty="0">
                <a:latin typeface="Times New Roman" pitchFamily="18" charset="0"/>
                <a:cs typeface="Times New Roman" pitchFamily="18" charset="0"/>
              </a:rPr>
              <a:t>A subprogram can be invoked by another subprogram or program which is called the </a:t>
            </a:r>
            <a:r>
              <a:rPr lang="en-US" sz="2400" b="1" dirty="0">
                <a:latin typeface="Times New Roman" pitchFamily="18" charset="0"/>
                <a:cs typeface="Times New Roman" pitchFamily="18" charset="0"/>
              </a:rPr>
              <a:t>calling program</a:t>
            </a: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832665034"/>
              </p:ext>
            </p:extLst>
          </p:nvPr>
        </p:nvGraphicFramePr>
        <p:xfrm>
          <a:off x="549728" y="2855785"/>
          <a:ext cx="11805558" cy="4100184"/>
        </p:xfrm>
        <a:graphic>
          <a:graphicData uri="http://schemas.openxmlformats.org/drawingml/2006/table">
            <a:tbl>
              <a:tblPr/>
              <a:tblGrid>
                <a:gridCol w="11805558">
                  <a:extLst>
                    <a:ext uri="{9D8B030D-6E8A-4147-A177-3AD203B41FA5}">
                      <a16:colId xmlns:a16="http://schemas.microsoft.com/office/drawing/2014/main" val="20000"/>
                    </a:ext>
                  </a:extLst>
                </a:gridCol>
              </a:tblGrid>
              <a:tr h="372888">
                <a:tc>
                  <a:txBody>
                    <a:bodyPr/>
                    <a:lstStyle/>
                    <a:p>
                      <a:endParaRPr lang="en-IN" sz="1600" dirty="0"/>
                    </a:p>
                  </a:txBody>
                  <a:tcPr marL="78485" marR="78485" marT="39242" marB="39242">
                    <a:lnL w="9525" cap="flat" cmpd="sng" algn="ctr">
                      <a:solidFill>
                        <a:srgbClr val="DDDDDD"/>
                      </a:solidFill>
                      <a:prstDash val="solid"/>
                      <a:round/>
                      <a:headEnd type="none" w="med" len="med"/>
                      <a:tailEnd type="none" w="med" len="med"/>
                    </a:lnL>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1914402">
                <a:tc>
                  <a:txBody>
                    <a:bodyPr/>
                    <a:lstStyle/>
                    <a:p>
                      <a:pPr algn="just" fontAlgn="t"/>
                      <a:r>
                        <a:rPr lang="en-US" sz="2000" b="1" dirty="0">
                          <a:solidFill>
                            <a:srgbClr val="000000"/>
                          </a:solidFill>
                          <a:effectLst/>
                          <a:latin typeface="Times New Roman" pitchFamily="18" charset="0"/>
                          <a:cs typeface="Times New Roman" pitchFamily="18" charset="0"/>
                        </a:rPr>
                        <a:t>Declarative Part</a:t>
                      </a:r>
                      <a:endParaRPr lang="en-US" sz="2000" dirty="0">
                        <a:solidFill>
                          <a:srgbClr val="000000"/>
                        </a:solidFill>
                        <a:effectLst/>
                        <a:latin typeface="Times New Roman" pitchFamily="18" charset="0"/>
                        <a:cs typeface="Times New Roman" pitchFamily="18" charset="0"/>
                      </a:endParaRPr>
                    </a:p>
                    <a:p>
                      <a:pPr marL="285750" indent="-285750" algn="just" fontAlgn="t">
                        <a:buFont typeface="Arial" panose="020B0604020202020204" pitchFamily="34" charset="0"/>
                        <a:buChar char="•"/>
                      </a:pPr>
                      <a:r>
                        <a:rPr lang="en-US" sz="2000" dirty="0">
                          <a:solidFill>
                            <a:srgbClr val="000000"/>
                          </a:solidFill>
                          <a:effectLst/>
                          <a:latin typeface="Times New Roman" pitchFamily="18" charset="0"/>
                          <a:cs typeface="Times New Roman" pitchFamily="18" charset="0"/>
                        </a:rPr>
                        <a:t>It is an optional part. However, the declarative part for a subprogram does not start with the DECLARE keyword. </a:t>
                      </a:r>
                    </a:p>
                    <a:p>
                      <a:pPr marL="285750" indent="-285750" algn="just" fontAlgn="t">
                        <a:buFont typeface="Arial" panose="020B0604020202020204" pitchFamily="34" charset="0"/>
                        <a:buChar char="•"/>
                      </a:pPr>
                      <a:r>
                        <a:rPr lang="en-US" sz="2000" dirty="0">
                          <a:solidFill>
                            <a:srgbClr val="000000"/>
                          </a:solidFill>
                          <a:effectLst/>
                          <a:latin typeface="Times New Roman" pitchFamily="18" charset="0"/>
                          <a:cs typeface="Times New Roman" pitchFamily="18" charset="0"/>
                        </a:rPr>
                        <a:t>It contains declarations of types, cursors, constants, variables, exceptions, and nested subprograms. </a:t>
                      </a:r>
                    </a:p>
                    <a:p>
                      <a:pPr marL="285750" indent="-285750" algn="just" fontAlgn="t">
                        <a:buFont typeface="Arial" panose="020B0604020202020204" pitchFamily="34" charset="0"/>
                        <a:buChar char="•"/>
                      </a:pPr>
                      <a:r>
                        <a:rPr lang="en-US" sz="2000" dirty="0">
                          <a:solidFill>
                            <a:srgbClr val="000000"/>
                          </a:solidFill>
                          <a:effectLst/>
                          <a:latin typeface="Times New Roman" pitchFamily="18" charset="0"/>
                          <a:cs typeface="Times New Roman" pitchFamily="18" charset="0"/>
                        </a:rPr>
                        <a:t>These items are local to the subprogram and cease to exist when the subprogram completes execution.</a:t>
                      </a:r>
                    </a:p>
                  </a:txBody>
                  <a:tcPr marL="65404" marR="65404" marT="65404" marB="6540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56558">
                <a:tc>
                  <a:txBody>
                    <a:bodyPr/>
                    <a:lstStyle/>
                    <a:p>
                      <a:pPr algn="just" fontAlgn="t"/>
                      <a:r>
                        <a:rPr lang="en-US" sz="2000" b="1" dirty="0">
                          <a:solidFill>
                            <a:srgbClr val="000000"/>
                          </a:solidFill>
                          <a:effectLst/>
                          <a:latin typeface="Times New Roman" pitchFamily="18" charset="0"/>
                          <a:cs typeface="Times New Roman" pitchFamily="18" charset="0"/>
                        </a:rPr>
                        <a:t>Executable Part</a:t>
                      </a:r>
                      <a:endParaRPr lang="en-US" sz="2000" dirty="0">
                        <a:solidFill>
                          <a:srgbClr val="000000"/>
                        </a:solidFill>
                        <a:effectLst/>
                        <a:latin typeface="Times New Roman" pitchFamily="18" charset="0"/>
                        <a:cs typeface="Times New Roman" pitchFamily="18" charset="0"/>
                      </a:endParaRPr>
                    </a:p>
                    <a:p>
                      <a:pPr marL="285750" indent="-285750" algn="just" fontAlgn="t">
                        <a:buFont typeface="Arial" panose="020B0604020202020204" pitchFamily="34" charset="0"/>
                        <a:buChar char="•"/>
                      </a:pPr>
                      <a:r>
                        <a:rPr lang="en-US" sz="2000" dirty="0">
                          <a:solidFill>
                            <a:srgbClr val="000000"/>
                          </a:solidFill>
                          <a:effectLst/>
                          <a:latin typeface="Times New Roman" pitchFamily="18" charset="0"/>
                          <a:cs typeface="Times New Roman" pitchFamily="18" charset="0"/>
                        </a:rPr>
                        <a:t>This is a mandatory part and contains statements that perform the designated action.</a:t>
                      </a:r>
                    </a:p>
                  </a:txBody>
                  <a:tcPr marL="65404" marR="65404" marT="65404" marB="6540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56336">
                <a:tc>
                  <a:txBody>
                    <a:bodyPr/>
                    <a:lstStyle/>
                    <a:p>
                      <a:pPr algn="just" fontAlgn="t"/>
                      <a:r>
                        <a:rPr lang="en-US" sz="2000" b="1" dirty="0">
                          <a:solidFill>
                            <a:srgbClr val="000000"/>
                          </a:solidFill>
                          <a:effectLst/>
                          <a:latin typeface="Times New Roman" pitchFamily="18" charset="0"/>
                          <a:cs typeface="Times New Roman" pitchFamily="18" charset="0"/>
                        </a:rPr>
                        <a:t>Exception-handling</a:t>
                      </a:r>
                      <a:endParaRPr lang="en-US" sz="2000" dirty="0">
                        <a:solidFill>
                          <a:srgbClr val="000000"/>
                        </a:solidFill>
                        <a:effectLst/>
                        <a:latin typeface="Times New Roman" pitchFamily="18" charset="0"/>
                        <a:cs typeface="Times New Roman" pitchFamily="18" charset="0"/>
                      </a:endParaRPr>
                    </a:p>
                    <a:p>
                      <a:pPr marL="285750" indent="-285750" algn="just" fontAlgn="t">
                        <a:buFont typeface="Arial" panose="020B0604020202020204" pitchFamily="34" charset="0"/>
                        <a:buChar char="•"/>
                      </a:pPr>
                      <a:r>
                        <a:rPr lang="en-US" sz="2000" dirty="0">
                          <a:solidFill>
                            <a:srgbClr val="000000"/>
                          </a:solidFill>
                          <a:effectLst/>
                          <a:latin typeface="Times New Roman" pitchFamily="18" charset="0"/>
                          <a:cs typeface="Times New Roman" pitchFamily="18" charset="0"/>
                        </a:rPr>
                        <a:t>This is again an optional part. It contains the code that handles run-time errors.</a:t>
                      </a:r>
                    </a:p>
                  </a:txBody>
                  <a:tcPr marL="65404" marR="65404" marT="65404" marB="65404">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7944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1932"/>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Creating a Procedure</a:t>
            </a:r>
            <a:br>
              <a:rPr lang="en-US" b="1" dirty="0">
                <a:solidFill>
                  <a:srgbClr val="FF0000"/>
                </a:solidFill>
                <a:latin typeface="Times New Roman" panose="02020603050405020304" pitchFamily="18" charset="0"/>
                <a:cs typeface="Times New Roman" panose="02020603050405020304" pitchFamily="18" charset="0"/>
              </a:rPr>
            </a:b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8086" y="1066800"/>
            <a:ext cx="11419114" cy="5110163"/>
          </a:xfrm>
        </p:spPr>
        <p:txBody>
          <a:bodyPr>
            <a:normAutofit fontScale="92500"/>
          </a:bodyPr>
          <a:lstStyle/>
          <a:p>
            <a:pPr>
              <a:lnSpc>
                <a:spcPct val="150000"/>
              </a:lnSpc>
            </a:pPr>
            <a:r>
              <a:rPr lang="en-US" sz="2400" dirty="0">
                <a:latin typeface="Times New Roman" pitchFamily="18" charset="0"/>
                <a:cs typeface="Times New Roman" pitchFamily="18" charset="0"/>
              </a:rPr>
              <a:t>A procedure is created with the </a:t>
            </a:r>
            <a:r>
              <a:rPr lang="en-US" sz="2400" b="1" dirty="0">
                <a:latin typeface="Times New Roman" pitchFamily="18" charset="0"/>
                <a:cs typeface="Times New Roman" pitchFamily="18" charset="0"/>
              </a:rPr>
              <a:t>CREATE OR REPLACE PROCEDURE</a:t>
            </a:r>
            <a:r>
              <a:rPr lang="en-US" sz="2400" dirty="0">
                <a:latin typeface="Times New Roman" pitchFamily="18" charset="0"/>
                <a:cs typeface="Times New Roman" pitchFamily="18" charset="0"/>
              </a:rPr>
              <a:t> statement. </a:t>
            </a:r>
          </a:p>
          <a:p>
            <a:pPr>
              <a:lnSpc>
                <a:spcPct val="150000"/>
              </a:lnSpc>
            </a:pPr>
            <a:r>
              <a:rPr lang="en-US" sz="2400" dirty="0">
                <a:latin typeface="Times New Roman" pitchFamily="18" charset="0"/>
                <a:cs typeface="Times New Roman" pitchFamily="18" charset="0"/>
              </a:rPr>
              <a:t>The simplified syntax for the CREATE OR REPLACE PROCEDURE statement is as follows--</a:t>
            </a:r>
          </a:p>
          <a:p>
            <a:pPr marL="0" indent="0">
              <a:lnSpc>
                <a:spcPct val="150000"/>
              </a:lnSpc>
              <a:buNone/>
            </a:pPr>
            <a:r>
              <a:rPr lang="en-US" sz="2400" dirty="0">
                <a:latin typeface="Times New Roman" pitchFamily="18" charset="0"/>
                <a:cs typeface="Times New Roman" pitchFamily="18" charset="0"/>
              </a:rPr>
              <a:t> </a:t>
            </a:r>
          </a:p>
          <a:p>
            <a:pPr marL="0" indent="0">
              <a:lnSpc>
                <a:spcPct val="150000"/>
              </a:lnSpc>
              <a:buNone/>
            </a:pPr>
            <a:r>
              <a:rPr lang="en-US" sz="2400" dirty="0">
                <a:latin typeface="Times New Roman" pitchFamily="18" charset="0"/>
                <a:cs typeface="Times New Roman" pitchFamily="18" charset="0"/>
              </a:rPr>
              <a:t>  CREATE [OR REPLACE] PROCEDURE </a:t>
            </a:r>
            <a:r>
              <a:rPr lang="en-US" sz="2400" dirty="0" err="1">
                <a:latin typeface="Times New Roman" pitchFamily="18" charset="0"/>
                <a:cs typeface="Times New Roman" pitchFamily="18" charset="0"/>
              </a:rPr>
              <a:t>procedure_name</a:t>
            </a:r>
            <a:r>
              <a:rPr lang="en-US" sz="2400" dirty="0">
                <a:latin typeface="Times New Roman" pitchFamily="18" charset="0"/>
                <a:cs typeface="Times New Roman" pitchFamily="18" charset="0"/>
              </a:rPr>
              <a:t> </a:t>
            </a:r>
          </a:p>
          <a:p>
            <a:pPr marL="0" indent="0">
              <a:lnSpc>
                <a:spcPct val="150000"/>
              </a:lnSpc>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parameter_name</a:t>
            </a:r>
            <a:r>
              <a:rPr lang="en-US" sz="2400" dirty="0">
                <a:latin typeface="Times New Roman" pitchFamily="18" charset="0"/>
                <a:cs typeface="Times New Roman" pitchFamily="18" charset="0"/>
              </a:rPr>
              <a:t> [IN | OUT | IN OUT] type [, ...])] {IS | AS} </a:t>
            </a:r>
          </a:p>
          <a:p>
            <a:pPr marL="0" indent="0">
              <a:lnSpc>
                <a:spcPct val="150000"/>
              </a:lnSpc>
              <a:buNone/>
            </a:pPr>
            <a:r>
              <a:rPr lang="en-US" sz="2400" dirty="0">
                <a:latin typeface="Times New Roman" pitchFamily="18" charset="0"/>
                <a:cs typeface="Times New Roman" pitchFamily="18" charset="0"/>
              </a:rPr>
              <a:t>BEGIN</a:t>
            </a:r>
          </a:p>
          <a:p>
            <a:pPr marL="0" indent="0">
              <a:lnSpc>
                <a:spcPct val="150000"/>
              </a:lnSpc>
              <a:buNone/>
            </a:pPr>
            <a:r>
              <a:rPr lang="en-US" sz="2400" dirty="0">
                <a:latin typeface="Times New Roman" pitchFamily="18" charset="0"/>
                <a:cs typeface="Times New Roman" pitchFamily="18" charset="0"/>
              </a:rPr>
              <a:t> &lt; </a:t>
            </a:r>
            <a:r>
              <a:rPr lang="en-US" sz="2400" dirty="0" err="1">
                <a:latin typeface="Times New Roman" pitchFamily="18" charset="0"/>
                <a:cs typeface="Times New Roman" pitchFamily="18" charset="0"/>
              </a:rPr>
              <a:t>procedure_body</a:t>
            </a:r>
            <a:r>
              <a:rPr lang="en-US" sz="2400" dirty="0">
                <a:latin typeface="Times New Roman" pitchFamily="18" charset="0"/>
                <a:cs typeface="Times New Roman" pitchFamily="18" charset="0"/>
              </a:rPr>
              <a:t> &gt; </a:t>
            </a:r>
          </a:p>
          <a:p>
            <a:pPr marL="0" indent="0">
              <a:lnSpc>
                <a:spcPct val="150000"/>
              </a:lnSpc>
              <a:buNone/>
            </a:pPr>
            <a:r>
              <a:rPr lang="en-US" sz="2400" dirty="0">
                <a:latin typeface="Times New Roman" pitchFamily="18" charset="0"/>
                <a:cs typeface="Times New Roman" pitchFamily="18" charset="0"/>
              </a:rPr>
              <a:t>END </a:t>
            </a:r>
            <a:r>
              <a:rPr lang="en-US" sz="2400" dirty="0" err="1">
                <a:latin typeface="Times New Roman" pitchFamily="18" charset="0"/>
                <a:cs typeface="Times New Roman" pitchFamily="18" charset="0"/>
              </a:rPr>
              <a:t>procedure_name</a:t>
            </a:r>
            <a:r>
              <a:rPr lang="en-US" sz="2400" dirty="0">
                <a:latin typeface="Times New Roman" pitchFamily="18" charset="0"/>
                <a:cs typeface="Times New Roman" pitchFamily="18" charset="0"/>
              </a:rPr>
              <a:t>; </a:t>
            </a:r>
          </a:p>
          <a:p>
            <a:pPr>
              <a:lnSpc>
                <a:spcPct val="150000"/>
              </a:lnSpc>
            </a:pPr>
            <a:endParaRPr lang="en-IN" sz="3200" dirty="0"/>
          </a:p>
        </p:txBody>
      </p:sp>
    </p:spTree>
    <p:extLst>
      <p:ext uri="{BB962C8B-B14F-4D97-AF65-F5344CB8AC3E}">
        <p14:creationId xmlns:p14="http://schemas.microsoft.com/office/powerpoint/2010/main" val="1468749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171" y="152401"/>
            <a:ext cx="11887200" cy="6520542"/>
          </a:xfrm>
        </p:spPr>
        <p:txBody>
          <a:bodyPr>
            <a:normAutofit fontScale="85000" lnSpcReduction="10000"/>
          </a:bodyPr>
          <a:lstStyle/>
          <a:p>
            <a:pPr marL="0" indent="0" algn="just">
              <a:lnSpc>
                <a:spcPct val="150000"/>
              </a:lnSpc>
              <a:buNone/>
            </a:pPr>
            <a:endParaRPr lang="en-US" sz="3200" dirty="0">
              <a:latin typeface="Times New Roman" pitchFamily="18" charset="0"/>
              <a:cs typeface="Times New Roman" pitchFamily="18" charset="0"/>
            </a:endParaRPr>
          </a:p>
          <a:p>
            <a:pPr algn="just">
              <a:lnSpc>
                <a:spcPct val="150000"/>
              </a:lnSpc>
            </a:pPr>
            <a:r>
              <a:rPr lang="en-US" sz="3200" i="1" dirty="0">
                <a:latin typeface="Times New Roman" pitchFamily="18" charset="0"/>
                <a:cs typeface="Times New Roman" pitchFamily="18" charset="0"/>
              </a:rPr>
              <a:t>procedure-name</a:t>
            </a:r>
            <a:r>
              <a:rPr lang="en-US" sz="3200" dirty="0">
                <a:latin typeface="Times New Roman" pitchFamily="18" charset="0"/>
                <a:cs typeface="Times New Roman" pitchFamily="18" charset="0"/>
              </a:rPr>
              <a:t> specifies the name of the procedure.</a:t>
            </a:r>
          </a:p>
          <a:p>
            <a:pPr algn="just">
              <a:lnSpc>
                <a:spcPct val="150000"/>
              </a:lnSpc>
            </a:pPr>
            <a:r>
              <a:rPr lang="en-US" sz="3200" dirty="0">
                <a:latin typeface="Times New Roman" pitchFamily="18" charset="0"/>
                <a:cs typeface="Times New Roman" pitchFamily="18" charset="0"/>
              </a:rPr>
              <a:t>[OR REPLACE] option allows the modification of an existing procedure.</a:t>
            </a:r>
          </a:p>
          <a:p>
            <a:pPr algn="just">
              <a:lnSpc>
                <a:spcPct val="150000"/>
              </a:lnSpc>
            </a:pPr>
            <a:r>
              <a:rPr lang="en-US" sz="3200" dirty="0">
                <a:latin typeface="Times New Roman" pitchFamily="18" charset="0"/>
                <a:cs typeface="Times New Roman" pitchFamily="18" charset="0"/>
              </a:rPr>
              <a:t>The optional parameter list contains name, mode and types of the parameters. </a:t>
            </a:r>
          </a:p>
          <a:p>
            <a:pPr algn="just">
              <a:lnSpc>
                <a:spcPct val="150000"/>
              </a:lnSpc>
            </a:pPr>
            <a:r>
              <a:rPr lang="en-US" sz="3200" b="1" dirty="0">
                <a:latin typeface="Times New Roman" pitchFamily="18" charset="0"/>
                <a:cs typeface="Times New Roman" pitchFamily="18" charset="0"/>
              </a:rPr>
              <a:t>IN</a:t>
            </a:r>
            <a:r>
              <a:rPr lang="en-US" sz="3200" dirty="0">
                <a:latin typeface="Times New Roman" pitchFamily="18" charset="0"/>
                <a:cs typeface="Times New Roman" pitchFamily="18" charset="0"/>
              </a:rPr>
              <a:t> represents the value that will be passed from outside and </a:t>
            </a:r>
            <a:r>
              <a:rPr lang="en-US" sz="3200" b="1" dirty="0">
                <a:latin typeface="Times New Roman" pitchFamily="18" charset="0"/>
                <a:cs typeface="Times New Roman" pitchFamily="18" charset="0"/>
              </a:rPr>
              <a:t>OUT</a:t>
            </a:r>
            <a:r>
              <a:rPr lang="en-US" sz="3200" dirty="0">
                <a:latin typeface="Times New Roman" pitchFamily="18" charset="0"/>
                <a:cs typeface="Times New Roman" pitchFamily="18" charset="0"/>
              </a:rPr>
              <a:t> represents the parameter that will be used to return a value outside of the procedure.</a:t>
            </a:r>
          </a:p>
          <a:p>
            <a:pPr algn="just">
              <a:lnSpc>
                <a:spcPct val="150000"/>
              </a:lnSpc>
            </a:pPr>
            <a:r>
              <a:rPr lang="en-US" sz="3200" i="1" dirty="0">
                <a:latin typeface="Times New Roman" pitchFamily="18" charset="0"/>
                <a:cs typeface="Times New Roman" pitchFamily="18" charset="0"/>
              </a:rPr>
              <a:t>procedure-body</a:t>
            </a:r>
            <a:r>
              <a:rPr lang="en-US" sz="3200" dirty="0">
                <a:latin typeface="Times New Roman" pitchFamily="18" charset="0"/>
                <a:cs typeface="Times New Roman" pitchFamily="18" charset="0"/>
              </a:rPr>
              <a:t> contains the executable part.</a:t>
            </a:r>
          </a:p>
          <a:p>
            <a:pPr algn="just">
              <a:lnSpc>
                <a:spcPct val="150000"/>
              </a:lnSpc>
            </a:pPr>
            <a:r>
              <a:rPr lang="en-US" sz="3200" dirty="0">
                <a:latin typeface="Times New Roman" pitchFamily="18" charset="0"/>
                <a:cs typeface="Times New Roman" pitchFamily="18" charset="0"/>
              </a:rPr>
              <a:t>The </a:t>
            </a:r>
            <a:r>
              <a:rPr lang="en-US" sz="3200" b="1" dirty="0">
                <a:latin typeface="Times New Roman" pitchFamily="18" charset="0"/>
                <a:cs typeface="Times New Roman" pitchFamily="18" charset="0"/>
              </a:rPr>
              <a:t>AS</a:t>
            </a:r>
            <a:r>
              <a:rPr lang="en-US" sz="3200" dirty="0">
                <a:latin typeface="Times New Roman" pitchFamily="18" charset="0"/>
                <a:cs typeface="Times New Roman" pitchFamily="18" charset="0"/>
              </a:rPr>
              <a:t> keyword is used instead of the IS keyword for creating a standalone procedure.</a:t>
            </a:r>
          </a:p>
          <a:p>
            <a:pPr algn="just">
              <a:lnSpc>
                <a:spcPct val="150000"/>
              </a:lnSpc>
            </a:pPr>
            <a:endParaRPr lang="en-IN" sz="3200" dirty="0"/>
          </a:p>
        </p:txBody>
      </p:sp>
    </p:spTree>
    <p:extLst>
      <p:ext uri="{BB962C8B-B14F-4D97-AF65-F5344CB8AC3E}">
        <p14:creationId xmlns:p14="http://schemas.microsoft.com/office/powerpoint/2010/main" val="4122999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normAutofit fontScale="92500" lnSpcReduction="10000"/>
          </a:bodyPr>
          <a:lstStyle/>
          <a:p>
            <a:pPr marL="0" indent="0">
              <a:lnSpc>
                <a:spcPct val="200000"/>
              </a:lnSpc>
              <a:buNone/>
            </a:pPr>
            <a:r>
              <a:rPr lang="en-US" dirty="0">
                <a:latin typeface="Times New Roman" pitchFamily="18" charset="0"/>
                <a:cs typeface="Times New Roman" pitchFamily="18" charset="0"/>
              </a:rPr>
              <a:t> CREATE OR REPLACE PROCEDURE CSE</a:t>
            </a:r>
          </a:p>
          <a:p>
            <a:pPr marL="0" indent="0">
              <a:lnSpc>
                <a:spcPct val="200000"/>
              </a:lnSpc>
              <a:buNone/>
            </a:pPr>
            <a:r>
              <a:rPr lang="en-US" dirty="0">
                <a:latin typeface="Times New Roman" pitchFamily="18" charset="0"/>
                <a:cs typeface="Times New Roman" pitchFamily="18" charset="0"/>
              </a:rPr>
              <a:t> AS </a:t>
            </a:r>
          </a:p>
          <a:p>
            <a:pPr marL="0" indent="0">
              <a:lnSpc>
                <a:spcPct val="200000"/>
              </a:lnSpc>
              <a:buNone/>
            </a:pPr>
            <a:r>
              <a:rPr lang="en-US" dirty="0">
                <a:latin typeface="Times New Roman" pitchFamily="18" charset="0"/>
                <a:cs typeface="Times New Roman" pitchFamily="18" charset="0"/>
              </a:rPr>
              <a:t>BEGIN </a:t>
            </a:r>
          </a:p>
          <a:p>
            <a:pPr marL="0" indent="0">
              <a:lnSpc>
                <a:spcPct val="200000"/>
              </a:lnSpc>
              <a:buNone/>
            </a:pPr>
            <a:r>
              <a:rPr lang="en-US" dirty="0" err="1">
                <a:latin typeface="Times New Roman" pitchFamily="18" charset="0"/>
                <a:cs typeface="Times New Roman" pitchFamily="18" charset="0"/>
              </a:rPr>
              <a:t>dbms_output.put_line</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hai</a:t>
            </a:r>
            <a:r>
              <a:rPr lang="en-US" dirty="0">
                <a:latin typeface="Times New Roman" pitchFamily="18" charset="0"/>
                <a:cs typeface="Times New Roman" pitchFamily="18" charset="0"/>
              </a:rPr>
              <a:t>');</a:t>
            </a:r>
          </a:p>
          <a:p>
            <a:pPr marL="0" indent="0">
              <a:lnSpc>
                <a:spcPct val="200000"/>
              </a:lnSpc>
              <a:buNone/>
            </a:pPr>
            <a:r>
              <a:rPr lang="en-US" dirty="0">
                <a:latin typeface="Times New Roman" pitchFamily="18" charset="0"/>
                <a:cs typeface="Times New Roman" pitchFamily="18" charset="0"/>
              </a:rPr>
              <a:t> END;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81075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Executing a Procedure</a:t>
            </a:r>
            <a:br>
              <a:rPr lang="en-IN" dirty="0"/>
            </a:br>
            <a:endParaRPr lang="en-IN" dirty="0"/>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A procedure can be called in two ways −</a:t>
            </a:r>
          </a:p>
          <a:p>
            <a:r>
              <a:rPr lang="en-US" sz="2400" dirty="0">
                <a:latin typeface="Times New Roman" pitchFamily="18" charset="0"/>
                <a:cs typeface="Times New Roman" pitchFamily="18" charset="0"/>
              </a:rPr>
              <a:t>Using the </a:t>
            </a:r>
            <a:r>
              <a:rPr lang="en-US" sz="2400" b="1" dirty="0">
                <a:latin typeface="Times New Roman" pitchFamily="18" charset="0"/>
                <a:cs typeface="Times New Roman" pitchFamily="18" charset="0"/>
              </a:rPr>
              <a:t>EXECUTE</a:t>
            </a:r>
            <a:r>
              <a:rPr lang="en-US" sz="2400" dirty="0">
                <a:latin typeface="Times New Roman" pitchFamily="18" charset="0"/>
                <a:cs typeface="Times New Roman" pitchFamily="18" charset="0"/>
              </a:rPr>
              <a:t> keyword</a:t>
            </a:r>
          </a:p>
          <a:p>
            <a:r>
              <a:rPr lang="en-US" sz="2400" dirty="0">
                <a:latin typeface="Times New Roman" pitchFamily="18" charset="0"/>
                <a:cs typeface="Times New Roman" pitchFamily="18" charset="0"/>
              </a:rPr>
              <a:t>Calling the name of the procedure from a PL/SQL block</a:t>
            </a:r>
          </a:p>
          <a:p>
            <a:r>
              <a:rPr lang="en-US" sz="2400" dirty="0">
                <a:latin typeface="Times New Roman" pitchFamily="18" charset="0"/>
                <a:cs typeface="Times New Roman" pitchFamily="18" charset="0"/>
              </a:rPr>
              <a:t>The above procedure named </a:t>
            </a:r>
            <a:r>
              <a:rPr lang="en-US" sz="2400" b="1" dirty="0">
                <a:latin typeface="Times New Roman" pitchFamily="18" charset="0"/>
                <a:cs typeface="Times New Roman" pitchFamily="18" charset="0"/>
              </a:rPr>
              <a:t>‘CSM'</a:t>
            </a:r>
            <a:r>
              <a:rPr lang="en-US" sz="2400" dirty="0">
                <a:latin typeface="Times New Roman" pitchFamily="18" charset="0"/>
                <a:cs typeface="Times New Roman" pitchFamily="18" charset="0"/>
              </a:rPr>
              <a:t> can be called with the EXECUTE keyword as −</a:t>
            </a:r>
          </a:p>
          <a:p>
            <a:r>
              <a:rPr lang="en-US" sz="2400" dirty="0">
                <a:latin typeface="Times New Roman" pitchFamily="18" charset="0"/>
                <a:cs typeface="Times New Roman" pitchFamily="18" charset="0"/>
              </a:rPr>
              <a:t>EXECUTE CSM; </a:t>
            </a:r>
          </a:p>
          <a:p>
            <a:r>
              <a:rPr lang="en-US" sz="2400" dirty="0">
                <a:latin typeface="Times New Roman" pitchFamily="18" charset="0"/>
                <a:cs typeface="Times New Roman" pitchFamily="18" charset="0"/>
              </a:rPr>
              <a:t>The above call will display −</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PL/SQL procedure successfully completed.</a:t>
            </a:r>
          </a:p>
          <a:p>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258534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Deleting a Standalone Procedure</a:t>
            </a:r>
            <a:br>
              <a:rPr lang="en-IN" dirty="0"/>
            </a:b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A procedure is deleted with the </a:t>
            </a:r>
            <a:r>
              <a:rPr lang="en-US" b="1" dirty="0">
                <a:latin typeface="Times New Roman" pitchFamily="18" charset="0"/>
                <a:cs typeface="Times New Roman" pitchFamily="18" charset="0"/>
              </a:rPr>
              <a:t>DROP PROCEDURE</a:t>
            </a:r>
            <a:r>
              <a:rPr lang="en-US" dirty="0">
                <a:latin typeface="Times New Roman" pitchFamily="18" charset="0"/>
                <a:cs typeface="Times New Roman" pitchFamily="18" charset="0"/>
              </a:rPr>
              <a:t> statement. </a:t>
            </a:r>
          </a:p>
          <a:p>
            <a:r>
              <a:rPr lang="en-US" dirty="0">
                <a:latin typeface="Times New Roman" pitchFamily="18" charset="0"/>
                <a:cs typeface="Times New Roman" pitchFamily="18" charset="0"/>
              </a:rPr>
              <a:t>Syntax for deleting a procedure is −</a:t>
            </a:r>
          </a:p>
          <a:p>
            <a:r>
              <a:rPr lang="en-US" dirty="0">
                <a:latin typeface="Times New Roman" pitchFamily="18" charset="0"/>
                <a:cs typeface="Times New Roman" pitchFamily="18" charset="0"/>
              </a:rPr>
              <a:t>DROP PROCEDURE procedure-name;</a:t>
            </a:r>
          </a:p>
          <a:p>
            <a:r>
              <a:rPr lang="en-US" dirty="0">
                <a:latin typeface="Times New Roman" pitchFamily="18" charset="0"/>
                <a:cs typeface="Times New Roman" pitchFamily="18" charset="0"/>
              </a:rPr>
              <a:t> You can drop the CSM procedure by using the following statement −</a:t>
            </a:r>
          </a:p>
          <a:p>
            <a:r>
              <a:rPr lang="en-US" dirty="0">
                <a:latin typeface="Times New Roman" pitchFamily="18" charset="0"/>
                <a:cs typeface="Times New Roman" pitchFamily="18" charset="0"/>
              </a:rPr>
              <a:t>DROP PROCEDURE CSM;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64046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Parameter Modes in PL/SQL Subprograms</a:t>
            </a:r>
            <a:br>
              <a:rPr lang="en-US"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85331059"/>
              </p:ext>
            </p:extLst>
          </p:nvPr>
        </p:nvGraphicFramePr>
        <p:xfrm>
          <a:off x="627797" y="1295400"/>
          <a:ext cx="11354937" cy="4264514"/>
        </p:xfrm>
        <a:graphic>
          <a:graphicData uri="http://schemas.openxmlformats.org/drawingml/2006/table">
            <a:tbl>
              <a:tblPr/>
              <a:tblGrid>
                <a:gridCol w="11354937">
                  <a:extLst>
                    <a:ext uri="{9D8B030D-6E8A-4147-A177-3AD203B41FA5}">
                      <a16:colId xmlns:a16="http://schemas.microsoft.com/office/drawing/2014/main" val="20000"/>
                    </a:ext>
                  </a:extLst>
                </a:gridCol>
              </a:tblGrid>
              <a:tr h="656105">
                <a:tc>
                  <a:txBody>
                    <a:bodyPr/>
                    <a:lstStyle/>
                    <a:p>
                      <a:pPr algn="just" fontAlgn="t"/>
                      <a:r>
                        <a:rPr lang="en-US" sz="1800" b="1" dirty="0">
                          <a:solidFill>
                            <a:srgbClr val="000000"/>
                          </a:solidFill>
                          <a:effectLst/>
                          <a:latin typeface="Times New Roman" pitchFamily="18" charset="0"/>
                          <a:cs typeface="Times New Roman" pitchFamily="18" charset="0"/>
                        </a:rPr>
                        <a:t>IN</a:t>
                      </a:r>
                      <a:endParaRPr lang="en-US" sz="1800" dirty="0">
                        <a:solidFill>
                          <a:srgbClr val="000000"/>
                        </a:solidFill>
                        <a:effectLst/>
                        <a:latin typeface="Times New Roman" pitchFamily="18" charset="0"/>
                        <a:cs typeface="Times New Roman" pitchFamily="18" charset="0"/>
                      </a:endParaRPr>
                    </a:p>
                    <a:p>
                      <a:pPr algn="just" fontAlgn="t"/>
                      <a:r>
                        <a:rPr lang="en-US" sz="1800" dirty="0">
                          <a:solidFill>
                            <a:srgbClr val="000000"/>
                          </a:solidFill>
                          <a:effectLst/>
                          <a:latin typeface="Times New Roman" pitchFamily="18" charset="0"/>
                          <a:cs typeface="Times New Roman" pitchFamily="18" charset="0"/>
                        </a:rPr>
                        <a:t>An IN parameter lets you pass a value to the subprogram. </a:t>
                      </a:r>
                      <a:r>
                        <a:rPr lang="en-US" sz="1800" b="1" dirty="0">
                          <a:solidFill>
                            <a:srgbClr val="000000"/>
                          </a:solidFill>
                          <a:effectLst/>
                          <a:latin typeface="Times New Roman" pitchFamily="18" charset="0"/>
                          <a:cs typeface="Times New Roman" pitchFamily="18" charset="0"/>
                        </a:rPr>
                        <a:t>It is a read-only parameter</a:t>
                      </a:r>
                      <a:r>
                        <a:rPr lang="en-US" sz="1800" dirty="0">
                          <a:solidFill>
                            <a:srgbClr val="000000"/>
                          </a:solidFill>
                          <a:effectLst/>
                          <a:latin typeface="Times New Roman" pitchFamily="18" charset="0"/>
                          <a:cs typeface="Times New Roman" pitchFamily="18" charset="0"/>
                        </a:rPr>
                        <a:t>. Inside the subprogram, an IN parameter acts like a constant. It cannot be assigned a value. You can pass a constant, literal, initialized variable, or expression as an IN parameter. You can also initialize it to a default value; however, in that case, it is omitted from the subprogram call. </a:t>
                      </a:r>
                      <a:r>
                        <a:rPr lang="en-US" sz="1800" b="1" dirty="0">
                          <a:solidFill>
                            <a:srgbClr val="000000"/>
                          </a:solidFill>
                          <a:effectLst/>
                          <a:latin typeface="Times New Roman" pitchFamily="18" charset="0"/>
                          <a:cs typeface="Times New Roman" pitchFamily="18" charset="0"/>
                        </a:rPr>
                        <a:t>It is the default mode of parameter passing. Parameters are passed by reference</a:t>
                      </a:r>
                      <a:r>
                        <a:rPr lang="en-US" sz="1800" dirty="0">
                          <a:solidFill>
                            <a:srgbClr val="000000"/>
                          </a:solidFill>
                          <a:effectLst/>
                          <a:latin typeface="Times New Roman" pitchFamily="18" charset="0"/>
                          <a:cs typeface="Times New Roman" pitchFamily="18" charset="0"/>
                        </a:rPr>
                        <a:t>.</a:t>
                      </a:r>
                    </a:p>
                    <a:p>
                      <a:endParaRPr lang="en-IN" sz="1800" dirty="0">
                        <a:latin typeface="Times New Roman" pitchFamily="18" charset="0"/>
                        <a:cs typeface="Times New Roman" pitchFamily="18" charset="0"/>
                      </a:endParaRPr>
                    </a:p>
                  </a:txBody>
                  <a:tcPr marL="34549" marR="34549" marT="17275" marB="17275">
                    <a:lnL w="9525" cap="flat" cmpd="sng" algn="ctr">
                      <a:solidFill>
                        <a:srgbClr val="DDDDDD"/>
                      </a:solidFill>
                      <a:prstDash val="solid"/>
                      <a:round/>
                      <a:headEnd type="none" w="med" len="med"/>
                      <a:tailEnd type="none" w="med" len="med"/>
                    </a:lnL>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596459">
                <a:tc>
                  <a:txBody>
                    <a:bodyPr/>
                    <a:lstStyle/>
                    <a:p>
                      <a:pPr algn="just" fontAlgn="t"/>
                      <a:r>
                        <a:rPr lang="en-US" sz="1800" b="1" dirty="0">
                          <a:solidFill>
                            <a:srgbClr val="000000"/>
                          </a:solidFill>
                          <a:effectLst/>
                          <a:latin typeface="Times New Roman" pitchFamily="18" charset="0"/>
                          <a:cs typeface="Times New Roman" pitchFamily="18" charset="0"/>
                        </a:rPr>
                        <a:t>OUT</a:t>
                      </a:r>
                      <a:endParaRPr lang="en-US" sz="1800" dirty="0">
                        <a:solidFill>
                          <a:srgbClr val="000000"/>
                        </a:solidFill>
                        <a:effectLst/>
                        <a:latin typeface="Times New Roman" pitchFamily="18" charset="0"/>
                        <a:cs typeface="Times New Roman" pitchFamily="18" charset="0"/>
                      </a:endParaRPr>
                    </a:p>
                    <a:p>
                      <a:pPr algn="just" fontAlgn="t"/>
                      <a:r>
                        <a:rPr lang="en-US" sz="1800" dirty="0">
                          <a:solidFill>
                            <a:srgbClr val="000000"/>
                          </a:solidFill>
                          <a:effectLst/>
                          <a:latin typeface="Times New Roman" pitchFamily="18" charset="0"/>
                          <a:cs typeface="Times New Roman" pitchFamily="18" charset="0"/>
                        </a:rPr>
                        <a:t>An OUT parameter returns a value to the calling program. Inside the subprogram, an OUT parameter acts like a variable. You can change its value and reference the value after assigning it. </a:t>
                      </a:r>
                      <a:r>
                        <a:rPr lang="en-US" sz="1800" b="1" dirty="0">
                          <a:solidFill>
                            <a:srgbClr val="000000"/>
                          </a:solidFill>
                          <a:effectLst/>
                          <a:latin typeface="Times New Roman" pitchFamily="18" charset="0"/>
                          <a:cs typeface="Times New Roman" pitchFamily="18" charset="0"/>
                        </a:rPr>
                        <a:t>The actual parameter must be variable and it is passed by value</a:t>
                      </a:r>
                      <a:r>
                        <a:rPr lang="en-US" sz="1800" dirty="0">
                          <a:solidFill>
                            <a:srgbClr val="000000"/>
                          </a:solidFill>
                          <a:effectLst/>
                          <a:latin typeface="Times New Roman" pitchFamily="18" charset="0"/>
                          <a:cs typeface="Times New Roman" pitchFamily="18" charset="0"/>
                        </a:rPr>
                        <a:t>.</a:t>
                      </a:r>
                    </a:p>
                  </a:txBody>
                  <a:tcPr marL="28791" marR="28791" marT="28791" marB="2879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262036">
                <a:tc>
                  <a:txBody>
                    <a:bodyPr/>
                    <a:lstStyle/>
                    <a:p>
                      <a:pPr algn="just" fontAlgn="t"/>
                      <a:r>
                        <a:rPr lang="en-US" sz="1800" b="1" dirty="0">
                          <a:solidFill>
                            <a:srgbClr val="000000"/>
                          </a:solidFill>
                          <a:effectLst/>
                          <a:latin typeface="Times New Roman" pitchFamily="18" charset="0"/>
                          <a:cs typeface="Times New Roman" pitchFamily="18" charset="0"/>
                        </a:rPr>
                        <a:t>IN OUT</a:t>
                      </a:r>
                      <a:endParaRPr lang="en-US" sz="1800" dirty="0">
                        <a:solidFill>
                          <a:srgbClr val="000000"/>
                        </a:solidFill>
                        <a:effectLst/>
                        <a:latin typeface="Times New Roman" pitchFamily="18" charset="0"/>
                        <a:cs typeface="Times New Roman" pitchFamily="18" charset="0"/>
                      </a:endParaRPr>
                    </a:p>
                    <a:p>
                      <a:pPr algn="just" fontAlgn="t"/>
                      <a:r>
                        <a:rPr lang="en-US" sz="1800" dirty="0">
                          <a:solidFill>
                            <a:srgbClr val="000000"/>
                          </a:solidFill>
                          <a:effectLst/>
                          <a:latin typeface="Times New Roman" pitchFamily="18" charset="0"/>
                          <a:cs typeface="Times New Roman" pitchFamily="18" charset="0"/>
                        </a:rPr>
                        <a:t>An </a:t>
                      </a:r>
                      <a:r>
                        <a:rPr lang="en-US" sz="1800" b="1" dirty="0">
                          <a:solidFill>
                            <a:srgbClr val="000000"/>
                          </a:solidFill>
                          <a:effectLst/>
                          <a:latin typeface="Times New Roman" pitchFamily="18" charset="0"/>
                          <a:cs typeface="Times New Roman" pitchFamily="18" charset="0"/>
                        </a:rPr>
                        <a:t>IN OUT</a:t>
                      </a:r>
                      <a:r>
                        <a:rPr lang="en-US" sz="1800" dirty="0">
                          <a:solidFill>
                            <a:srgbClr val="000000"/>
                          </a:solidFill>
                          <a:effectLst/>
                          <a:latin typeface="Times New Roman" pitchFamily="18" charset="0"/>
                          <a:cs typeface="Times New Roman" pitchFamily="18" charset="0"/>
                        </a:rPr>
                        <a:t> parameter passes an initial value to a subprogram and returns an updated value to the caller. It can be assigned a value and the value can be read.</a:t>
                      </a:r>
                    </a:p>
                    <a:p>
                      <a:pPr algn="just" fontAlgn="t"/>
                      <a:r>
                        <a:rPr lang="en-US" sz="1800" dirty="0">
                          <a:solidFill>
                            <a:srgbClr val="000000"/>
                          </a:solidFill>
                          <a:effectLst/>
                          <a:latin typeface="Times New Roman" pitchFamily="18" charset="0"/>
                          <a:cs typeface="Times New Roman" pitchFamily="18" charset="0"/>
                        </a:rPr>
                        <a:t>The actual parameter corresponding to an IN OUT formal parameter must be a variable, not a constant or an expression. Formal parameter must be assigned a value. </a:t>
                      </a:r>
                      <a:r>
                        <a:rPr lang="en-US" sz="1800" b="1" dirty="0">
                          <a:solidFill>
                            <a:srgbClr val="000000"/>
                          </a:solidFill>
                          <a:effectLst/>
                          <a:latin typeface="Times New Roman" pitchFamily="18" charset="0"/>
                          <a:cs typeface="Times New Roman" pitchFamily="18" charset="0"/>
                        </a:rPr>
                        <a:t>Actual parameter is passed by value.</a:t>
                      </a:r>
                      <a:endParaRPr lang="en-US" sz="1800" dirty="0">
                        <a:solidFill>
                          <a:srgbClr val="000000"/>
                        </a:solidFill>
                        <a:effectLst/>
                        <a:latin typeface="Times New Roman" pitchFamily="18" charset="0"/>
                        <a:cs typeface="Times New Roman" pitchFamily="18" charset="0"/>
                      </a:endParaRPr>
                    </a:p>
                  </a:txBody>
                  <a:tcPr marL="28791" marR="28791" marT="28791" marB="2879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68866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IN" sz="2700" dirty="0">
                <a:latin typeface="Times New Roman" pitchFamily="18" charset="0"/>
                <a:cs typeface="Times New Roman" pitchFamily="18" charset="0"/>
              </a:rPr>
              <a:t>IN &amp; OUT Mode Example </a:t>
            </a:r>
            <a:br>
              <a:rPr lang="en-IN" dirty="0"/>
            </a:br>
            <a:endParaRPr lang="en-IN" dirty="0"/>
          </a:p>
        </p:txBody>
      </p:sp>
      <p:sp>
        <p:nvSpPr>
          <p:cNvPr id="3" name="Content Placeholder 2"/>
          <p:cNvSpPr>
            <a:spLocks noGrp="1"/>
          </p:cNvSpPr>
          <p:nvPr>
            <p:ph idx="1"/>
          </p:nvPr>
        </p:nvSpPr>
        <p:spPr>
          <a:xfrm>
            <a:off x="354843" y="609600"/>
            <a:ext cx="11409528" cy="5943600"/>
          </a:xfrm>
        </p:spPr>
        <p:txBody>
          <a:bodyPr>
            <a:noAutofit/>
          </a:bodyPr>
          <a:lstStyle/>
          <a:p>
            <a:r>
              <a:rPr lang="en-US" sz="1400" dirty="0">
                <a:latin typeface="Times New Roman" panose="02020603050405020304" pitchFamily="18" charset="0"/>
                <a:cs typeface="Times New Roman" pitchFamily="18" charset="0"/>
              </a:rPr>
              <a:t>This program finds the minimum of two values. Here, the procedure takes two numbers using the IN mode and returns their minimum using the OUT parameters. </a:t>
            </a:r>
          </a:p>
          <a:p>
            <a:pPr marL="0" indent="0">
              <a:buNone/>
            </a:pPr>
            <a:r>
              <a:rPr lang="en-US" sz="1400" dirty="0">
                <a:latin typeface="Times New Roman" pitchFamily="18" charset="0"/>
                <a:cs typeface="Times New Roman" pitchFamily="18" charset="0"/>
              </a:rPr>
              <a:t>DECLARE </a:t>
            </a:r>
          </a:p>
          <a:p>
            <a:pPr marL="0" indent="0">
              <a:buNone/>
            </a:pPr>
            <a:r>
              <a:rPr lang="en-US" sz="1400" dirty="0">
                <a:latin typeface="Times New Roman" pitchFamily="18" charset="0"/>
                <a:cs typeface="Times New Roman" pitchFamily="18" charset="0"/>
              </a:rPr>
              <a:t>a number; </a:t>
            </a:r>
          </a:p>
          <a:p>
            <a:pPr marL="0" indent="0">
              <a:buNone/>
            </a:pPr>
            <a:r>
              <a:rPr lang="en-US" sz="1400" dirty="0">
                <a:latin typeface="Times New Roman" pitchFamily="18" charset="0"/>
                <a:cs typeface="Times New Roman" pitchFamily="18" charset="0"/>
              </a:rPr>
              <a:t>b number; </a:t>
            </a:r>
          </a:p>
          <a:p>
            <a:pPr marL="0" indent="0">
              <a:buNone/>
            </a:pPr>
            <a:r>
              <a:rPr lang="en-US" sz="1400" dirty="0">
                <a:latin typeface="Times New Roman" pitchFamily="18" charset="0"/>
                <a:cs typeface="Times New Roman" pitchFamily="18" charset="0"/>
              </a:rPr>
              <a:t>c number; </a:t>
            </a:r>
          </a:p>
          <a:p>
            <a:pPr marL="0" indent="0">
              <a:buNone/>
            </a:pPr>
            <a:r>
              <a:rPr lang="en-US" sz="1400" dirty="0">
                <a:latin typeface="Times New Roman" pitchFamily="18" charset="0"/>
                <a:cs typeface="Times New Roman" pitchFamily="18" charset="0"/>
              </a:rPr>
              <a:t>PROCEDURE  </a:t>
            </a:r>
            <a:r>
              <a:rPr lang="en-US" sz="1400" dirty="0" err="1">
                <a:latin typeface="Times New Roman" pitchFamily="18" charset="0"/>
                <a:cs typeface="Times New Roman" pitchFamily="18" charset="0"/>
              </a:rPr>
              <a:t>findMin</a:t>
            </a:r>
            <a:r>
              <a:rPr lang="en-US" sz="1400" dirty="0">
                <a:latin typeface="Times New Roman" pitchFamily="18" charset="0"/>
                <a:cs typeface="Times New Roman" pitchFamily="18" charset="0"/>
              </a:rPr>
              <a:t>(x IN number, y IN number, z OUT number) </a:t>
            </a:r>
          </a:p>
          <a:p>
            <a:pPr marL="0" indent="0">
              <a:buNone/>
            </a:pPr>
            <a:r>
              <a:rPr lang="en-US" sz="1400" dirty="0">
                <a:latin typeface="Times New Roman" pitchFamily="18" charset="0"/>
                <a:cs typeface="Times New Roman" pitchFamily="18" charset="0"/>
              </a:rPr>
              <a:t>IS </a:t>
            </a:r>
          </a:p>
          <a:p>
            <a:pPr marL="0" indent="0">
              <a:buNone/>
            </a:pPr>
            <a:r>
              <a:rPr lang="en-US" sz="1400" dirty="0">
                <a:latin typeface="Times New Roman" pitchFamily="18" charset="0"/>
                <a:cs typeface="Times New Roman" pitchFamily="18" charset="0"/>
              </a:rPr>
              <a:t>BEGIN </a:t>
            </a:r>
          </a:p>
          <a:p>
            <a:pPr marL="0" indent="0">
              <a:buNone/>
            </a:pPr>
            <a:r>
              <a:rPr lang="en-US" sz="1400" dirty="0">
                <a:latin typeface="Times New Roman" pitchFamily="18" charset="0"/>
                <a:cs typeface="Times New Roman" pitchFamily="18" charset="0"/>
              </a:rPr>
              <a:t>IF x &lt; y THEN</a:t>
            </a:r>
          </a:p>
          <a:p>
            <a:pPr marL="0" indent="0">
              <a:buNone/>
            </a:pPr>
            <a:r>
              <a:rPr lang="en-US" sz="1400" dirty="0">
                <a:latin typeface="Times New Roman" pitchFamily="18" charset="0"/>
                <a:cs typeface="Times New Roman" pitchFamily="18" charset="0"/>
              </a:rPr>
              <a:t> z:= x; </a:t>
            </a:r>
          </a:p>
          <a:p>
            <a:pPr marL="0" indent="0">
              <a:buNone/>
            </a:pPr>
            <a:r>
              <a:rPr lang="en-US" sz="1400" dirty="0">
                <a:latin typeface="Times New Roman" pitchFamily="18" charset="0"/>
                <a:cs typeface="Times New Roman" pitchFamily="18" charset="0"/>
              </a:rPr>
              <a:t>ELSE</a:t>
            </a:r>
          </a:p>
          <a:p>
            <a:pPr marL="0" indent="0">
              <a:buNone/>
            </a:pPr>
            <a:r>
              <a:rPr lang="en-US" sz="1400" dirty="0">
                <a:latin typeface="Times New Roman" pitchFamily="18" charset="0"/>
                <a:cs typeface="Times New Roman" pitchFamily="18" charset="0"/>
              </a:rPr>
              <a:t> z:= y; </a:t>
            </a:r>
          </a:p>
          <a:p>
            <a:pPr marL="0" indent="0">
              <a:buNone/>
            </a:pPr>
            <a:r>
              <a:rPr lang="en-US" sz="1400" dirty="0">
                <a:latin typeface="Times New Roman" pitchFamily="18" charset="0"/>
                <a:cs typeface="Times New Roman" pitchFamily="18" charset="0"/>
              </a:rPr>
              <a:t>END IF; </a:t>
            </a:r>
          </a:p>
          <a:p>
            <a:pPr marL="0" indent="0">
              <a:buNone/>
            </a:pPr>
            <a:r>
              <a:rPr lang="en-US" sz="1400" dirty="0">
                <a:latin typeface="Times New Roman" pitchFamily="18" charset="0"/>
                <a:cs typeface="Times New Roman" pitchFamily="18" charset="0"/>
              </a:rPr>
              <a:t>END; </a:t>
            </a:r>
          </a:p>
          <a:p>
            <a:pPr marL="0" indent="0">
              <a:buNone/>
            </a:pPr>
            <a:r>
              <a:rPr lang="en-US" sz="1400" dirty="0">
                <a:latin typeface="Times New Roman" pitchFamily="18" charset="0"/>
                <a:cs typeface="Times New Roman" pitchFamily="18" charset="0"/>
              </a:rPr>
              <a:t>BEGIN </a:t>
            </a:r>
          </a:p>
          <a:p>
            <a:pPr marL="0" indent="0">
              <a:buNone/>
            </a:pPr>
            <a:r>
              <a:rPr lang="en-US" sz="1400" dirty="0">
                <a:latin typeface="Times New Roman" pitchFamily="18" charset="0"/>
                <a:cs typeface="Times New Roman" pitchFamily="18" charset="0"/>
              </a:rPr>
              <a:t>a:= 23; </a:t>
            </a:r>
          </a:p>
          <a:p>
            <a:pPr marL="0" indent="0">
              <a:buNone/>
            </a:pPr>
            <a:r>
              <a:rPr lang="en-US" sz="1400" dirty="0">
                <a:latin typeface="Times New Roman" pitchFamily="18" charset="0"/>
                <a:cs typeface="Times New Roman" pitchFamily="18" charset="0"/>
              </a:rPr>
              <a:t>b:= 45; </a:t>
            </a:r>
          </a:p>
          <a:p>
            <a:pPr marL="0" indent="0">
              <a:buNone/>
            </a:pPr>
            <a:r>
              <a:rPr lang="en-US" sz="1400" dirty="0" err="1">
                <a:latin typeface="Times New Roman" pitchFamily="18" charset="0"/>
                <a:cs typeface="Times New Roman" pitchFamily="18" charset="0"/>
              </a:rPr>
              <a:t>findMin</a:t>
            </a:r>
            <a:r>
              <a:rPr lang="en-US" sz="1400" dirty="0">
                <a:latin typeface="Times New Roman" pitchFamily="18" charset="0"/>
                <a:cs typeface="Times New Roman" pitchFamily="18" charset="0"/>
              </a:rPr>
              <a:t>(a, b, c); </a:t>
            </a:r>
          </a:p>
          <a:p>
            <a:pPr marL="0" indent="0">
              <a:buNone/>
            </a:pPr>
            <a:r>
              <a:rPr lang="en-US" sz="1400" dirty="0" err="1">
                <a:latin typeface="Times New Roman" pitchFamily="18" charset="0"/>
                <a:cs typeface="Times New Roman" pitchFamily="18" charset="0"/>
              </a:rPr>
              <a:t>dbms_output.put_line</a:t>
            </a:r>
            <a:r>
              <a:rPr lang="en-US" sz="1400" dirty="0">
                <a:latin typeface="Times New Roman" pitchFamily="18" charset="0"/>
                <a:cs typeface="Times New Roman" pitchFamily="18" charset="0"/>
              </a:rPr>
              <a:t>(' Minimum of (23, 45) : ' || c); </a:t>
            </a:r>
          </a:p>
          <a:p>
            <a:pPr marL="0" indent="0">
              <a:buNone/>
            </a:pPr>
            <a:r>
              <a:rPr lang="en-US" sz="1400" dirty="0">
                <a:latin typeface="Times New Roman" pitchFamily="18" charset="0"/>
                <a:cs typeface="Times New Roman" pitchFamily="18" charset="0"/>
              </a:rPr>
              <a:t>END; </a:t>
            </a:r>
          </a:p>
        </p:txBody>
      </p:sp>
      <p:sp>
        <p:nvSpPr>
          <p:cNvPr id="4" name="Rectangle 3"/>
          <p:cNvSpPr/>
          <p:nvPr/>
        </p:nvSpPr>
        <p:spPr>
          <a:xfrm>
            <a:off x="7606352" y="2273321"/>
            <a:ext cx="6096000" cy="646331"/>
          </a:xfrm>
          <a:prstGeom prst="rect">
            <a:avLst/>
          </a:prstGeom>
        </p:spPr>
        <p:txBody>
          <a:bodyPr>
            <a:spAutoFit/>
          </a:bodyPr>
          <a:lstStyle/>
          <a:p>
            <a:r>
              <a:rPr lang="en-US" b="1" dirty="0">
                <a:latin typeface="Times New Roman" pitchFamily="18" charset="0"/>
                <a:cs typeface="Times New Roman" pitchFamily="18" charset="0"/>
              </a:rPr>
              <a:t>OUTPUT:   </a:t>
            </a:r>
            <a:r>
              <a:rPr lang="en-US" dirty="0">
                <a:latin typeface="Times New Roman" pitchFamily="18" charset="0"/>
                <a:cs typeface="Times New Roman" pitchFamily="18" charset="0"/>
              </a:rPr>
              <a:t>Minimum of (23, 45) : 23 </a:t>
            </a:r>
          </a:p>
          <a:p>
            <a:r>
              <a:rPr lang="en-US" dirty="0">
                <a:latin typeface="Times New Roman" pitchFamily="18" charset="0"/>
                <a:cs typeface="Times New Roman" pitchFamily="18" charset="0"/>
              </a:rPr>
              <a:t>PL/SQL procedure successfully completed</a:t>
            </a:r>
            <a:r>
              <a:rPr lang="en-US" sz="1200" dirty="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513190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IN" dirty="0"/>
              <a:t>Methods for Passing Parameters</a:t>
            </a:r>
            <a:br>
              <a:rPr lang="en-IN" dirty="0"/>
            </a:br>
            <a:endParaRPr lang="en-IN" dirty="0"/>
          </a:p>
        </p:txBody>
      </p:sp>
      <p:sp>
        <p:nvSpPr>
          <p:cNvPr id="3" name="Content Placeholder 2"/>
          <p:cNvSpPr>
            <a:spLocks noGrp="1"/>
          </p:cNvSpPr>
          <p:nvPr>
            <p:ph idx="1"/>
          </p:nvPr>
        </p:nvSpPr>
        <p:spPr>
          <a:xfrm>
            <a:off x="614149" y="990601"/>
            <a:ext cx="10809027" cy="5135563"/>
          </a:xfrm>
        </p:spPr>
        <p:txBody>
          <a:bodyPr>
            <a:normAutofit lnSpcReduction="10000"/>
          </a:bodyPr>
          <a:lstStyle/>
          <a:p>
            <a:r>
              <a:rPr lang="en-US" dirty="0">
                <a:latin typeface="Times New Roman" pitchFamily="18" charset="0"/>
                <a:cs typeface="Times New Roman" pitchFamily="18" charset="0"/>
              </a:rPr>
              <a:t>Actual parameters can be passed in three ways −</a:t>
            </a:r>
          </a:p>
          <a:p>
            <a:r>
              <a:rPr lang="en-US" dirty="0">
                <a:latin typeface="Times New Roman" pitchFamily="18" charset="0"/>
                <a:cs typeface="Times New Roman" pitchFamily="18" charset="0"/>
              </a:rPr>
              <a:t>Positional notation</a:t>
            </a:r>
          </a:p>
          <a:p>
            <a:r>
              <a:rPr lang="en-US" dirty="0">
                <a:latin typeface="Times New Roman" pitchFamily="18" charset="0"/>
                <a:cs typeface="Times New Roman" pitchFamily="18" charset="0"/>
              </a:rPr>
              <a:t>Named notation</a:t>
            </a:r>
          </a:p>
          <a:p>
            <a:r>
              <a:rPr lang="en-US" dirty="0">
                <a:latin typeface="Times New Roman" pitchFamily="18" charset="0"/>
                <a:cs typeface="Times New Roman" pitchFamily="18" charset="0"/>
              </a:rPr>
              <a:t>Mixed notation</a:t>
            </a:r>
          </a:p>
          <a:p>
            <a:pPr marL="0" indent="0">
              <a:buNone/>
            </a:pPr>
            <a:r>
              <a:rPr lang="en-US" b="1" u="sng" dirty="0">
                <a:latin typeface="Times New Roman" pitchFamily="18" charset="0"/>
                <a:cs typeface="Times New Roman" pitchFamily="18" charset="0"/>
              </a:rPr>
              <a:t>Positional Notation :</a:t>
            </a:r>
          </a:p>
          <a:p>
            <a:r>
              <a:rPr lang="en-US" dirty="0">
                <a:latin typeface="Times New Roman" pitchFamily="18" charset="0"/>
                <a:cs typeface="Times New Roman" pitchFamily="18" charset="0"/>
              </a:rPr>
              <a:t>In positional notation, you can call the procedure as −</a:t>
            </a:r>
          </a:p>
          <a:p>
            <a:r>
              <a:rPr lang="en-US" dirty="0" err="1">
                <a:latin typeface="Times New Roman" pitchFamily="18" charset="0"/>
                <a:cs typeface="Times New Roman" pitchFamily="18" charset="0"/>
              </a:rPr>
              <a:t>findMin</a:t>
            </a:r>
            <a:r>
              <a:rPr lang="en-US" dirty="0">
                <a:latin typeface="Times New Roman" pitchFamily="18" charset="0"/>
                <a:cs typeface="Times New Roman" pitchFamily="18" charset="0"/>
              </a:rPr>
              <a:t>(a, b, c, d); </a:t>
            </a:r>
          </a:p>
          <a:p>
            <a:r>
              <a:rPr lang="en-US" dirty="0">
                <a:latin typeface="Times New Roman" pitchFamily="18" charset="0"/>
                <a:cs typeface="Times New Roman" pitchFamily="18" charset="0"/>
              </a:rPr>
              <a:t>In positional notation, the first actual parameter is substituted for the first formal parameter; the second actual parameter is substituted for the second formal parameter, and so on. So, </a:t>
            </a:r>
            <a:r>
              <a:rPr lang="en-US" b="1" dirty="0">
                <a:latin typeface="Times New Roman" pitchFamily="18" charset="0"/>
                <a:cs typeface="Times New Roman" pitchFamily="18" charset="0"/>
              </a:rPr>
              <a:t>a</a:t>
            </a:r>
            <a:r>
              <a:rPr lang="en-US" dirty="0">
                <a:latin typeface="Times New Roman" pitchFamily="18" charset="0"/>
                <a:cs typeface="Times New Roman" pitchFamily="18" charset="0"/>
              </a:rPr>
              <a:t> is substituted for </a:t>
            </a:r>
            <a:r>
              <a:rPr lang="en-US" b="1" dirty="0">
                <a:latin typeface="Times New Roman" pitchFamily="18" charset="0"/>
                <a:cs typeface="Times New Roman" pitchFamily="18" charset="0"/>
              </a:rPr>
              <a:t>x, b</a:t>
            </a:r>
            <a:r>
              <a:rPr lang="en-US" dirty="0">
                <a:latin typeface="Times New Roman" pitchFamily="18" charset="0"/>
                <a:cs typeface="Times New Roman" pitchFamily="18" charset="0"/>
              </a:rPr>
              <a:t> is substituted for </a:t>
            </a:r>
            <a:r>
              <a:rPr lang="en-US" b="1" dirty="0">
                <a:latin typeface="Times New Roman" pitchFamily="18" charset="0"/>
                <a:cs typeface="Times New Roman" pitchFamily="18" charset="0"/>
              </a:rPr>
              <a:t>y, c</a:t>
            </a:r>
            <a:r>
              <a:rPr lang="en-US" dirty="0">
                <a:latin typeface="Times New Roman" pitchFamily="18" charset="0"/>
                <a:cs typeface="Times New Roman" pitchFamily="18" charset="0"/>
              </a:rPr>
              <a:t> is substituted for </a:t>
            </a:r>
            <a:r>
              <a:rPr lang="en-US" b="1" dirty="0">
                <a:latin typeface="Times New Roman" pitchFamily="18" charset="0"/>
                <a:cs typeface="Times New Roman" pitchFamily="18" charset="0"/>
              </a:rPr>
              <a:t>z</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d</a:t>
            </a:r>
            <a:r>
              <a:rPr lang="en-US" dirty="0">
                <a:latin typeface="Times New Roman" pitchFamily="18" charset="0"/>
                <a:cs typeface="Times New Roman" pitchFamily="18" charset="0"/>
              </a:rPr>
              <a:t> is substituted for </a:t>
            </a:r>
            <a:r>
              <a:rPr lang="en-US" b="1" dirty="0">
                <a:latin typeface="Times New Roman" pitchFamily="18" charset="0"/>
                <a:cs typeface="Times New Roman" pitchFamily="18" charset="0"/>
              </a:rPr>
              <a:t>m</a:t>
            </a:r>
            <a:r>
              <a:rPr lang="en-US" dirty="0">
                <a:latin typeface="Times New Roman" pitchFamily="18" charset="0"/>
                <a:cs typeface="Times New Roman" pitchFamily="18" charset="0"/>
              </a:rPr>
              <a:t>.</a:t>
            </a:r>
          </a:p>
          <a:p>
            <a:endParaRPr lang="en-IN" dirty="0"/>
          </a:p>
        </p:txBody>
      </p:sp>
    </p:spTree>
    <p:extLst>
      <p:ext uri="{BB962C8B-B14F-4D97-AF65-F5344CB8AC3E}">
        <p14:creationId xmlns:p14="http://schemas.microsoft.com/office/powerpoint/2010/main" val="1668246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433" y="457201"/>
            <a:ext cx="11163868" cy="5668963"/>
          </a:xfrm>
        </p:spPr>
        <p:txBody>
          <a:bodyPr/>
          <a:lstStyle/>
          <a:p>
            <a:r>
              <a:rPr lang="en-US" b="1" u="sng" dirty="0">
                <a:latin typeface="Times New Roman" pitchFamily="18" charset="0"/>
                <a:cs typeface="Times New Roman" pitchFamily="18" charset="0"/>
              </a:rPr>
              <a:t>Named Notation :</a:t>
            </a:r>
          </a:p>
          <a:p>
            <a:r>
              <a:rPr lang="en-US" dirty="0">
                <a:latin typeface="Times New Roman" pitchFamily="18" charset="0"/>
                <a:cs typeface="Times New Roman" pitchFamily="18" charset="0"/>
              </a:rPr>
              <a:t>In named notation, the actual parameter is associated with the formal parameter using the </a:t>
            </a:r>
            <a:r>
              <a:rPr lang="en-US" b="1" dirty="0">
                <a:latin typeface="Times New Roman" pitchFamily="18" charset="0"/>
                <a:cs typeface="Times New Roman" pitchFamily="18" charset="0"/>
              </a:rPr>
              <a:t>arrow symbol ( =&gt; )</a:t>
            </a:r>
            <a:r>
              <a:rPr lang="en-US" dirty="0">
                <a:latin typeface="Times New Roman" pitchFamily="18" charset="0"/>
                <a:cs typeface="Times New Roman" pitchFamily="18" charset="0"/>
              </a:rPr>
              <a:t>. The procedure call will be like the following −</a:t>
            </a:r>
          </a:p>
          <a:p>
            <a:r>
              <a:rPr lang="en-US" dirty="0" err="1">
                <a:latin typeface="Times New Roman" pitchFamily="18" charset="0"/>
                <a:cs typeface="Times New Roman" pitchFamily="18" charset="0"/>
              </a:rPr>
              <a:t>findMin</a:t>
            </a:r>
            <a:r>
              <a:rPr lang="en-US" dirty="0">
                <a:latin typeface="Times New Roman" pitchFamily="18" charset="0"/>
                <a:cs typeface="Times New Roman" pitchFamily="18" charset="0"/>
              </a:rPr>
              <a:t>(x =&gt; a, y =&gt; b, z =&gt; c, m =&gt; d);</a:t>
            </a:r>
          </a:p>
          <a:p>
            <a:r>
              <a:rPr lang="en-US" dirty="0">
                <a:latin typeface="Times New Roman" pitchFamily="18" charset="0"/>
                <a:cs typeface="Times New Roman" pitchFamily="18" charset="0"/>
              </a:rPr>
              <a:t> </a:t>
            </a:r>
            <a:r>
              <a:rPr lang="en-US" b="1" u="sng" dirty="0">
                <a:latin typeface="Times New Roman" pitchFamily="18" charset="0"/>
                <a:cs typeface="Times New Roman" pitchFamily="18" charset="0"/>
              </a:rPr>
              <a:t>Mixed Notation :</a:t>
            </a:r>
          </a:p>
          <a:p>
            <a:r>
              <a:rPr lang="en-US" dirty="0">
                <a:latin typeface="Times New Roman" pitchFamily="18" charset="0"/>
                <a:cs typeface="Times New Roman" pitchFamily="18" charset="0"/>
              </a:rPr>
              <a:t>In mixed notation, you can mix both notations in procedure call;</a:t>
            </a:r>
          </a:p>
          <a:p>
            <a:r>
              <a:rPr lang="en-US" dirty="0">
                <a:latin typeface="Times New Roman" pitchFamily="18" charset="0"/>
                <a:cs typeface="Times New Roman" pitchFamily="18" charset="0"/>
              </a:rPr>
              <a:t> however, the positional notation should precede the named notation</a:t>
            </a:r>
            <a:r>
              <a:rPr lang="en-US" dirty="0"/>
              <a:t>.</a:t>
            </a:r>
          </a:p>
          <a:p>
            <a:endParaRPr lang="en-IN" dirty="0"/>
          </a:p>
        </p:txBody>
      </p:sp>
    </p:spTree>
    <p:extLst>
      <p:ext uri="{BB962C8B-B14F-4D97-AF65-F5344CB8AC3E}">
        <p14:creationId xmlns:p14="http://schemas.microsoft.com/office/powerpoint/2010/main" val="1367456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967" y="851849"/>
            <a:ext cx="10754436" cy="5287963"/>
          </a:xfrm>
        </p:spPr>
        <p:txBody>
          <a:bodyPr/>
          <a:lstStyle/>
          <a:p>
            <a:r>
              <a:rPr lang="en-US" dirty="0">
                <a:latin typeface="Times New Roman" pitchFamily="18" charset="0"/>
                <a:cs typeface="Times New Roman" pitchFamily="18" charset="0"/>
              </a:rPr>
              <a:t>The following call is legal −</a:t>
            </a:r>
          </a:p>
          <a:p>
            <a:pPr marL="0" indent="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findMin</a:t>
            </a:r>
            <a:r>
              <a:rPr lang="en-US" dirty="0">
                <a:latin typeface="Times New Roman" pitchFamily="18" charset="0"/>
                <a:cs typeface="Times New Roman" pitchFamily="18" charset="0"/>
              </a:rPr>
              <a:t>(a, b, c, m =&gt; d); </a:t>
            </a:r>
          </a:p>
          <a:p>
            <a:r>
              <a:rPr lang="en-US" dirty="0">
                <a:latin typeface="Times New Roman" pitchFamily="18" charset="0"/>
                <a:cs typeface="Times New Roman" pitchFamily="18" charset="0"/>
              </a:rPr>
              <a:t>However, this is not legal:</a:t>
            </a:r>
          </a:p>
          <a:p>
            <a:pPr marL="0" indent="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findMin</a:t>
            </a:r>
            <a:r>
              <a:rPr lang="en-US" dirty="0">
                <a:latin typeface="Times New Roman" pitchFamily="18" charset="0"/>
                <a:cs typeface="Times New Roman" pitchFamily="18" charset="0"/>
              </a:rPr>
              <a:t>(x =&gt; a, b, c, 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903767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PL/SQL - Functions</a:t>
            </a:r>
            <a:br>
              <a:rPr lang="en-IN" dirty="0"/>
            </a:br>
            <a:endParaRPr lang="en-IN" dirty="0"/>
          </a:p>
        </p:txBody>
      </p:sp>
      <p:sp>
        <p:nvSpPr>
          <p:cNvPr id="3" name="Content Placeholder 2"/>
          <p:cNvSpPr>
            <a:spLocks noGrp="1"/>
          </p:cNvSpPr>
          <p:nvPr>
            <p:ph idx="1"/>
          </p:nvPr>
        </p:nvSpPr>
        <p:spPr>
          <a:xfrm>
            <a:off x="838200" y="1825625"/>
            <a:ext cx="10816988" cy="4351338"/>
          </a:xfrm>
        </p:spPr>
        <p:txBody>
          <a:bodyPr>
            <a:normAutofit/>
          </a:bodyPr>
          <a:lstStyle/>
          <a:p>
            <a:r>
              <a:rPr lang="en-US" dirty="0">
                <a:latin typeface="Times New Roman" pitchFamily="18" charset="0"/>
                <a:cs typeface="Times New Roman" pitchFamily="18" charset="0"/>
              </a:rPr>
              <a:t>A function is same as a procedure except that it returns a value..</a:t>
            </a:r>
          </a:p>
          <a:p>
            <a:r>
              <a:rPr lang="en-IN" dirty="0">
                <a:latin typeface="Times New Roman" pitchFamily="18" charset="0"/>
                <a:cs typeface="Times New Roman" pitchFamily="18" charset="0"/>
              </a:rPr>
              <a:t>Creating a Function</a:t>
            </a:r>
          </a:p>
          <a:p>
            <a:r>
              <a:rPr lang="en-US" dirty="0">
                <a:latin typeface="Times New Roman" pitchFamily="18" charset="0"/>
                <a:cs typeface="Times New Roman" pitchFamily="18" charset="0"/>
              </a:rPr>
              <a:t>A function is created using the </a:t>
            </a:r>
            <a:r>
              <a:rPr lang="en-US" b="1" dirty="0">
                <a:latin typeface="Times New Roman" pitchFamily="18" charset="0"/>
                <a:cs typeface="Times New Roman" pitchFamily="18" charset="0"/>
              </a:rPr>
              <a:t>CREATE FUNCTION</a:t>
            </a:r>
            <a:r>
              <a:rPr lang="en-US" dirty="0">
                <a:latin typeface="Times New Roman" pitchFamily="18" charset="0"/>
                <a:cs typeface="Times New Roman" pitchFamily="18" charset="0"/>
              </a:rPr>
              <a:t> statement.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76210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5909" y="547049"/>
            <a:ext cx="11273051" cy="5592763"/>
          </a:xfrm>
        </p:spPr>
        <p:txBody>
          <a:bodyPr>
            <a:normAutofit/>
          </a:bodyPr>
          <a:lstStyle/>
          <a:p>
            <a:r>
              <a:rPr lang="en-US" dirty="0">
                <a:latin typeface="Times New Roman" pitchFamily="18" charset="0"/>
                <a:cs typeface="Times New Roman" pitchFamily="18" charset="0"/>
              </a:rPr>
              <a:t>The simplified syntax for the </a:t>
            </a:r>
            <a:r>
              <a:rPr lang="en-US" b="1" dirty="0">
                <a:latin typeface="Times New Roman" pitchFamily="18" charset="0"/>
                <a:cs typeface="Times New Roman" pitchFamily="18" charset="0"/>
              </a:rPr>
              <a:t>CREATE OR REPLACE PROCEDURE</a:t>
            </a:r>
            <a:r>
              <a:rPr lang="en-US" dirty="0">
                <a:latin typeface="Times New Roman" pitchFamily="18" charset="0"/>
                <a:cs typeface="Times New Roman" pitchFamily="18" charset="0"/>
              </a:rPr>
              <a:t> statement is as follows −</a:t>
            </a:r>
          </a:p>
          <a:p>
            <a:pPr marL="0" indent="0">
              <a:buNone/>
            </a:pPr>
            <a:r>
              <a:rPr lang="en-US" dirty="0">
                <a:latin typeface="Times New Roman" pitchFamily="18" charset="0"/>
                <a:cs typeface="Times New Roman" pitchFamily="18" charset="0"/>
              </a:rPr>
              <a:t>CREATE [OR REPLACE] FUNCTION </a:t>
            </a:r>
            <a:r>
              <a:rPr lang="en-US" dirty="0" err="1">
                <a:latin typeface="Times New Roman" pitchFamily="18" charset="0"/>
                <a:cs typeface="Times New Roman" pitchFamily="18" charset="0"/>
              </a:rPr>
              <a:t>function_name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parameter_name</a:t>
            </a:r>
            <a:r>
              <a:rPr lang="en-US" dirty="0">
                <a:latin typeface="Times New Roman" pitchFamily="18" charset="0"/>
                <a:cs typeface="Times New Roman" pitchFamily="18" charset="0"/>
              </a:rPr>
              <a:t> [IN | OUT | IN OUT] type [, ...])] </a:t>
            </a:r>
          </a:p>
          <a:p>
            <a:pPr marL="0" indent="0">
              <a:buNone/>
            </a:pPr>
            <a:r>
              <a:rPr lang="en-US" dirty="0">
                <a:latin typeface="Times New Roman" pitchFamily="18" charset="0"/>
                <a:cs typeface="Times New Roman" pitchFamily="18" charset="0"/>
              </a:rPr>
              <a:t>RETURN </a:t>
            </a:r>
            <a:r>
              <a:rPr lang="en-US" dirty="0" err="1">
                <a:latin typeface="Times New Roman" pitchFamily="18" charset="0"/>
                <a:cs typeface="Times New Roman" pitchFamily="18" charset="0"/>
              </a:rPr>
              <a:t>return_datatype</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{IS | AS} </a:t>
            </a:r>
          </a:p>
          <a:p>
            <a:pPr marL="0" indent="0">
              <a:buNone/>
            </a:pPr>
            <a:r>
              <a:rPr lang="en-US" dirty="0">
                <a:latin typeface="Times New Roman" pitchFamily="18" charset="0"/>
                <a:cs typeface="Times New Roman" pitchFamily="18" charset="0"/>
              </a:rPr>
              <a:t>BEGIN</a:t>
            </a:r>
          </a:p>
          <a:p>
            <a:pPr marL="0" indent="0">
              <a:buNone/>
            </a:pPr>
            <a:r>
              <a:rPr lang="en-US" dirty="0">
                <a:latin typeface="Times New Roman" pitchFamily="18" charset="0"/>
                <a:cs typeface="Times New Roman" pitchFamily="18" charset="0"/>
              </a:rPr>
              <a:t> &lt; </a:t>
            </a:r>
            <a:r>
              <a:rPr lang="en-US" dirty="0" err="1">
                <a:latin typeface="Times New Roman" pitchFamily="18" charset="0"/>
                <a:cs typeface="Times New Roman" pitchFamily="18" charset="0"/>
              </a:rPr>
              <a:t>function_body</a:t>
            </a:r>
            <a:r>
              <a:rPr lang="en-US" dirty="0">
                <a:latin typeface="Times New Roman" pitchFamily="18" charset="0"/>
                <a:cs typeface="Times New Roman" pitchFamily="18" charset="0"/>
              </a:rPr>
              <a:t> &gt; </a:t>
            </a:r>
          </a:p>
          <a:p>
            <a:pPr marL="0" indent="0">
              <a:buNone/>
            </a:pPr>
            <a:r>
              <a:rPr lang="en-US" dirty="0">
                <a:latin typeface="Times New Roman" pitchFamily="18" charset="0"/>
                <a:cs typeface="Times New Roman" pitchFamily="18" charset="0"/>
              </a:rPr>
              <a:t>END [</a:t>
            </a:r>
            <a:r>
              <a:rPr lang="en-US" dirty="0" err="1">
                <a:latin typeface="Times New Roman" pitchFamily="18" charset="0"/>
                <a:cs typeface="Times New Roman" pitchFamily="18" charset="0"/>
              </a:rPr>
              <a:t>function_name</a:t>
            </a:r>
            <a:r>
              <a:rPr lang="en-US" dirty="0">
                <a:latin typeface="Times New Roman" pitchFamily="18" charset="0"/>
                <a:cs typeface="Times New Roman" pitchFamily="18" charset="0"/>
              </a:rPr>
              <a:t>];</a:t>
            </a: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42650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0501" y="685801"/>
            <a:ext cx="10754436" cy="5440363"/>
          </a:xfrm>
        </p:spPr>
        <p:txBody>
          <a:bodyPr>
            <a:noAutofit/>
          </a:bodyPr>
          <a:lstStyle/>
          <a:p>
            <a:r>
              <a:rPr lang="en-US" sz="2400" dirty="0">
                <a:latin typeface="Times New Roman" pitchFamily="18" charset="0"/>
                <a:cs typeface="Times New Roman" pitchFamily="18" charset="0"/>
              </a:rPr>
              <a:t>Where,</a:t>
            </a:r>
          </a:p>
          <a:p>
            <a:r>
              <a:rPr lang="en-US" sz="2400" i="1" dirty="0">
                <a:latin typeface="Times New Roman" pitchFamily="18" charset="0"/>
                <a:cs typeface="Times New Roman" pitchFamily="18" charset="0"/>
              </a:rPr>
              <a:t>function-name</a:t>
            </a:r>
            <a:r>
              <a:rPr lang="en-US" sz="2400" dirty="0">
                <a:latin typeface="Times New Roman" pitchFamily="18" charset="0"/>
                <a:cs typeface="Times New Roman" pitchFamily="18" charset="0"/>
              </a:rPr>
              <a:t> specifies the name of the function.</a:t>
            </a:r>
          </a:p>
          <a:p>
            <a:r>
              <a:rPr lang="en-US" sz="2400" dirty="0">
                <a:latin typeface="Times New Roman" pitchFamily="18" charset="0"/>
                <a:cs typeface="Times New Roman" pitchFamily="18" charset="0"/>
              </a:rPr>
              <a:t>[OR REPLACE] option allows the modification of an existing function.</a:t>
            </a:r>
          </a:p>
          <a:p>
            <a:r>
              <a:rPr lang="en-US" sz="2400" dirty="0">
                <a:latin typeface="Times New Roman" pitchFamily="18" charset="0"/>
                <a:cs typeface="Times New Roman" pitchFamily="18" charset="0"/>
              </a:rPr>
              <a:t>The optional parameter list contains name, mode and types of the parameters. IN represents the value that will be passed from outside and OUT represents the parameter that will be used to return a value outside of the procedure.</a:t>
            </a:r>
          </a:p>
          <a:p>
            <a:r>
              <a:rPr lang="en-US" sz="2400" dirty="0">
                <a:latin typeface="Times New Roman" pitchFamily="18" charset="0"/>
                <a:cs typeface="Times New Roman" pitchFamily="18" charset="0"/>
              </a:rPr>
              <a:t>The function must contain a </a:t>
            </a:r>
            <a:r>
              <a:rPr lang="en-US" sz="2400" b="1" dirty="0">
                <a:latin typeface="Times New Roman" pitchFamily="18" charset="0"/>
                <a:cs typeface="Times New Roman" pitchFamily="18" charset="0"/>
              </a:rPr>
              <a:t>return</a:t>
            </a:r>
            <a:r>
              <a:rPr lang="en-US" sz="2400" dirty="0">
                <a:latin typeface="Times New Roman" pitchFamily="18" charset="0"/>
                <a:cs typeface="Times New Roman" pitchFamily="18" charset="0"/>
              </a:rPr>
              <a:t> statement.</a:t>
            </a:r>
          </a:p>
          <a:p>
            <a:r>
              <a:rPr lang="en-US" sz="2400" dirty="0">
                <a:latin typeface="Times New Roman" pitchFamily="18" charset="0"/>
                <a:cs typeface="Times New Roman" pitchFamily="18" charset="0"/>
              </a:rPr>
              <a:t>The </a:t>
            </a:r>
            <a:r>
              <a:rPr lang="en-US" sz="2400" i="1" dirty="0">
                <a:latin typeface="Times New Roman" pitchFamily="18" charset="0"/>
                <a:cs typeface="Times New Roman" pitchFamily="18" charset="0"/>
              </a:rPr>
              <a:t>RETURN</a:t>
            </a:r>
            <a:r>
              <a:rPr lang="en-US" sz="2400" dirty="0">
                <a:latin typeface="Times New Roman" pitchFamily="18" charset="0"/>
                <a:cs typeface="Times New Roman" pitchFamily="18" charset="0"/>
              </a:rPr>
              <a:t> clause specifies the data type you are going to return from the function.</a:t>
            </a:r>
          </a:p>
          <a:p>
            <a:r>
              <a:rPr lang="en-US" sz="2400" i="1" dirty="0">
                <a:latin typeface="Times New Roman" pitchFamily="18" charset="0"/>
                <a:cs typeface="Times New Roman" pitchFamily="18" charset="0"/>
              </a:rPr>
              <a:t>function-body</a:t>
            </a:r>
            <a:r>
              <a:rPr lang="en-US" sz="2400" dirty="0">
                <a:latin typeface="Times New Roman" pitchFamily="18" charset="0"/>
                <a:cs typeface="Times New Roman" pitchFamily="18" charset="0"/>
              </a:rPr>
              <a:t> contains the executable part.</a:t>
            </a:r>
          </a:p>
          <a:p>
            <a:r>
              <a:rPr lang="en-US" sz="2400" dirty="0">
                <a:latin typeface="Times New Roman" pitchFamily="18" charset="0"/>
                <a:cs typeface="Times New Roman" pitchFamily="18" charset="0"/>
              </a:rPr>
              <a:t>The AS keyword is used instead of the IS keyword for creating a standalone function.</a:t>
            </a:r>
          </a:p>
          <a:p>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861560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Calling a Function</a:t>
            </a:r>
            <a:br>
              <a:rPr lang="en-IN" dirty="0"/>
            </a:br>
            <a:endParaRPr lang="en-IN" dirty="0"/>
          </a:p>
        </p:txBody>
      </p:sp>
      <p:sp>
        <p:nvSpPr>
          <p:cNvPr id="4" name="Rectangle 3"/>
          <p:cNvSpPr/>
          <p:nvPr/>
        </p:nvSpPr>
        <p:spPr>
          <a:xfrm>
            <a:off x="838200" y="1380151"/>
            <a:ext cx="10754436" cy="5262979"/>
          </a:xfrm>
          <a:prstGeom prst="rect">
            <a:avLst/>
          </a:prstGeom>
        </p:spPr>
        <p:txBody>
          <a:bodyPr wrap="square">
            <a:spAutoFit/>
          </a:bodyPr>
          <a:lstStyle/>
          <a:p>
            <a:pPr marL="342900" indent="-342900">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While creating a function, you give a definition of what the function has to do. To use a function, you will have to call that function to perform the defined task. When a program calls a function, the program control is transferred to the called function.</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called function performs the defined task and when its return statement is executed or when the </a:t>
            </a:r>
            <a:r>
              <a:rPr lang="en-US" sz="2800" b="1" dirty="0">
                <a:latin typeface="Times New Roman" panose="02020603050405020304" pitchFamily="18" charset="0"/>
                <a:cs typeface="Times New Roman" panose="02020603050405020304" pitchFamily="18" charset="0"/>
              </a:rPr>
              <a:t>last end statement</a:t>
            </a:r>
            <a:r>
              <a:rPr lang="en-US" sz="2800" dirty="0">
                <a:latin typeface="Times New Roman" panose="02020603050405020304" pitchFamily="18" charset="0"/>
                <a:cs typeface="Times New Roman" panose="02020603050405020304" pitchFamily="18" charset="0"/>
              </a:rPr>
              <a:t> is reached, it returns the program control back to the main program.</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call a function, you simply need to pass the required parameters along with the function name and if the function returns a value, then you can store the returned value. Following program calls the function </a:t>
            </a:r>
            <a:r>
              <a:rPr lang="en-US" sz="2800" b="1" dirty="0" err="1">
                <a:latin typeface="Times New Roman" panose="02020603050405020304" pitchFamily="18" charset="0"/>
                <a:cs typeface="Times New Roman" panose="02020603050405020304" pitchFamily="18" charset="0"/>
              </a:rPr>
              <a:t>totalCustomers</a:t>
            </a:r>
            <a:r>
              <a:rPr lang="en-US" sz="2800" dirty="0">
                <a:latin typeface="Times New Roman" panose="02020603050405020304" pitchFamily="18" charset="0"/>
                <a:cs typeface="Times New Roman" panose="02020603050405020304" pitchFamily="18" charset="0"/>
              </a:rPr>
              <a:t> from an anonymous block − </a:t>
            </a:r>
          </a:p>
          <a:p>
            <a:endParaRPr lang="en-US" sz="2400" dirty="0"/>
          </a:p>
        </p:txBody>
      </p:sp>
    </p:spTree>
    <p:extLst>
      <p:ext uri="{BB962C8B-B14F-4D97-AF65-F5344CB8AC3E}">
        <p14:creationId xmlns:p14="http://schemas.microsoft.com/office/powerpoint/2010/main" val="644071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37949" y="330730"/>
            <a:ext cx="10025418" cy="614014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DECLARE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 number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 number</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 number</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FUNCTION </a:t>
            </a:r>
            <a:r>
              <a:rPr kumimoji="0" 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findMax</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IN number</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y IN number</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RETURN number IS z number</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BEGIN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IF x </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&gt;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y THEN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z</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x</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 Z</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y</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IF</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RETURN z</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BEGIN</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23</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45</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 </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findMax</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dbms_output</a:t>
            </a:r>
            <a:r>
              <a:rPr kumimoji="0" lang="en-US" sz="1800" b="0" i="0" u="none" strike="noStrike" cap="none" normalizeH="0" baseline="0" dirty="0" err="1">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put_line</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 Maximum of (23,45): '</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Maximum of (23,45): 45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PL/SQL procedure successfully completed. </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184020" y="0"/>
            <a:ext cx="1069524"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Example:</a:t>
            </a:r>
          </a:p>
        </p:txBody>
      </p:sp>
    </p:spTree>
    <p:extLst>
      <p:ext uri="{BB962C8B-B14F-4D97-AF65-F5344CB8AC3E}">
        <p14:creationId xmlns:p14="http://schemas.microsoft.com/office/powerpoint/2010/main" val="3507072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PL/SQL Recursive Functions</a:t>
            </a:r>
            <a:br>
              <a:rPr lang="en-US" dirty="0"/>
            </a:br>
            <a:endParaRPr lang="en-US" dirty="0"/>
          </a:p>
        </p:txBody>
      </p:sp>
      <p:sp>
        <p:nvSpPr>
          <p:cNvPr id="3" name="Content Placeholder 2"/>
          <p:cNvSpPr>
            <a:spLocks noGrp="1"/>
          </p:cNvSpPr>
          <p:nvPr>
            <p:ph idx="1"/>
          </p:nvPr>
        </p:nvSpPr>
        <p:spPr>
          <a:xfrm>
            <a:off x="606188" y="1238772"/>
            <a:ext cx="10515600" cy="4351338"/>
          </a:xfrm>
        </p:spPr>
        <p:txBody>
          <a:bodyPr/>
          <a:lstStyle/>
          <a:p>
            <a:r>
              <a:rPr lang="en-US" dirty="0"/>
              <a:t>We have seen that a program or subprogram may call another subprogram. When a subprogram calls itself, it is referred to as a recursive call and the process is known as </a:t>
            </a:r>
            <a:r>
              <a:rPr lang="en-US" b="1" dirty="0"/>
              <a:t>recursion</a:t>
            </a:r>
            <a:r>
              <a:rPr lang="en-US" dirty="0"/>
              <a:t>.</a:t>
            </a:r>
          </a:p>
        </p:txBody>
      </p:sp>
    </p:spTree>
    <p:extLst>
      <p:ext uri="{BB962C8B-B14F-4D97-AF65-F5344CB8AC3E}">
        <p14:creationId xmlns:p14="http://schemas.microsoft.com/office/powerpoint/2010/main" val="159088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709684" y="254557"/>
            <a:ext cx="8557145" cy="641714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Example</a:t>
            </a:r>
            <a:r>
              <a:rPr kumimoji="0" lang="en-US" b="0" i="0" u="none" strike="noStrike" cap="none" normalizeH="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num</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number</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factorial number</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FUNCTION fact</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number</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RETURN number IS f number</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BEGIN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IF x</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0</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THEN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1</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 f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x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fact</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1</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IF</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RETURN f</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BEGIN</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num</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6</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factorial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fact</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num</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dbms_output</a:t>
            </a:r>
            <a:r>
              <a:rPr kumimoji="0" lang="en-US" b="0" i="0" u="none" strike="noStrike" cap="none" normalizeH="0" baseline="0" dirty="0" err="1">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put_line</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 Factorial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num</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 is '</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factorial</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88"/>
                </a:solidFill>
                <a:effectLst/>
                <a:latin typeface="Times New Roman" panose="02020603050405020304" pitchFamily="18" charset="0"/>
                <a:cs typeface="Times New Roman" panose="02020603050405020304" pitchFamily="18" charset="0"/>
              </a:rPr>
              <a:t>END</a:t>
            </a:r>
            <a:r>
              <a:rPr kumimoji="0" lang="en-US"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OUTPUT:</a:t>
            </a:r>
          </a:p>
          <a:p>
            <a:pPr marL="0" marR="0" lvl="0" indent="0" algn="l" defTabSz="914400" rtl="0" eaLnBrk="0" fontAlgn="base" latinLnBrk="0" hangingPunct="0">
              <a:lnSpc>
                <a:spcPct val="100000"/>
              </a:lnSpc>
              <a:spcBef>
                <a:spcPct val="0"/>
              </a:spcBef>
              <a:spcAft>
                <a:spcPct val="0"/>
              </a:spcAft>
              <a:buClrTx/>
              <a:buSzTx/>
              <a:buFontTx/>
              <a:buNone/>
              <a:tabLst/>
            </a:pPr>
            <a:r>
              <a:rPr lang="en-US" dirty="0">
                <a:solidFill>
                  <a:srgbClr val="000000"/>
                </a:solidFill>
                <a:latin typeface="Times New Roman" panose="02020603050405020304" pitchFamily="18" charset="0"/>
                <a:cs typeface="Times New Roman" panose="02020603050405020304" pitchFamily="18" charset="0"/>
              </a:rPr>
              <a:t>Factorial 5 is 120</a:t>
            </a:r>
            <a:endParaRPr kumimoji="0" 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8DB98D25-DFFF-0821-046C-29468EFCD9D7}"/>
              </a:ext>
            </a:extLst>
          </p:cNvPr>
          <p:cNvSpPr txBox="1"/>
          <p:nvPr/>
        </p:nvSpPr>
        <p:spPr>
          <a:xfrm rot="20493927">
            <a:off x="6179413" y="4759328"/>
            <a:ext cx="609600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SET SERVEROUTPUT ON;</a:t>
            </a:r>
          </a:p>
        </p:txBody>
      </p:sp>
    </p:spTree>
    <p:extLst>
      <p:ext uri="{BB962C8B-B14F-4D97-AF65-F5344CB8AC3E}">
        <p14:creationId xmlns:p14="http://schemas.microsoft.com/office/powerpoint/2010/main" val="1787978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2818"/>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PL/SQL - Cursors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857" y="903517"/>
            <a:ext cx="11212285" cy="5696403"/>
          </a:xfrm>
        </p:spPr>
        <p:txBody>
          <a:bodyPr>
            <a:normAutofit fontScale="85000" lnSpcReduction="10000"/>
          </a:bodyPr>
          <a:lstStyle/>
          <a:p>
            <a:pPr>
              <a:lnSpc>
                <a:spcPct val="210000"/>
              </a:lnSpc>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cursor</a:t>
            </a:r>
            <a:r>
              <a:rPr lang="en-US" dirty="0">
                <a:latin typeface="Times New Roman" panose="02020603050405020304" pitchFamily="18" charset="0"/>
                <a:cs typeface="Times New Roman" panose="02020603050405020304" pitchFamily="18" charset="0"/>
              </a:rPr>
              <a:t> is a pointer to this context area. PL/SQL controls the context area through a cursor. A cursor holds the rows (one or more) returned by a SQL statement. The set of rows the cursor holds is referred to as the </a:t>
            </a:r>
            <a:r>
              <a:rPr lang="en-US" b="1" dirty="0">
                <a:latin typeface="Times New Roman" panose="02020603050405020304" pitchFamily="18" charset="0"/>
                <a:cs typeface="Times New Roman" panose="02020603050405020304" pitchFamily="18" charset="0"/>
              </a:rPr>
              <a:t>active set</a:t>
            </a:r>
            <a:r>
              <a:rPr lang="en-US" dirty="0">
                <a:latin typeface="Times New Roman" panose="02020603050405020304" pitchFamily="18" charset="0"/>
                <a:cs typeface="Times New Roman" panose="02020603050405020304" pitchFamily="18" charset="0"/>
              </a:rPr>
              <a:t>.</a:t>
            </a:r>
          </a:p>
          <a:p>
            <a:pPr>
              <a:lnSpc>
                <a:spcPct val="210000"/>
              </a:lnSpc>
            </a:pPr>
            <a:r>
              <a:rPr lang="en-US" dirty="0">
                <a:latin typeface="Times New Roman" panose="02020603050405020304" pitchFamily="18" charset="0"/>
                <a:cs typeface="Times New Roman" panose="02020603050405020304" pitchFamily="18" charset="0"/>
              </a:rPr>
              <a:t>You can name a cursor so that it could be referred to in a program to fetch and process the rows returned by the SQL statement, one at a time. There are two types of cursors −</a:t>
            </a:r>
          </a:p>
          <a:p>
            <a:pPr>
              <a:lnSpc>
                <a:spcPct val="210000"/>
              </a:lnSpc>
            </a:pPr>
            <a:r>
              <a:rPr lang="en-US" dirty="0">
                <a:latin typeface="Times New Roman" panose="02020603050405020304" pitchFamily="18" charset="0"/>
                <a:cs typeface="Times New Roman" panose="02020603050405020304" pitchFamily="18" charset="0"/>
              </a:rPr>
              <a:t>Implicit cursors</a:t>
            </a:r>
          </a:p>
          <a:p>
            <a:pPr>
              <a:lnSpc>
                <a:spcPct val="210000"/>
              </a:lnSpc>
            </a:pPr>
            <a:r>
              <a:rPr lang="en-US" dirty="0">
                <a:latin typeface="Times New Roman" panose="02020603050405020304" pitchFamily="18" charset="0"/>
                <a:cs typeface="Times New Roman" panose="02020603050405020304" pitchFamily="18" charset="0"/>
              </a:rPr>
              <a:t>Explicit cursors</a:t>
            </a:r>
          </a:p>
          <a:p>
            <a:pPr>
              <a:lnSpc>
                <a:spcPct val="21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917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0161"/>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Implicit Cursors</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0114" y="1121229"/>
            <a:ext cx="10983686" cy="5998029"/>
          </a:xfrm>
        </p:spPr>
        <p:txBody>
          <a:bodyPr>
            <a:normAutofit fontScale="775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Implicit cursors are automatically created by Oracle whenever an SQL statement is executed, when there is no explicit cursor for the statement. Programmers cannot control the implicit cursors and the information in it.</a:t>
            </a:r>
          </a:p>
          <a:p>
            <a:pPr algn="just">
              <a:lnSpc>
                <a:spcPct val="150000"/>
              </a:lnSpc>
            </a:pPr>
            <a:r>
              <a:rPr lang="en-US" dirty="0">
                <a:latin typeface="Times New Roman" panose="02020603050405020304" pitchFamily="18" charset="0"/>
                <a:cs typeface="Times New Roman" panose="02020603050405020304" pitchFamily="18" charset="0"/>
              </a:rPr>
              <a:t>Whenever a DML statement (INSERT, UPDATE and DELETE) is issued, an implicit cursor is associated with this statement. For INSERT operations, the cursor holds the data that needs to be inserted. For UPDATE and DELETE operations, the cursor identifies the rows that would be affected.</a:t>
            </a:r>
          </a:p>
          <a:p>
            <a:pPr algn="just">
              <a:lnSpc>
                <a:spcPct val="150000"/>
              </a:lnSpc>
            </a:pPr>
            <a:r>
              <a:rPr lang="en-US" dirty="0">
                <a:latin typeface="Times New Roman" panose="02020603050405020304" pitchFamily="18" charset="0"/>
                <a:cs typeface="Times New Roman" panose="02020603050405020304" pitchFamily="18" charset="0"/>
              </a:rPr>
              <a:t>In PL/SQL, you can refer to the most recent implicit cursor as the </a:t>
            </a:r>
            <a:r>
              <a:rPr lang="en-US" b="1" dirty="0">
                <a:latin typeface="Times New Roman" panose="02020603050405020304" pitchFamily="18" charset="0"/>
                <a:cs typeface="Times New Roman" panose="02020603050405020304" pitchFamily="18" charset="0"/>
              </a:rPr>
              <a:t>SQL cursor</a:t>
            </a:r>
            <a:r>
              <a:rPr lang="en-US" dirty="0">
                <a:latin typeface="Times New Roman" panose="02020603050405020304" pitchFamily="18" charset="0"/>
                <a:cs typeface="Times New Roman" panose="02020603050405020304" pitchFamily="18" charset="0"/>
              </a:rPr>
              <a:t>, which always has attributes such as </a:t>
            </a:r>
            <a:r>
              <a:rPr lang="en-US" b="1" dirty="0">
                <a:latin typeface="Times New Roman" panose="02020603050405020304" pitchFamily="18" charset="0"/>
                <a:cs typeface="Times New Roman" panose="02020603050405020304" pitchFamily="18" charset="0"/>
              </a:rPr>
              <a:t>%FOUND, %ISOPEN, %NOTFOUND</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%ROWCOUNT</a:t>
            </a:r>
            <a:r>
              <a:rPr lang="en-US" dirty="0">
                <a:latin typeface="Times New Roman" panose="02020603050405020304" pitchFamily="18" charset="0"/>
                <a:cs typeface="Times New Roman" panose="02020603050405020304" pitchFamily="18" charset="0"/>
              </a:rPr>
              <a:t>. The SQL cursor has additional attributes, </a:t>
            </a:r>
            <a:r>
              <a:rPr lang="en-US" b="1" dirty="0">
                <a:latin typeface="Times New Roman" panose="02020603050405020304" pitchFamily="18" charset="0"/>
                <a:cs typeface="Times New Roman" panose="02020603050405020304" pitchFamily="18" charset="0"/>
              </a:rPr>
              <a:t>%BULK_ROWCOUNT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%BULK_EXCEPTIONS</a:t>
            </a:r>
            <a:r>
              <a:rPr lang="en-US" dirty="0">
                <a:latin typeface="Times New Roman" panose="02020603050405020304" pitchFamily="18" charset="0"/>
                <a:cs typeface="Times New Roman" panose="02020603050405020304" pitchFamily="18" charset="0"/>
              </a:rPr>
              <a:t>, designed for use with the </a:t>
            </a:r>
            <a:r>
              <a:rPr lang="en-US" b="1" dirty="0">
                <a:latin typeface="Times New Roman" panose="02020603050405020304" pitchFamily="18" charset="0"/>
                <a:cs typeface="Times New Roman" panose="02020603050405020304" pitchFamily="18" charset="0"/>
              </a:rPr>
              <a:t>FORALL</a:t>
            </a:r>
            <a:r>
              <a:rPr lang="en-US" dirty="0">
                <a:latin typeface="Times New Roman" panose="02020603050405020304" pitchFamily="18" charset="0"/>
                <a:cs typeface="Times New Roman" panose="02020603050405020304" pitchFamily="18" charset="0"/>
              </a:rPr>
              <a:t> statement. </a:t>
            </a:r>
          </a:p>
        </p:txBody>
      </p:sp>
    </p:spTree>
    <p:extLst>
      <p:ext uri="{BB962C8B-B14F-4D97-AF65-F5344CB8AC3E}">
        <p14:creationId xmlns:p14="http://schemas.microsoft.com/office/powerpoint/2010/main" val="4093370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358" y="297076"/>
            <a:ext cx="10515600" cy="4351338"/>
          </a:xfrm>
        </p:spPr>
        <p:txBody>
          <a:bodyPr/>
          <a:lstStyle/>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505081944"/>
              </p:ext>
            </p:extLst>
          </p:nvPr>
        </p:nvGraphicFramePr>
        <p:xfrm>
          <a:off x="293914" y="87087"/>
          <a:ext cx="11898086" cy="6473837"/>
        </p:xfrm>
        <a:graphic>
          <a:graphicData uri="http://schemas.openxmlformats.org/drawingml/2006/table">
            <a:tbl>
              <a:tblPr/>
              <a:tblGrid>
                <a:gridCol w="11898086">
                  <a:extLst>
                    <a:ext uri="{9D8B030D-6E8A-4147-A177-3AD203B41FA5}">
                      <a16:colId xmlns:a16="http://schemas.microsoft.com/office/drawing/2014/main" val="20000"/>
                    </a:ext>
                  </a:extLst>
                </a:gridCol>
              </a:tblGrid>
              <a:tr h="8662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dirty="0">
                          <a:effectLst/>
                          <a:latin typeface="Times New Roman" panose="02020603050405020304" pitchFamily="18" charset="0"/>
                          <a:cs typeface="Times New Roman" panose="02020603050405020304" pitchFamily="18" charset="0"/>
                        </a:rPr>
                        <a:t>Attribute &amp; Description</a:t>
                      </a:r>
                    </a:p>
                    <a:p>
                      <a:endParaRPr lang="en-US" sz="2400" dirty="0">
                        <a:latin typeface="Times New Roman" panose="02020603050405020304" pitchFamily="18" charset="0"/>
                        <a:cs typeface="Times New Roman" panose="02020603050405020304" pitchFamily="18" charset="0"/>
                      </a:endParaRPr>
                    </a:p>
                  </a:txBody>
                  <a:tcPr marL="47126" marR="47126" marT="23563" marB="23563">
                    <a:lnL w="9525" cap="flat" cmpd="sng" algn="ctr">
                      <a:solidFill>
                        <a:srgbClr val="DDDDDD"/>
                      </a:solidFill>
                      <a:prstDash val="solid"/>
                      <a:round/>
                      <a:headEnd type="none" w="med" len="med"/>
                      <a:tailEnd type="none" w="med" len="med"/>
                    </a:lnL>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1590579">
                <a:tc>
                  <a:txBody>
                    <a:bodyPr/>
                    <a:lstStyle/>
                    <a:p>
                      <a:pPr algn="just" fontAlgn="t"/>
                      <a:r>
                        <a:rPr lang="en-US" sz="2400" b="1" dirty="0">
                          <a:solidFill>
                            <a:srgbClr val="000000"/>
                          </a:solidFill>
                          <a:effectLst/>
                          <a:latin typeface="Times New Roman" panose="02020603050405020304" pitchFamily="18" charset="0"/>
                          <a:cs typeface="Times New Roman" panose="02020603050405020304" pitchFamily="18" charset="0"/>
                        </a:rPr>
                        <a:t>%FOUND</a:t>
                      </a:r>
                      <a:endParaRPr lang="en-US" sz="2400" dirty="0">
                        <a:solidFill>
                          <a:srgbClr val="000000"/>
                        </a:solidFill>
                        <a:effectLst/>
                        <a:latin typeface="Times New Roman" panose="02020603050405020304" pitchFamily="18" charset="0"/>
                        <a:cs typeface="Times New Roman" panose="02020603050405020304" pitchFamily="18" charset="0"/>
                      </a:endParaRPr>
                    </a:p>
                    <a:p>
                      <a:pPr algn="just" fontAlgn="t"/>
                      <a:r>
                        <a:rPr lang="en-US" sz="2400" dirty="0">
                          <a:solidFill>
                            <a:srgbClr val="000000"/>
                          </a:solidFill>
                          <a:effectLst/>
                          <a:latin typeface="Times New Roman" panose="02020603050405020304" pitchFamily="18" charset="0"/>
                          <a:cs typeface="Times New Roman" panose="02020603050405020304" pitchFamily="18" charset="0"/>
                        </a:rPr>
                        <a:t>Returns TRUE if an INSERT, UPDATE, or DELETE statement affected one or more rows or a SELECT INTO statement returned one or more rows. Otherwise, it returns FALSE.</a:t>
                      </a:r>
                    </a:p>
                  </a:txBody>
                  <a:tcPr marL="39272" marR="39272" marT="39272" marB="3927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590579">
                <a:tc>
                  <a:txBody>
                    <a:bodyPr/>
                    <a:lstStyle/>
                    <a:p>
                      <a:pPr algn="just" fontAlgn="t"/>
                      <a:r>
                        <a:rPr lang="en-US" sz="2400" b="1" dirty="0">
                          <a:solidFill>
                            <a:srgbClr val="000000"/>
                          </a:solidFill>
                          <a:effectLst/>
                          <a:latin typeface="Times New Roman" panose="02020603050405020304" pitchFamily="18" charset="0"/>
                          <a:cs typeface="Times New Roman" panose="02020603050405020304" pitchFamily="18" charset="0"/>
                        </a:rPr>
                        <a:t>%NOTFOUND</a:t>
                      </a:r>
                      <a:endParaRPr lang="en-US" sz="2400" dirty="0">
                        <a:solidFill>
                          <a:srgbClr val="000000"/>
                        </a:solidFill>
                        <a:effectLst/>
                        <a:latin typeface="Times New Roman" panose="02020603050405020304" pitchFamily="18" charset="0"/>
                        <a:cs typeface="Times New Roman" panose="02020603050405020304" pitchFamily="18" charset="0"/>
                      </a:endParaRPr>
                    </a:p>
                    <a:p>
                      <a:pPr algn="just" fontAlgn="t"/>
                      <a:r>
                        <a:rPr lang="en-US" sz="2400" dirty="0">
                          <a:solidFill>
                            <a:srgbClr val="000000"/>
                          </a:solidFill>
                          <a:effectLst/>
                          <a:latin typeface="Times New Roman" panose="02020603050405020304" pitchFamily="18" charset="0"/>
                          <a:cs typeface="Times New Roman" panose="02020603050405020304" pitchFamily="18" charset="0"/>
                        </a:rPr>
                        <a:t>The logical opposite of %FOUND. It returns TRUE if an INSERT, UPDATE, or DELETE statement affected no rows, or a SELECT INTO statement returned no rows. Otherwise, it returns FALSE.</a:t>
                      </a:r>
                    </a:p>
                  </a:txBody>
                  <a:tcPr marL="39272" marR="39272" marT="39272" marB="3927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1213194">
                <a:tc>
                  <a:txBody>
                    <a:bodyPr/>
                    <a:lstStyle/>
                    <a:p>
                      <a:pPr algn="just" fontAlgn="t"/>
                      <a:r>
                        <a:rPr lang="en-US" sz="2400" b="1" dirty="0">
                          <a:solidFill>
                            <a:srgbClr val="000000"/>
                          </a:solidFill>
                          <a:effectLst/>
                          <a:latin typeface="Times New Roman" panose="02020603050405020304" pitchFamily="18" charset="0"/>
                          <a:cs typeface="Times New Roman" panose="02020603050405020304" pitchFamily="18" charset="0"/>
                        </a:rPr>
                        <a:t>%ISOPEN</a:t>
                      </a:r>
                      <a:endParaRPr lang="en-US" sz="2400" dirty="0">
                        <a:solidFill>
                          <a:srgbClr val="000000"/>
                        </a:solidFill>
                        <a:effectLst/>
                        <a:latin typeface="Times New Roman" panose="02020603050405020304" pitchFamily="18" charset="0"/>
                        <a:cs typeface="Times New Roman" panose="02020603050405020304" pitchFamily="18" charset="0"/>
                      </a:endParaRPr>
                    </a:p>
                    <a:p>
                      <a:pPr algn="just" fontAlgn="t"/>
                      <a:r>
                        <a:rPr lang="en-US" sz="2400" dirty="0">
                          <a:solidFill>
                            <a:srgbClr val="000000"/>
                          </a:solidFill>
                          <a:effectLst/>
                          <a:latin typeface="Times New Roman" panose="02020603050405020304" pitchFamily="18" charset="0"/>
                          <a:cs typeface="Times New Roman" panose="02020603050405020304" pitchFamily="18" charset="0"/>
                        </a:rPr>
                        <a:t>Always returns FALSE for implicit cursors, because Oracle closes the SQL cursor automatically after executing its associated SQL statement.</a:t>
                      </a:r>
                    </a:p>
                  </a:txBody>
                  <a:tcPr marL="39272" marR="39272" marT="39272" marB="3927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1213194">
                <a:tc>
                  <a:txBody>
                    <a:bodyPr/>
                    <a:lstStyle/>
                    <a:p>
                      <a:pPr algn="just" fontAlgn="t"/>
                      <a:r>
                        <a:rPr lang="en-US" sz="2400" b="1" dirty="0">
                          <a:solidFill>
                            <a:srgbClr val="000000"/>
                          </a:solidFill>
                          <a:effectLst/>
                          <a:latin typeface="Times New Roman" panose="02020603050405020304" pitchFamily="18" charset="0"/>
                          <a:cs typeface="Times New Roman" panose="02020603050405020304" pitchFamily="18" charset="0"/>
                        </a:rPr>
                        <a:t>%ROWCOUNT</a:t>
                      </a:r>
                      <a:endParaRPr lang="en-US" sz="2400" dirty="0">
                        <a:solidFill>
                          <a:srgbClr val="000000"/>
                        </a:solidFill>
                        <a:effectLst/>
                        <a:latin typeface="Times New Roman" panose="02020603050405020304" pitchFamily="18" charset="0"/>
                        <a:cs typeface="Times New Roman" panose="02020603050405020304" pitchFamily="18" charset="0"/>
                      </a:endParaRPr>
                    </a:p>
                    <a:p>
                      <a:pPr algn="just" fontAlgn="t"/>
                      <a:r>
                        <a:rPr lang="en-US" sz="2400" dirty="0">
                          <a:solidFill>
                            <a:srgbClr val="000000"/>
                          </a:solidFill>
                          <a:effectLst/>
                          <a:latin typeface="Times New Roman" panose="02020603050405020304" pitchFamily="18" charset="0"/>
                          <a:cs typeface="Times New Roman" panose="02020603050405020304" pitchFamily="18" charset="0"/>
                        </a:rPr>
                        <a:t>Returns the number of rows affected by an INSERT, UPDATE, or DELETE statement, or returned by a SELECT INTO statement.</a:t>
                      </a:r>
                    </a:p>
                  </a:txBody>
                  <a:tcPr marL="39272" marR="39272" marT="39272" marB="3927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473554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477898"/>
            <a:ext cx="10515600" cy="5699065"/>
          </a:xfrm>
        </p:spPr>
        <p:txBody>
          <a:bodyPr/>
          <a:lstStyle/>
          <a:p>
            <a:r>
              <a:rPr lang="en-US" sz="3200" dirty="0"/>
              <a:t>CUSTOMERS table we had created.</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645029066"/>
              </p:ext>
            </p:extLst>
          </p:nvPr>
        </p:nvGraphicFramePr>
        <p:xfrm>
          <a:off x="1077687" y="2079171"/>
          <a:ext cx="9231085" cy="4300931"/>
        </p:xfrm>
        <a:graphic>
          <a:graphicData uri="http://schemas.openxmlformats.org/drawingml/2006/table">
            <a:tbl>
              <a:tblPr firstRow="1" bandRow="1">
                <a:tableStyleId>{5940675A-B579-460E-94D1-54222C63F5DA}</a:tableStyleId>
              </a:tblPr>
              <a:tblGrid>
                <a:gridCol w="1102219">
                  <a:extLst>
                    <a:ext uri="{9D8B030D-6E8A-4147-A177-3AD203B41FA5}">
                      <a16:colId xmlns:a16="http://schemas.microsoft.com/office/drawing/2014/main" val="20000"/>
                    </a:ext>
                  </a:extLst>
                </a:gridCol>
                <a:gridCol w="2066661">
                  <a:extLst>
                    <a:ext uri="{9D8B030D-6E8A-4147-A177-3AD203B41FA5}">
                      <a16:colId xmlns:a16="http://schemas.microsoft.com/office/drawing/2014/main" val="20001"/>
                    </a:ext>
                  </a:extLst>
                </a:gridCol>
                <a:gridCol w="1377774">
                  <a:extLst>
                    <a:ext uri="{9D8B030D-6E8A-4147-A177-3AD203B41FA5}">
                      <a16:colId xmlns:a16="http://schemas.microsoft.com/office/drawing/2014/main" val="20002"/>
                    </a:ext>
                  </a:extLst>
                </a:gridCol>
                <a:gridCol w="2617770">
                  <a:extLst>
                    <a:ext uri="{9D8B030D-6E8A-4147-A177-3AD203B41FA5}">
                      <a16:colId xmlns:a16="http://schemas.microsoft.com/office/drawing/2014/main" val="20003"/>
                    </a:ext>
                  </a:extLst>
                </a:gridCol>
                <a:gridCol w="2066661">
                  <a:extLst>
                    <a:ext uri="{9D8B030D-6E8A-4147-A177-3AD203B41FA5}">
                      <a16:colId xmlns:a16="http://schemas.microsoft.com/office/drawing/2014/main" val="20004"/>
                    </a:ext>
                  </a:extLst>
                </a:gridCol>
              </a:tblGrid>
              <a:tr h="675353">
                <a:tc>
                  <a:txBody>
                    <a:bodyPr/>
                    <a:lstStyle/>
                    <a:p>
                      <a:pPr algn="ctr"/>
                      <a:r>
                        <a:rPr lang="en-IN" sz="3200" b="1" dirty="0">
                          <a:latin typeface="Times New Roman" panose="02020603050405020304" pitchFamily="18" charset="0"/>
                          <a:cs typeface="Times New Roman" panose="02020603050405020304" pitchFamily="18" charset="0"/>
                        </a:rPr>
                        <a:t>ID </a:t>
                      </a:r>
                    </a:p>
                  </a:txBody>
                  <a:tcPr/>
                </a:tc>
                <a:tc>
                  <a:txBody>
                    <a:bodyPr/>
                    <a:lstStyle/>
                    <a:p>
                      <a:pPr algn="ctr"/>
                      <a:r>
                        <a:rPr lang="en-US" sz="3200" b="1" dirty="0">
                          <a:latin typeface="Times New Roman" panose="02020603050405020304" pitchFamily="18" charset="0"/>
                          <a:cs typeface="Times New Roman" panose="02020603050405020304" pitchFamily="18" charset="0"/>
                        </a:rPr>
                        <a:t>Name </a:t>
                      </a:r>
                      <a:endParaRPr lang="en-IN" sz="3200" b="1"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latin typeface="Times New Roman" panose="02020603050405020304" pitchFamily="18" charset="0"/>
                          <a:cs typeface="Times New Roman" panose="02020603050405020304" pitchFamily="18" charset="0"/>
                        </a:rPr>
                        <a:t>Age</a:t>
                      </a:r>
                      <a:endParaRPr lang="en-IN" sz="3200" b="1"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latin typeface="Times New Roman" panose="02020603050405020304" pitchFamily="18" charset="0"/>
                          <a:cs typeface="Times New Roman" panose="02020603050405020304" pitchFamily="18" charset="0"/>
                        </a:rPr>
                        <a:t>Address</a:t>
                      </a:r>
                      <a:endParaRPr lang="en-IN" sz="3200" b="1"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latin typeface="Times New Roman" panose="02020603050405020304" pitchFamily="18" charset="0"/>
                          <a:cs typeface="Times New Roman" panose="02020603050405020304" pitchFamily="18" charset="0"/>
                        </a:rPr>
                        <a:t>Salary</a:t>
                      </a:r>
                      <a:endParaRPr lang="en-IN" sz="3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604263">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IN" sz="2800" dirty="0">
                          <a:latin typeface="Times New Roman" panose="02020603050405020304" pitchFamily="18" charset="0"/>
                          <a:cs typeface="Times New Roman" panose="02020603050405020304" pitchFamily="18" charset="0"/>
                        </a:rPr>
                        <a:t>Ramesh</a:t>
                      </a:r>
                    </a:p>
                  </a:txBody>
                  <a:tcPr/>
                </a:tc>
                <a:tc>
                  <a:txBody>
                    <a:bodyPr/>
                    <a:lstStyle/>
                    <a:p>
                      <a:pPr algn="ctr"/>
                      <a:r>
                        <a:rPr lang="en-IN" sz="2800" dirty="0">
                          <a:latin typeface="Times New Roman" panose="02020603050405020304" pitchFamily="18" charset="0"/>
                          <a:cs typeface="Times New Roman" panose="02020603050405020304" pitchFamily="18" charset="0"/>
                        </a:rPr>
                        <a:t>32</a:t>
                      </a:r>
                    </a:p>
                  </a:txBody>
                  <a:tcPr/>
                </a:tc>
                <a:tc>
                  <a:txBody>
                    <a:bodyPr/>
                    <a:lstStyle/>
                    <a:p>
                      <a:pPr algn="ctr"/>
                      <a:r>
                        <a:rPr lang="en-IN" sz="2800" dirty="0">
                          <a:latin typeface="Times New Roman" panose="02020603050405020304" pitchFamily="18" charset="0"/>
                          <a:cs typeface="Times New Roman" panose="02020603050405020304" pitchFamily="18" charset="0"/>
                        </a:rPr>
                        <a:t>Ahmedabad </a:t>
                      </a:r>
                    </a:p>
                  </a:txBody>
                  <a:tcPr/>
                </a:tc>
                <a:tc>
                  <a:txBody>
                    <a:bodyPr/>
                    <a:lstStyle/>
                    <a:p>
                      <a:pPr algn="ctr"/>
                      <a:r>
                        <a:rPr lang="en-IN" sz="2800" dirty="0">
                          <a:latin typeface="Times New Roman" panose="02020603050405020304" pitchFamily="18" charset="0"/>
                          <a:cs typeface="Times New Roman" panose="02020603050405020304" pitchFamily="18" charset="0"/>
                        </a:rPr>
                        <a:t>2000 </a:t>
                      </a:r>
                    </a:p>
                  </a:txBody>
                  <a:tcPr/>
                </a:tc>
                <a:extLst>
                  <a:ext uri="{0D108BD9-81ED-4DB2-BD59-A6C34878D82A}">
                    <a16:rowId xmlns:a16="http://schemas.microsoft.com/office/drawing/2014/main" val="10001"/>
                  </a:ext>
                </a:extLst>
              </a:tr>
              <a:tr h="604263">
                <a:tc>
                  <a:txBody>
                    <a:bodyPr/>
                    <a:lstStyle/>
                    <a:p>
                      <a:pPr algn="ctr"/>
                      <a:r>
                        <a:rPr lang="en-US" sz="2800" dirty="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Ravi</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25</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Delhi</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1500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04263">
                <a:tc>
                  <a:txBody>
                    <a:bodyPr/>
                    <a:lstStyle/>
                    <a:p>
                      <a:pPr algn="ctr"/>
                      <a:r>
                        <a:rPr lang="en-US" sz="2800" dirty="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IN" sz="2800" dirty="0">
                          <a:latin typeface="Times New Roman" panose="02020603050405020304" pitchFamily="18" charset="0"/>
                          <a:cs typeface="Times New Roman" panose="02020603050405020304" pitchFamily="18" charset="0"/>
                        </a:rPr>
                        <a:t>Kumar</a:t>
                      </a:r>
                    </a:p>
                  </a:txBody>
                  <a:tcPr/>
                </a:tc>
                <a:tc>
                  <a:txBody>
                    <a:bodyPr/>
                    <a:lstStyle/>
                    <a:p>
                      <a:pPr algn="ctr"/>
                      <a:r>
                        <a:rPr lang="en-US" sz="2800" dirty="0">
                          <a:latin typeface="Times New Roman" panose="02020603050405020304" pitchFamily="18" charset="0"/>
                          <a:cs typeface="Times New Roman" panose="02020603050405020304" pitchFamily="18" charset="0"/>
                        </a:rPr>
                        <a:t>23</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Kota</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2000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604263">
                <a:tc>
                  <a:txBody>
                    <a:bodyPr/>
                    <a:lstStyle/>
                    <a:p>
                      <a:pPr algn="ctr"/>
                      <a:r>
                        <a:rPr lang="en-US" sz="2800" dirty="0">
                          <a:latin typeface="Times New Roman" panose="02020603050405020304" pitchFamily="18" charset="0"/>
                          <a:cs typeface="Times New Roman" panose="02020603050405020304" pitchFamily="18" charset="0"/>
                        </a:rPr>
                        <a:t>4</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err="1">
                          <a:latin typeface="Times New Roman" panose="02020603050405020304" pitchFamily="18" charset="0"/>
                          <a:cs typeface="Times New Roman" panose="02020603050405020304" pitchFamily="18" charset="0"/>
                        </a:rPr>
                        <a:t>Sai</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25</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Mumbai</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6500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604263">
                <a:tc>
                  <a:txBody>
                    <a:bodyPr/>
                    <a:lstStyle/>
                    <a:p>
                      <a:pPr algn="ctr"/>
                      <a:r>
                        <a:rPr lang="en-US" sz="2800" dirty="0">
                          <a:latin typeface="Times New Roman" panose="02020603050405020304" pitchFamily="18" charset="0"/>
                          <a:cs typeface="Times New Roman" panose="02020603050405020304" pitchFamily="18" charset="0"/>
                        </a:rPr>
                        <a:t>5</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Ram</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27</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err="1">
                          <a:latin typeface="Times New Roman" panose="02020603050405020304" pitchFamily="18" charset="0"/>
                          <a:cs typeface="Times New Roman" panose="02020603050405020304" pitchFamily="18" charset="0"/>
                        </a:rPr>
                        <a:t>Bhopla</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8500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604263">
                <a:tc>
                  <a:txBody>
                    <a:bodyPr/>
                    <a:lstStyle/>
                    <a:p>
                      <a:pPr algn="ctr"/>
                      <a:r>
                        <a:rPr lang="en-US" sz="2800" dirty="0">
                          <a:latin typeface="Times New Roman" panose="02020603050405020304" pitchFamily="18" charset="0"/>
                          <a:cs typeface="Times New Roman" panose="02020603050405020304" pitchFamily="18" charset="0"/>
                        </a:rPr>
                        <a:t>6</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err="1">
                          <a:latin typeface="Times New Roman" panose="02020603050405020304" pitchFamily="18" charset="0"/>
                          <a:cs typeface="Times New Roman" panose="02020603050405020304" pitchFamily="18" charset="0"/>
                        </a:rPr>
                        <a:t>Sita</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28</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MP</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4500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501040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1504"/>
            <a:ext cx="10515600" cy="4375459"/>
          </a:xfrm>
        </p:spPr>
        <p:txBody>
          <a:bodyPr/>
          <a:lstStyle/>
          <a:p>
            <a:r>
              <a:rPr lang="en-US" dirty="0"/>
              <a:t> </a:t>
            </a:r>
          </a:p>
        </p:txBody>
      </p:sp>
      <p:sp>
        <p:nvSpPr>
          <p:cNvPr id="4" name="Rectangle 1"/>
          <p:cNvSpPr>
            <a:spLocks noChangeArrowheads="1"/>
          </p:cNvSpPr>
          <p:nvPr/>
        </p:nvSpPr>
        <p:spPr bwMode="auto">
          <a:xfrm>
            <a:off x="150545" y="348525"/>
            <a:ext cx="10343954" cy="62016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rgbClr val="000000"/>
              </a:solidFill>
              <a:effectLst/>
              <a:latin typeface="var(--bs-font-monospace)"/>
            </a:endParaRPr>
          </a:p>
          <a:p>
            <a:pPr lvl="0"/>
            <a:r>
              <a:rPr lang="en-US" sz="2000" dirty="0">
                <a:latin typeface="Times New Roman" panose="02020603050405020304" pitchFamily="18" charset="0"/>
                <a:cs typeface="Times New Roman" panose="02020603050405020304" pitchFamily="18" charset="0"/>
              </a:rPr>
              <a:t>The following program will update the table and increase the salary of each customer by 500 and use the </a:t>
            </a:r>
            <a:r>
              <a:rPr lang="en-US" sz="2000" b="1" dirty="0">
                <a:latin typeface="Times New Roman" panose="02020603050405020304" pitchFamily="18" charset="0"/>
                <a:cs typeface="Times New Roman" panose="02020603050405020304" pitchFamily="18" charset="0"/>
              </a:rPr>
              <a:t>SQL%ROWCOUNT</a:t>
            </a:r>
            <a:r>
              <a:rPr lang="en-US" sz="2000" dirty="0">
                <a:latin typeface="Times New Roman" panose="02020603050405020304" pitchFamily="18" charset="0"/>
                <a:cs typeface="Times New Roman" panose="02020603050405020304" pitchFamily="18" charset="0"/>
              </a:rPr>
              <a:t> </a:t>
            </a:r>
          </a:p>
          <a:p>
            <a:pPr lvl="0"/>
            <a:r>
              <a:rPr lang="en-US" sz="2000" dirty="0">
                <a:latin typeface="Times New Roman" panose="02020603050405020304" pitchFamily="18" charset="0"/>
                <a:cs typeface="Times New Roman" panose="02020603050405020304" pitchFamily="18" charset="0"/>
              </a:rPr>
              <a:t>attribute to determine the number of rows affected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total_rows</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number(2);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BEGIN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UPDATE customers SET salary = salary + 500;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IF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sql%notfound</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THEN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('no customers selected');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ELSIF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sql%found</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THEN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total_rows</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sql%rowcount</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err="1">
                <a:ln>
                  <a:noFill/>
                </a:ln>
                <a:effectLst/>
                <a:latin typeface="Times New Roman" panose="02020603050405020304" pitchFamily="18" charset="0"/>
                <a:cs typeface="Times New Roman" panose="02020603050405020304" pitchFamily="18" charset="0"/>
              </a:rPr>
              <a:t>total_rows</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 ' customers selected '); </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latin typeface="Times New Roman" panose="02020603050405020304" pitchFamily="18" charset="0"/>
                <a:cs typeface="Times New Roman" panose="02020603050405020304" pitchFamily="18" charset="0"/>
              </a:rPr>
              <a:t> </a:t>
            </a: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END IF;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 END;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result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Times New Roman" panose="02020603050405020304" pitchFamily="18" charset="0"/>
                <a:cs typeface="Times New Roman" panose="02020603050405020304" pitchFamily="18" charset="0"/>
              </a:rPr>
              <a:t>6 customers selected PL/SQL procedure successfully completed. </a:t>
            </a:r>
          </a:p>
          <a:p>
            <a:pPr lvl="0"/>
            <a:r>
              <a:rPr lang="en-US" sz="2000" dirty="0">
                <a:latin typeface="Times New Roman" panose="02020603050405020304" pitchFamily="18" charset="0"/>
                <a:cs typeface="Times New Roman" panose="02020603050405020304" pitchFamily="18" charset="0"/>
              </a:rPr>
              <a:t>If you check the records in customers table, you will find that the rows have been updated…</a:t>
            </a:r>
          </a:p>
          <a:p>
            <a:pPr lvl="0"/>
            <a:endParaRPr kumimoji="0" lang="en-US" sz="2000" b="0" i="0" u="none" strike="noStrike" cap="none" normalizeH="0" baseline="0" dirty="0">
              <a:ln>
                <a:noFill/>
              </a:ln>
              <a:effectLst/>
            </a:endParaRPr>
          </a:p>
          <a:p>
            <a:pPr lvl="0"/>
            <a:r>
              <a:rPr lang="en-US" sz="2000" dirty="0"/>
              <a:t> Select * from customer;</a:t>
            </a:r>
            <a:endParaRPr kumimoji="0" lang="en-US" sz="2000" b="0" i="0" u="none" strike="noStrike" cap="none" normalizeH="0" baseline="0" dirty="0">
              <a:ln>
                <a:noFill/>
              </a:ln>
              <a:effectLst/>
            </a:endParaRPr>
          </a:p>
        </p:txBody>
      </p:sp>
      <p:graphicFrame>
        <p:nvGraphicFramePr>
          <p:cNvPr id="6" name="Table 5"/>
          <p:cNvGraphicFramePr>
            <a:graphicFrameLocks noGrp="1"/>
          </p:cNvGraphicFramePr>
          <p:nvPr>
            <p:extLst>
              <p:ext uri="{D42A27DB-BD31-4B8C-83A1-F6EECF244321}">
                <p14:modId xmlns:p14="http://schemas.microsoft.com/office/powerpoint/2010/main" val="2503832212"/>
              </p:ext>
            </p:extLst>
          </p:nvPr>
        </p:nvGraphicFramePr>
        <p:xfrm>
          <a:off x="6346372" y="975427"/>
          <a:ext cx="5845628" cy="3008743"/>
        </p:xfrm>
        <a:graphic>
          <a:graphicData uri="http://schemas.openxmlformats.org/drawingml/2006/table">
            <a:tbl>
              <a:tblPr firstRow="1" bandRow="1">
                <a:tableStyleId>{5940675A-B579-460E-94D1-54222C63F5DA}</a:tableStyleId>
              </a:tblPr>
              <a:tblGrid>
                <a:gridCol w="697985">
                  <a:extLst>
                    <a:ext uri="{9D8B030D-6E8A-4147-A177-3AD203B41FA5}">
                      <a16:colId xmlns:a16="http://schemas.microsoft.com/office/drawing/2014/main" val="20000"/>
                    </a:ext>
                  </a:extLst>
                </a:gridCol>
                <a:gridCol w="1308723">
                  <a:extLst>
                    <a:ext uri="{9D8B030D-6E8A-4147-A177-3AD203B41FA5}">
                      <a16:colId xmlns:a16="http://schemas.microsoft.com/office/drawing/2014/main" val="20001"/>
                    </a:ext>
                  </a:extLst>
                </a:gridCol>
                <a:gridCol w="872482">
                  <a:extLst>
                    <a:ext uri="{9D8B030D-6E8A-4147-A177-3AD203B41FA5}">
                      <a16:colId xmlns:a16="http://schemas.microsoft.com/office/drawing/2014/main" val="20002"/>
                    </a:ext>
                  </a:extLst>
                </a:gridCol>
                <a:gridCol w="1657715">
                  <a:extLst>
                    <a:ext uri="{9D8B030D-6E8A-4147-A177-3AD203B41FA5}">
                      <a16:colId xmlns:a16="http://schemas.microsoft.com/office/drawing/2014/main" val="20003"/>
                    </a:ext>
                  </a:extLst>
                </a:gridCol>
                <a:gridCol w="1308723">
                  <a:extLst>
                    <a:ext uri="{9D8B030D-6E8A-4147-A177-3AD203B41FA5}">
                      <a16:colId xmlns:a16="http://schemas.microsoft.com/office/drawing/2014/main" val="20004"/>
                    </a:ext>
                  </a:extLst>
                </a:gridCol>
              </a:tblGrid>
              <a:tr h="528229">
                <a:tc>
                  <a:txBody>
                    <a:bodyPr/>
                    <a:lstStyle/>
                    <a:p>
                      <a:r>
                        <a:rPr lang="en-IN" dirty="0"/>
                        <a:t>ID </a:t>
                      </a:r>
                    </a:p>
                  </a:txBody>
                  <a:tcPr/>
                </a:tc>
                <a:tc>
                  <a:txBody>
                    <a:bodyPr/>
                    <a:lstStyle/>
                    <a:p>
                      <a:r>
                        <a:rPr lang="en-US" dirty="0"/>
                        <a:t>Name </a:t>
                      </a:r>
                      <a:endParaRPr lang="en-IN" dirty="0"/>
                    </a:p>
                  </a:txBody>
                  <a:tcPr/>
                </a:tc>
                <a:tc>
                  <a:txBody>
                    <a:bodyPr/>
                    <a:lstStyle/>
                    <a:p>
                      <a:r>
                        <a:rPr lang="en-US" dirty="0"/>
                        <a:t>Age</a:t>
                      </a:r>
                      <a:endParaRPr lang="en-IN" dirty="0"/>
                    </a:p>
                  </a:txBody>
                  <a:tcPr/>
                </a:tc>
                <a:tc>
                  <a:txBody>
                    <a:bodyPr/>
                    <a:lstStyle/>
                    <a:p>
                      <a:r>
                        <a:rPr lang="en-US" dirty="0"/>
                        <a:t>Address</a:t>
                      </a:r>
                      <a:endParaRPr lang="en-IN" dirty="0"/>
                    </a:p>
                  </a:txBody>
                  <a:tcPr/>
                </a:tc>
                <a:tc>
                  <a:txBody>
                    <a:bodyPr/>
                    <a:lstStyle/>
                    <a:p>
                      <a:r>
                        <a:rPr lang="en-US" dirty="0"/>
                        <a:t>Salary</a:t>
                      </a:r>
                      <a:endParaRPr lang="en-IN" dirty="0"/>
                    </a:p>
                  </a:txBody>
                  <a:tcPr/>
                </a:tc>
                <a:extLst>
                  <a:ext uri="{0D108BD9-81ED-4DB2-BD59-A6C34878D82A}">
                    <a16:rowId xmlns:a16="http://schemas.microsoft.com/office/drawing/2014/main" val="10000"/>
                  </a:ext>
                </a:extLst>
              </a:tr>
              <a:tr h="413419">
                <a:tc>
                  <a:txBody>
                    <a:bodyPr/>
                    <a:lstStyle/>
                    <a:p>
                      <a:r>
                        <a:rPr lang="en-US" dirty="0"/>
                        <a:t>1</a:t>
                      </a:r>
                      <a:endParaRPr lang="en-IN" dirty="0"/>
                    </a:p>
                  </a:txBody>
                  <a:tcPr/>
                </a:tc>
                <a:tc>
                  <a:txBody>
                    <a:bodyPr/>
                    <a:lstStyle/>
                    <a:p>
                      <a:r>
                        <a:rPr lang="en-IN" dirty="0"/>
                        <a:t>Ramesh</a:t>
                      </a:r>
                    </a:p>
                  </a:txBody>
                  <a:tcPr/>
                </a:tc>
                <a:tc>
                  <a:txBody>
                    <a:bodyPr/>
                    <a:lstStyle/>
                    <a:p>
                      <a:pPr algn="ctr"/>
                      <a:r>
                        <a:rPr lang="en-IN" dirty="0"/>
                        <a:t>32</a:t>
                      </a:r>
                    </a:p>
                  </a:txBody>
                  <a:tcPr/>
                </a:tc>
                <a:tc>
                  <a:txBody>
                    <a:bodyPr/>
                    <a:lstStyle/>
                    <a:p>
                      <a:r>
                        <a:rPr lang="en-IN" dirty="0"/>
                        <a:t>Ahmedabad </a:t>
                      </a:r>
                    </a:p>
                  </a:txBody>
                  <a:tcPr/>
                </a:tc>
                <a:tc>
                  <a:txBody>
                    <a:bodyPr/>
                    <a:lstStyle/>
                    <a:p>
                      <a:r>
                        <a:rPr lang="en-IN" dirty="0"/>
                        <a:t>2500</a:t>
                      </a:r>
                    </a:p>
                  </a:txBody>
                  <a:tcPr/>
                </a:tc>
                <a:extLst>
                  <a:ext uri="{0D108BD9-81ED-4DB2-BD59-A6C34878D82A}">
                    <a16:rowId xmlns:a16="http://schemas.microsoft.com/office/drawing/2014/main" val="10001"/>
                  </a:ext>
                </a:extLst>
              </a:tr>
              <a:tr h="413419">
                <a:tc>
                  <a:txBody>
                    <a:bodyPr/>
                    <a:lstStyle/>
                    <a:p>
                      <a:r>
                        <a:rPr lang="en-US" dirty="0"/>
                        <a:t>2</a:t>
                      </a:r>
                      <a:endParaRPr lang="en-IN" dirty="0"/>
                    </a:p>
                  </a:txBody>
                  <a:tcPr/>
                </a:tc>
                <a:tc>
                  <a:txBody>
                    <a:bodyPr/>
                    <a:lstStyle/>
                    <a:p>
                      <a:r>
                        <a:rPr lang="en-US" dirty="0"/>
                        <a:t>Ravi</a:t>
                      </a:r>
                      <a:endParaRPr lang="en-IN" dirty="0"/>
                    </a:p>
                  </a:txBody>
                  <a:tcPr/>
                </a:tc>
                <a:tc>
                  <a:txBody>
                    <a:bodyPr/>
                    <a:lstStyle/>
                    <a:p>
                      <a:r>
                        <a:rPr lang="en-US" dirty="0"/>
                        <a:t>25</a:t>
                      </a:r>
                      <a:endParaRPr lang="en-IN" dirty="0"/>
                    </a:p>
                  </a:txBody>
                  <a:tcPr/>
                </a:tc>
                <a:tc>
                  <a:txBody>
                    <a:bodyPr/>
                    <a:lstStyle/>
                    <a:p>
                      <a:r>
                        <a:rPr lang="en-US" dirty="0"/>
                        <a:t>Delhi</a:t>
                      </a:r>
                      <a:endParaRPr lang="en-IN" dirty="0"/>
                    </a:p>
                  </a:txBody>
                  <a:tcPr/>
                </a:tc>
                <a:tc>
                  <a:txBody>
                    <a:bodyPr/>
                    <a:lstStyle/>
                    <a:p>
                      <a:r>
                        <a:rPr lang="en-US" dirty="0"/>
                        <a:t>2000</a:t>
                      </a:r>
                      <a:endParaRPr lang="en-IN" dirty="0"/>
                    </a:p>
                  </a:txBody>
                  <a:tcPr/>
                </a:tc>
                <a:extLst>
                  <a:ext uri="{0D108BD9-81ED-4DB2-BD59-A6C34878D82A}">
                    <a16:rowId xmlns:a16="http://schemas.microsoft.com/office/drawing/2014/main" val="10002"/>
                  </a:ext>
                </a:extLst>
              </a:tr>
              <a:tr h="413419">
                <a:tc>
                  <a:txBody>
                    <a:bodyPr/>
                    <a:lstStyle/>
                    <a:p>
                      <a:r>
                        <a:rPr lang="en-US" dirty="0"/>
                        <a:t>3</a:t>
                      </a:r>
                      <a:endParaRPr lang="en-IN" dirty="0"/>
                    </a:p>
                  </a:txBody>
                  <a:tcPr/>
                </a:tc>
                <a:tc>
                  <a:txBody>
                    <a:bodyPr/>
                    <a:lstStyle/>
                    <a:p>
                      <a:r>
                        <a:rPr lang="en-IN" dirty="0"/>
                        <a:t>Kumar</a:t>
                      </a:r>
                    </a:p>
                  </a:txBody>
                  <a:tcPr/>
                </a:tc>
                <a:tc>
                  <a:txBody>
                    <a:bodyPr/>
                    <a:lstStyle/>
                    <a:p>
                      <a:r>
                        <a:rPr lang="en-US" dirty="0"/>
                        <a:t>23</a:t>
                      </a:r>
                      <a:endParaRPr lang="en-IN" dirty="0"/>
                    </a:p>
                  </a:txBody>
                  <a:tcPr/>
                </a:tc>
                <a:tc>
                  <a:txBody>
                    <a:bodyPr/>
                    <a:lstStyle/>
                    <a:p>
                      <a:r>
                        <a:rPr lang="en-US" dirty="0"/>
                        <a:t>Kota</a:t>
                      </a:r>
                      <a:endParaRPr lang="en-IN" dirty="0"/>
                    </a:p>
                  </a:txBody>
                  <a:tcPr/>
                </a:tc>
                <a:tc>
                  <a:txBody>
                    <a:bodyPr/>
                    <a:lstStyle/>
                    <a:p>
                      <a:r>
                        <a:rPr lang="en-IN" dirty="0"/>
                        <a:t>2500</a:t>
                      </a:r>
                    </a:p>
                  </a:txBody>
                  <a:tcPr/>
                </a:tc>
                <a:extLst>
                  <a:ext uri="{0D108BD9-81ED-4DB2-BD59-A6C34878D82A}">
                    <a16:rowId xmlns:a16="http://schemas.microsoft.com/office/drawing/2014/main" val="10003"/>
                  </a:ext>
                </a:extLst>
              </a:tr>
              <a:tr h="413419">
                <a:tc>
                  <a:txBody>
                    <a:bodyPr/>
                    <a:lstStyle/>
                    <a:p>
                      <a:r>
                        <a:rPr lang="en-US" dirty="0"/>
                        <a:t>4</a:t>
                      </a:r>
                      <a:endParaRPr lang="en-IN" dirty="0"/>
                    </a:p>
                  </a:txBody>
                  <a:tcPr/>
                </a:tc>
                <a:tc>
                  <a:txBody>
                    <a:bodyPr/>
                    <a:lstStyle/>
                    <a:p>
                      <a:r>
                        <a:rPr lang="en-US" dirty="0" err="1"/>
                        <a:t>Sai</a:t>
                      </a:r>
                      <a:endParaRPr lang="en-IN" dirty="0"/>
                    </a:p>
                  </a:txBody>
                  <a:tcPr/>
                </a:tc>
                <a:tc>
                  <a:txBody>
                    <a:bodyPr/>
                    <a:lstStyle/>
                    <a:p>
                      <a:r>
                        <a:rPr lang="en-US" dirty="0"/>
                        <a:t>25</a:t>
                      </a:r>
                      <a:endParaRPr lang="en-IN" dirty="0"/>
                    </a:p>
                  </a:txBody>
                  <a:tcPr/>
                </a:tc>
                <a:tc>
                  <a:txBody>
                    <a:bodyPr/>
                    <a:lstStyle/>
                    <a:p>
                      <a:r>
                        <a:rPr lang="en-US" dirty="0"/>
                        <a:t>Mumbai</a:t>
                      </a:r>
                      <a:endParaRPr lang="en-IN" dirty="0"/>
                    </a:p>
                  </a:txBody>
                  <a:tcPr/>
                </a:tc>
                <a:tc>
                  <a:txBody>
                    <a:bodyPr/>
                    <a:lstStyle/>
                    <a:p>
                      <a:r>
                        <a:rPr lang="en-US" dirty="0"/>
                        <a:t>7000</a:t>
                      </a:r>
                      <a:endParaRPr lang="en-IN" dirty="0"/>
                    </a:p>
                  </a:txBody>
                  <a:tcPr/>
                </a:tc>
                <a:extLst>
                  <a:ext uri="{0D108BD9-81ED-4DB2-BD59-A6C34878D82A}">
                    <a16:rowId xmlns:a16="http://schemas.microsoft.com/office/drawing/2014/main" val="10004"/>
                  </a:ext>
                </a:extLst>
              </a:tr>
              <a:tr h="413419">
                <a:tc>
                  <a:txBody>
                    <a:bodyPr/>
                    <a:lstStyle/>
                    <a:p>
                      <a:r>
                        <a:rPr lang="en-US" dirty="0"/>
                        <a:t>5</a:t>
                      </a:r>
                      <a:endParaRPr lang="en-IN" dirty="0"/>
                    </a:p>
                  </a:txBody>
                  <a:tcPr/>
                </a:tc>
                <a:tc>
                  <a:txBody>
                    <a:bodyPr/>
                    <a:lstStyle/>
                    <a:p>
                      <a:r>
                        <a:rPr lang="en-US" dirty="0"/>
                        <a:t>Ram</a:t>
                      </a:r>
                      <a:endParaRPr lang="en-IN" dirty="0"/>
                    </a:p>
                  </a:txBody>
                  <a:tcPr/>
                </a:tc>
                <a:tc>
                  <a:txBody>
                    <a:bodyPr/>
                    <a:lstStyle/>
                    <a:p>
                      <a:r>
                        <a:rPr lang="en-US" dirty="0"/>
                        <a:t>27</a:t>
                      </a:r>
                      <a:endParaRPr lang="en-IN" dirty="0"/>
                    </a:p>
                  </a:txBody>
                  <a:tcPr/>
                </a:tc>
                <a:tc>
                  <a:txBody>
                    <a:bodyPr/>
                    <a:lstStyle/>
                    <a:p>
                      <a:r>
                        <a:rPr lang="en-US" dirty="0" err="1"/>
                        <a:t>Bhopla</a:t>
                      </a:r>
                      <a:endParaRPr lang="en-IN" dirty="0"/>
                    </a:p>
                  </a:txBody>
                  <a:tcPr/>
                </a:tc>
                <a:tc>
                  <a:txBody>
                    <a:bodyPr/>
                    <a:lstStyle/>
                    <a:p>
                      <a:r>
                        <a:rPr lang="en-IN" dirty="0"/>
                        <a:t>9000</a:t>
                      </a:r>
                    </a:p>
                  </a:txBody>
                  <a:tcPr/>
                </a:tc>
                <a:extLst>
                  <a:ext uri="{0D108BD9-81ED-4DB2-BD59-A6C34878D82A}">
                    <a16:rowId xmlns:a16="http://schemas.microsoft.com/office/drawing/2014/main" val="10005"/>
                  </a:ext>
                </a:extLst>
              </a:tr>
              <a:tr h="413419">
                <a:tc>
                  <a:txBody>
                    <a:bodyPr/>
                    <a:lstStyle/>
                    <a:p>
                      <a:r>
                        <a:rPr lang="en-US" dirty="0"/>
                        <a:t>6</a:t>
                      </a:r>
                      <a:endParaRPr lang="en-IN" dirty="0"/>
                    </a:p>
                  </a:txBody>
                  <a:tcPr/>
                </a:tc>
                <a:tc>
                  <a:txBody>
                    <a:bodyPr/>
                    <a:lstStyle/>
                    <a:p>
                      <a:r>
                        <a:rPr lang="en-US" dirty="0" err="1"/>
                        <a:t>Sita</a:t>
                      </a:r>
                      <a:endParaRPr lang="en-IN" dirty="0"/>
                    </a:p>
                  </a:txBody>
                  <a:tcPr/>
                </a:tc>
                <a:tc>
                  <a:txBody>
                    <a:bodyPr/>
                    <a:lstStyle/>
                    <a:p>
                      <a:r>
                        <a:rPr lang="en-US" dirty="0"/>
                        <a:t>28</a:t>
                      </a:r>
                      <a:endParaRPr lang="en-IN" dirty="0"/>
                    </a:p>
                  </a:txBody>
                  <a:tcPr/>
                </a:tc>
                <a:tc>
                  <a:txBody>
                    <a:bodyPr/>
                    <a:lstStyle/>
                    <a:p>
                      <a:r>
                        <a:rPr lang="en-US" dirty="0"/>
                        <a:t>MP</a:t>
                      </a:r>
                      <a:endParaRPr lang="en-IN" dirty="0"/>
                    </a:p>
                  </a:txBody>
                  <a:tcPr/>
                </a:tc>
                <a:tc>
                  <a:txBody>
                    <a:bodyPr/>
                    <a:lstStyle/>
                    <a:p>
                      <a:r>
                        <a:rPr lang="en-US" dirty="0"/>
                        <a:t>5000</a:t>
                      </a:r>
                      <a:endParaRPr lang="en-IN"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55986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Explicit Cursors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27906"/>
            <a:ext cx="10515600" cy="4967141"/>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Explicit cursors are programmer-defined cursors for gaining more control over the </a:t>
            </a:r>
            <a:r>
              <a:rPr lang="en-US" sz="2400" b="1" dirty="0">
                <a:latin typeface="Times New Roman" panose="02020603050405020304" pitchFamily="18" charset="0"/>
                <a:cs typeface="Times New Roman" panose="02020603050405020304" pitchFamily="18" charset="0"/>
              </a:rPr>
              <a:t>context area</a:t>
            </a:r>
            <a:r>
              <a:rPr lang="en-US" sz="2400" dirty="0">
                <a:latin typeface="Times New Roman" panose="02020603050405020304" pitchFamily="18" charset="0"/>
                <a:cs typeface="Times New Roman" panose="02020603050405020304" pitchFamily="18" charset="0"/>
              </a:rPr>
              <a:t>. An explicit cursor should be defined in the declaration section of the PL/SQL Block. It is created on a SELECT Statement which returns more than one row.</a:t>
            </a:r>
          </a:p>
        </p:txBody>
      </p:sp>
      <p:sp>
        <p:nvSpPr>
          <p:cNvPr id="6" name="Rectangle 2"/>
          <p:cNvSpPr>
            <a:spLocks noChangeArrowheads="1"/>
          </p:cNvSpPr>
          <p:nvPr/>
        </p:nvSpPr>
        <p:spPr bwMode="auto">
          <a:xfrm>
            <a:off x="2488847" y="3067362"/>
            <a:ext cx="6201933" cy="72327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syntax for creating an explicit cursor is −</a:t>
            </a: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CURSOR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cursor_name</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select_statement</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6"/>
          <p:cNvSpPr/>
          <p:nvPr/>
        </p:nvSpPr>
        <p:spPr>
          <a:xfrm>
            <a:off x="1017814" y="3861870"/>
            <a:ext cx="10156371" cy="2795958"/>
          </a:xfrm>
          <a:prstGeom prst="rect">
            <a:avLst/>
          </a:prstGeom>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Working with an explicit cursor includes the following steps −</a:t>
            </a:r>
          </a:p>
          <a:p>
            <a:pPr>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Declaring the cursor for initializing the memory</a:t>
            </a:r>
          </a:p>
          <a:p>
            <a:pPr>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Opening the cursor for allocating the memory</a:t>
            </a:r>
          </a:p>
          <a:p>
            <a:pPr>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Fetching the cursor for retrieving the data</a:t>
            </a:r>
          </a:p>
          <a:p>
            <a:pPr>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Closing the cursor to release the allocated memory</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77440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675"/>
            <a:ext cx="10515600" cy="1325563"/>
          </a:xfrm>
        </p:spPr>
        <p:txBody>
          <a:bodyPr/>
          <a:lstStyle/>
          <a:p>
            <a:pPr algn="ctr"/>
            <a:r>
              <a:rPr lang="en-US" b="1" dirty="0">
                <a:latin typeface="Times New Roman" panose="02020603050405020304" pitchFamily="18" charset="0"/>
                <a:cs typeface="Times New Roman" panose="02020603050405020304" pitchFamily="18" charset="0"/>
              </a:rPr>
              <a:t>Declaring the Cursor</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323860" y="915097"/>
            <a:ext cx="11456213" cy="1892826"/>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Declaring the cursor defines the cursor with a name and the associated SELECT statement.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example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CURSOR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SELECT id</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name</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address FROM customers</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660568" y="3019342"/>
            <a:ext cx="3204723" cy="523220"/>
          </a:xfrm>
          <a:prstGeom prst="rect">
            <a:avLst/>
          </a:prstGeom>
        </p:spPr>
        <p:txBody>
          <a:bodyPr wrap="none">
            <a:spAutoFit/>
          </a:bodyPr>
          <a:lstStyle/>
          <a:p>
            <a:r>
              <a:rPr lang="en-US" sz="2800" dirty="0">
                <a:solidFill>
                  <a:srgbClr val="000000"/>
                </a:solidFill>
                <a:latin typeface="Times New Roman" panose="02020603050405020304" pitchFamily="18" charset="0"/>
                <a:cs typeface="Times New Roman" panose="02020603050405020304" pitchFamily="18" charset="0"/>
              </a:rPr>
              <a:t>Opening the Cursor :</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411927" y="3965400"/>
            <a:ext cx="11368146" cy="220060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Opening the cursor allocates the memory for the cursor and makes it ready for fetching the rows returned by the SQL statement into it.</a:t>
            </a:r>
          </a:p>
          <a:p>
            <a:pPr marL="0" marR="0" lvl="0" indent="0" algn="l" defTabSz="914400" rtl="0" eaLnBrk="0" fontAlgn="base" latinLnBrk="0" hangingPunct="0">
              <a:lnSpc>
                <a:spcPct val="100000"/>
              </a:lnSpc>
              <a:spcBef>
                <a:spcPct val="0"/>
              </a:spcBef>
              <a:spcAft>
                <a:spcPct val="0"/>
              </a:spcAft>
              <a:buClrTx/>
              <a:buSzTx/>
              <a:buFontTx/>
              <a:buNone/>
              <a:tabLst/>
            </a:pPr>
            <a:endParaRPr lang="en-US" sz="2800"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For example, we will open the above defined cursor as follows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OPEN </a:t>
            </a:r>
            <a:r>
              <a:rPr kumimoji="0" 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c_customers</a:t>
            </a:r>
            <a:r>
              <a:rPr kumimoji="0" lang="en-US" sz="2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743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994" y="0"/>
            <a:ext cx="10707806" cy="1325563"/>
          </a:xfrm>
        </p:spPr>
        <p:txBody>
          <a:bodyPr/>
          <a:lstStyle/>
          <a:p>
            <a:pPr algn="ctr"/>
            <a:r>
              <a:rPr lang="en-US" b="1" dirty="0">
                <a:latin typeface="Times New Roman" panose="02020603050405020304" pitchFamily="18" charset="0"/>
                <a:cs typeface="Times New Roman" panose="02020603050405020304" pitchFamily="18" charset="0"/>
              </a:rPr>
              <a:t>Fetching the Cursor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645994" y="952025"/>
            <a:ext cx="11382233" cy="558614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Fetching the cursor involves accessing one row at a time.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For example, we will fetch rows from the above-opened cursor as follows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solidFill>
                  <a:srgbClr val="000000"/>
                </a:solidFill>
                <a:latin typeface="Times New Roman" panose="02020603050405020304" pitchFamily="18" charset="0"/>
                <a:cs typeface="Times New Roman" panose="02020603050405020304" pitchFamily="18" charset="0"/>
              </a:rPr>
              <a:t>	</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FETCH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INTO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c_id</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c_name</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c_addr</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4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Closing the Cursor: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4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Closing the cursor means releasing the allocated memory. </a:t>
            </a:r>
          </a:p>
          <a:p>
            <a:pPr marR="0" lvl="0" algn="l"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example, we will close the above-opened cursor as follows −</a:t>
            </a:r>
          </a:p>
          <a:p>
            <a:pPr marR="0" lvl="0" algn="l"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CLOSE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94197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18852" y="550773"/>
            <a:ext cx="7183434" cy="589392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DECLARE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c_id</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customers.id%type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c_name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customers.name%type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c_addr</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customers.address%type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CURSOR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SELECT id, name, address FROM customers;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BEGIN OPEN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LOOP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FETCH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into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c_id</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c_name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c_addr</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EXIT WHEN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c_customers%notfound</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dbms_output.put_line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c_id</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 ' ' ||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c_name</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 ' ' ||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c_addr</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END LOOP;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CLOSE </a:t>
            </a:r>
            <a:r>
              <a:rPr kumimoji="0" lang="en-US" sz="2400" b="0" i="0" u="none" strike="noStrike" cap="none" normalizeH="0" baseline="0" dirty="0" err="1">
                <a:ln>
                  <a:noFill/>
                </a:ln>
                <a:effectLst/>
                <a:latin typeface="Times New Roman" panose="02020603050405020304" pitchFamily="18" charset="0"/>
                <a:cs typeface="Times New Roman" panose="02020603050405020304" pitchFamily="18" charset="0"/>
              </a:rPr>
              <a:t>c_customers</a:t>
            </a: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anose="02020603050405020304" pitchFamily="18" charset="0"/>
                <a:cs typeface="Times New Roman" panose="02020603050405020304" pitchFamily="18" charset="0"/>
              </a:rPr>
              <a:t>END;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a:latin typeface="Arial" panose="020B0604020202020204" pitchFamily="34" charset="0"/>
            </a:endParaRPr>
          </a:p>
          <a:p>
            <a:pPr lvl="0" eaLnBrk="0" fontAlgn="base" hangingPunct="0">
              <a:spcBef>
                <a:spcPct val="0"/>
              </a:spcBef>
              <a:spcAft>
                <a:spcPct val="0"/>
              </a:spcAft>
            </a:pPr>
            <a:endParaRPr kumimoji="0" lang="en-US" sz="20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8044543" y="740518"/>
            <a:ext cx="3688744" cy="436561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Ramesh Ahmedabad</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2</a:t>
            </a:r>
            <a:r>
              <a:rPr kumimoji="0" lang="en-US" sz="2400" b="0" i="0" u="none" strike="noStrike" cap="none" normalizeH="0" dirty="0">
                <a:ln>
                  <a:noFill/>
                </a:ln>
                <a:solidFill>
                  <a:srgbClr val="000000"/>
                </a:solidFill>
                <a:effectLst/>
                <a:latin typeface="Times New Roman" panose="02020603050405020304" pitchFamily="18" charset="0"/>
                <a:cs typeface="Times New Roman" panose="02020603050405020304" pitchFamily="18" charset="0"/>
              </a:rPr>
              <a:t> Ravi</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Delhi</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3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kumar</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Kota </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a:t>
            </a:r>
            <a:r>
              <a:rPr lang="en-US" sz="2400" dirty="0" err="1">
                <a:solidFill>
                  <a:srgbClr val="000000"/>
                </a:solidFill>
                <a:latin typeface="Times New Roman" panose="02020603050405020304" pitchFamily="18" charset="0"/>
                <a:cs typeface="Times New Roman" panose="02020603050405020304" pitchFamily="18" charset="0"/>
              </a:rPr>
              <a:t>Sai</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Mumbai</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5Ram Bhopal</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6 </a:t>
            </a:r>
            <a:r>
              <a:rPr kumimoji="0" 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SitaMP</a:t>
            </a: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93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TotalTime>
  <Words>4466</Words>
  <Application>Microsoft Office PowerPoint</Application>
  <PresentationFormat>Widescreen</PresentationFormat>
  <Paragraphs>614</Paragraphs>
  <Slides>45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Calibri Light</vt:lpstr>
      <vt:lpstr>Nunito</vt:lpstr>
      <vt:lpstr>Tahoma</vt:lpstr>
      <vt:lpstr>Times New Roman</vt:lpstr>
      <vt:lpstr>var(--bs-font-monospace)</vt:lpstr>
      <vt:lpstr>Office Theme</vt:lpstr>
      <vt:lpstr>PowerPoint Presentation</vt:lpstr>
      <vt:lpstr>PowerPoint Presentation</vt:lpstr>
      <vt:lpstr>The PL/SQL Delimiters </vt:lpstr>
      <vt:lpstr>The PL/SQL Comments </vt:lpstr>
      <vt:lpstr>PL/SQL - Data Types </vt:lpstr>
      <vt:lpstr>Variable Declaration in PL/SQL </vt:lpstr>
      <vt:lpstr>Variable Scope in PL/SQL </vt:lpstr>
      <vt:lpstr>PL/SQL - Operators </vt:lpstr>
      <vt:lpstr>Arithmetic Operators </vt:lpstr>
      <vt:lpstr>Relational Operators </vt:lpstr>
      <vt:lpstr>Comparison Operators </vt:lpstr>
      <vt:lpstr>Logical Operators </vt:lpstr>
      <vt:lpstr>PL/SQL – Control Structures </vt:lpstr>
      <vt:lpstr>Loops</vt:lpstr>
      <vt:lpstr> FOR LOOP</vt:lpstr>
      <vt:lpstr>VARRAY</vt:lpstr>
      <vt:lpstr>Creating a Varray Type </vt:lpstr>
      <vt:lpstr>PowerPoint Presentation</vt:lpstr>
      <vt:lpstr>PL/SQL - Procedures </vt:lpstr>
      <vt:lpstr>Creating a Procedure </vt:lpstr>
      <vt:lpstr>PowerPoint Presentation</vt:lpstr>
      <vt:lpstr>Example</vt:lpstr>
      <vt:lpstr>Executing a Procedure </vt:lpstr>
      <vt:lpstr>Deleting a Standalone Procedure </vt:lpstr>
      <vt:lpstr>Parameter Modes in PL/SQL Subprograms </vt:lpstr>
      <vt:lpstr>IN &amp; OUT Mode Example  </vt:lpstr>
      <vt:lpstr>Methods for Passing Parameters </vt:lpstr>
      <vt:lpstr>PowerPoint Presentation</vt:lpstr>
      <vt:lpstr>PowerPoint Presentation</vt:lpstr>
      <vt:lpstr>PL/SQL - Functions </vt:lpstr>
      <vt:lpstr>PowerPoint Presentation</vt:lpstr>
      <vt:lpstr>PowerPoint Presentation</vt:lpstr>
      <vt:lpstr>Calling a Function </vt:lpstr>
      <vt:lpstr>PowerPoint Presentation</vt:lpstr>
      <vt:lpstr>PL/SQL Recursive Functions </vt:lpstr>
      <vt:lpstr>PowerPoint Presentation</vt:lpstr>
      <vt:lpstr>PL/SQL - Cursors </vt:lpstr>
      <vt:lpstr>Implicit Cursors </vt:lpstr>
      <vt:lpstr>PowerPoint Presentation</vt:lpstr>
      <vt:lpstr>PowerPoint Presentation</vt:lpstr>
      <vt:lpstr>PowerPoint Presentation</vt:lpstr>
      <vt:lpstr>Explicit Cursors </vt:lpstr>
      <vt:lpstr>Declaring the Cursor </vt:lpstr>
      <vt:lpstr>Fetching the Cursor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murali krishna</cp:lastModifiedBy>
  <cp:revision>52</cp:revision>
  <dcterms:created xsi:type="dcterms:W3CDTF">2023-04-17T08:00:26Z</dcterms:created>
  <dcterms:modified xsi:type="dcterms:W3CDTF">2025-03-23T12:07:27Z</dcterms:modified>
</cp:coreProperties>
</file>