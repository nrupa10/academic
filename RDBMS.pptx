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E0BE-2B03-6F6B-1F7B-5D36F069C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9D082-C12B-A340-3CF8-C841311DB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DDD96-DA32-4F41-3A79-77569BBF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A594C-3B16-B079-63E1-CAD681F3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A0691-DC60-7148-8F09-FD7D5F05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DE0E-853B-EE07-C367-17FE9810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2B12-ECA5-3DD9-7BA1-349CA8ED0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842CD-B01A-CFC9-FAF0-CF565F12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8D0A2-B08A-7C50-4BF9-DDC4F9735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F82F3-6901-FF94-7C46-E87A9CA6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513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EA24-B73C-FD32-5080-53BDE580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0115B-6A7F-A162-71DE-7930C5BA6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96158-EFB6-B76C-4A3F-BCEA3E9E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E4AE3-8239-E7A8-F5BD-EABBF81F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497C7-0C0B-AB49-16ED-13C6BB6B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14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CA73-3FF6-7E58-79BF-276EF24D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4B012-579E-8469-28B5-5CAEDDB98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728B9-C192-3E83-3F51-900C43161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45E39-2326-7AB1-6ADF-2A6461B8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C8F54-8204-802A-95D9-1F12BD87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41618-01B8-3F2B-EAA8-64F60110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224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843A-0679-3199-9B6B-A4C031FD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F599E-17B9-1048-5F6C-96138DA72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C42BA-9E19-B55A-B253-87ABB2422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68B1A-9F85-50D2-4116-78EB8B3C1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9E6D7-498D-B354-2177-6281DA44E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DEA79-44B6-6985-B61E-C210B966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77ACBA-603B-C73E-D462-070D6EE9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8A3C2A-D4AD-099E-310D-5F84BEC8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03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C6F7-48B3-E947-292C-8C7C0404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30BA0-652C-3A8F-8C74-A7BD0BEF9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734CB-7A49-4D7A-3C4E-4BB98119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46F40-C85D-2467-48F0-8D6C8C1D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48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3804D-772F-8874-35EA-21C1ABDB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52740-E668-80A0-410B-5BB35679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13057-0922-491C-0652-C0D509D9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4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4B5A-AE44-696F-BDC2-A528688A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AFA14-DB36-E139-D14D-69C6354A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E1ABE-52A1-BD32-B546-9A4E5E940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CF3F1-3803-2B3B-F831-A73F1BF9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3655F-67A5-4939-FA01-AA64EE4F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CC9A8-CC7F-1624-CA84-75E5D3CB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8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6AD3-DA8D-349A-34EE-A2D636B7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1EB2A8-F88A-E22C-7373-66485BCD8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6801-78CE-EDB8-AF52-768487E97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D7FA8-1CF5-424C-2E59-6FCF2FFB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1141F-C6BA-1252-80B4-8F56EB07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D4D0B-1C67-C811-0176-A3EA8508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473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32C1-AC47-51C0-28CB-26A96419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5452A-67CE-9C92-958D-7EFDA905C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CA0C0-7D9F-A30E-5682-33F00B20B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D60EA-F5D7-15DB-68E3-35708C801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E3E7-C8BA-2B57-58DB-A0A1138E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61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7278C-F10D-9736-3192-3679AEE4E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6307F-E615-6FE1-2C10-D9CF7273B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6628C-031D-9681-9530-7185E874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FF55-28FF-3F92-BBEB-C255EDE4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8EED-A04A-D908-90FF-8C150131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41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05445-3873-BBB7-C2BA-BE16EE10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3B21-2BC4-A5E7-9929-CFAFAF0BB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6063D-A5F7-A7B8-8958-5FE42B0B6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454C9-8B26-4D69-A80A-C91E83FA0D0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204A-F6CF-3140-DF35-DE14FB3C7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B8C45-C6AB-BAB6-1C3B-FFF769656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C275C-D7F8-42F9-8C13-82D5F41CC0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98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766109-206A-11C9-1C4A-6404BD918CEC}"/>
              </a:ext>
            </a:extLst>
          </p:cNvPr>
          <p:cNvSpPr txBox="1"/>
          <p:nvPr/>
        </p:nvSpPr>
        <p:spPr>
          <a:xfrm>
            <a:off x="3940628" y="54467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4CE0B7-E563-12D7-3ECA-459B7EEF5E75}"/>
              </a:ext>
            </a:extLst>
          </p:cNvPr>
          <p:cNvSpPr txBox="1"/>
          <p:nvPr/>
        </p:nvSpPr>
        <p:spPr>
          <a:xfrm>
            <a:off x="1447799" y="166450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proposed by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E.F. Codd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1970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DFD45-9645-BFC7-1300-1EE7E2056C99}"/>
              </a:ext>
            </a:extLst>
          </p:cNvPr>
          <p:cNvSpPr txBox="1"/>
          <p:nvPr/>
        </p:nvSpPr>
        <p:spPr>
          <a:xfrm>
            <a:off x="783771" y="2783553"/>
            <a:ext cx="10874829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173355" indent="456565" algn="just">
              <a:lnSpc>
                <a:spcPct val="150000"/>
              </a:lnSpc>
              <a:spcBef>
                <a:spcPts val="800"/>
              </a:spcBef>
            </a:pP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 relational model</a:t>
            </a:r>
            <a:r>
              <a:rPr lang="en-US" sz="28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stores data in the form of relations (tables).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Each relation has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columns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and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rows</a:t>
            </a:r>
            <a:r>
              <a:rPr lang="en-US" sz="28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which are formally called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attributes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and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tuples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respectively. Each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tuple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 relation is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real-world entity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0677C-E321-2E73-F651-68A82254E45C}"/>
              </a:ext>
            </a:extLst>
          </p:cNvPr>
          <p:cNvSpPr txBox="1"/>
          <p:nvPr/>
        </p:nvSpPr>
        <p:spPr>
          <a:xfrm>
            <a:off x="7119257" y="6041571"/>
            <a:ext cx="225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 Chen</a:t>
            </a:r>
          </a:p>
        </p:txBody>
      </p:sp>
    </p:spTree>
    <p:extLst>
      <p:ext uri="{BB962C8B-B14F-4D97-AF65-F5344CB8AC3E}">
        <p14:creationId xmlns:p14="http://schemas.microsoft.com/office/powerpoint/2010/main" val="177935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2B5E5D-1C6C-C67C-F02A-19BBF98FF6B7}"/>
              </a:ext>
            </a:extLst>
          </p:cNvPr>
          <p:cNvSpPr txBox="1"/>
          <p:nvPr/>
        </p:nvSpPr>
        <p:spPr>
          <a:xfrm>
            <a:off x="3309257" y="5555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algn="just">
              <a:spcBef>
                <a:spcPts val="790"/>
              </a:spcBef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Relational</a:t>
            </a:r>
            <a:r>
              <a:rPr lang="en-US" sz="2800" b="1" kern="0" spc="-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Model</a:t>
            </a:r>
            <a:r>
              <a:rPr lang="en-US" sz="2800" b="1" kern="0" spc="-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Diagram</a:t>
            </a:r>
            <a:endParaRPr lang="en-IN" sz="2800" b="1" kern="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C2BC0-5616-CF58-D9EB-218E68D1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789" y="2066452"/>
            <a:ext cx="6995468" cy="382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4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24A95B-838F-8226-FB80-9CC36520778E}"/>
              </a:ext>
            </a:extLst>
          </p:cNvPr>
          <p:cNvSpPr txBox="1"/>
          <p:nvPr/>
        </p:nvSpPr>
        <p:spPr>
          <a:xfrm>
            <a:off x="370114" y="-43746"/>
            <a:ext cx="11451771" cy="6945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algn="ctr">
              <a:spcBef>
                <a:spcPts val="10"/>
              </a:spcBef>
            </a:pPr>
            <a:r>
              <a:rPr lang="en-US" sz="2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Terminology</a:t>
            </a:r>
            <a:endParaRPr lang="en-IN" sz="28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342900" marR="178435" lvl="0" indent="-342900" algn="just">
              <a:spcBef>
                <a:spcPts val="79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 / Tables –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 are saved in the table format. A table has two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rows and columns. Rows represent records and columns represent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3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Attribute:</a:t>
            </a:r>
            <a:r>
              <a:rPr lang="en-US" sz="2800" b="1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US" sz="28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define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77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Tuple:</a:t>
            </a:r>
            <a:r>
              <a:rPr lang="en-US" sz="2800" b="1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nothing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</a:t>
            </a:r>
            <a:r>
              <a:rPr lang="en-US" sz="28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78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Degree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b="1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arity: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77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Cardinality:</a:t>
            </a:r>
            <a:r>
              <a:rPr lang="en-US" sz="28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rows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78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Domain:</a:t>
            </a:r>
            <a:r>
              <a:rPr lang="en-US" sz="2800" b="1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possible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77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instance:</a:t>
            </a:r>
            <a:r>
              <a:rPr lang="en-US" sz="2800" b="1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finite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of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tuples.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duplicate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tuples.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78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Schema: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82245" lvl="0" indent="-342900">
              <a:spcBef>
                <a:spcPts val="77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b="1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key:</a:t>
            </a:r>
            <a:r>
              <a:rPr lang="en-US" sz="2800" b="1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</a:t>
            </a:r>
            <a:r>
              <a:rPr lang="en-US" sz="2800" spc="1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</a:t>
            </a:r>
            <a:r>
              <a:rPr lang="en-US" sz="2800" spc="1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</a:t>
            </a:r>
            <a:r>
              <a:rPr lang="en-US" sz="2800" spc="15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one,</a:t>
            </a:r>
            <a:r>
              <a:rPr lang="en-US" sz="2800" spc="1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</a:t>
            </a:r>
            <a:r>
              <a:rPr lang="en-US" sz="2800" spc="1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2800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multiple</a:t>
            </a:r>
            <a:r>
              <a:rPr lang="en-US" sz="2800" spc="14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attributes,</a:t>
            </a:r>
            <a:r>
              <a:rPr lang="en-US" sz="2800" spc="1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en-US" sz="2800" spc="16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1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called</a:t>
            </a:r>
            <a:r>
              <a:rPr lang="en-US" sz="2800" spc="-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64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ECEC72-304C-A79A-4F9B-D750F480A3B5}"/>
              </a:ext>
            </a:extLst>
          </p:cNvPr>
          <p:cNvSpPr txBox="1"/>
          <p:nvPr/>
        </p:nvSpPr>
        <p:spPr>
          <a:xfrm>
            <a:off x="3418114" y="3051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40"/>
              </a:spcBef>
              <a:buSzPts val="1200"/>
              <a:tabLst>
                <a:tab pos="399415" algn="l"/>
              </a:tabLst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Integrity</a:t>
            </a:r>
            <a:r>
              <a:rPr lang="en-US" sz="2800" b="1" kern="0" spc="-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800" b="1" kern="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AFDB5-74BB-047B-CA01-361198736440}"/>
              </a:ext>
            </a:extLst>
          </p:cNvPr>
          <p:cNvSpPr txBox="1"/>
          <p:nvPr/>
        </p:nvSpPr>
        <p:spPr>
          <a:xfrm>
            <a:off x="881743" y="968829"/>
            <a:ext cx="10428514" cy="5131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175895" indent="456565" algn="just">
              <a:lnSpc>
                <a:spcPct val="200000"/>
              </a:lnSpc>
              <a:spcBef>
                <a:spcPts val="5"/>
              </a:spcBef>
            </a:pP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		They are referred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 as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conditions</a:t>
            </a:r>
            <a:r>
              <a:rPr lang="en-US" sz="28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that are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applied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 the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relation/table</a:t>
            </a:r>
            <a:r>
              <a:rPr lang="en-US" sz="2800" b="1" spc="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ensure the </a:t>
            </a:r>
            <a:r>
              <a:rPr lang="en-US" sz="2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correctness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of the data in the database. These constraints are checked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before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performing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any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operation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database.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If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there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violation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any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constrains, operation will fail. Thus, integrity constraint is used to </a:t>
            </a:r>
            <a:r>
              <a:rPr lang="en-US" sz="2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guard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against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accidental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damage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 the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database.</a:t>
            </a:r>
            <a:endParaRPr lang="en-IN" sz="28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24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E40BE-CB44-B6F5-51C2-8410A4BE9654}"/>
              </a:ext>
            </a:extLst>
          </p:cNvPr>
          <p:cNvSpPr txBox="1"/>
          <p:nvPr/>
        </p:nvSpPr>
        <p:spPr>
          <a:xfrm>
            <a:off x="1295400" y="639320"/>
            <a:ext cx="9144000" cy="511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lnSpc>
                <a:spcPct val="250000"/>
              </a:lnSpc>
              <a:spcBef>
                <a:spcPts val="800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Domain</a:t>
            </a:r>
            <a:r>
              <a:rPr lang="en-US" sz="3200" b="1" spc="-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800" b="1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250000"/>
              </a:lnSpc>
              <a:spcBef>
                <a:spcPts val="795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Entity</a:t>
            </a:r>
            <a:r>
              <a:rPr lang="en-US" sz="3200" b="1" spc="-25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Integrity</a:t>
            </a:r>
            <a:r>
              <a:rPr lang="en-US" sz="3200" b="1" spc="-2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800" b="1" dirty="0"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250000"/>
              </a:lnSpc>
              <a:spcBef>
                <a:spcPts val="805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3200" b="1" spc="-25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8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250000"/>
              </a:lnSpc>
              <a:spcBef>
                <a:spcPts val="795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Referential</a:t>
            </a:r>
            <a:r>
              <a:rPr lang="en-US" sz="3200" b="1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Integrity</a:t>
            </a:r>
            <a:r>
              <a:rPr lang="en-US" sz="32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8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54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4C8416-2E37-D54D-B8C1-975F4CBA068C}"/>
              </a:ext>
            </a:extLst>
          </p:cNvPr>
          <p:cNvSpPr txBox="1"/>
          <p:nvPr/>
        </p:nvSpPr>
        <p:spPr>
          <a:xfrm>
            <a:off x="3048000" y="-251122"/>
            <a:ext cx="6096000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marR="0" lvl="2" indent="-228600" algn="l" defTabSz="914400" rtl="0" eaLnBrk="1" fontAlgn="auto" latinLnBrk="0" hangingPunct="1">
              <a:lnSpc>
                <a:spcPct val="250000"/>
              </a:lnSpc>
              <a:spcBef>
                <a:spcPts val="800"/>
              </a:spcBef>
              <a:spcAft>
                <a:spcPts val="0"/>
              </a:spcAft>
              <a:buClrTx/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Domain</a:t>
            </a:r>
            <a:r>
              <a:rPr kumimoji="0" lang="en-US" sz="3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8F160-9CCD-02DA-D056-69E35D1940FD}"/>
              </a:ext>
            </a:extLst>
          </p:cNvPr>
          <p:cNvSpPr txBox="1"/>
          <p:nvPr/>
        </p:nvSpPr>
        <p:spPr>
          <a:xfrm>
            <a:off x="299357" y="860721"/>
            <a:ext cx="11593286" cy="2806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174625" lvl="1" indent="-285750">
              <a:lnSpc>
                <a:spcPct val="250000"/>
              </a:lnSpc>
              <a:spcBef>
                <a:spcPts val="79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Domain</a:t>
            </a:r>
            <a:r>
              <a:rPr lang="en-US" sz="2400" spc="3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</a:t>
            </a:r>
            <a:r>
              <a:rPr lang="en-US" sz="2400" spc="3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defines</a:t>
            </a:r>
            <a:r>
              <a:rPr lang="en-US" sz="2400" spc="2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domain</a:t>
            </a:r>
            <a:r>
              <a:rPr lang="en-US" sz="2400" b="1" spc="3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2400" spc="3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</a:t>
            </a:r>
            <a:r>
              <a:rPr lang="en-US" sz="2400" b="1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400" b="1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possible</a:t>
            </a:r>
            <a:r>
              <a:rPr lang="en-US" sz="2400" b="1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values</a:t>
            </a:r>
            <a:r>
              <a:rPr lang="en-US" sz="2400" b="1" spc="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400" b="1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2400" b="1" spc="-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50000"/>
              </a:lnSpc>
              <a:spcBef>
                <a:spcPts val="40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specifies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the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taken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 from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domain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only.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50000"/>
              </a:lnSpc>
              <a:spcBef>
                <a:spcPts val="785"/>
              </a:spcBef>
              <a:buSzPts val="1200"/>
              <a:buFont typeface="Calibri" panose="020F0502020204030204" pitchFamily="34" charset="0"/>
              <a:buChar char="—"/>
              <a:tabLst>
                <a:tab pos="597535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following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US" sz="24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2A29319-0E5B-3C2E-C2A6-21449FB85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106336"/>
              </p:ext>
            </p:extLst>
          </p:nvPr>
        </p:nvGraphicFramePr>
        <p:xfrm>
          <a:off x="1735855" y="3958591"/>
          <a:ext cx="10771830" cy="311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67870" imgH="1754993" progId="Word.Document.12">
                  <p:embed/>
                </p:oleObj>
              </mc:Choice>
              <mc:Fallback>
                <p:oleObj name="Document" r:id="rId2" imgW="6067870" imgH="17549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35855" y="3958591"/>
                        <a:ext cx="10771830" cy="311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87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AD801A-ADC9-244A-67C0-8ACAF779FC23}"/>
              </a:ext>
            </a:extLst>
          </p:cNvPr>
          <p:cNvSpPr txBox="1"/>
          <p:nvPr/>
        </p:nvSpPr>
        <p:spPr>
          <a:xfrm>
            <a:off x="2764971" y="-234939"/>
            <a:ext cx="6096000" cy="98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250000"/>
              </a:lnSpc>
              <a:spcBef>
                <a:spcPts val="795"/>
              </a:spcBef>
              <a:buSzPts val="1200"/>
              <a:tabLst>
                <a:tab pos="597535" algn="l"/>
              </a:tabLst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2. Entity</a:t>
            </a:r>
            <a:r>
              <a:rPr lang="en-US" sz="2800" b="1" spc="-25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Integrity</a:t>
            </a:r>
            <a:r>
              <a:rPr lang="en-US" sz="2800" b="1" spc="-2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400" b="1" dirty="0"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42F89-F813-BC65-CBE8-5D5D92C2278C}"/>
              </a:ext>
            </a:extLst>
          </p:cNvPr>
          <p:cNvSpPr txBox="1"/>
          <p:nvPr/>
        </p:nvSpPr>
        <p:spPr>
          <a:xfrm>
            <a:off x="1045028" y="488176"/>
            <a:ext cx="10384971" cy="285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175895" indent="456565" algn="just">
              <a:lnSpc>
                <a:spcPct val="250000"/>
              </a:lnSpc>
              <a:spcBef>
                <a:spcPts val="805"/>
              </a:spcBef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Entity integrity constraint ensures that the </a:t>
            </a:r>
            <a:r>
              <a:rPr lang="en-US" sz="28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 key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attribute in a relation,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should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not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accept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null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value.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This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because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attribute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value</a:t>
            </a:r>
            <a:r>
              <a:rPr lang="en-US" sz="24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uniquely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defines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 entity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relation.</a:t>
            </a:r>
            <a:endParaRPr lang="en-IN" sz="24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3425F-0EC2-FC87-FF3F-47117C174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3" y="3429000"/>
            <a:ext cx="6749143" cy="314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2017A-5717-FBB5-C0BC-F908F196EF0D}"/>
              </a:ext>
            </a:extLst>
          </p:cNvPr>
          <p:cNvSpPr txBox="1"/>
          <p:nvPr/>
        </p:nvSpPr>
        <p:spPr>
          <a:xfrm>
            <a:off x="2215243" y="80745"/>
            <a:ext cx="7761514" cy="98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250000"/>
              </a:lnSpc>
              <a:spcBef>
                <a:spcPts val="795"/>
              </a:spcBef>
              <a:buSzPts val="1200"/>
              <a:tabLst>
                <a:tab pos="597535" algn="l"/>
              </a:tabLst>
            </a:pP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4. Referential</a:t>
            </a:r>
            <a:r>
              <a:rPr lang="en-US" sz="2800" b="1" spc="-2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Integrity</a:t>
            </a:r>
            <a:r>
              <a:rPr lang="en-US" sz="2800" b="1" spc="-2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4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6A35B-FA2B-1485-C20B-CB639BC27AB0}"/>
              </a:ext>
            </a:extLst>
          </p:cNvPr>
          <p:cNvSpPr txBox="1"/>
          <p:nvPr/>
        </p:nvSpPr>
        <p:spPr>
          <a:xfrm>
            <a:off x="1061356" y="1385108"/>
            <a:ext cx="10738757" cy="5277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180340" algn="just">
              <a:lnSpc>
                <a:spcPct val="150000"/>
              </a:lnSpc>
            </a:pP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	A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referential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integrity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specified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between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two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tables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establish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32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relationship/link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between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them.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They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are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implemented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name of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foreign</a:t>
            </a:r>
            <a:r>
              <a:rPr lang="en-US" sz="3200" b="1" i="1" spc="-1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keys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.</a:t>
            </a:r>
          </a:p>
          <a:p>
            <a:pPr marL="139700" marR="173355" algn="just">
              <a:lnSpc>
                <a:spcPct val="150000"/>
              </a:lnSpc>
              <a:spcBef>
                <a:spcPts val="805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	It states that if a foreign key exists in a relation, then either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foreign key value</a:t>
            </a:r>
            <a:r>
              <a:rPr lang="en-US" sz="32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must match a primary key value of some tuple in its parent relation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or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its value</a:t>
            </a:r>
            <a:r>
              <a:rPr lang="en-US" sz="32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must be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null.</a:t>
            </a:r>
            <a:endParaRPr lang="en-IN" sz="28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19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E76D3-4944-CA32-AE87-760432A4E159}"/>
              </a:ext>
            </a:extLst>
          </p:cNvPr>
          <p:cNvSpPr txBox="1"/>
          <p:nvPr/>
        </p:nvSpPr>
        <p:spPr>
          <a:xfrm>
            <a:off x="489856" y="859972"/>
            <a:ext cx="10776857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81610" lvl="0" algn="just">
              <a:lnSpc>
                <a:spcPct val="150000"/>
              </a:lnSpc>
              <a:buSzPts val="1200"/>
              <a:tabLst>
                <a:tab pos="5975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1.	You can't delete a record from a primary table if matching records exist in a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child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table.</a:t>
            </a:r>
            <a:endParaRPr lang="en-IN" sz="20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90A72-E208-D575-9106-8A3366785377}"/>
              </a:ext>
            </a:extLst>
          </p:cNvPr>
          <p:cNvSpPr txBox="1"/>
          <p:nvPr/>
        </p:nvSpPr>
        <p:spPr>
          <a:xfrm>
            <a:off x="489856" y="2437973"/>
            <a:ext cx="1148443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81610" lvl="0">
              <a:lnSpc>
                <a:spcPct val="150000"/>
              </a:lnSpc>
              <a:spcBef>
                <a:spcPts val="10"/>
              </a:spcBef>
              <a:buSzPts val="1200"/>
              <a:tabLst>
                <a:tab pos="5975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2. You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can't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change</a:t>
            </a:r>
            <a:r>
              <a:rPr lang="en-US" sz="2400" spc="1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2400" spc="1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2400" spc="13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value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1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2400" spc="1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table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if</a:t>
            </a:r>
            <a:r>
              <a:rPr lang="en-US" sz="2400" spc="13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that</a:t>
            </a:r>
            <a:r>
              <a:rPr lang="en-US" sz="2400" spc="12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record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has</a:t>
            </a:r>
            <a:r>
              <a:rPr lang="en-US" sz="24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child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records.</a:t>
            </a:r>
            <a:endParaRPr lang="en-IN" sz="20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06943-1EB8-9FB8-B05C-D91F0CDAC104}"/>
              </a:ext>
            </a:extLst>
          </p:cNvPr>
          <p:cNvSpPr txBox="1"/>
          <p:nvPr/>
        </p:nvSpPr>
        <p:spPr>
          <a:xfrm>
            <a:off x="489856" y="3756068"/>
            <a:ext cx="1123405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75260" lvl="0">
              <a:lnSpc>
                <a:spcPct val="150000"/>
              </a:lnSpc>
              <a:spcBef>
                <a:spcPts val="5"/>
              </a:spcBef>
              <a:buSzPts val="1200"/>
              <a:tabLst>
                <a:tab pos="5975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3.	You</a:t>
            </a:r>
            <a:r>
              <a:rPr lang="en-US" sz="24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can't</a:t>
            </a:r>
            <a:r>
              <a:rPr lang="en-US" sz="24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enter</a:t>
            </a:r>
            <a:r>
              <a:rPr lang="en-US" sz="24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value</a:t>
            </a:r>
            <a:r>
              <a:rPr lang="en-US" sz="24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400" spc="9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foreign</a:t>
            </a:r>
            <a:r>
              <a:rPr lang="en-US" sz="24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24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field</a:t>
            </a:r>
            <a:r>
              <a:rPr lang="en-US" sz="24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2400" spc="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child</a:t>
            </a:r>
            <a:r>
              <a:rPr lang="en-US" sz="24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table</a:t>
            </a:r>
            <a:r>
              <a:rPr lang="en-US" sz="24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that</a:t>
            </a:r>
            <a:r>
              <a:rPr lang="en-US" sz="2400" spc="12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doesn't</a:t>
            </a:r>
            <a:r>
              <a:rPr lang="en-US" sz="24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exist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primary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 of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parent table.</a:t>
            </a:r>
            <a:endParaRPr lang="en-IN" sz="20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R="180340" lvl="0">
              <a:lnSpc>
                <a:spcPct val="150000"/>
              </a:lnSpc>
              <a:buSzPts val="1200"/>
              <a:tabLst>
                <a:tab pos="59753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4.	However,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you</a:t>
            </a:r>
            <a:r>
              <a:rPr lang="en-US" sz="2400" spc="1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</a:t>
            </a:r>
            <a:r>
              <a:rPr lang="en-US" sz="2400" spc="1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enter</a:t>
            </a:r>
            <a:r>
              <a:rPr lang="en-US" sz="2400" spc="1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1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Null</a:t>
            </a:r>
            <a:r>
              <a:rPr lang="en-US" sz="2400" spc="1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value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foreign</a:t>
            </a:r>
            <a:r>
              <a:rPr lang="en-US" sz="2400" spc="1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key,</a:t>
            </a:r>
            <a:r>
              <a:rPr lang="en-US" sz="2400" spc="19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specifying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that</a:t>
            </a:r>
            <a:r>
              <a:rPr lang="en-US" sz="2400" spc="18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-3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records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are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unrelated.</a:t>
            </a:r>
            <a:endParaRPr lang="en-IN" sz="20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78DA8-E991-B7B3-D808-0BB140FF0D7B}"/>
              </a:ext>
            </a:extLst>
          </p:cNvPr>
          <p:cNvSpPr txBox="1"/>
          <p:nvPr/>
        </p:nvSpPr>
        <p:spPr>
          <a:xfrm>
            <a:off x="4996543" y="24468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76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8150E5-571B-46D6-18FF-895222814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93210"/>
            <a:ext cx="9839693" cy="661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5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A4F9D4-3355-C181-D7C9-BE9F1846D387}"/>
              </a:ext>
            </a:extLst>
          </p:cNvPr>
          <p:cNvSpPr txBox="1"/>
          <p:nvPr/>
        </p:nvSpPr>
        <p:spPr>
          <a:xfrm>
            <a:off x="3048000" y="-224053"/>
            <a:ext cx="6096000" cy="98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250000"/>
              </a:lnSpc>
              <a:spcBef>
                <a:spcPts val="805"/>
              </a:spcBef>
              <a:buSzPts val="1200"/>
              <a:tabLst>
                <a:tab pos="597535" algn="l"/>
              </a:tabLst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2800" b="1" spc="-25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Constraints</a:t>
            </a:r>
            <a:endParaRPr lang="en-IN" sz="2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526C4-8C2F-BF9F-0586-37F89F336CE7}"/>
              </a:ext>
            </a:extLst>
          </p:cNvPr>
          <p:cNvSpPr txBox="1"/>
          <p:nvPr/>
        </p:nvSpPr>
        <p:spPr>
          <a:xfrm>
            <a:off x="816429" y="654916"/>
            <a:ext cx="10374086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algn="ctr">
              <a:lnSpc>
                <a:spcPct val="150000"/>
              </a:lnSpc>
              <a:spcBef>
                <a:spcPts val="805"/>
              </a:spcBef>
            </a:pP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Constraint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25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statement</a:t>
            </a:r>
            <a:r>
              <a:rPr lang="en-US" sz="2800" spc="2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that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certain</a:t>
            </a:r>
            <a:r>
              <a:rPr lang="en-US" sz="2800" spc="2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minimal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subset</a:t>
            </a:r>
            <a:r>
              <a:rPr lang="en-US" sz="2800" spc="2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25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fields</a:t>
            </a:r>
            <a:r>
              <a:rPr lang="en-US" sz="2800" spc="25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26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unique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identifier for a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tuple.</a:t>
            </a:r>
            <a:endParaRPr lang="en-IN" sz="28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8B9A9-B90D-17ED-C668-951A919381C2}"/>
              </a:ext>
            </a:extLst>
          </p:cNvPr>
          <p:cNvSpPr txBox="1"/>
          <p:nvPr/>
        </p:nvSpPr>
        <p:spPr>
          <a:xfrm>
            <a:off x="2296885" y="2234077"/>
            <a:ext cx="7206344" cy="371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spcBef>
                <a:spcPts val="800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Super</a:t>
            </a:r>
            <a:r>
              <a:rPr lang="en-US" sz="2800" b="1" spc="-15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endParaRPr lang="en-IN" sz="24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Bef>
                <a:spcPts val="805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b="1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key.</a:t>
            </a:r>
            <a:endParaRPr lang="en-IN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Bef>
                <a:spcPts val="795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2800" b="1" spc="-3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key.</a:t>
            </a:r>
            <a:endParaRPr lang="en-IN" sz="2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spcBef>
                <a:spcPts val="800"/>
              </a:spcBef>
              <a:buSzPts val="1200"/>
              <a:buFont typeface="Segoe UI" panose="020B0502040204020203" pitchFamily="34" charset="0"/>
              <a:buAutoNum type="arabicPeriod"/>
              <a:tabLst>
                <a:tab pos="597535" algn="l"/>
              </a:tabLst>
            </a:pPr>
            <a:r>
              <a:rPr lang="en-US" sz="28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Foreign</a:t>
            </a:r>
            <a:r>
              <a:rPr lang="en-US" sz="2800" b="1" spc="-1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key.</a:t>
            </a:r>
            <a:endParaRPr lang="en-IN" sz="2400" b="1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22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EE1DE-FA07-B428-9835-023C4E9D4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04" y="473528"/>
            <a:ext cx="11499867" cy="591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7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9B1A9E-9A9F-C602-9613-25C797E4E638}"/>
              </a:ext>
            </a:extLst>
          </p:cNvPr>
          <p:cNvSpPr txBox="1"/>
          <p:nvPr/>
        </p:nvSpPr>
        <p:spPr>
          <a:xfrm>
            <a:off x="244929" y="-122892"/>
            <a:ext cx="11702142" cy="6983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Bef>
                <a:spcPts val="5"/>
              </a:spcBef>
              <a:buSzPts val="1200"/>
              <a:tabLst>
                <a:tab pos="312420" algn="l"/>
              </a:tabLs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Candidate</a:t>
            </a:r>
            <a:r>
              <a:rPr lang="en-US" sz="4000" b="1" kern="0" spc="-2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endParaRPr lang="en-IN" sz="40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342900" marR="177800" lvl="0" indent="-342900" algn="just">
              <a:lnSpc>
                <a:spcPct val="150000"/>
              </a:lnSpc>
              <a:spcBef>
                <a:spcPts val="790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b="1" spc="2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minimal</a:t>
            </a:r>
            <a:r>
              <a:rPr lang="en-US" sz="2800" b="1" spc="2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</a:t>
            </a:r>
            <a:r>
              <a:rPr lang="en-US" sz="2800" b="1" spc="2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b="1" spc="27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US" sz="2800" b="1" spc="2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en-US" sz="2800" b="1" spc="2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2800" b="1" spc="2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uniquely</a:t>
            </a:r>
            <a:r>
              <a:rPr lang="en-US" sz="2800" b="1" spc="2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</a:t>
            </a:r>
            <a:r>
              <a:rPr lang="en-US" sz="2800" b="1" spc="2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b="1" spc="2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tuple</a:t>
            </a:r>
            <a:r>
              <a:rPr lang="en-US" sz="2800" b="1" spc="27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b="1" spc="-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known</a:t>
            </a:r>
            <a:r>
              <a:rPr lang="en-US" sz="2800" b="1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key.</a:t>
            </a:r>
            <a:r>
              <a:rPr lang="en-US" sz="2800" b="1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example,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STUD_NO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55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spc="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en-US" sz="2800" spc="2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2800" spc="2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US" sz="2800" spc="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2800" spc="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NULL</a:t>
            </a:r>
            <a:r>
              <a:rPr lang="en-US" sz="2800" b="1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2800" spc="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empty</a:t>
            </a:r>
            <a:r>
              <a:rPr lang="en-US" sz="2800" b="1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2800" spc="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en-US" sz="2800" spc="29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n-US" sz="2800" spc="2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en-US" sz="2800" spc="3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0720" algn="just">
              <a:lnSpc>
                <a:spcPct val="150000"/>
              </a:lnSpc>
              <a:spcBef>
                <a:spcPts val="770"/>
              </a:spcBef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unique</a:t>
            </a:r>
            <a:r>
              <a:rPr lang="en-US" sz="2800" b="0" kern="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.</a:t>
            </a:r>
            <a:endParaRPr lang="en-IN" sz="2800" b="1" kern="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342900" marR="177800" lvl="0" indent="-342900" algn="just">
              <a:lnSpc>
                <a:spcPct val="150000"/>
              </a:lnSpc>
              <a:spcBef>
                <a:spcPts val="805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keys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table.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example,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STUD_NO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800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2800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well</a:t>
            </a:r>
            <a:r>
              <a:rPr lang="en-US" sz="2800" spc="3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2800" spc="3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MOBILE_NO</a:t>
            </a:r>
            <a:r>
              <a:rPr lang="en-US" sz="2800" b="1" spc="3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both,</a:t>
            </a:r>
            <a:r>
              <a:rPr lang="en-US" sz="2800" spc="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2800" spc="3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spc="3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keys</a:t>
            </a:r>
            <a:r>
              <a:rPr lang="en-US" sz="2800" spc="3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spc="-3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73990" lvl="0" indent="-342900" algn="just">
              <a:lnSpc>
                <a:spcPct val="150000"/>
              </a:lnSpc>
              <a:spcBef>
                <a:spcPts val="20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400" spc="1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en-US" sz="2400" spc="17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2400" spc="1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simple</a:t>
            </a:r>
            <a:r>
              <a:rPr lang="en-US" sz="2400" b="1" spc="17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2400" spc="1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composite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400" spc="1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400" spc="1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Example,</a:t>
            </a:r>
            <a:r>
              <a:rPr lang="en-US" sz="2400" spc="19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{STUD_NO,</a:t>
            </a:r>
            <a:r>
              <a:rPr lang="en-US" sz="2400" b="1" spc="-3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COURSE_NO}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400" spc="-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composite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400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STUDENT_COURSE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6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E5377F-A8CF-6914-B1B7-A5CE118F4434}"/>
              </a:ext>
            </a:extLst>
          </p:cNvPr>
          <p:cNvSpPr txBox="1"/>
          <p:nvPr/>
        </p:nvSpPr>
        <p:spPr>
          <a:xfrm>
            <a:off x="555172" y="351444"/>
            <a:ext cx="10711542" cy="577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Bef>
                <a:spcPts val="45"/>
              </a:spcBef>
              <a:buSzPts val="1200"/>
              <a:tabLst>
                <a:tab pos="312420" algn="l"/>
              </a:tabLs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Super</a:t>
            </a:r>
            <a:r>
              <a:rPr lang="en-US" sz="4000" b="1" kern="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endParaRPr lang="en-IN" sz="40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742950" marR="181610" lvl="1" indent="-285750" algn="just">
              <a:lnSpc>
                <a:spcPct val="150000"/>
              </a:lnSpc>
              <a:spcBef>
                <a:spcPts val="805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set of attributes which can uniquely identify a tuple is known as Super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Key.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Example,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STUD_NO,</a:t>
            </a:r>
            <a:r>
              <a:rPr lang="en-US" sz="2800" b="1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(STUD_NO,</a:t>
            </a:r>
            <a:r>
              <a:rPr lang="en-US" sz="28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STUD_NAME),</a:t>
            </a:r>
            <a:r>
              <a:rPr lang="en-US" sz="2800" b="1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MOBILE_NO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etc.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40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Adding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zero</a:t>
            </a:r>
            <a:r>
              <a:rPr lang="en-US" sz="2800" b="1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2800" b="1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</a:t>
            </a:r>
            <a:r>
              <a:rPr lang="en-US" sz="2800" b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 key.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775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 set</a:t>
            </a:r>
            <a:r>
              <a:rPr lang="en-US" sz="2800" b="1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Bef>
                <a:spcPts val="780"/>
              </a:spcBef>
              <a:buSzPts val="1200"/>
              <a:buFont typeface="Calibri" panose="020F0502020204030204" pitchFamily="34" charset="0"/>
              <a:buChar char="—"/>
              <a:tabLst>
                <a:tab pos="68135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candidate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super key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but vice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versa is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41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E41974-B91F-FA38-D29F-CD14D9A5145B}"/>
              </a:ext>
            </a:extLst>
          </p:cNvPr>
          <p:cNvSpPr txBox="1"/>
          <p:nvPr/>
        </p:nvSpPr>
        <p:spPr>
          <a:xfrm>
            <a:off x="718457" y="908314"/>
            <a:ext cx="10972800" cy="220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Bef>
                <a:spcPts val="775"/>
              </a:spcBef>
              <a:buSzPts val="1200"/>
              <a:tabLst>
                <a:tab pos="312420" algn="l"/>
              </a:tabLst>
            </a:pP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3200" b="1" kern="0" spc="-1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</a:p>
          <a:p>
            <a:pPr lvl="0">
              <a:spcBef>
                <a:spcPts val="775"/>
              </a:spcBef>
              <a:buSzPts val="1200"/>
              <a:tabLst>
                <a:tab pos="312420" algn="l"/>
              </a:tabLst>
            </a:pPr>
            <a:endParaRPr lang="en-IN" sz="2400" b="1" kern="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39700" marR="136525" indent="456565">
              <a:lnSpc>
                <a:spcPct val="150000"/>
              </a:lnSpc>
              <a:spcBef>
                <a:spcPts val="800"/>
              </a:spcBef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There</a:t>
            </a:r>
            <a:r>
              <a:rPr lang="en-US" sz="2400" spc="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more</a:t>
            </a:r>
            <a:r>
              <a:rPr lang="en-US" sz="2400" spc="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</a:t>
            </a:r>
            <a:r>
              <a:rPr lang="en-US" sz="2400" spc="5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one</a:t>
            </a:r>
            <a:r>
              <a:rPr lang="en-US" sz="2400" spc="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candidate</a:t>
            </a:r>
            <a:r>
              <a:rPr lang="en-US" sz="2400" spc="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2400" spc="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5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out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of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which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one</a:t>
            </a:r>
            <a:r>
              <a:rPr lang="en-US" sz="2400" spc="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</a:t>
            </a:r>
            <a:r>
              <a:rPr lang="en-US" sz="24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chosen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as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 key.</a:t>
            </a:r>
            <a:endParaRPr lang="en-IN" sz="24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82ACC-838D-3FBC-9CD6-3DFBD3D2904F}"/>
              </a:ext>
            </a:extLst>
          </p:cNvPr>
          <p:cNvSpPr txBox="1"/>
          <p:nvPr/>
        </p:nvSpPr>
        <p:spPr>
          <a:xfrm>
            <a:off x="609601" y="3744724"/>
            <a:ext cx="11081656" cy="1561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79070" algn="r">
              <a:lnSpc>
                <a:spcPct val="20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Example,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STUD_NO</a:t>
            </a:r>
            <a:r>
              <a:rPr lang="en-US" sz="2400" b="1" spc="1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as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well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as</a:t>
            </a:r>
            <a:r>
              <a:rPr lang="en-US" sz="2400" spc="14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MOBILE_NO</a:t>
            </a:r>
            <a:r>
              <a:rPr lang="en-US" sz="2400" b="1" spc="15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both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are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candidate</a:t>
            </a:r>
            <a:r>
              <a:rPr lang="en-US" sz="2400" spc="14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keys</a:t>
            </a:r>
            <a:r>
              <a:rPr lang="en-US" sz="2400" spc="15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</a:t>
            </a:r>
            <a:endParaRPr lang="en-IN" sz="20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STUDENT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but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STUD_NO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chosen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01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B222CE-5CBF-8B8F-3AF1-BAE841357574}"/>
              </a:ext>
            </a:extLst>
          </p:cNvPr>
          <p:cNvSpPr txBox="1"/>
          <p:nvPr/>
        </p:nvSpPr>
        <p:spPr>
          <a:xfrm>
            <a:off x="555171" y="503700"/>
            <a:ext cx="11397343" cy="558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Bef>
                <a:spcPts val="10"/>
              </a:spcBef>
              <a:buSzPts val="1200"/>
              <a:tabLst>
                <a:tab pos="312420" algn="l"/>
              </a:tabLs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Secondary</a:t>
            </a:r>
            <a:r>
              <a:rPr lang="en-US" sz="4000" b="1" kern="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or</a:t>
            </a:r>
            <a:r>
              <a:rPr lang="en-US" sz="4000" b="1" kern="0" spc="-2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Alternative</a:t>
            </a:r>
            <a:r>
              <a:rPr lang="en-US" sz="4000" b="1" kern="0" spc="-15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endParaRPr lang="en-IN" sz="40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39700" algn="just">
              <a:lnSpc>
                <a:spcPct val="200000"/>
              </a:lnSpc>
              <a:spcBef>
                <a:spcPts val="795"/>
              </a:spcBef>
            </a:pP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	The</a:t>
            </a:r>
            <a:r>
              <a:rPr lang="en-US" sz="3200" spc="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candidate</a:t>
            </a:r>
            <a:r>
              <a:rPr lang="en-US" sz="32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32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other</a:t>
            </a:r>
            <a:r>
              <a:rPr lang="en-US" sz="32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3200" spc="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primary</a:t>
            </a:r>
            <a:r>
              <a:rPr lang="en-US" sz="3200" spc="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3200" spc="6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called</a:t>
            </a:r>
            <a:r>
              <a:rPr lang="en-US" sz="32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</a:t>
            </a:r>
            <a:r>
              <a:rPr lang="en-US" sz="32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alternate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</a:t>
            </a:r>
            <a:r>
              <a:rPr lang="en-US" sz="32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/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Secondary</a:t>
            </a:r>
            <a:r>
              <a:rPr lang="en-US" sz="32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key.</a:t>
            </a:r>
            <a:endParaRPr lang="en-IN" sz="32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39700" algn="just">
              <a:lnSpc>
                <a:spcPct val="200000"/>
              </a:lnSpc>
            </a:pP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	For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Example,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STUD_NO,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as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well</a:t>
            </a:r>
            <a:r>
              <a:rPr lang="en-US" sz="32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as</a:t>
            </a:r>
            <a:r>
              <a:rPr lang="en-US" sz="32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MOBILE_NO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both,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are</a:t>
            </a:r>
            <a:r>
              <a:rPr lang="en-US" sz="3200" spc="7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candidate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keys</a:t>
            </a:r>
            <a:r>
              <a:rPr lang="en-US" sz="3200" spc="7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</a:t>
            </a:r>
            <a:r>
              <a:rPr lang="en-US" sz="3200" spc="8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</a:t>
            </a:r>
            <a:r>
              <a:rPr lang="en-US" sz="3200" spc="-3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STUDENT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but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STUD_PHONE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will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be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alternate key</a:t>
            </a:r>
            <a:r>
              <a:rPr lang="en-US" sz="32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.</a:t>
            </a:r>
            <a:endParaRPr lang="en-IN" sz="32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47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94DB31-2AA3-8D5F-E4AB-FFFD2F050C44}"/>
              </a:ext>
            </a:extLst>
          </p:cNvPr>
          <p:cNvSpPr txBox="1"/>
          <p:nvPr/>
        </p:nvSpPr>
        <p:spPr>
          <a:xfrm>
            <a:off x="-125186" y="0"/>
            <a:ext cx="12442372" cy="6711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  <a:buSzPts val="1200"/>
              <a:tabLst>
                <a:tab pos="312420" algn="l"/>
              </a:tabLst>
            </a:pPr>
            <a:r>
              <a:rPr lang="en-US" sz="4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Foreign Key</a:t>
            </a:r>
            <a:endParaRPr lang="en-IN" sz="48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39700" marR="180340" indent="456565" algn="just">
              <a:lnSpc>
                <a:spcPct val="200000"/>
              </a:lnSpc>
              <a:spcBef>
                <a:spcPts val="805"/>
              </a:spcBef>
            </a:pP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If an attribute can only take the values which are present as values of some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other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attribute, it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will be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foreign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key to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attribute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 which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it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refers.</a:t>
            </a:r>
            <a:endParaRPr lang="en-IN" sz="28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139700" marR="174625" indent="456565" algn="just">
              <a:lnSpc>
                <a:spcPct val="20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relation which is being referenced is called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referenced relation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and the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corresponding attribute is called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referenced attribute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and the relation which refers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to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referenced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relation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 called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referencing relation</a:t>
            </a:r>
            <a:r>
              <a:rPr lang="en-US" sz="2800" b="1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and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the corresponding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attribute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called</a:t>
            </a:r>
            <a:r>
              <a:rPr lang="en-US" sz="2800" spc="5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referencing attribute</a:t>
            </a:r>
            <a:r>
              <a:rPr lang="en-US" sz="2800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03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928</Words>
  <Application>Microsoft Office PowerPoint</Application>
  <PresentationFormat>Widescreen</PresentationFormat>
  <Paragraphs>63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Times New Roman</vt:lpstr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 krishna</dc:creator>
  <cp:lastModifiedBy>murali krishna</cp:lastModifiedBy>
  <cp:revision>26</cp:revision>
  <dcterms:created xsi:type="dcterms:W3CDTF">2025-02-24T06:09:04Z</dcterms:created>
  <dcterms:modified xsi:type="dcterms:W3CDTF">2025-02-27T23:49:44Z</dcterms:modified>
</cp:coreProperties>
</file>