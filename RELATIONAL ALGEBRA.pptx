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06940-9105-489D-9DC5-AAED1937EF75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4D7B-A306-4C57-A7A9-43AC5F3784B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06940-9105-489D-9DC5-AAED1937EF75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4D7B-A306-4C57-A7A9-43AC5F3784B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06940-9105-489D-9DC5-AAED1937EF75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4D7B-A306-4C57-A7A9-43AC5F3784B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06940-9105-489D-9DC5-AAED1937EF75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4D7B-A306-4C57-A7A9-43AC5F3784B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06940-9105-489D-9DC5-AAED1937EF75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4D7B-A306-4C57-A7A9-43AC5F3784B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06940-9105-489D-9DC5-AAED1937EF75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4D7B-A306-4C57-A7A9-43AC5F3784B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06940-9105-489D-9DC5-AAED1937EF75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4D7B-A306-4C57-A7A9-43AC5F3784B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06940-9105-489D-9DC5-AAED1937EF75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4D7B-A306-4C57-A7A9-43AC5F3784B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06940-9105-489D-9DC5-AAED1937EF75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4D7B-A306-4C57-A7A9-43AC5F3784B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06940-9105-489D-9DC5-AAED1937EF75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4D7B-A306-4C57-A7A9-43AC5F3784B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06940-9105-489D-9DC5-AAED1937EF75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4D7B-A306-4C57-A7A9-43AC5F3784B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06940-9105-489D-9DC5-AAED1937EF75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244D7B-A306-4C57-A7A9-43AC5F3784BD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707962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SzPts val="1200"/>
              <a:tabLst>
                <a:tab pos="399415" algn="l"/>
              </a:tabLst>
            </a:pPr>
            <a:r>
              <a:rPr lang="en-US" sz="4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What</a:t>
            </a:r>
            <a:r>
              <a:rPr lang="en-US" sz="4000" b="1" spc="-1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is</a:t>
            </a:r>
            <a:r>
              <a:rPr lang="en-US" sz="4000" b="1" spc="-1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query</a:t>
            </a:r>
            <a:r>
              <a:rPr lang="en-US" sz="4000" b="1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language?</a:t>
            </a:r>
            <a:endParaRPr lang="en-IN" sz="36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17172" y="2155831"/>
            <a:ext cx="10069286" cy="2546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language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specialized language used to request information from databases or other data sources. It allows users to retrieve, manipulate, and manage data efficiently.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59429" y="1233206"/>
            <a:ext cx="8001000" cy="3635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types of query language</a:t>
            </a:r>
          </a:p>
          <a:p>
            <a:pPr>
              <a:lnSpc>
                <a:spcPct val="20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	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Procedural Query language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	Non-procedural Query language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4156" y="598714"/>
            <a:ext cx="10983687" cy="5480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algn="ctr">
              <a:lnSpc>
                <a:spcPct val="200000"/>
              </a:lnSpc>
            </a:pPr>
            <a:r>
              <a:rPr lang="en-US" sz="36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Procedural</a:t>
            </a:r>
            <a:r>
              <a:rPr lang="en-US" sz="3600" b="1" kern="0" spc="-1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Query</a:t>
            </a:r>
            <a:r>
              <a:rPr lang="en-US" sz="3600" b="1" kern="0" spc="-1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language</a:t>
            </a:r>
            <a:endParaRPr lang="en-IN" sz="3600" b="1" kern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r>
              <a:rPr lang="en-US" sz="28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 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describes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step-by-step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procedure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computing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desired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answer.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180340" lvl="0" indent="-342900" algn="just">
              <a:lnSpc>
                <a:spcPct val="200000"/>
              </a:lnSpc>
              <a:spcBef>
                <a:spcPts val="770"/>
              </a:spcBef>
              <a:buSzPts val="1200"/>
              <a:buFont typeface="Calibri" panose="020F0502020204030204" pitchFamily="34" charset="0"/>
              <a:buChar char="—"/>
              <a:tabLst>
                <a:tab pos="597535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Queries</a:t>
            </a:r>
            <a:r>
              <a:rPr lang="en-US" sz="2800" spc="10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are</a:t>
            </a:r>
            <a:r>
              <a:rPr lang="en-US" sz="2800" spc="10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specified</a:t>
            </a:r>
            <a:r>
              <a:rPr lang="en-US" sz="2800" spc="1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US" sz="2800" spc="1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</a:t>
            </a:r>
            <a:r>
              <a:rPr lang="en-US" sz="2800" spc="1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operational</a:t>
            </a:r>
            <a:r>
              <a:rPr lang="en-US" sz="2800" spc="9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manner.</a:t>
            </a:r>
            <a:r>
              <a:rPr lang="en-US" sz="2800" spc="1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Useful</a:t>
            </a:r>
            <a:r>
              <a:rPr lang="en-US" sz="2800" spc="1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n-US" sz="2800" spc="1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representing</a:t>
            </a:r>
            <a:r>
              <a:rPr lang="en-US" sz="2800" spc="-3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execution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plans.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179070" lvl="0" indent="-342900" algn="just">
              <a:lnSpc>
                <a:spcPct val="200000"/>
              </a:lnSpc>
              <a:spcBef>
                <a:spcPts val="45"/>
              </a:spcBef>
              <a:buSzPts val="1200"/>
              <a:buFont typeface="Calibri" panose="020F0502020204030204" pitchFamily="34" charset="0"/>
              <a:buChar char="—"/>
              <a:tabLst>
                <a:tab pos="597535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  <a:r>
              <a:rPr lang="en-US" sz="2800" spc="19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Relational</a:t>
            </a:r>
            <a:r>
              <a:rPr lang="en-US" sz="2800" b="1" spc="18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Algebra</a:t>
            </a:r>
            <a:r>
              <a:rPr lang="en-US" sz="2800" b="1" spc="2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2800" b="1" spc="17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conceptual</a:t>
            </a:r>
            <a:r>
              <a:rPr lang="en-US" sz="2800" spc="18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procedural</a:t>
            </a:r>
            <a:r>
              <a:rPr lang="en-US" sz="2800" spc="18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query</a:t>
            </a:r>
            <a:r>
              <a:rPr lang="en-US" sz="2800" spc="18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language</a:t>
            </a:r>
            <a:r>
              <a:rPr lang="en-US" sz="2800" spc="18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used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on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relational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model.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12370" y="838200"/>
            <a:ext cx="10798629" cy="488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algn="ctr">
              <a:spcBef>
                <a:spcPts val="10"/>
              </a:spcBef>
            </a:pPr>
            <a:r>
              <a:rPr lang="en-US" sz="32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Non</a:t>
            </a:r>
            <a:r>
              <a:rPr lang="en-US" sz="3200" b="1" kern="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-</a:t>
            </a:r>
            <a:r>
              <a:rPr lang="en-US" sz="3200" b="1" kern="0" spc="-2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procedural</a:t>
            </a:r>
            <a:r>
              <a:rPr lang="en-US" sz="3200" b="1" kern="0" spc="-2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Query</a:t>
            </a:r>
            <a:r>
              <a:rPr lang="en-US" sz="3200" b="1" kern="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language</a:t>
            </a:r>
          </a:p>
          <a:p>
            <a:pPr marL="139700" algn="ctr">
              <a:spcBef>
                <a:spcPts val="10"/>
              </a:spcBef>
            </a:pPr>
            <a:endParaRPr lang="en-IN" sz="3200" b="1" kern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  <a:p>
            <a:pPr marL="342900" marR="182245" lvl="0" indent="-342900" algn="just">
              <a:lnSpc>
                <a:spcPct val="150000"/>
              </a:lnSpc>
              <a:spcBef>
                <a:spcPts val="795"/>
              </a:spcBef>
              <a:buSzPts val="1200"/>
              <a:buFont typeface="Calibri" panose="020F0502020204030204" pitchFamily="34" charset="0"/>
              <a:buChar char="—"/>
              <a:tabLst>
                <a:tab pos="597535" algn="l"/>
              </a:tabLst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describes the desired answer without specifying how the answer is to be</a:t>
            </a:r>
            <a:r>
              <a:rPr lang="en-US" sz="32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computed.</a:t>
            </a:r>
            <a:endParaRPr lang="en-IN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45"/>
              </a:spcBef>
              <a:buSzPts val="1200"/>
              <a:buFont typeface="Calibri" panose="020F0502020204030204" pitchFamily="34" charset="0"/>
              <a:buChar char="—"/>
              <a:tabLst>
                <a:tab pos="597535" algn="l"/>
              </a:tabLst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Non</a:t>
            </a:r>
            <a:r>
              <a:rPr lang="en-US" sz="32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32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operational,</a:t>
            </a:r>
            <a:r>
              <a:rPr lang="en-US" sz="32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declarative.</a:t>
            </a:r>
            <a:endParaRPr lang="en-IN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176530" lvl="0" indent="-342900" algn="just">
              <a:lnSpc>
                <a:spcPct val="150000"/>
              </a:lnSpc>
              <a:spcBef>
                <a:spcPts val="780"/>
              </a:spcBef>
              <a:buSzPts val="1200"/>
              <a:buFont typeface="Calibri" panose="020F0502020204030204" pitchFamily="34" charset="0"/>
              <a:buChar char="—"/>
              <a:tabLst>
                <a:tab pos="597535" algn="l"/>
              </a:tabLst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Relational Calculus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conceptual non-procedural query language</a:t>
            </a:r>
            <a:r>
              <a:rPr lang="en-US" sz="32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used</a:t>
            </a:r>
            <a:r>
              <a:rPr lang="en-US" sz="32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 relational</a:t>
            </a:r>
            <a:r>
              <a:rPr lang="en-US" sz="32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model.</a:t>
            </a:r>
            <a:endParaRPr lang="en-IN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6829" y="1088572"/>
            <a:ext cx="11495314" cy="4875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marR="173355" algn="just">
              <a:lnSpc>
                <a:spcPct val="150000"/>
              </a:lnSpc>
              <a:spcBef>
                <a:spcPts val="845"/>
              </a:spcBef>
            </a:pPr>
            <a:r>
              <a:rPr lang="en-US" sz="320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	Let’s</a:t>
            </a:r>
            <a:r>
              <a:rPr lang="en-US" sz="3200" spc="5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take</a:t>
            </a:r>
            <a:r>
              <a:rPr lang="en-US" sz="3200" spc="5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</a:t>
            </a:r>
            <a:r>
              <a:rPr lang="en-US" sz="3200" spc="5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real-world</a:t>
            </a:r>
            <a:r>
              <a:rPr lang="en-US" sz="3200" spc="5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example</a:t>
            </a:r>
            <a:r>
              <a:rPr lang="en-US" sz="3200" spc="5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to</a:t>
            </a:r>
            <a:r>
              <a:rPr lang="en-US" sz="3200" spc="5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understand</a:t>
            </a:r>
            <a:r>
              <a:rPr lang="en-US" sz="3200" spc="5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US" sz="3200" spc="5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procedural</a:t>
            </a:r>
            <a:r>
              <a:rPr lang="en-US" sz="3200" spc="5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language, you are asking your younger brother to make a </a:t>
            </a:r>
            <a:r>
              <a:rPr lang="en-US" sz="36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cup of tea</a:t>
            </a:r>
            <a:r>
              <a:rPr lang="en-US" sz="320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, if you are just</a:t>
            </a:r>
            <a:r>
              <a:rPr lang="en-US" sz="3200" spc="5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telling him to make a tea and not telling the process then it is a </a:t>
            </a:r>
            <a:r>
              <a:rPr lang="en-US" sz="36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non-procedural</a:t>
            </a:r>
            <a:r>
              <a:rPr lang="en-US" sz="3600" b="1" i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language,</a:t>
            </a:r>
            <a:r>
              <a:rPr lang="en-US" sz="3200" spc="5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however</a:t>
            </a:r>
            <a:r>
              <a:rPr lang="en-US" sz="3200" spc="5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if you</a:t>
            </a:r>
            <a:r>
              <a:rPr lang="en-US" sz="3200" spc="5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are telling</a:t>
            </a:r>
            <a:r>
              <a:rPr lang="en-US" sz="3200" spc="5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 step-by-step</a:t>
            </a:r>
            <a:r>
              <a:rPr lang="en-US" sz="3200" spc="5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process like switch</a:t>
            </a:r>
            <a:r>
              <a:rPr lang="en-US" sz="3200" spc="5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on</a:t>
            </a:r>
            <a:r>
              <a:rPr lang="en-US" sz="3200" spc="325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US" sz="3200" spc="5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stove,</a:t>
            </a:r>
            <a:r>
              <a:rPr lang="en-US" sz="3200" spc="-1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boil</a:t>
            </a:r>
            <a:r>
              <a:rPr lang="en-US" sz="3200" spc="-1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US" sz="3200" spc="-1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water,</a:t>
            </a:r>
            <a:r>
              <a:rPr lang="en-US" sz="3200" spc="-1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add milk</a:t>
            </a:r>
            <a:r>
              <a:rPr lang="en-US" sz="3200" spc="-5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etc. then</a:t>
            </a:r>
            <a:r>
              <a:rPr lang="en-US" sz="3200" spc="-1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it is</a:t>
            </a:r>
            <a:r>
              <a:rPr lang="en-US" sz="3200" spc="-5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</a:t>
            </a:r>
            <a:r>
              <a:rPr lang="en-US" sz="3200" spc="5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procedural</a:t>
            </a:r>
            <a:r>
              <a:rPr lang="en-US" sz="3200" spc="-15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212325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language.</a:t>
            </a:r>
            <a:endParaRPr lang="en-IN" sz="3200" dirty="0"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007" y="323693"/>
            <a:ext cx="7956679" cy="621061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4287" y="718457"/>
            <a:ext cx="11212286" cy="4964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179705" lvl="0" indent="-342900" algn="just">
              <a:lnSpc>
                <a:spcPct val="200000"/>
              </a:lnSpc>
              <a:buSzPts val="1200"/>
              <a:buFont typeface="Calibri" panose="020F0502020204030204" pitchFamily="34" charset="0"/>
              <a:buChar char="—"/>
              <a:tabLst>
                <a:tab pos="597535" algn="l"/>
              </a:tabLst>
            </a:pPr>
            <a:r>
              <a:rPr lang="en-US" sz="32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Relational</a:t>
            </a:r>
            <a:r>
              <a:rPr lang="en-US" sz="3200" b="1" i="1" spc="16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32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lgebra</a:t>
            </a:r>
            <a:r>
              <a:rPr lang="en-US" sz="3200" b="1" i="1" spc="18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US" sz="3200" spc="18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32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alculus</a:t>
            </a:r>
            <a:r>
              <a:rPr lang="en-US" sz="3200" b="1" spc="16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are</a:t>
            </a:r>
            <a:r>
              <a:rPr lang="en-US" sz="3200" spc="16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sz="3200" spc="16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theoretical</a:t>
            </a:r>
            <a:r>
              <a:rPr lang="en-US" sz="3200" spc="16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concepts</a:t>
            </a:r>
            <a:r>
              <a:rPr lang="en-US" sz="3200" spc="17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used</a:t>
            </a:r>
            <a:r>
              <a:rPr lang="en-US" sz="3200" spc="16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en-US" sz="3200" spc="-3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i="1" spc="-315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32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elational</a:t>
            </a:r>
            <a:r>
              <a:rPr lang="en-US" sz="3200" b="1" i="1" spc="-1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i="1" spc="-15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32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odel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200000"/>
              </a:lnSpc>
              <a:spcBef>
                <a:spcPts val="40"/>
              </a:spcBef>
              <a:buSzPts val="1200"/>
              <a:buFont typeface="Calibri" panose="020F0502020204030204" pitchFamily="34" charset="0"/>
              <a:buChar char="—"/>
              <a:tabLst>
                <a:tab pos="597535" algn="l"/>
              </a:tabLst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RDBMS</a:t>
            </a:r>
            <a:r>
              <a:rPr lang="en-US" sz="3200" b="1" spc="-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en-US" sz="3200" spc="-2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32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practical</a:t>
            </a:r>
            <a:r>
              <a:rPr lang="en-US" sz="32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implementation</a:t>
            </a:r>
            <a:r>
              <a:rPr lang="en-US" sz="32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en-US" sz="3200" spc="-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i="1" spc="-2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3200" b="1" i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elational</a:t>
            </a:r>
            <a:r>
              <a:rPr lang="en-US" sz="3200" b="1" i="1" spc="-15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i="1" spc="-15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3200" b="1" i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odel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200000"/>
              </a:lnSpc>
              <a:spcBef>
                <a:spcPts val="785"/>
              </a:spcBef>
              <a:buSzPts val="1200"/>
              <a:buFont typeface="Calibri" panose="020F0502020204030204" pitchFamily="34" charset="0"/>
              <a:buChar char="—"/>
              <a:tabLst>
                <a:tab pos="597535" algn="l"/>
              </a:tabLst>
            </a:pPr>
            <a:r>
              <a:rPr lang="en-US" sz="3200" b="1" i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SQL</a:t>
            </a:r>
            <a:r>
              <a:rPr lang="en-US" sz="3200" b="1" spc="-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en-US" sz="3200" spc="-2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practical</a:t>
            </a:r>
            <a:r>
              <a:rPr lang="en-US" sz="3200" spc="-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implementation</a:t>
            </a:r>
            <a:r>
              <a:rPr lang="en-US" sz="32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en-US" sz="3200" spc="-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i="1" spc="-2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3200" b="1" i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elational</a:t>
            </a:r>
            <a:r>
              <a:rPr lang="en-US" sz="3200" b="1" i="1" spc="-1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i="1" spc="-15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3200" b="1" i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lgebra</a:t>
            </a:r>
            <a:r>
              <a:rPr lang="en-US" sz="3200" b="1" i="1" spc="-1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&amp;</a:t>
            </a:r>
            <a:r>
              <a:rPr lang="en-US" sz="32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i="1" spc="-1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3200" b="1" i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alculus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9742" y="254032"/>
            <a:ext cx="5191776" cy="51670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4544" y="254033"/>
            <a:ext cx="4093216" cy="51670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858" y="1290868"/>
            <a:ext cx="3581399" cy="32375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52599" y="740229"/>
            <a:ext cx="8120743" cy="1481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spcBef>
                <a:spcPts val="10"/>
              </a:spcBef>
              <a:buSzPts val="1200"/>
              <a:tabLst>
                <a:tab pos="297180" algn="l"/>
              </a:tabLst>
            </a:pPr>
            <a:r>
              <a:rPr lang="en-US" sz="32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Display</a:t>
            </a:r>
            <a:r>
              <a:rPr lang="en-US" sz="3200" b="1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 details of</a:t>
            </a:r>
            <a:r>
              <a:rPr lang="en-US" sz="3200" b="1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sailors who</a:t>
            </a:r>
            <a:r>
              <a:rPr lang="en-US" sz="3200" b="1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have</a:t>
            </a:r>
            <a:r>
              <a:rPr lang="en-US" sz="3200" b="1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rating greater than 8.</a:t>
            </a:r>
            <a:endParaRPr lang="en-IN" sz="2800" b="1" spc="-5" dirty="0"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27515" y="3429000"/>
            <a:ext cx="79574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>
              <a:spcBef>
                <a:spcPts val="120"/>
              </a:spcBef>
            </a:pPr>
            <a:r>
              <a:rPr lang="en-US" sz="6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σ</a:t>
            </a:r>
            <a:r>
              <a:rPr lang="en-US" sz="6000" b="1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rating</a:t>
            </a:r>
            <a:r>
              <a:rPr lang="en-US" sz="3600" b="1" spc="-1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&gt;</a:t>
            </a:r>
            <a:r>
              <a:rPr lang="en-US" sz="3600" b="1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8</a:t>
            </a:r>
            <a:r>
              <a:rPr lang="en-US" sz="3600" b="1" spc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(SAILORS)</a:t>
            </a:r>
            <a:endParaRPr lang="en-IN" sz="54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09800" y="732504"/>
            <a:ext cx="8273143" cy="82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SzPts val="1200"/>
              <a:tabLst>
                <a:tab pos="297180" algn="l"/>
              </a:tabLst>
            </a:pPr>
            <a:r>
              <a:rPr lang="en-US" sz="36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Display</a:t>
            </a:r>
            <a:r>
              <a:rPr lang="en-US" sz="3600" b="1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 details of</a:t>
            </a:r>
            <a:r>
              <a:rPr lang="en-US" sz="3600" b="1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red color boats.</a:t>
            </a:r>
            <a:endParaRPr lang="en-IN" sz="3200" b="1" spc="-5" dirty="0"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7999" y="3253632"/>
            <a:ext cx="7794171" cy="42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>
              <a:lnSpc>
                <a:spcPts val="1595"/>
              </a:lnSpc>
            </a:pPr>
            <a:r>
              <a:rPr lang="en-US" sz="6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σ</a:t>
            </a:r>
            <a:r>
              <a:rPr lang="en-US" sz="6000" b="1" spc="-1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color</a:t>
            </a:r>
            <a:r>
              <a:rPr lang="en-US" sz="3600" b="1" spc="-1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=’red’</a:t>
            </a:r>
            <a:r>
              <a:rPr lang="en-US" sz="3600" b="1" spc="9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6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(BOATS)</a:t>
            </a:r>
            <a:endParaRPr lang="en-IN" sz="54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75115" y="795048"/>
            <a:ext cx="93943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5"/>
              </a:spcBef>
              <a:buSzPts val="1200"/>
              <a:tabLst>
                <a:tab pos="297180" algn="l"/>
              </a:tabLst>
            </a:pPr>
            <a:r>
              <a:rPr lang="en-US" sz="36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Display</a:t>
            </a:r>
            <a:r>
              <a:rPr lang="en-US" sz="3600" b="1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 name</a:t>
            </a:r>
            <a:r>
              <a:rPr lang="en-US" sz="3600" b="1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and age</a:t>
            </a:r>
            <a:r>
              <a:rPr lang="en-US" sz="3600" b="1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of</a:t>
            </a:r>
            <a:r>
              <a:rPr lang="en-US" sz="3600" b="1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all sailors.</a:t>
            </a:r>
            <a:endParaRPr lang="en-IN" sz="3200" b="1" spc="-5" dirty="0"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75115" y="3280007"/>
            <a:ext cx="80445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>
              <a:spcBef>
                <a:spcPts val="115"/>
              </a:spcBef>
            </a:pPr>
            <a:r>
              <a:rPr lang="en-US" sz="4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∏</a:t>
            </a:r>
            <a:r>
              <a:rPr lang="en-US" sz="4800" b="1" spc="-2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sname</a:t>
            </a:r>
            <a:r>
              <a:rPr 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,</a:t>
            </a:r>
            <a:r>
              <a:rPr lang="en-US" sz="2800" b="1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age</a:t>
            </a:r>
            <a:r>
              <a:rPr lang="en-US" sz="2800" b="1" spc="9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(</a:t>
            </a:r>
            <a:r>
              <a:rPr lang="en-US" sz="5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SAILORS</a:t>
            </a:r>
            <a:r>
              <a:rPr lang="en-US" sz="4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)</a:t>
            </a:r>
            <a:endParaRPr lang="en-IN" sz="44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51857" y="893019"/>
            <a:ext cx="9895114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buSzPts val="1200"/>
              <a:tabLst>
                <a:tab pos="297180" algn="l"/>
              </a:tabLst>
            </a:pPr>
            <a:r>
              <a:rPr lang="en-US" sz="32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Find the</a:t>
            </a:r>
            <a:r>
              <a:rPr lang="en-US" sz="3200" b="1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names</a:t>
            </a:r>
            <a:r>
              <a:rPr lang="en-US" sz="3200" b="1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of sailors</a:t>
            </a:r>
            <a:r>
              <a:rPr lang="en-US" sz="3200" b="1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who</a:t>
            </a:r>
            <a:r>
              <a:rPr lang="en-US" sz="3200" b="1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have</a:t>
            </a:r>
            <a:r>
              <a:rPr lang="en-US" sz="3200" b="1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ratings at least 8?</a:t>
            </a:r>
            <a:endParaRPr lang="en-IN" sz="2800" b="1" spc="-5" dirty="0"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87285" y="3345321"/>
            <a:ext cx="838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>
              <a:spcBef>
                <a:spcPts val="130"/>
              </a:spcBef>
            </a:pPr>
            <a:r>
              <a:rPr lang="en-US" sz="4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∏</a:t>
            </a:r>
            <a:r>
              <a:rPr lang="en-US" sz="4800" b="1" spc="-1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sname</a:t>
            </a:r>
            <a:r>
              <a:rPr lang="en-US" sz="2800" b="1" spc="9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(σ</a:t>
            </a:r>
            <a:r>
              <a:rPr lang="en-US" sz="4800" b="1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rating</a:t>
            </a:r>
            <a:r>
              <a:rPr lang="en-US" sz="2800" b="1" spc="-1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&gt;=8</a:t>
            </a:r>
            <a:r>
              <a:rPr lang="en-US" sz="2800" b="1" spc="9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(SAILORS))</a:t>
            </a:r>
            <a:endParaRPr lang="en-IN" sz="44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28799" y="337848"/>
            <a:ext cx="8044543" cy="1481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Find</a:t>
            </a:r>
            <a:r>
              <a:rPr lang="en-US" sz="32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US" sz="3200" b="1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names</a:t>
            </a:r>
            <a:r>
              <a:rPr lang="en-US" sz="3200" b="1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of sailors</a:t>
            </a:r>
            <a:r>
              <a:rPr lang="en-US" sz="3200" b="1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who</a:t>
            </a:r>
            <a:r>
              <a:rPr lang="en-US" sz="3200" b="1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have</a:t>
            </a:r>
            <a:r>
              <a:rPr lang="en-US" sz="3200" b="1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reserved</a:t>
            </a:r>
            <a:r>
              <a:rPr lang="en-US" sz="32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boat</a:t>
            </a:r>
            <a:r>
              <a:rPr lang="en-US" sz="32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103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8170" y="3266106"/>
            <a:ext cx="106244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>
              <a:spcBef>
                <a:spcPts val="120"/>
              </a:spcBef>
            </a:pPr>
            <a:r>
              <a:rPr lang="en-US" sz="4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∏</a:t>
            </a:r>
            <a:r>
              <a:rPr lang="en-US" sz="4000" b="1" spc="-2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sname</a:t>
            </a:r>
            <a:r>
              <a:rPr lang="en-US" sz="2000" b="1" spc="9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((σ</a:t>
            </a:r>
            <a:r>
              <a:rPr lang="en-US" sz="4000" b="1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bid =</a:t>
            </a:r>
            <a:r>
              <a:rPr lang="en-US" sz="2000" b="1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103</a:t>
            </a:r>
            <a:r>
              <a:rPr lang="en-US" sz="2000" b="1" spc="9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(RESERVES)</a:t>
            </a:r>
            <a:r>
              <a:rPr lang="en-US" sz="4000" b="1" spc="-7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⋈</a:t>
            </a:r>
            <a:r>
              <a:rPr lang="en-US" sz="4000" b="1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SAILORS)</a:t>
            </a:r>
            <a:endParaRPr lang="en-IN" sz="36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36914" y="903905"/>
            <a:ext cx="990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Find</a:t>
            </a:r>
            <a:r>
              <a:rPr lang="en-US" sz="32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US" sz="3200" b="1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sid</a:t>
            </a:r>
            <a:r>
              <a:rPr lang="en-US" sz="3200" b="1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of</a:t>
            </a:r>
            <a:r>
              <a:rPr lang="en-US" sz="32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sailors</a:t>
            </a:r>
            <a:r>
              <a:rPr lang="en-US" sz="3200" b="1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who</a:t>
            </a:r>
            <a:r>
              <a:rPr lang="en-US" sz="3200" b="1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have</a:t>
            </a:r>
            <a:r>
              <a:rPr lang="en-US" sz="3200" b="1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reserved</a:t>
            </a:r>
            <a:r>
              <a:rPr lang="en-US" sz="32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green boat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41714" y="3255220"/>
            <a:ext cx="104502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>
              <a:spcBef>
                <a:spcPts val="125"/>
              </a:spcBef>
            </a:pPr>
            <a:r>
              <a:rPr lang="en-US" sz="4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∏</a:t>
            </a:r>
            <a:r>
              <a:rPr lang="en-US" sz="4000" b="1" spc="-2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sid</a:t>
            </a:r>
            <a:r>
              <a:rPr lang="en-US" sz="2000" b="1" spc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((σ</a:t>
            </a:r>
            <a:r>
              <a:rPr lang="en-US" sz="4000" b="1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color=’green’</a:t>
            </a:r>
            <a:r>
              <a:rPr lang="en-US" sz="2000" b="1" spc="9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(BOATS)</a:t>
            </a:r>
            <a:r>
              <a:rPr lang="en-US" sz="4000" b="1" spc="-8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⋈</a:t>
            </a:r>
            <a:r>
              <a:rPr lang="en-US" sz="4000" b="1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RESERVES)</a:t>
            </a:r>
            <a:endParaRPr lang="en-IN" sz="36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29342" y="392277"/>
            <a:ext cx="10395858" cy="165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Find</a:t>
            </a:r>
            <a:r>
              <a:rPr lang="en-US" sz="36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US" sz="3600" b="1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names</a:t>
            </a:r>
            <a:r>
              <a:rPr lang="en-US" sz="3600" b="1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of</a:t>
            </a:r>
            <a:r>
              <a:rPr lang="en-US" sz="36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sailors</a:t>
            </a:r>
            <a:r>
              <a:rPr lang="en-US" sz="3600" b="1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who</a:t>
            </a:r>
            <a:r>
              <a:rPr lang="en-US" sz="3600" b="1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have</a:t>
            </a:r>
            <a:r>
              <a:rPr lang="en-US" sz="3600" b="1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reserved</a:t>
            </a:r>
            <a:r>
              <a:rPr lang="en-US" sz="36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</a:t>
            </a:r>
            <a:r>
              <a:rPr lang="en-US" sz="3600" b="1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red</a:t>
            </a:r>
            <a:r>
              <a:rPr lang="en-US" sz="3600" b="1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boat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3075057"/>
            <a:ext cx="126655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>
              <a:spcBef>
                <a:spcPts val="125"/>
              </a:spcBef>
            </a:pPr>
            <a:r>
              <a:rPr lang="en-US" sz="4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∏</a:t>
            </a:r>
            <a:r>
              <a:rPr lang="en-US" sz="4000" b="1" spc="-2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sname</a:t>
            </a:r>
            <a:r>
              <a:rPr lang="en-US" sz="2000" b="1" spc="9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((σ</a:t>
            </a:r>
            <a:r>
              <a:rPr lang="en-US" sz="4000" b="1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color</a:t>
            </a:r>
            <a:r>
              <a:rPr lang="en-US" sz="2000" b="1" spc="-1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=’red’</a:t>
            </a:r>
            <a:r>
              <a:rPr lang="en-US" sz="2000" b="1" spc="-1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(BOATS)</a:t>
            </a:r>
            <a:r>
              <a:rPr lang="en-US" sz="4000" b="1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⋈</a:t>
            </a:r>
            <a:r>
              <a:rPr lang="en-US" sz="4000" b="1" spc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RESERVES</a:t>
            </a:r>
            <a:r>
              <a:rPr lang="en-US" sz="4000" b="1" spc="-7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⋈</a:t>
            </a:r>
            <a:r>
              <a:rPr lang="en-US" sz="4000" b="1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SAILORS)</a:t>
            </a:r>
            <a:endParaRPr lang="en-IN" sz="36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76399" y="1186934"/>
            <a:ext cx="94270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Find</a:t>
            </a:r>
            <a:r>
              <a:rPr lang="en-US" sz="32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US" sz="3200" b="1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colors</a:t>
            </a:r>
            <a:r>
              <a:rPr lang="en-US" sz="3200" b="1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of</a:t>
            </a:r>
            <a:r>
              <a:rPr lang="en-US" sz="3200" b="1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boats</a:t>
            </a:r>
            <a:r>
              <a:rPr lang="en-US" sz="3200" b="1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reserved</a:t>
            </a:r>
            <a:r>
              <a:rPr lang="en-US" sz="3200" b="1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by</a:t>
            </a:r>
            <a:r>
              <a:rPr lang="en-US" sz="3200" b="1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Lubber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5942" y="3167390"/>
            <a:ext cx="121811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>
              <a:spcBef>
                <a:spcPts val="115"/>
              </a:spcBef>
            </a:pPr>
            <a:r>
              <a:rPr lang="en-US" sz="3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∏</a:t>
            </a:r>
            <a:r>
              <a:rPr lang="en-US" sz="3600" b="1" spc="-2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color</a:t>
            </a:r>
            <a:r>
              <a:rPr lang="en-US" b="1" spc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((σ</a:t>
            </a:r>
            <a:r>
              <a:rPr lang="en-US" sz="3600" b="1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sname</a:t>
            </a:r>
            <a:r>
              <a:rPr lang="en-US" b="1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=’Lubber’</a:t>
            </a:r>
            <a:r>
              <a:rPr lang="en-US" b="1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(SAILORS)</a:t>
            </a:r>
            <a:r>
              <a:rPr lang="en-US" sz="3600" b="1" spc="-1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⋈</a:t>
            </a:r>
            <a:r>
              <a:rPr lang="en-US" sz="3600" b="1" spc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RESERVES</a:t>
            </a:r>
            <a:r>
              <a:rPr lang="en-US" sz="3600" b="1" spc="-8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⋈</a:t>
            </a:r>
            <a:r>
              <a:rPr lang="en-US" sz="3600" b="1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BOATS)</a:t>
            </a:r>
            <a:endParaRPr lang="en-IN" sz="32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36913" y="1045419"/>
            <a:ext cx="101128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Find</a:t>
            </a:r>
            <a:r>
              <a:rPr lang="en-US" sz="36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US" sz="3600" b="1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names</a:t>
            </a:r>
            <a:r>
              <a:rPr lang="en-US" sz="3600" b="1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of</a:t>
            </a:r>
            <a:r>
              <a:rPr lang="en-US" sz="3600" b="1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boats</a:t>
            </a:r>
            <a:r>
              <a:rPr lang="en-US" sz="3600" b="1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reserved</a:t>
            </a:r>
            <a:r>
              <a:rPr lang="en-US" sz="3600" b="1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by</a:t>
            </a:r>
            <a:r>
              <a:rPr lang="en-US" sz="3600" b="1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Dustin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412" y="3200792"/>
            <a:ext cx="120178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>
              <a:spcBef>
                <a:spcPts val="130"/>
              </a:spcBef>
            </a:pPr>
            <a:r>
              <a:rPr lang="en-US" sz="3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∏</a:t>
            </a:r>
            <a:r>
              <a:rPr lang="en-US" sz="3600" b="1" spc="-2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bname</a:t>
            </a:r>
            <a:r>
              <a:rPr lang="en-US" b="1" spc="9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((σ</a:t>
            </a:r>
            <a:r>
              <a:rPr lang="en-US" sz="3600" b="1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sname</a:t>
            </a:r>
            <a:r>
              <a:rPr lang="en-US" b="1" spc="-1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=’Dustin’</a:t>
            </a:r>
            <a:r>
              <a:rPr lang="en-US" b="1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(SAILORS)</a:t>
            </a:r>
            <a:r>
              <a:rPr lang="en-US" sz="3600" b="1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⋈</a:t>
            </a:r>
            <a:r>
              <a:rPr lang="en-US" sz="3600" b="1" spc="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RESERVES</a:t>
            </a:r>
            <a:r>
              <a:rPr lang="en-US" sz="3600" b="1" spc="-8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⋈</a:t>
            </a:r>
            <a:r>
              <a:rPr lang="en-US" sz="3600" b="1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BOATS)</a:t>
            </a:r>
            <a:endParaRPr lang="en-IN" sz="32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37457" y="141515"/>
            <a:ext cx="11669485" cy="640406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schemas 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Suppliers(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sid:integer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sname:string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address:string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Parts (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pid:integer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pname:string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color:string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Catalog (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sid:integer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pid:integer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cost:real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above schemas, write the corresponding relational algebra queries for the following. 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b="1" dirty="0" err="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8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) Find the names of suppliers who supply some red part.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ii) Find the names of suppliers who supply some red part or green part. 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iii) Find the </a:t>
            </a:r>
            <a:r>
              <a:rPr lang="en-US" altLang="en-US" sz="2800" b="1" dirty="0" err="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sids</a:t>
            </a:r>
            <a:r>
              <a:rPr lang="en-US" altLang="en-US" sz="28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 of suppliers who supply every part. 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iv) Find the </a:t>
            </a:r>
            <a:r>
              <a:rPr lang="en-US" altLang="en-US" sz="2800" b="1" dirty="0" err="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pids</a:t>
            </a:r>
            <a:r>
              <a:rPr lang="en-US" altLang="en-US" sz="28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 of parts supplied by supplier from </a:t>
            </a:r>
            <a:r>
              <a:rPr lang="en-US" altLang="en-US" sz="2800" b="1" dirty="0" err="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chennai</a:t>
            </a:r>
            <a:r>
              <a:rPr lang="en-US" altLang="en-US" sz="28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V) Find the </a:t>
            </a:r>
            <a:r>
              <a:rPr lang="en-US" altLang="en-US" sz="2800" b="1" dirty="0" err="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pids</a:t>
            </a:r>
            <a:r>
              <a:rPr lang="en-US" altLang="en-US" sz="28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 of parts supplied by every supplier at less than $200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C06102-ABB1-DC30-05BC-256D1C38F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7" y="1382487"/>
            <a:ext cx="12043746" cy="3113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825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A4062D-0ACC-16C8-7E0B-086D3C1E9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92" y="1284513"/>
            <a:ext cx="11677416" cy="337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81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D80987-9F2D-AC31-D7E0-00340A369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00" y="1436913"/>
            <a:ext cx="11517967" cy="238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3340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AF2863-4653-2F9C-9BD8-8CF3B7607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3" y="979714"/>
            <a:ext cx="12165577" cy="359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8472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973C21-10BE-34E1-9560-55E06DEF9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12" y="1208314"/>
            <a:ext cx="11772376" cy="269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950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12B54E-0F81-0859-C2F7-E084BFE15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61" y="283029"/>
            <a:ext cx="12046339" cy="629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467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574</Words>
  <Application>Microsoft Office PowerPoint</Application>
  <PresentationFormat>Widescreen</PresentationFormat>
  <Paragraphs>47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murali krishna</dc:creator>
  <cp:lastModifiedBy>murali krishna</cp:lastModifiedBy>
  <cp:revision>26</cp:revision>
  <dcterms:created xsi:type="dcterms:W3CDTF">2025-02-28T05:07:00Z</dcterms:created>
  <dcterms:modified xsi:type="dcterms:W3CDTF">2025-03-07T05:09:51Z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F5EF4D3AC3BD4B18A1EE39AC4E970DC4_12</vt:lpwstr>
  </property>
  <property fmtid="{D5CDD505-2E9C-101B-9397-08002B2CF9AE}" pid="3" name="KSOProductBuildVer">
    <vt:lpwstr>1033-12.2.0.19805</vt:lpwstr>
  </property>
</Properties>
</file>