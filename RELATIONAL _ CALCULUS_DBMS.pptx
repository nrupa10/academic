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74" r:id="rId1"/>
  </p:sldMasterIdLst>
  <p:notesMasterIdLst>
    <p:notesMasterId r:id="rId13"/>
  </p:notesMasterIdLst>
  <p:handoutMasterIdLst>
    <p:handoutMasterId r:id="rId14"/>
  </p:handoutMasterIdLst>
  <p:sldIdLst>
    <p:sldId id="392" r:id="rId2"/>
    <p:sldId id="374" r:id="rId3"/>
    <p:sldId id="375" r:id="rId4"/>
    <p:sldId id="391" r:id="rId5"/>
    <p:sldId id="393" r:id="rId6"/>
    <p:sldId id="377" r:id="rId7"/>
    <p:sldId id="394" r:id="rId8"/>
    <p:sldId id="383" r:id="rId9"/>
    <p:sldId id="384" r:id="rId10"/>
    <p:sldId id="385" r:id="rId11"/>
    <p:sldId id="395" r:id="rId12"/>
  </p:sldIdLst>
  <p:sldSz cx="9144000" cy="6858000" type="screen4x3"/>
  <p:notesSz cx="6997700" cy="9283700"/>
  <p:custShowLst>
    <p:custShow name="Custom Show 1" id="0">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94737" autoAdjust="0"/>
  </p:normalViewPr>
  <p:slideViewPr>
    <p:cSldViewPr snapToGrid="0">
      <p:cViewPr>
        <p:scale>
          <a:sx n="61" d="100"/>
          <a:sy n="61" d="100"/>
        </p:scale>
        <p:origin x="1308" y="-32"/>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6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extLst>
      <p:ext uri="{BB962C8B-B14F-4D97-AF65-F5344CB8AC3E}">
        <p14:creationId xmlns:p14="http://schemas.microsoft.com/office/powerpoint/2010/main" val="22918930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extLst>
      <p:ext uri="{BB962C8B-B14F-4D97-AF65-F5344CB8AC3E}">
        <p14:creationId xmlns:p14="http://schemas.microsoft.com/office/powerpoint/2010/main" val="40514973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7A651D27-9A72-46DB-B0A6-D0974EEAE235}"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Tree>
    <p:extLst>
      <p:ext uri="{BB962C8B-B14F-4D97-AF65-F5344CB8AC3E}">
        <p14:creationId xmlns:p14="http://schemas.microsoft.com/office/powerpoint/2010/main" val="3232206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9F56DFA0-F134-498B-8C0D-BC534A847538}"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Tree>
    <p:extLst>
      <p:ext uri="{BB962C8B-B14F-4D97-AF65-F5344CB8AC3E}">
        <p14:creationId xmlns:p14="http://schemas.microsoft.com/office/powerpoint/2010/main" val="1309422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9284E01E-BD55-4043-932D-0AEEFE596267}"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Tree>
    <p:extLst>
      <p:ext uri="{BB962C8B-B14F-4D97-AF65-F5344CB8AC3E}">
        <p14:creationId xmlns:p14="http://schemas.microsoft.com/office/powerpoint/2010/main" val="1966923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B4B2F9AC-7BAA-48C5-8254-FCAFE75F4CA1}"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Tree>
    <p:extLst>
      <p:ext uri="{BB962C8B-B14F-4D97-AF65-F5344CB8AC3E}">
        <p14:creationId xmlns:p14="http://schemas.microsoft.com/office/powerpoint/2010/main" val="1064915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B4B2F9AC-7BAA-48C5-8254-FCAFE75F4CA1}"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Tree>
    <p:extLst>
      <p:ext uri="{BB962C8B-B14F-4D97-AF65-F5344CB8AC3E}">
        <p14:creationId xmlns:p14="http://schemas.microsoft.com/office/powerpoint/2010/main" val="1064915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54925163-8043-48D4-AF80-84CA67F459C4}"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Tree>
    <p:extLst>
      <p:ext uri="{BB962C8B-B14F-4D97-AF65-F5344CB8AC3E}">
        <p14:creationId xmlns:p14="http://schemas.microsoft.com/office/powerpoint/2010/main" val="429992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B4B2F9AC-7BAA-48C5-8254-FCAFE75F4CA1}"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Tree>
    <p:extLst>
      <p:ext uri="{BB962C8B-B14F-4D97-AF65-F5344CB8AC3E}">
        <p14:creationId xmlns:p14="http://schemas.microsoft.com/office/powerpoint/2010/main" val="1064915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27E804D5-5C74-4A9F-8A68-5DF6CBE5A8A4}"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Tree>
    <p:extLst>
      <p:ext uri="{BB962C8B-B14F-4D97-AF65-F5344CB8AC3E}">
        <p14:creationId xmlns:p14="http://schemas.microsoft.com/office/powerpoint/2010/main" val="4907746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7917306D-C9BB-4AF2-9ABF-F0D4238FAF29}"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Tree>
    <p:extLst>
      <p:ext uri="{BB962C8B-B14F-4D97-AF65-F5344CB8AC3E}">
        <p14:creationId xmlns:p14="http://schemas.microsoft.com/office/powerpoint/2010/main" val="2025228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3A767A34-2071-4CEB-BCFE-CEFF4689DF7A}"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Tree>
    <p:extLst>
      <p:ext uri="{BB962C8B-B14F-4D97-AF65-F5344CB8AC3E}">
        <p14:creationId xmlns:p14="http://schemas.microsoft.com/office/powerpoint/2010/main" val="4150154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B4B2F9AC-7BAA-48C5-8254-FCAFE75F4CA1}"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Tree>
    <p:extLst>
      <p:ext uri="{BB962C8B-B14F-4D97-AF65-F5344CB8AC3E}">
        <p14:creationId xmlns:p14="http://schemas.microsoft.com/office/powerpoint/2010/main" val="1064915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CB103C7-4931-4A5F-A46A-613738C6224B}" type="datetimeFigureOut">
              <a:rPr lang="en-IN" smtClean="0"/>
              <a:t>06-03-2025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a:defRPr/>
            </a:pPr>
            <a:fld id="{8BECA7E0-09BC-41D3-BD93-B7E81A2ACCB7}" type="slidenum">
              <a:rPr lang="en-US" altLang="en-US" smtClean="0"/>
              <a:pPr>
                <a:defRPr/>
              </a:pPr>
              <a:t>‹#›</a:t>
            </a:fld>
            <a:endParaRPr lang="en-US" altLang="en-US" dirty="0"/>
          </a:p>
        </p:txBody>
      </p:sp>
    </p:spTree>
    <p:extLst>
      <p:ext uri="{BB962C8B-B14F-4D97-AF65-F5344CB8AC3E}">
        <p14:creationId xmlns:p14="http://schemas.microsoft.com/office/powerpoint/2010/main" val="2500361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CB103C7-4931-4A5F-A46A-613738C6224B}" type="datetimeFigureOut">
              <a:rPr lang="en-IN" smtClean="0"/>
              <a:t>06-03-2025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7D5378-88D9-4EE9-A45E-AC6B0AC89C2D}" type="slidenum">
              <a:rPr lang="en-IN" smtClean="0"/>
              <a:t>‹#›</a:t>
            </a:fld>
            <a:endParaRPr lang="en-IN"/>
          </a:p>
        </p:txBody>
      </p:sp>
    </p:spTree>
    <p:extLst>
      <p:ext uri="{BB962C8B-B14F-4D97-AF65-F5344CB8AC3E}">
        <p14:creationId xmlns:p14="http://schemas.microsoft.com/office/powerpoint/2010/main" val="2888013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B103C7-4931-4A5F-A46A-613738C6224B}" type="datetimeFigureOut">
              <a:rPr lang="en-IN" smtClean="0"/>
              <a:t>06-03-2025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a:defRPr/>
            </a:pPr>
            <a:fld id="{547F3CAF-32BF-49A6-93F1-59C9E4B7C957}" type="slidenum">
              <a:rPr lang="en-US" altLang="en-US" smtClean="0"/>
              <a:pPr>
                <a:defRPr/>
              </a:pPr>
              <a:t>‹#›</a:t>
            </a:fld>
            <a:endParaRPr lang="en-US" altLang="en-US"/>
          </a:p>
        </p:txBody>
      </p:sp>
    </p:spTree>
    <p:extLst>
      <p:ext uri="{BB962C8B-B14F-4D97-AF65-F5344CB8AC3E}">
        <p14:creationId xmlns:p14="http://schemas.microsoft.com/office/powerpoint/2010/main" val="3910048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CB103C7-4931-4A5F-A46A-613738C6224B}" type="datetimeFigureOut">
              <a:rPr lang="en-IN" smtClean="0"/>
              <a:t>06-03-2025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a:defRPr/>
            </a:pPr>
            <a:fld id="{00852D5F-D37B-4E9D-98AD-511A1ABBD6A9}" type="slidenum">
              <a:rPr lang="en-US" altLang="en-US" smtClean="0"/>
              <a:pPr>
                <a:defRPr/>
              </a:pPr>
              <a:t>‹#›</a:t>
            </a:fld>
            <a:endParaRPr lang="en-US" altLang="en-US"/>
          </a:p>
        </p:txBody>
      </p:sp>
    </p:spTree>
    <p:extLst>
      <p:ext uri="{BB962C8B-B14F-4D97-AF65-F5344CB8AC3E}">
        <p14:creationId xmlns:p14="http://schemas.microsoft.com/office/powerpoint/2010/main" val="262585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CB103C7-4931-4A5F-A46A-613738C6224B}" type="datetimeFigureOut">
              <a:rPr lang="en-IN" smtClean="0"/>
              <a:t>06-03-2025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a:defRPr/>
            </a:pPr>
            <a:fld id="{C0191CCC-CC48-429B-87C9-7123B48E52D4}" type="slidenum">
              <a:rPr lang="en-US" altLang="en-US" smtClean="0"/>
              <a:pPr>
                <a:defRPr/>
              </a:pPr>
              <a:t>‹#›</a:t>
            </a:fld>
            <a:endParaRPr lang="en-US" altLang="en-US"/>
          </a:p>
        </p:txBody>
      </p:sp>
    </p:spTree>
    <p:extLst>
      <p:ext uri="{BB962C8B-B14F-4D97-AF65-F5344CB8AC3E}">
        <p14:creationId xmlns:p14="http://schemas.microsoft.com/office/powerpoint/2010/main" val="2379786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CB103C7-4931-4A5F-A46A-613738C6224B}" type="datetimeFigureOut">
              <a:rPr lang="en-IN" smtClean="0"/>
              <a:t>06-03-2025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a:defRPr/>
            </a:pPr>
            <a:fld id="{5E9D92F0-DB25-4E6B-A10D-A7937AC7A365}" type="slidenum">
              <a:rPr lang="en-US" altLang="en-US" smtClean="0"/>
              <a:pPr>
                <a:defRPr/>
              </a:pPr>
              <a:t>‹#›</a:t>
            </a:fld>
            <a:endParaRPr lang="en-US" altLang="en-US"/>
          </a:p>
        </p:txBody>
      </p:sp>
    </p:spTree>
    <p:extLst>
      <p:ext uri="{BB962C8B-B14F-4D97-AF65-F5344CB8AC3E}">
        <p14:creationId xmlns:p14="http://schemas.microsoft.com/office/powerpoint/2010/main" val="1238142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B103C7-4931-4A5F-A46A-613738C6224B}" type="datetimeFigureOut">
              <a:rPr lang="en-IN" smtClean="0"/>
              <a:t>06-03-2025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a:defRPr/>
            </a:pPr>
            <a:fld id="{0E555C8E-F740-4D28-8DA3-D7B8E0F6F578}" type="slidenum">
              <a:rPr lang="en-US" altLang="en-US" smtClean="0"/>
              <a:pPr>
                <a:defRPr/>
              </a:pPr>
              <a:t>‹#›</a:t>
            </a:fld>
            <a:endParaRPr lang="en-US" altLang="en-US"/>
          </a:p>
        </p:txBody>
      </p:sp>
    </p:spTree>
    <p:extLst>
      <p:ext uri="{BB962C8B-B14F-4D97-AF65-F5344CB8AC3E}">
        <p14:creationId xmlns:p14="http://schemas.microsoft.com/office/powerpoint/2010/main" val="969827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B103C7-4931-4A5F-A46A-613738C6224B}" type="datetimeFigureOut">
              <a:rPr lang="en-IN" smtClean="0"/>
              <a:t>06-03-2025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a:defRPr/>
            </a:pPr>
            <a:fld id="{2BBBE5B0-1186-4DAB-9E97-511F15F5C63C}" type="slidenum">
              <a:rPr lang="en-US" altLang="en-US" smtClean="0"/>
              <a:pPr>
                <a:defRPr/>
              </a:pPr>
              <a:t>‹#›</a:t>
            </a:fld>
            <a:endParaRPr lang="en-US" altLang="en-US"/>
          </a:p>
        </p:txBody>
      </p:sp>
    </p:spTree>
    <p:extLst>
      <p:ext uri="{BB962C8B-B14F-4D97-AF65-F5344CB8AC3E}">
        <p14:creationId xmlns:p14="http://schemas.microsoft.com/office/powerpoint/2010/main" val="1951124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B103C7-4931-4A5F-A46A-613738C6224B}" type="datetimeFigureOut">
              <a:rPr lang="en-IN" smtClean="0"/>
              <a:t>06-03-2025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a:defRPr/>
            </a:pPr>
            <a:fld id="{F291DB2E-7BC4-4C22-ACAE-0B8B3F0C5147}" type="slidenum">
              <a:rPr lang="en-US" altLang="en-US" smtClean="0"/>
              <a:pPr>
                <a:defRPr/>
              </a:pPr>
              <a:t>‹#›</a:t>
            </a:fld>
            <a:endParaRPr lang="en-US" altLang="en-US"/>
          </a:p>
        </p:txBody>
      </p:sp>
    </p:spTree>
    <p:extLst>
      <p:ext uri="{BB962C8B-B14F-4D97-AF65-F5344CB8AC3E}">
        <p14:creationId xmlns:p14="http://schemas.microsoft.com/office/powerpoint/2010/main" val="252742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CB103C7-4931-4A5F-A46A-613738C6224B}" type="datetimeFigureOut">
              <a:rPr lang="en-IN" smtClean="0"/>
              <a:t>06-03-2025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a:defRPr/>
            </a:pPr>
            <a:fld id="{D7E5E31B-1343-4510-8DCD-65E7B6544692}" type="slidenum">
              <a:rPr lang="en-US" altLang="en-US" smtClean="0"/>
              <a:pPr>
                <a:defRPr/>
              </a:pPr>
              <a:t>‹#›</a:t>
            </a:fld>
            <a:endParaRPr lang="en-US" altLang="en-US"/>
          </a:p>
        </p:txBody>
      </p:sp>
    </p:spTree>
    <p:extLst>
      <p:ext uri="{BB962C8B-B14F-4D97-AF65-F5344CB8AC3E}">
        <p14:creationId xmlns:p14="http://schemas.microsoft.com/office/powerpoint/2010/main" val="1565207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CB103C7-4931-4A5F-A46A-613738C6224B}" type="datetimeFigureOut">
              <a:rPr lang="en-IN" smtClean="0"/>
              <a:t>06-03-2025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a:defRPr/>
            </a:pPr>
            <a:fld id="{833574B0-C055-4E38-82A9-667A1DF1F8D0}" type="slidenum">
              <a:rPr lang="en-US" altLang="en-US" smtClean="0"/>
              <a:pPr>
                <a:defRPr/>
              </a:pPr>
              <a:t>‹#›</a:t>
            </a:fld>
            <a:endParaRPr lang="en-US" altLang="en-US"/>
          </a:p>
        </p:txBody>
      </p:sp>
    </p:spTree>
    <p:extLst>
      <p:ext uri="{BB962C8B-B14F-4D97-AF65-F5344CB8AC3E}">
        <p14:creationId xmlns:p14="http://schemas.microsoft.com/office/powerpoint/2010/main" val="9762100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B103C7-4931-4A5F-A46A-613738C6224B}" type="datetimeFigureOut">
              <a:rPr lang="en-IN" smtClean="0"/>
              <a:t>06-03-2025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8BECA7E0-09BC-41D3-BD93-B7E81A2ACCB7}" type="slidenum">
              <a:rPr lang="en-US" altLang="en-US" smtClean="0"/>
              <a:pPr>
                <a:defRPr/>
              </a:pPr>
              <a:t>‹#›</a:t>
            </a:fld>
            <a:endParaRPr lang="en-US" altLang="en-US" dirty="0"/>
          </a:p>
        </p:txBody>
      </p:sp>
      <p:sp>
        <p:nvSpPr>
          <p:cNvPr id="7"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444718"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27.</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Tree>
    <p:extLst>
      <p:ext uri="{BB962C8B-B14F-4D97-AF65-F5344CB8AC3E}">
        <p14:creationId xmlns:p14="http://schemas.microsoft.com/office/powerpoint/2010/main" val="1972432373"/>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61"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a:xfrm>
            <a:off x="380999" y="168018"/>
            <a:ext cx="8643257" cy="6461382"/>
          </a:xfrm>
        </p:spPr>
        <p:txBody>
          <a:bodyPr>
            <a:norm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Relational calculus</a:t>
            </a:r>
            <a:r>
              <a:rPr lang="en-US" sz="2800" dirty="0">
                <a:latin typeface="Times New Roman" panose="02020603050405020304" pitchFamily="18" charset="0"/>
                <a:cs typeface="Times New Roman" panose="02020603050405020304" pitchFamily="18" charset="0"/>
              </a:rPr>
              <a:t>, a non-procedural query language in database management systems, guides users on what data is needed without specifying how to obtain it.</a:t>
            </a:r>
          </a:p>
          <a:p>
            <a:pPr algn="just">
              <a:lnSpc>
                <a:spcPct val="150000"/>
              </a:lnSpc>
            </a:pPr>
            <a:r>
              <a:rPr lang="en-US" sz="2800" b="1" dirty="0">
                <a:latin typeface="Times New Roman" panose="02020603050405020304" pitchFamily="18" charset="0"/>
                <a:cs typeface="Times New Roman" panose="02020603050405020304" pitchFamily="18" charset="0"/>
              </a:rPr>
              <a:t>Declarative Language</a:t>
            </a:r>
            <a:r>
              <a:rPr lang="en-US" sz="2800" dirty="0">
                <a:latin typeface="Times New Roman" panose="02020603050405020304" pitchFamily="18" charset="0"/>
                <a:cs typeface="Times New Roman" panose="02020603050405020304" pitchFamily="18" charset="0"/>
              </a:rPr>
              <a:t> - This cares about What to get from the database without getting into how to get the results are called Declarative Language. </a:t>
            </a:r>
            <a:r>
              <a:rPr lang="en-US" sz="2800" b="1" dirty="0">
                <a:latin typeface="Times New Roman" panose="02020603050405020304" pitchFamily="18" charset="0"/>
                <a:cs typeface="Times New Roman" panose="02020603050405020304" pitchFamily="18" charset="0"/>
              </a:rPr>
              <a:t>Relational Calculus</a:t>
            </a:r>
            <a:r>
              <a:rPr lang="en-US" sz="2800" dirty="0">
                <a:latin typeface="Times New Roman" panose="02020603050405020304" pitchFamily="18" charset="0"/>
                <a:cs typeface="Times New Roman" panose="02020603050405020304" pitchFamily="18" charset="0"/>
              </a:rPr>
              <a:t> is a Declarative Language.</a:t>
            </a:r>
          </a:p>
          <a:p>
            <a:pPr>
              <a:lnSpc>
                <a:spcPct val="150000"/>
              </a:lnSpc>
              <a:buFont typeface="Wingdings" pitchFamily="2" charset="2"/>
              <a:buChar char="q"/>
            </a:pPr>
            <a:r>
              <a:rPr lang="en-US" altLang="en-US" sz="2800" dirty="0">
                <a:latin typeface="Times New Roman" panose="02020603050405020304" pitchFamily="18" charset="0"/>
                <a:cs typeface="Times New Roman" panose="02020603050405020304" pitchFamily="18" charset="0"/>
              </a:rPr>
              <a:t>Tuple Relational Calculus</a:t>
            </a:r>
          </a:p>
          <a:p>
            <a:pPr>
              <a:lnSpc>
                <a:spcPct val="150000"/>
              </a:lnSpc>
              <a:buFont typeface="Wingdings" pitchFamily="2" charset="2"/>
              <a:buChar char="q"/>
            </a:pPr>
            <a:r>
              <a:rPr lang="en-US" altLang="en-US" sz="2800" dirty="0">
                <a:latin typeface="Times New Roman" panose="02020603050405020304" pitchFamily="18" charset="0"/>
                <a:cs typeface="Times New Roman" panose="02020603050405020304" pitchFamily="18" charset="0"/>
              </a:rPr>
              <a:t>Domain Relational Calculus</a:t>
            </a:r>
            <a:endParaRPr lang="en-US" sz="2800" dirty="0">
              <a:latin typeface="Times New Roman" panose="02020603050405020304" pitchFamily="18" charset="0"/>
              <a:cs typeface="Times New Roman" panose="02020603050405020304" pitchFamily="18" charset="0"/>
            </a:endParaRPr>
          </a:p>
          <a:p>
            <a:pPr algn="just">
              <a:lnSpc>
                <a:spcPct val="150000"/>
              </a:lnSpc>
            </a:pPr>
            <a:endParaRPr lang="en-US"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861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a:xfrm>
            <a:off x="696686" y="446315"/>
            <a:ext cx="7989838" cy="5987142"/>
          </a:xfrm>
        </p:spPr>
        <p:txBody>
          <a:bodyPr>
            <a:normAutofit/>
          </a:bodyPr>
          <a:lstStyle/>
          <a:p>
            <a:pPr algn="just">
              <a:lnSpc>
                <a:spcPct val="200000"/>
              </a:lnSpc>
              <a:defRPr/>
            </a:pPr>
            <a:r>
              <a:rPr lang="en-US" sz="3200" b="1" dirty="0">
                <a:latin typeface="Times New Roman" panose="02020603050405020304" pitchFamily="18" charset="0"/>
                <a:cs typeface="Times New Roman" panose="02020603050405020304" pitchFamily="18" charset="0"/>
              </a:rPr>
              <a:t>Tuple Relational Calculus: </a:t>
            </a:r>
            <a:r>
              <a:rPr lang="en-US" sz="3200" dirty="0">
                <a:latin typeface="Times New Roman" panose="02020603050405020304" pitchFamily="18" charset="0"/>
                <a:cs typeface="Times New Roman" panose="02020603050405020304" pitchFamily="18" charset="0"/>
              </a:rPr>
              <a:t>TRC in DBMS uses a </a:t>
            </a:r>
            <a:r>
              <a:rPr lang="en-US" sz="3200" b="1" i="1" dirty="0">
                <a:solidFill>
                  <a:srgbClr val="FF0000"/>
                </a:solidFill>
                <a:latin typeface="Times New Roman" panose="02020603050405020304" pitchFamily="18" charset="0"/>
                <a:cs typeface="Times New Roman" panose="02020603050405020304" pitchFamily="18" charset="0"/>
              </a:rPr>
              <a:t>tuple variable (t) </a:t>
            </a:r>
            <a:r>
              <a:rPr lang="en-US" sz="3200" dirty="0">
                <a:latin typeface="Times New Roman" panose="02020603050405020304" pitchFamily="18" charset="0"/>
                <a:cs typeface="Times New Roman" panose="02020603050405020304" pitchFamily="18" charset="0"/>
              </a:rPr>
              <a:t>that goes to each row of the table and checks if the predicate is true or false for the given row. Depending on the given predicate condition, it returns the row or part of the row.</a:t>
            </a:r>
          </a:p>
        </p:txBody>
      </p:sp>
    </p:spTree>
    <p:extLst>
      <p:ext uri="{BB962C8B-B14F-4D97-AF65-F5344CB8AC3E}">
        <p14:creationId xmlns:p14="http://schemas.microsoft.com/office/powerpoint/2010/main" val="263852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a:xfrm>
            <a:off x="541282" y="0"/>
            <a:ext cx="8229600" cy="1143000"/>
          </a:xfrm>
        </p:spPr>
        <p:txBody>
          <a:bodyPr/>
          <a:lstStyle/>
          <a:p>
            <a:pPr>
              <a:defRPr/>
            </a:pPr>
            <a:r>
              <a:rPr lang="en-US" b="1" dirty="0">
                <a:latin typeface="Times New Roman" panose="02020603050405020304" pitchFamily="18" charset="0"/>
                <a:cs typeface="Times New Roman" panose="02020603050405020304" pitchFamily="18" charset="0"/>
              </a:rPr>
              <a:t>Tuple Relational Calculus</a:t>
            </a:r>
          </a:p>
        </p:txBody>
      </p:sp>
      <p:sp>
        <p:nvSpPr>
          <p:cNvPr id="16387" name="Rectangle 3"/>
          <p:cNvSpPr>
            <a:spLocks noGrp="1" noChangeArrowheads="1"/>
          </p:cNvSpPr>
          <p:nvPr>
            <p:ph idx="1"/>
          </p:nvPr>
        </p:nvSpPr>
        <p:spPr>
          <a:xfrm>
            <a:off x="250371" y="1165224"/>
            <a:ext cx="8599715" cy="4996089"/>
          </a:xfrm>
        </p:spPr>
        <p:txBody>
          <a:bodyPr>
            <a:normAutofit/>
          </a:bodyPr>
          <a:lstStyle/>
          <a:p>
            <a:pPr>
              <a:tabLst>
                <a:tab pos="3195638" algn="ctr"/>
              </a:tabLst>
            </a:pPr>
            <a:r>
              <a:rPr lang="en-US" altLang="en-US" sz="2800" dirty="0">
                <a:latin typeface="Times New Roman" panose="02020603050405020304" pitchFamily="18" charset="0"/>
                <a:cs typeface="Times New Roman" panose="02020603050405020304" pitchFamily="18" charset="0"/>
              </a:rPr>
              <a:t>A nonprocedural query language, where each query is of the form</a:t>
            </a:r>
          </a:p>
          <a:p>
            <a:pPr>
              <a:buFont typeface="Monotype Sorts" pitchFamily="2" charset="2"/>
              <a:buNone/>
              <a:tabLst>
                <a:tab pos="3195638" algn="ctr"/>
              </a:tabLst>
            </a:pPr>
            <a:r>
              <a:rPr lang="en-US" altLang="en-US" sz="2800" dirty="0">
                <a:latin typeface="Times New Roman" panose="02020603050405020304" pitchFamily="18" charset="0"/>
                <a:cs typeface="Times New Roman" panose="02020603050405020304" pitchFamily="18" charset="0"/>
              </a:rPr>
              <a:t>		{</a:t>
            </a:r>
            <a:r>
              <a:rPr lang="en-US" altLang="en-US" sz="2800" i="1" dirty="0">
                <a:latin typeface="Times New Roman" panose="02020603050405020304" pitchFamily="18" charset="0"/>
                <a:cs typeface="Times New Roman" panose="02020603050405020304" pitchFamily="18" charset="0"/>
              </a:rPr>
              <a:t>t</a:t>
            </a:r>
            <a:r>
              <a:rPr lang="en-US" altLang="en-US" sz="2800" dirty="0">
                <a:latin typeface="Times New Roman" panose="02020603050405020304" pitchFamily="18" charset="0"/>
                <a:cs typeface="Times New Roman" panose="02020603050405020304" pitchFamily="18" charset="0"/>
              </a:rPr>
              <a:t> | </a:t>
            </a:r>
            <a:r>
              <a:rPr lang="en-US" altLang="en-US" sz="2800" i="1" dirty="0">
                <a:latin typeface="Times New Roman" panose="02020603050405020304" pitchFamily="18" charset="0"/>
                <a:cs typeface="Times New Roman" panose="02020603050405020304" pitchFamily="18" charset="0"/>
              </a:rPr>
              <a:t>P</a:t>
            </a:r>
            <a:r>
              <a:rPr lang="en-US" altLang="en-US" sz="2800" dirty="0">
                <a:latin typeface="Times New Roman" panose="02020603050405020304" pitchFamily="18" charset="0"/>
                <a:cs typeface="Times New Roman" panose="02020603050405020304" pitchFamily="18" charset="0"/>
              </a:rPr>
              <a:t> (</a:t>
            </a:r>
            <a:r>
              <a:rPr lang="en-US" altLang="en-US" sz="2800" i="1" dirty="0">
                <a:latin typeface="Times New Roman" panose="02020603050405020304" pitchFamily="18" charset="0"/>
                <a:cs typeface="Times New Roman" panose="02020603050405020304" pitchFamily="18" charset="0"/>
              </a:rPr>
              <a:t>t </a:t>
            </a:r>
            <a:r>
              <a:rPr lang="en-US" altLang="en-US" sz="2800" dirty="0">
                <a:latin typeface="Times New Roman" panose="02020603050405020304" pitchFamily="18" charset="0"/>
                <a:cs typeface="Times New Roman" panose="02020603050405020304" pitchFamily="18" charset="0"/>
              </a:rPr>
              <a:t>) }</a:t>
            </a:r>
          </a:p>
          <a:p>
            <a:pPr>
              <a:tabLst>
                <a:tab pos="3195638" algn="ctr"/>
              </a:tabLst>
            </a:pPr>
            <a:r>
              <a:rPr lang="en-US" altLang="en-US" sz="2800" dirty="0">
                <a:latin typeface="Times New Roman" panose="02020603050405020304" pitchFamily="18" charset="0"/>
                <a:cs typeface="Times New Roman" panose="02020603050405020304" pitchFamily="18" charset="0"/>
              </a:rPr>
              <a:t>It is the set of all tuples </a:t>
            </a:r>
            <a:r>
              <a:rPr lang="en-US" altLang="en-US" sz="2800" i="1" dirty="0">
                <a:latin typeface="Times New Roman" panose="02020603050405020304" pitchFamily="18" charset="0"/>
                <a:cs typeface="Times New Roman" panose="02020603050405020304" pitchFamily="18" charset="0"/>
              </a:rPr>
              <a:t>t</a:t>
            </a:r>
            <a:r>
              <a:rPr lang="en-US" altLang="en-US" sz="2800" dirty="0">
                <a:latin typeface="Times New Roman" panose="02020603050405020304" pitchFamily="18" charset="0"/>
                <a:cs typeface="Times New Roman" panose="02020603050405020304" pitchFamily="18" charset="0"/>
              </a:rPr>
              <a:t> such that predicate </a:t>
            </a:r>
            <a:r>
              <a:rPr lang="en-US" altLang="en-US" sz="2800" i="1" dirty="0">
                <a:latin typeface="Times New Roman" panose="02020603050405020304" pitchFamily="18" charset="0"/>
                <a:cs typeface="Times New Roman" panose="02020603050405020304" pitchFamily="18" charset="0"/>
              </a:rPr>
              <a:t>P</a:t>
            </a:r>
            <a:r>
              <a:rPr lang="en-US" altLang="en-US" sz="2800" dirty="0">
                <a:latin typeface="Times New Roman" panose="02020603050405020304" pitchFamily="18" charset="0"/>
                <a:cs typeface="Times New Roman" panose="02020603050405020304" pitchFamily="18" charset="0"/>
              </a:rPr>
              <a:t> is true for </a:t>
            </a:r>
            <a:r>
              <a:rPr lang="en-US" altLang="en-US" sz="2800" i="1" dirty="0">
                <a:latin typeface="Times New Roman" panose="02020603050405020304" pitchFamily="18" charset="0"/>
                <a:cs typeface="Times New Roman" panose="02020603050405020304" pitchFamily="18" charset="0"/>
              </a:rPr>
              <a:t>t</a:t>
            </a:r>
          </a:p>
          <a:p>
            <a:pPr>
              <a:tabLst>
                <a:tab pos="3195638" algn="ctr"/>
              </a:tabLst>
            </a:pPr>
            <a:r>
              <a:rPr lang="en-US" altLang="en-US" sz="2800" i="1" dirty="0">
                <a:latin typeface="Times New Roman" panose="02020603050405020304" pitchFamily="18" charset="0"/>
                <a:cs typeface="Times New Roman" panose="02020603050405020304" pitchFamily="18" charset="0"/>
              </a:rPr>
              <a:t>t</a:t>
            </a:r>
            <a:r>
              <a:rPr lang="en-US" altLang="en-US" sz="2800" dirty="0">
                <a:latin typeface="Times New Roman" panose="02020603050405020304" pitchFamily="18" charset="0"/>
                <a:cs typeface="Times New Roman" panose="02020603050405020304" pitchFamily="18" charset="0"/>
              </a:rPr>
              <a:t> is a </a:t>
            </a:r>
            <a:r>
              <a:rPr lang="en-US" altLang="en-US" sz="2800" i="1" dirty="0">
                <a:latin typeface="Times New Roman" panose="02020603050405020304" pitchFamily="18" charset="0"/>
                <a:cs typeface="Times New Roman" panose="02020603050405020304" pitchFamily="18" charset="0"/>
              </a:rPr>
              <a:t>tuple variable</a:t>
            </a:r>
            <a:endParaRPr lang="en-US" altLang="en-US" sz="2800" dirty="0">
              <a:latin typeface="Times New Roman" panose="02020603050405020304" pitchFamily="18" charset="0"/>
              <a:cs typeface="Times New Roman" panose="02020603050405020304" pitchFamily="18" charset="0"/>
            </a:endParaRPr>
          </a:p>
          <a:p>
            <a:pPr>
              <a:tabLst>
                <a:tab pos="3195638" algn="ctr"/>
              </a:tabLst>
            </a:pPr>
            <a:r>
              <a:rPr lang="en-US" altLang="en-US" sz="2800" i="1" dirty="0">
                <a:latin typeface="Times New Roman" panose="02020603050405020304" pitchFamily="18" charset="0"/>
                <a:cs typeface="Times New Roman" panose="02020603050405020304" pitchFamily="18" charset="0"/>
              </a:rPr>
              <a:t>t </a:t>
            </a:r>
            <a:r>
              <a:rPr lang="en-US" altLang="en-US" sz="2800" dirty="0">
                <a:latin typeface="Times New Roman" panose="02020603050405020304" pitchFamily="18" charset="0"/>
                <a:cs typeface="Times New Roman" panose="02020603050405020304" pitchFamily="18" charset="0"/>
              </a:rPr>
              <a:t>[</a:t>
            </a:r>
            <a:r>
              <a:rPr lang="en-US" altLang="en-US" sz="2800" i="1" dirty="0">
                <a:latin typeface="Times New Roman" panose="02020603050405020304" pitchFamily="18" charset="0"/>
                <a:cs typeface="Times New Roman" panose="02020603050405020304" pitchFamily="18" charset="0"/>
              </a:rPr>
              <a:t>A </a:t>
            </a:r>
            <a:r>
              <a:rPr lang="en-US" altLang="en-US" sz="2800" dirty="0">
                <a:latin typeface="Times New Roman" panose="02020603050405020304" pitchFamily="18" charset="0"/>
                <a:cs typeface="Times New Roman" panose="02020603050405020304" pitchFamily="18" charset="0"/>
              </a:rPr>
              <a:t>] denotes the value of tuple </a:t>
            </a:r>
            <a:r>
              <a:rPr lang="en-US" altLang="en-US" sz="2800" i="1" dirty="0">
                <a:latin typeface="Times New Roman" panose="02020603050405020304" pitchFamily="18" charset="0"/>
                <a:cs typeface="Times New Roman" panose="02020603050405020304" pitchFamily="18" charset="0"/>
              </a:rPr>
              <a:t>t</a:t>
            </a:r>
            <a:r>
              <a:rPr lang="en-US" altLang="en-US" sz="2800" dirty="0">
                <a:latin typeface="Times New Roman" panose="02020603050405020304" pitchFamily="18" charset="0"/>
                <a:cs typeface="Times New Roman" panose="02020603050405020304" pitchFamily="18" charset="0"/>
              </a:rPr>
              <a:t> on attribute </a:t>
            </a:r>
            <a:r>
              <a:rPr lang="en-US" altLang="en-US" sz="2800" i="1" dirty="0">
                <a:latin typeface="Times New Roman" panose="02020603050405020304" pitchFamily="18" charset="0"/>
                <a:cs typeface="Times New Roman" panose="02020603050405020304" pitchFamily="18" charset="0"/>
              </a:rPr>
              <a:t>A</a:t>
            </a:r>
            <a:endParaRPr lang="en-US" altLang="en-US" sz="2800" dirty="0">
              <a:latin typeface="Times New Roman" panose="02020603050405020304" pitchFamily="18" charset="0"/>
              <a:cs typeface="Times New Roman" panose="02020603050405020304" pitchFamily="18" charset="0"/>
            </a:endParaRPr>
          </a:p>
          <a:p>
            <a:pPr>
              <a:tabLst>
                <a:tab pos="3195638" algn="ctr"/>
              </a:tabLst>
            </a:pPr>
            <a:r>
              <a:rPr lang="en-US" altLang="en-US" sz="2800" i="1" dirty="0">
                <a:latin typeface="Times New Roman" panose="02020603050405020304" pitchFamily="18" charset="0"/>
                <a:cs typeface="Times New Roman" panose="02020603050405020304" pitchFamily="18" charset="0"/>
              </a:rPr>
              <a:t>t</a:t>
            </a:r>
            <a:r>
              <a:rPr lang="en-US" altLang="en-US" sz="2800"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800" i="1" dirty="0">
                <a:latin typeface="Times New Roman" panose="02020603050405020304" pitchFamily="18" charset="0"/>
                <a:cs typeface="Times New Roman" panose="02020603050405020304" pitchFamily="18" charset="0"/>
                <a:sym typeface="Symbol" panose="05050102010706020507" pitchFamily="18" charset="2"/>
              </a:rPr>
              <a:t>r</a:t>
            </a: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 denotes that tuple </a:t>
            </a:r>
            <a:r>
              <a:rPr lang="en-US" altLang="en-US" sz="28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 is in relation </a:t>
            </a:r>
            <a:r>
              <a:rPr lang="en-US" altLang="en-US" sz="2800" i="1" dirty="0">
                <a:latin typeface="Times New Roman" panose="02020603050405020304" pitchFamily="18" charset="0"/>
                <a:cs typeface="Times New Roman" panose="02020603050405020304" pitchFamily="18" charset="0"/>
                <a:sym typeface="Symbol" panose="05050102010706020507" pitchFamily="18" charset="2"/>
              </a:rPr>
              <a:t>r</a:t>
            </a:r>
            <a:endParaRPr lang="en-US" altLang="en-US" sz="2800" dirty="0">
              <a:latin typeface="Times New Roman" panose="02020603050405020304" pitchFamily="18" charset="0"/>
              <a:cs typeface="Times New Roman" panose="02020603050405020304" pitchFamily="18" charset="0"/>
              <a:sym typeface="Symbol" panose="05050102010706020507" pitchFamily="18" charset="2"/>
            </a:endParaRPr>
          </a:p>
          <a:p>
            <a:pPr>
              <a:tabLst>
                <a:tab pos="3195638" algn="ctr"/>
              </a:tabLst>
            </a:pPr>
            <a:r>
              <a:rPr lang="en-US" altLang="en-US" sz="2800" i="1" dirty="0">
                <a:latin typeface="Times New Roman" panose="02020603050405020304" pitchFamily="18" charset="0"/>
                <a:cs typeface="Times New Roman" panose="02020603050405020304" pitchFamily="18" charset="0"/>
                <a:sym typeface="Symbol" panose="05050102010706020507" pitchFamily="18" charset="2"/>
              </a:rPr>
              <a:t>P</a:t>
            </a: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  is a </a:t>
            </a:r>
            <a:r>
              <a:rPr lang="en-US" altLang="en-US" sz="2800" i="1" dirty="0">
                <a:latin typeface="Times New Roman" panose="02020603050405020304" pitchFamily="18" charset="0"/>
                <a:cs typeface="Times New Roman" panose="02020603050405020304" pitchFamily="18" charset="0"/>
                <a:sym typeface="Symbol" panose="05050102010706020507" pitchFamily="18" charset="2"/>
              </a:rPr>
              <a:t>formula </a:t>
            </a:r>
            <a:r>
              <a:rPr lang="en-US" altLang="en-US" sz="2800" dirty="0">
                <a:latin typeface="Times New Roman" panose="02020603050405020304" pitchFamily="18" charset="0"/>
                <a:cs typeface="Times New Roman" panose="02020603050405020304" pitchFamily="18" charset="0"/>
                <a:sym typeface="Symbol" panose="05050102010706020507" pitchFamily="18" charset="2"/>
              </a:rPr>
              <a:t>similar to that of the predicate calculus</a:t>
            </a:r>
            <a:endParaRPr lang="en-US"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2259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a:xfrm>
            <a:off x="457200" y="55125"/>
            <a:ext cx="8229600" cy="1143000"/>
          </a:xfrm>
        </p:spPr>
        <p:txBody>
          <a:bodyPr/>
          <a:lstStyle/>
          <a:p>
            <a:pPr>
              <a:defRPr/>
            </a:pPr>
            <a:r>
              <a:rPr lang="en-US" b="1" dirty="0">
                <a:latin typeface="Times New Roman" panose="02020603050405020304" pitchFamily="18" charset="0"/>
                <a:cs typeface="Times New Roman" panose="02020603050405020304" pitchFamily="18" charset="0"/>
              </a:rPr>
              <a:t>Predicate Calculus Formula</a:t>
            </a:r>
          </a:p>
        </p:txBody>
      </p:sp>
      <p:sp>
        <p:nvSpPr>
          <p:cNvPr id="17411" name="Rectangle 3"/>
          <p:cNvSpPr>
            <a:spLocks noGrp="1" noChangeArrowheads="1"/>
          </p:cNvSpPr>
          <p:nvPr>
            <p:ph idx="1"/>
          </p:nvPr>
        </p:nvSpPr>
        <p:spPr>
          <a:xfrm>
            <a:off x="457200" y="1165224"/>
            <a:ext cx="8540750" cy="5418137"/>
          </a:xfrm>
        </p:spPr>
        <p:txBody>
          <a:bodyPr>
            <a:normAutofit fontScale="92500"/>
          </a:bodyPr>
          <a:lstStyle/>
          <a:p>
            <a:r>
              <a:rPr lang="en-US" altLang="en-US" dirty="0">
                <a:latin typeface="Times New Roman" panose="02020603050405020304" pitchFamily="18" charset="0"/>
                <a:cs typeface="Times New Roman" panose="02020603050405020304" pitchFamily="18" charset="0"/>
              </a:rPr>
              <a:t>Set of attributes and constants</a:t>
            </a:r>
          </a:p>
          <a:p>
            <a:r>
              <a:rPr lang="en-US" altLang="en-US" dirty="0">
                <a:latin typeface="Times New Roman" panose="02020603050405020304" pitchFamily="18" charset="0"/>
                <a:cs typeface="Times New Roman" panose="02020603050405020304" pitchFamily="18" charset="0"/>
              </a:rPr>
              <a:t>Set of comparison operators:  (e.g., </a:t>
            </a:r>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sym typeface="Symbol" panose="05050102010706020507" pitchFamily="18" charset="2"/>
              </a:rPr>
              <a:t>, , , , )</a:t>
            </a:r>
          </a:p>
          <a:p>
            <a:r>
              <a:rPr lang="en-US" altLang="en-US" dirty="0">
                <a:latin typeface="Times New Roman" panose="02020603050405020304" pitchFamily="18" charset="0"/>
                <a:cs typeface="Times New Roman" panose="02020603050405020304" pitchFamily="18" charset="0"/>
                <a:sym typeface="Symbol" panose="05050102010706020507" pitchFamily="18" charset="2"/>
              </a:rPr>
              <a:t>Set of connectives:  and (), or (v)‚ not ()</a:t>
            </a:r>
          </a:p>
          <a:p>
            <a:r>
              <a:rPr lang="en-US" altLang="en-US" dirty="0">
                <a:latin typeface="Times New Roman" panose="02020603050405020304" pitchFamily="18" charset="0"/>
                <a:cs typeface="Times New Roman" panose="02020603050405020304" pitchFamily="18" charset="0"/>
                <a:sym typeface="Symbol" panose="05050102010706020507" pitchFamily="18" charset="2"/>
              </a:rPr>
              <a:t>Implication (): x  y, if x is true, then y is true</a:t>
            </a:r>
          </a:p>
          <a:p>
            <a:pPr marL="0" indent="0">
              <a:buNone/>
            </a:pPr>
            <a:r>
              <a:rPr lang="en-US" altLang="en-US" i="1" dirty="0">
                <a:latin typeface="Times New Roman" panose="02020603050405020304" pitchFamily="18" charset="0"/>
                <a:cs typeface="Times New Roman" panose="02020603050405020304" pitchFamily="18" charset="0"/>
                <a:sym typeface="Symbol" panose="05050102010706020507" pitchFamily="18" charset="2"/>
              </a:rPr>
              <a:t>		x</a:t>
            </a:r>
            <a:r>
              <a:rPr lang="en-US" altLang="en-US" dirty="0">
                <a:latin typeface="Times New Roman" panose="02020603050405020304" pitchFamily="18" charset="0"/>
                <a:cs typeface="Times New Roman" panose="02020603050405020304" pitchFamily="18" charset="0"/>
                <a:sym typeface="Symbol" panose="05050102010706020507" pitchFamily="18" charset="2"/>
              </a:rPr>
              <a:t> 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y</a:t>
            </a:r>
            <a:r>
              <a:rPr lang="en-US"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dirty="0">
                <a:latin typeface="Times New Roman" panose="02020603050405020304" pitchFamily="18" charset="0"/>
                <a:cs typeface="Times New Roman" panose="02020603050405020304" pitchFamily="18" charset="0"/>
                <a:sym typeface="Symbol" panose="05050102010706020507" pitchFamily="18" charset="2"/>
              </a:rPr>
              <a:t> v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y</a:t>
            </a:r>
          </a:p>
          <a:p>
            <a:r>
              <a:rPr lang="en-US" altLang="en-US" dirty="0">
                <a:latin typeface="Times New Roman" panose="02020603050405020304" pitchFamily="18" charset="0"/>
                <a:cs typeface="Times New Roman" panose="02020603050405020304" pitchFamily="18" charset="0"/>
                <a:sym typeface="Symbol" panose="05050102010706020507" pitchFamily="18" charset="2"/>
              </a:rPr>
              <a:t>Set of quantifiers:</a:t>
            </a:r>
          </a:p>
          <a:p>
            <a:pPr lvl="1"/>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t </a:t>
            </a:r>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r </a:t>
            </a:r>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Q </a:t>
            </a:r>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t </a:t>
            </a:r>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en-US" dirty="0">
                <a:latin typeface="Times New Roman" panose="02020603050405020304" pitchFamily="18" charset="0"/>
                <a:cs typeface="Times New Roman" panose="02020603050405020304" pitchFamily="18" charset="0"/>
                <a:sym typeface="Symbol" panose="05050102010706020507" pitchFamily="18" charset="2"/>
              </a:rPr>
              <a:t>”there exists” a tuple in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t</a:t>
            </a:r>
            <a:r>
              <a:rPr lang="en-US" altLang="en-US" dirty="0">
                <a:latin typeface="Times New Roman" panose="02020603050405020304" pitchFamily="18" charset="0"/>
                <a:cs typeface="Times New Roman" panose="02020603050405020304" pitchFamily="18" charset="0"/>
                <a:sym typeface="Symbol" panose="05050102010706020507" pitchFamily="18" charset="2"/>
              </a:rPr>
              <a:t> in relation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r </a:t>
            </a:r>
            <a:r>
              <a:rPr lang="en-US" altLang="en-US" dirty="0">
                <a:latin typeface="Times New Roman" panose="02020603050405020304" pitchFamily="18" charset="0"/>
                <a:cs typeface="Times New Roman" panose="02020603050405020304" pitchFamily="18" charset="0"/>
                <a:sym typeface="Symbol" panose="05050102010706020507" pitchFamily="18" charset="2"/>
              </a:rPr>
              <a:t>such that predicate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Q </a:t>
            </a:r>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t </a:t>
            </a:r>
            <a:r>
              <a:rPr lang="en-US" altLang="en-US" dirty="0">
                <a:latin typeface="Times New Roman" panose="02020603050405020304" pitchFamily="18" charset="0"/>
                <a:cs typeface="Times New Roman" panose="02020603050405020304" pitchFamily="18" charset="0"/>
                <a:sym typeface="Symbol" panose="05050102010706020507" pitchFamily="18" charset="2"/>
              </a:rPr>
              <a:t>) is true</a:t>
            </a:r>
          </a:p>
          <a:p>
            <a:pPr lvl="1"/>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t </a:t>
            </a:r>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r</a:t>
            </a:r>
            <a:r>
              <a:rPr lang="en-US"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Q </a:t>
            </a:r>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t </a:t>
            </a:r>
            <a:r>
              <a:rPr lang="en-US"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Q</a:t>
            </a:r>
            <a:r>
              <a:rPr lang="en-US" altLang="en-US" dirty="0">
                <a:latin typeface="Times New Roman" panose="02020603050405020304" pitchFamily="18" charset="0"/>
                <a:cs typeface="Times New Roman" panose="02020603050405020304" pitchFamily="18" charset="0"/>
                <a:sym typeface="Symbol" panose="05050102010706020507" pitchFamily="18" charset="2"/>
              </a:rPr>
              <a:t> is true “for all” tuples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t</a:t>
            </a:r>
            <a:r>
              <a:rPr lang="en-US" altLang="en-US" dirty="0">
                <a:latin typeface="Times New Roman" panose="02020603050405020304" pitchFamily="18" charset="0"/>
                <a:cs typeface="Times New Roman" panose="02020603050405020304" pitchFamily="18" charset="0"/>
                <a:sym typeface="Symbol" panose="05050102010706020507" pitchFamily="18" charset="2"/>
              </a:rPr>
              <a:t> in relation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r</a:t>
            </a:r>
            <a:endParaRPr lang="en-US" altLang="en-US" dirty="0">
              <a:latin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3866498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166250392"/>
              </p:ext>
            </p:extLst>
          </p:nvPr>
        </p:nvGraphicFramePr>
        <p:xfrm>
          <a:off x="848140" y="967415"/>
          <a:ext cx="6771860" cy="5250505"/>
        </p:xfrm>
        <a:graphic>
          <a:graphicData uri="http://schemas.openxmlformats.org/drawingml/2006/table">
            <a:tbl>
              <a:tblPr firstRow="1" bandRow="1">
                <a:tableStyleId>{5C22544A-7EE6-4342-B048-85BDC9FD1C3A}</a:tableStyleId>
              </a:tblPr>
              <a:tblGrid>
                <a:gridCol w="1692965">
                  <a:extLst>
                    <a:ext uri="{9D8B030D-6E8A-4147-A177-3AD203B41FA5}">
                      <a16:colId xmlns:a16="http://schemas.microsoft.com/office/drawing/2014/main" val="20000"/>
                    </a:ext>
                  </a:extLst>
                </a:gridCol>
                <a:gridCol w="1692965">
                  <a:extLst>
                    <a:ext uri="{9D8B030D-6E8A-4147-A177-3AD203B41FA5}">
                      <a16:colId xmlns:a16="http://schemas.microsoft.com/office/drawing/2014/main" val="20001"/>
                    </a:ext>
                  </a:extLst>
                </a:gridCol>
                <a:gridCol w="1692965">
                  <a:extLst>
                    <a:ext uri="{9D8B030D-6E8A-4147-A177-3AD203B41FA5}">
                      <a16:colId xmlns:a16="http://schemas.microsoft.com/office/drawing/2014/main" val="20002"/>
                    </a:ext>
                  </a:extLst>
                </a:gridCol>
                <a:gridCol w="1692965">
                  <a:extLst>
                    <a:ext uri="{9D8B030D-6E8A-4147-A177-3AD203B41FA5}">
                      <a16:colId xmlns:a16="http://schemas.microsoft.com/office/drawing/2014/main" val="20003"/>
                    </a:ext>
                  </a:extLst>
                </a:gridCol>
              </a:tblGrid>
              <a:tr h="403885">
                <a:tc>
                  <a:txBody>
                    <a:bodyPr/>
                    <a:lstStyle/>
                    <a:p>
                      <a:r>
                        <a:rPr lang="en-IN" b="1" dirty="0"/>
                        <a:t>ID</a:t>
                      </a:r>
                    </a:p>
                  </a:txBody>
                  <a:tcPr marL="0" marR="0" marT="0" marB="0" anchor="ctr"/>
                </a:tc>
                <a:tc>
                  <a:txBody>
                    <a:bodyPr/>
                    <a:lstStyle/>
                    <a:p>
                      <a:r>
                        <a:rPr lang="en-IN" b="1"/>
                        <a:t>NAME</a:t>
                      </a:r>
                    </a:p>
                  </a:txBody>
                  <a:tcPr marL="0" marR="0" marT="0" marB="0" anchor="ctr"/>
                </a:tc>
                <a:tc>
                  <a:txBody>
                    <a:bodyPr/>
                    <a:lstStyle/>
                    <a:p>
                      <a:r>
                        <a:rPr lang="en-IN" b="1" dirty="0"/>
                        <a:t>DEPT_NAME</a:t>
                      </a:r>
                    </a:p>
                  </a:txBody>
                  <a:tcPr marL="0" marR="0" marT="0" marB="0" anchor="ctr"/>
                </a:tc>
                <a:tc>
                  <a:txBody>
                    <a:bodyPr/>
                    <a:lstStyle/>
                    <a:p>
                      <a:r>
                        <a:rPr lang="en-IN" b="1" dirty="0"/>
                        <a:t>SALARY</a:t>
                      </a:r>
                    </a:p>
                  </a:txBody>
                  <a:tcPr marL="0" marR="0" marT="0" marB="0" anchor="ctr"/>
                </a:tc>
                <a:extLst>
                  <a:ext uri="{0D108BD9-81ED-4DB2-BD59-A6C34878D82A}">
                    <a16:rowId xmlns:a16="http://schemas.microsoft.com/office/drawing/2014/main" val="10000"/>
                  </a:ext>
                </a:extLst>
              </a:tr>
              <a:tr h="403885">
                <a:tc>
                  <a:txBody>
                    <a:bodyPr/>
                    <a:lstStyle/>
                    <a:p>
                      <a:r>
                        <a:rPr lang="en-IN" dirty="0"/>
                        <a:t>22222</a:t>
                      </a:r>
                    </a:p>
                  </a:txBody>
                  <a:tcPr marL="0" marR="0" marT="0" marB="0" anchor="ctr"/>
                </a:tc>
                <a:tc>
                  <a:txBody>
                    <a:bodyPr/>
                    <a:lstStyle/>
                    <a:p>
                      <a:r>
                        <a:rPr lang="en-IN" dirty="0" err="1"/>
                        <a:t>Shreyas</a:t>
                      </a:r>
                      <a:endParaRPr lang="en-IN" dirty="0"/>
                    </a:p>
                  </a:txBody>
                  <a:tcPr marL="0" marR="0" marT="0" marB="0" anchor="ctr"/>
                </a:tc>
                <a:tc>
                  <a:txBody>
                    <a:bodyPr/>
                    <a:lstStyle/>
                    <a:p>
                      <a:r>
                        <a:rPr lang="en-IN"/>
                        <a:t>space</a:t>
                      </a:r>
                    </a:p>
                  </a:txBody>
                  <a:tcPr marL="0" marR="0" marT="0" marB="0" anchor="ctr"/>
                </a:tc>
                <a:tc>
                  <a:txBody>
                    <a:bodyPr/>
                    <a:lstStyle/>
                    <a:p>
                      <a:r>
                        <a:rPr lang="en-IN" dirty="0"/>
                        <a:t>95000</a:t>
                      </a:r>
                    </a:p>
                  </a:txBody>
                  <a:tcPr marL="0" marR="0" marT="0" marB="0" anchor="ctr"/>
                </a:tc>
                <a:extLst>
                  <a:ext uri="{0D108BD9-81ED-4DB2-BD59-A6C34878D82A}">
                    <a16:rowId xmlns:a16="http://schemas.microsoft.com/office/drawing/2014/main" val="10001"/>
                  </a:ext>
                </a:extLst>
              </a:tr>
              <a:tr h="403885">
                <a:tc>
                  <a:txBody>
                    <a:bodyPr/>
                    <a:lstStyle/>
                    <a:p>
                      <a:r>
                        <a:rPr lang="en-IN" dirty="0"/>
                        <a:t>12121</a:t>
                      </a:r>
                    </a:p>
                  </a:txBody>
                  <a:tcPr marL="0" marR="0" marT="0" marB="0" anchor="ctr"/>
                </a:tc>
                <a:tc>
                  <a:txBody>
                    <a:bodyPr/>
                    <a:lstStyle/>
                    <a:p>
                      <a:r>
                        <a:rPr lang="en-IN"/>
                        <a:t>Rupak</a:t>
                      </a:r>
                    </a:p>
                  </a:txBody>
                  <a:tcPr marL="0" marR="0" marT="0" marB="0" anchor="ctr"/>
                </a:tc>
                <a:tc>
                  <a:txBody>
                    <a:bodyPr/>
                    <a:lstStyle/>
                    <a:p>
                      <a:r>
                        <a:rPr lang="en-IN"/>
                        <a:t>Finance</a:t>
                      </a:r>
                    </a:p>
                  </a:txBody>
                  <a:tcPr marL="0" marR="0" marT="0" marB="0" anchor="ctr"/>
                </a:tc>
                <a:tc>
                  <a:txBody>
                    <a:bodyPr/>
                    <a:lstStyle/>
                    <a:p>
                      <a:r>
                        <a:rPr lang="en-IN"/>
                        <a:t>90000</a:t>
                      </a:r>
                    </a:p>
                  </a:txBody>
                  <a:tcPr marL="0" marR="0" marT="0" marB="0" anchor="ctr"/>
                </a:tc>
                <a:extLst>
                  <a:ext uri="{0D108BD9-81ED-4DB2-BD59-A6C34878D82A}">
                    <a16:rowId xmlns:a16="http://schemas.microsoft.com/office/drawing/2014/main" val="10002"/>
                  </a:ext>
                </a:extLst>
              </a:tr>
              <a:tr h="403885">
                <a:tc>
                  <a:txBody>
                    <a:bodyPr/>
                    <a:lstStyle/>
                    <a:p>
                      <a:r>
                        <a:rPr lang="en-IN"/>
                        <a:t>32343</a:t>
                      </a:r>
                    </a:p>
                  </a:txBody>
                  <a:tcPr marL="0" marR="0" marT="0" marB="0" anchor="ctr"/>
                </a:tc>
                <a:tc>
                  <a:txBody>
                    <a:bodyPr/>
                    <a:lstStyle/>
                    <a:p>
                      <a:r>
                        <a:rPr lang="en-IN" dirty="0" err="1"/>
                        <a:t>Yashi</a:t>
                      </a:r>
                      <a:endParaRPr lang="en-IN" dirty="0"/>
                    </a:p>
                  </a:txBody>
                  <a:tcPr marL="0" marR="0" marT="0" marB="0" anchor="ctr"/>
                </a:tc>
                <a:tc>
                  <a:txBody>
                    <a:bodyPr/>
                    <a:lstStyle/>
                    <a:p>
                      <a:r>
                        <a:rPr lang="en-IN" dirty="0" err="1"/>
                        <a:t>SCIl</a:t>
                      </a:r>
                      <a:endParaRPr lang="en-IN" dirty="0"/>
                    </a:p>
                  </a:txBody>
                  <a:tcPr marL="0" marR="0" marT="0" marB="0" anchor="ctr"/>
                </a:tc>
                <a:tc>
                  <a:txBody>
                    <a:bodyPr/>
                    <a:lstStyle/>
                    <a:p>
                      <a:r>
                        <a:rPr lang="en-IN"/>
                        <a:t>60000</a:t>
                      </a:r>
                    </a:p>
                  </a:txBody>
                  <a:tcPr marL="0" marR="0" marT="0" marB="0" anchor="ctr"/>
                </a:tc>
                <a:extLst>
                  <a:ext uri="{0D108BD9-81ED-4DB2-BD59-A6C34878D82A}">
                    <a16:rowId xmlns:a16="http://schemas.microsoft.com/office/drawing/2014/main" val="10003"/>
                  </a:ext>
                </a:extLst>
              </a:tr>
              <a:tr h="403885">
                <a:tc>
                  <a:txBody>
                    <a:bodyPr/>
                    <a:lstStyle/>
                    <a:p>
                      <a:r>
                        <a:rPr lang="en-IN"/>
                        <a:t>45565</a:t>
                      </a:r>
                    </a:p>
                  </a:txBody>
                  <a:tcPr marL="0" marR="0" marT="0" marB="0" anchor="ctr"/>
                </a:tc>
                <a:tc>
                  <a:txBody>
                    <a:bodyPr/>
                    <a:lstStyle/>
                    <a:p>
                      <a:r>
                        <a:rPr lang="en-IN"/>
                        <a:t>Vaidehi</a:t>
                      </a:r>
                    </a:p>
                  </a:txBody>
                  <a:tcPr marL="0" marR="0" marT="0" marB="0" anchor="ctr"/>
                </a:tc>
                <a:tc>
                  <a:txBody>
                    <a:bodyPr/>
                    <a:lstStyle/>
                    <a:p>
                      <a:r>
                        <a:rPr lang="en-IN"/>
                        <a:t>Comp Sci</a:t>
                      </a:r>
                    </a:p>
                  </a:txBody>
                  <a:tcPr marL="0" marR="0" marT="0" marB="0" anchor="ctr"/>
                </a:tc>
                <a:tc>
                  <a:txBody>
                    <a:bodyPr/>
                    <a:lstStyle/>
                    <a:p>
                      <a:r>
                        <a:rPr lang="en-IN"/>
                        <a:t>98000</a:t>
                      </a:r>
                    </a:p>
                  </a:txBody>
                  <a:tcPr marL="0" marR="0" marT="0" marB="0" anchor="ctr"/>
                </a:tc>
                <a:extLst>
                  <a:ext uri="{0D108BD9-81ED-4DB2-BD59-A6C34878D82A}">
                    <a16:rowId xmlns:a16="http://schemas.microsoft.com/office/drawing/2014/main" val="10004"/>
                  </a:ext>
                </a:extLst>
              </a:tr>
              <a:tr h="403885">
                <a:tc>
                  <a:txBody>
                    <a:bodyPr/>
                    <a:lstStyle/>
                    <a:p>
                      <a:r>
                        <a:rPr lang="en-IN"/>
                        <a:t>98345</a:t>
                      </a:r>
                    </a:p>
                  </a:txBody>
                  <a:tcPr marL="0" marR="0" marT="0" marB="0" anchor="ctr"/>
                </a:tc>
                <a:tc>
                  <a:txBody>
                    <a:bodyPr/>
                    <a:lstStyle/>
                    <a:p>
                      <a:r>
                        <a:rPr lang="en-IN"/>
                        <a:t>Salil</a:t>
                      </a:r>
                    </a:p>
                  </a:txBody>
                  <a:tcPr marL="0" marR="0" marT="0" marB="0" anchor="ctr"/>
                </a:tc>
                <a:tc>
                  <a:txBody>
                    <a:bodyPr/>
                    <a:lstStyle/>
                    <a:p>
                      <a:r>
                        <a:rPr lang="en-IN"/>
                        <a:t>Comp Sci</a:t>
                      </a:r>
                    </a:p>
                  </a:txBody>
                  <a:tcPr marL="0" marR="0" marT="0" marB="0" anchor="ctr"/>
                </a:tc>
                <a:tc>
                  <a:txBody>
                    <a:bodyPr/>
                    <a:lstStyle/>
                    <a:p>
                      <a:r>
                        <a:rPr lang="en-IN"/>
                        <a:t>80000</a:t>
                      </a:r>
                    </a:p>
                  </a:txBody>
                  <a:tcPr marL="0" marR="0" marT="0" marB="0" anchor="ctr"/>
                </a:tc>
                <a:extLst>
                  <a:ext uri="{0D108BD9-81ED-4DB2-BD59-A6C34878D82A}">
                    <a16:rowId xmlns:a16="http://schemas.microsoft.com/office/drawing/2014/main" val="10005"/>
                  </a:ext>
                </a:extLst>
              </a:tr>
              <a:tr h="403885">
                <a:tc>
                  <a:txBody>
                    <a:bodyPr/>
                    <a:lstStyle/>
                    <a:p>
                      <a:r>
                        <a:rPr lang="en-IN" dirty="0"/>
                        <a:t>76766</a:t>
                      </a:r>
                    </a:p>
                  </a:txBody>
                  <a:tcPr marL="0" marR="0" marT="0" marB="0" anchor="ctr"/>
                </a:tc>
                <a:tc>
                  <a:txBody>
                    <a:bodyPr/>
                    <a:lstStyle/>
                    <a:p>
                      <a:r>
                        <a:rPr lang="en-IN"/>
                        <a:t>shreya</a:t>
                      </a:r>
                    </a:p>
                  </a:txBody>
                  <a:tcPr marL="0" marR="0" marT="0" marB="0" anchor="ctr"/>
                </a:tc>
                <a:tc>
                  <a:txBody>
                    <a:bodyPr/>
                    <a:lstStyle/>
                    <a:p>
                      <a:r>
                        <a:rPr lang="en-IN"/>
                        <a:t>Biology</a:t>
                      </a:r>
                    </a:p>
                  </a:txBody>
                  <a:tcPr marL="0" marR="0" marT="0" marB="0" anchor="ctr"/>
                </a:tc>
                <a:tc>
                  <a:txBody>
                    <a:bodyPr/>
                    <a:lstStyle/>
                    <a:p>
                      <a:r>
                        <a:rPr lang="en-IN"/>
                        <a:t>72000</a:t>
                      </a:r>
                    </a:p>
                  </a:txBody>
                  <a:tcPr marL="0" marR="0" marT="0" marB="0" anchor="ctr"/>
                </a:tc>
                <a:extLst>
                  <a:ext uri="{0D108BD9-81ED-4DB2-BD59-A6C34878D82A}">
                    <a16:rowId xmlns:a16="http://schemas.microsoft.com/office/drawing/2014/main" val="10006"/>
                  </a:ext>
                </a:extLst>
              </a:tr>
              <a:tr h="403885">
                <a:tc>
                  <a:txBody>
                    <a:bodyPr/>
                    <a:lstStyle/>
                    <a:p>
                      <a:r>
                        <a:rPr lang="en-IN"/>
                        <a:t>10101</a:t>
                      </a:r>
                    </a:p>
                  </a:txBody>
                  <a:tcPr marL="0" marR="0" marT="0" marB="0" anchor="ctr"/>
                </a:tc>
                <a:tc>
                  <a:txBody>
                    <a:bodyPr/>
                    <a:lstStyle/>
                    <a:p>
                      <a:r>
                        <a:rPr lang="en-IN"/>
                        <a:t>Srinivasan</a:t>
                      </a:r>
                    </a:p>
                  </a:txBody>
                  <a:tcPr marL="0" marR="0" marT="0" marB="0" anchor="ctr"/>
                </a:tc>
                <a:tc>
                  <a:txBody>
                    <a:bodyPr/>
                    <a:lstStyle/>
                    <a:p>
                      <a:r>
                        <a:rPr lang="en-IN"/>
                        <a:t>SCIl.</a:t>
                      </a:r>
                    </a:p>
                  </a:txBody>
                  <a:tcPr marL="0" marR="0" marT="0" marB="0" anchor="ctr"/>
                </a:tc>
                <a:tc>
                  <a:txBody>
                    <a:bodyPr/>
                    <a:lstStyle/>
                    <a:p>
                      <a:r>
                        <a:rPr lang="en-IN"/>
                        <a:t>65000</a:t>
                      </a:r>
                    </a:p>
                  </a:txBody>
                  <a:tcPr marL="0" marR="0" marT="0" marB="0" anchor="ctr"/>
                </a:tc>
                <a:extLst>
                  <a:ext uri="{0D108BD9-81ED-4DB2-BD59-A6C34878D82A}">
                    <a16:rowId xmlns:a16="http://schemas.microsoft.com/office/drawing/2014/main" val="10007"/>
                  </a:ext>
                </a:extLst>
              </a:tr>
              <a:tr h="403885">
                <a:tc>
                  <a:txBody>
                    <a:bodyPr/>
                    <a:lstStyle/>
                    <a:p>
                      <a:r>
                        <a:rPr lang="en-IN"/>
                        <a:t>58583</a:t>
                      </a:r>
                    </a:p>
                  </a:txBody>
                  <a:tcPr marL="0" marR="0" marT="0" marB="0" anchor="ctr"/>
                </a:tc>
                <a:tc>
                  <a:txBody>
                    <a:bodyPr/>
                    <a:lstStyle/>
                    <a:p>
                      <a:r>
                        <a:rPr lang="en-IN"/>
                        <a:t>Califieri</a:t>
                      </a:r>
                    </a:p>
                  </a:txBody>
                  <a:tcPr marL="0" marR="0" marT="0" marB="0" anchor="ctr"/>
                </a:tc>
                <a:tc>
                  <a:txBody>
                    <a:bodyPr/>
                    <a:lstStyle/>
                    <a:p>
                      <a:r>
                        <a:rPr lang="en-IN"/>
                        <a:t>History</a:t>
                      </a:r>
                    </a:p>
                  </a:txBody>
                  <a:tcPr marL="0" marR="0" marT="0" marB="0" anchor="ctr"/>
                </a:tc>
                <a:tc>
                  <a:txBody>
                    <a:bodyPr/>
                    <a:lstStyle/>
                    <a:p>
                      <a:r>
                        <a:rPr lang="en-IN"/>
                        <a:t>62000</a:t>
                      </a:r>
                    </a:p>
                  </a:txBody>
                  <a:tcPr marL="0" marR="0" marT="0" marB="0" anchor="ctr"/>
                </a:tc>
                <a:extLst>
                  <a:ext uri="{0D108BD9-81ED-4DB2-BD59-A6C34878D82A}">
                    <a16:rowId xmlns:a16="http://schemas.microsoft.com/office/drawing/2014/main" val="10008"/>
                  </a:ext>
                </a:extLst>
              </a:tr>
              <a:tr h="403885">
                <a:tc>
                  <a:txBody>
                    <a:bodyPr/>
                    <a:lstStyle/>
                    <a:p>
                      <a:r>
                        <a:rPr lang="en-IN"/>
                        <a:t>83821</a:t>
                      </a:r>
                    </a:p>
                  </a:txBody>
                  <a:tcPr marL="0" marR="0" marT="0" marB="0" anchor="ctr"/>
                </a:tc>
                <a:tc>
                  <a:txBody>
                    <a:bodyPr/>
                    <a:lstStyle/>
                    <a:p>
                      <a:r>
                        <a:rPr lang="en-IN"/>
                        <a:t>Brandt</a:t>
                      </a:r>
                    </a:p>
                  </a:txBody>
                  <a:tcPr marL="0" marR="0" marT="0" marB="0" anchor="ctr"/>
                </a:tc>
                <a:tc>
                  <a:txBody>
                    <a:bodyPr/>
                    <a:lstStyle/>
                    <a:p>
                      <a:r>
                        <a:rPr lang="en-IN"/>
                        <a:t>Comp Sci</a:t>
                      </a:r>
                    </a:p>
                  </a:txBody>
                  <a:tcPr marL="0" marR="0" marT="0" marB="0" anchor="ctr"/>
                </a:tc>
                <a:tc>
                  <a:txBody>
                    <a:bodyPr/>
                    <a:lstStyle/>
                    <a:p>
                      <a:r>
                        <a:rPr lang="en-IN"/>
                        <a:t>92000</a:t>
                      </a:r>
                    </a:p>
                  </a:txBody>
                  <a:tcPr marL="0" marR="0" marT="0" marB="0" anchor="ctr"/>
                </a:tc>
                <a:extLst>
                  <a:ext uri="{0D108BD9-81ED-4DB2-BD59-A6C34878D82A}">
                    <a16:rowId xmlns:a16="http://schemas.microsoft.com/office/drawing/2014/main" val="10009"/>
                  </a:ext>
                </a:extLst>
              </a:tr>
              <a:tr h="403885">
                <a:tc>
                  <a:txBody>
                    <a:bodyPr/>
                    <a:lstStyle/>
                    <a:p>
                      <a:r>
                        <a:rPr lang="en-IN"/>
                        <a:t>15151</a:t>
                      </a:r>
                    </a:p>
                  </a:txBody>
                  <a:tcPr marL="0" marR="0" marT="0" marB="0" anchor="ctr"/>
                </a:tc>
                <a:tc>
                  <a:txBody>
                    <a:bodyPr/>
                    <a:lstStyle/>
                    <a:p>
                      <a:r>
                        <a:rPr lang="en-IN"/>
                        <a:t>Mozart</a:t>
                      </a:r>
                    </a:p>
                  </a:txBody>
                  <a:tcPr marL="0" marR="0" marT="0" marB="0" anchor="ctr"/>
                </a:tc>
                <a:tc>
                  <a:txBody>
                    <a:bodyPr/>
                    <a:lstStyle/>
                    <a:p>
                      <a:r>
                        <a:rPr lang="en-IN"/>
                        <a:t>Music</a:t>
                      </a:r>
                    </a:p>
                  </a:txBody>
                  <a:tcPr marL="0" marR="0" marT="0" marB="0" anchor="ctr"/>
                </a:tc>
                <a:tc>
                  <a:txBody>
                    <a:bodyPr/>
                    <a:lstStyle/>
                    <a:p>
                      <a:r>
                        <a:rPr lang="en-IN"/>
                        <a:t>40000</a:t>
                      </a:r>
                    </a:p>
                  </a:txBody>
                  <a:tcPr marL="0" marR="0" marT="0" marB="0" anchor="ctr"/>
                </a:tc>
                <a:extLst>
                  <a:ext uri="{0D108BD9-81ED-4DB2-BD59-A6C34878D82A}">
                    <a16:rowId xmlns:a16="http://schemas.microsoft.com/office/drawing/2014/main" val="10010"/>
                  </a:ext>
                </a:extLst>
              </a:tr>
              <a:tr h="403885">
                <a:tc>
                  <a:txBody>
                    <a:bodyPr/>
                    <a:lstStyle/>
                    <a:p>
                      <a:r>
                        <a:rPr lang="en-IN"/>
                        <a:t>33456</a:t>
                      </a:r>
                    </a:p>
                  </a:txBody>
                  <a:tcPr marL="0" marR="0" marT="0" marB="0" anchor="ctr"/>
                </a:tc>
                <a:tc>
                  <a:txBody>
                    <a:bodyPr/>
                    <a:lstStyle/>
                    <a:p>
                      <a:r>
                        <a:rPr lang="en-IN"/>
                        <a:t>Gold</a:t>
                      </a:r>
                    </a:p>
                  </a:txBody>
                  <a:tcPr marL="0" marR="0" marT="0" marB="0" anchor="ctr"/>
                </a:tc>
                <a:tc>
                  <a:txBody>
                    <a:bodyPr/>
                    <a:lstStyle/>
                    <a:p>
                      <a:r>
                        <a:rPr lang="en-IN"/>
                        <a:t>Physics</a:t>
                      </a:r>
                    </a:p>
                  </a:txBody>
                  <a:tcPr marL="0" marR="0" marT="0" marB="0" anchor="ctr"/>
                </a:tc>
                <a:tc>
                  <a:txBody>
                    <a:bodyPr/>
                    <a:lstStyle/>
                    <a:p>
                      <a:r>
                        <a:rPr lang="en-IN" dirty="0"/>
                        <a:t>87000</a:t>
                      </a:r>
                    </a:p>
                  </a:txBody>
                  <a:tcPr marL="0" marR="0" marT="0" marB="0" anchor="ctr"/>
                </a:tc>
                <a:extLst>
                  <a:ext uri="{0D108BD9-81ED-4DB2-BD59-A6C34878D82A}">
                    <a16:rowId xmlns:a16="http://schemas.microsoft.com/office/drawing/2014/main" val="10011"/>
                  </a:ext>
                </a:extLst>
              </a:tr>
              <a:tr h="403885">
                <a:tc>
                  <a:txBody>
                    <a:bodyPr/>
                    <a:lstStyle/>
                    <a:p>
                      <a:r>
                        <a:rPr lang="en-IN"/>
                        <a:t>76543</a:t>
                      </a:r>
                    </a:p>
                  </a:txBody>
                  <a:tcPr marL="0" marR="0" marT="0" marB="0" anchor="ctr"/>
                </a:tc>
                <a:tc>
                  <a:txBody>
                    <a:bodyPr/>
                    <a:lstStyle/>
                    <a:p>
                      <a:r>
                        <a:rPr lang="en-IN"/>
                        <a:t>Singh</a:t>
                      </a:r>
                    </a:p>
                  </a:txBody>
                  <a:tcPr marL="0" marR="0" marT="0" marB="0" anchor="ctr"/>
                </a:tc>
                <a:tc>
                  <a:txBody>
                    <a:bodyPr/>
                    <a:lstStyle/>
                    <a:p>
                      <a:r>
                        <a:rPr lang="en-IN"/>
                        <a:t>Finance</a:t>
                      </a:r>
                    </a:p>
                  </a:txBody>
                  <a:tcPr marL="0" marR="0" marT="0" marB="0" anchor="ctr"/>
                </a:tc>
                <a:tc>
                  <a:txBody>
                    <a:bodyPr/>
                    <a:lstStyle/>
                    <a:p>
                      <a:r>
                        <a:rPr lang="en-IN" dirty="0"/>
                        <a:t>80000</a:t>
                      </a:r>
                    </a:p>
                  </a:txBody>
                  <a:tcPr marL="0" marR="0" marT="0" marB="0" anchor="ct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953324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457200" y="199739"/>
            <a:ext cx="8229600" cy="1143000"/>
          </a:xfrm>
        </p:spPr>
        <p:txBody>
          <a:bodyPr/>
          <a:lstStyle/>
          <a:p>
            <a:pPr>
              <a:defRPr/>
            </a:pPr>
            <a:r>
              <a:rPr lang="en-US" sz="5400" dirty="0">
                <a:latin typeface="Times New Roman" panose="02020603050405020304" pitchFamily="18" charset="0"/>
                <a:cs typeface="Times New Roman" panose="02020603050405020304" pitchFamily="18" charset="0"/>
              </a:rPr>
              <a:t>Example Queries</a:t>
            </a:r>
          </a:p>
        </p:txBody>
      </p:sp>
      <p:sp>
        <p:nvSpPr>
          <p:cNvPr id="186371" name="Rectangle 3"/>
          <p:cNvSpPr>
            <a:spLocks noGrp="1" noChangeArrowheads="1"/>
          </p:cNvSpPr>
          <p:nvPr>
            <p:ph idx="1"/>
          </p:nvPr>
        </p:nvSpPr>
        <p:spPr>
          <a:xfrm>
            <a:off x="862012" y="1379706"/>
            <a:ext cx="7914125" cy="880018"/>
          </a:xfrm>
        </p:spPr>
        <p:txBody>
          <a:bodyPr>
            <a:normAutofit fontScale="92500" lnSpcReduction="10000"/>
          </a:bodyPr>
          <a:lstStyle/>
          <a:p>
            <a:pPr>
              <a:tabLst>
                <a:tab pos="3195638" algn="ctr"/>
              </a:tabLst>
            </a:pPr>
            <a:r>
              <a:rPr lang="en-US" altLang="en-US" sz="2800" dirty="0">
                <a:latin typeface="Times New Roman" panose="02020603050405020304" pitchFamily="18" charset="0"/>
                <a:cs typeface="Times New Roman" panose="02020603050405020304" pitchFamily="18" charset="0"/>
              </a:rPr>
              <a:t>Find the </a:t>
            </a:r>
            <a:r>
              <a:rPr lang="en-US" altLang="en-US" sz="2800" i="1" dirty="0">
                <a:latin typeface="Times New Roman" panose="02020603050405020304" pitchFamily="18" charset="0"/>
                <a:cs typeface="Times New Roman" panose="02020603050405020304" pitchFamily="18" charset="0"/>
              </a:rPr>
              <a:t>ID, name, dept_name, salary  </a:t>
            </a:r>
            <a:r>
              <a:rPr lang="en-US" altLang="en-US" sz="2800" dirty="0">
                <a:latin typeface="Times New Roman" panose="02020603050405020304" pitchFamily="18" charset="0"/>
                <a:cs typeface="Times New Roman" panose="02020603050405020304" pitchFamily="18" charset="0"/>
              </a:rPr>
              <a:t>for instructors whose salary is greater than $80,000</a:t>
            </a:r>
            <a:endParaRPr lang="en-US" altLang="en-US" sz="2800"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186372" name="Text Box 4"/>
          <p:cNvSpPr txBox="1">
            <a:spLocks noChangeArrowheads="1"/>
          </p:cNvSpPr>
          <p:nvPr/>
        </p:nvSpPr>
        <p:spPr bwMode="auto">
          <a:xfrm>
            <a:off x="-220716" y="2942898"/>
            <a:ext cx="9341698" cy="4678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Helvetica" panose="020B0604020202020204" pitchFamily="34" charset="0"/>
              </a:defRPr>
            </a:lvl1pPr>
            <a:lvl2pPr marL="742950" indent="-2857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a:spcBef>
                <a:spcPct val="35000"/>
              </a:spcBef>
              <a:buClr>
                <a:schemeClr val="tx2"/>
              </a:buClr>
              <a:buSzPct val="90000"/>
            </a:pPr>
            <a:r>
              <a:rPr kumimoji="1" lang="en-US" altLang="en-US" sz="2400" dirty="0">
                <a:latin typeface="Times New Roman" panose="02020603050405020304" pitchFamily="18" charset="0"/>
                <a:cs typeface="Times New Roman" panose="02020603050405020304" pitchFamily="18" charset="0"/>
              </a:rPr>
              <a:t> </a:t>
            </a:r>
          </a:p>
          <a:p>
            <a:pPr marL="285750" indent="-285750">
              <a:spcBef>
                <a:spcPct val="35000"/>
              </a:spcBef>
              <a:buClr>
                <a:srgbClr val="002060"/>
              </a:buClr>
              <a:buSzPct val="110000"/>
              <a:buFont typeface="Wingdings" panose="05000000000000000000" pitchFamily="2" charset="2"/>
              <a:buChar char="§"/>
            </a:pPr>
            <a:r>
              <a:rPr kumimoji="1" lang="en-US" altLang="en-US" sz="2400" dirty="0">
                <a:latin typeface="Times New Roman" panose="02020603050405020304" pitchFamily="18" charset="0"/>
                <a:cs typeface="Times New Roman" panose="02020603050405020304" pitchFamily="18" charset="0"/>
              </a:rPr>
              <a:t>   As in the previous query, but output only the </a:t>
            </a:r>
            <a:r>
              <a:rPr kumimoji="1" lang="en-US" altLang="en-US" sz="2400" i="1" dirty="0">
                <a:latin typeface="Times New Roman" panose="02020603050405020304" pitchFamily="18" charset="0"/>
                <a:cs typeface="Times New Roman" panose="02020603050405020304" pitchFamily="18" charset="0"/>
              </a:rPr>
              <a:t>ID</a:t>
            </a:r>
            <a:r>
              <a:rPr kumimoji="1" lang="en-US" altLang="en-US" sz="2400" dirty="0">
                <a:latin typeface="Times New Roman" panose="02020603050405020304" pitchFamily="18" charset="0"/>
                <a:cs typeface="Times New Roman" panose="02020603050405020304" pitchFamily="18" charset="0"/>
              </a:rPr>
              <a:t> attribute value</a:t>
            </a:r>
          </a:p>
          <a:p>
            <a:pPr>
              <a:spcBef>
                <a:spcPct val="35000"/>
              </a:spcBef>
              <a:buClr>
                <a:schemeClr val="tx2"/>
              </a:buClr>
              <a:buSzPct val="90000"/>
              <a:buFont typeface="Monotype Sorts" pitchFamily="2" charset="2"/>
              <a:buChar char="n"/>
            </a:pPr>
            <a:endParaRPr kumimoji="1" lang="en-US" altLang="en-US" sz="1100" i="1" dirty="0">
              <a:latin typeface="Times New Roman" panose="02020603050405020304" pitchFamily="18" charset="0"/>
              <a:cs typeface="Times New Roman" panose="02020603050405020304" pitchFamily="18" charset="0"/>
              <a:sym typeface="Symbol" panose="05050102010706020507" pitchFamily="18" charset="2"/>
            </a:endParaRPr>
          </a:p>
          <a:p>
            <a:pPr>
              <a:spcBef>
                <a:spcPct val="35000"/>
              </a:spcBef>
              <a:buClr>
                <a:schemeClr val="tx2"/>
              </a:buClr>
              <a:buSzPct val="90000"/>
              <a:buFont typeface="Monotype Sorts" pitchFamily="2" charset="2"/>
              <a:buNone/>
            </a:pPr>
            <a:r>
              <a:rPr kumimoji="1" lang="en-US" altLang="en-US" sz="2400" dirty="0">
                <a:latin typeface="Times New Roman" panose="02020603050405020304" pitchFamily="18" charset="0"/>
                <a:cs typeface="Times New Roman" panose="02020603050405020304" pitchFamily="18" charset="0"/>
              </a:rPr>
              <a:t>                 {</a:t>
            </a:r>
            <a:r>
              <a:rPr kumimoji="1" lang="en-US" altLang="en-US" sz="2400" i="1" dirty="0">
                <a:latin typeface="Times New Roman" panose="02020603050405020304" pitchFamily="18" charset="0"/>
                <a:cs typeface="Times New Roman" panose="02020603050405020304" pitchFamily="18" charset="0"/>
              </a:rPr>
              <a:t>t </a:t>
            </a:r>
            <a:r>
              <a:rPr kumimoji="1" lang="en-US" altLang="en-US" sz="2400" dirty="0">
                <a:latin typeface="Times New Roman" panose="02020603050405020304" pitchFamily="18" charset="0"/>
                <a:cs typeface="Times New Roman" panose="02020603050405020304" pitchFamily="18" charset="0"/>
              </a:rPr>
              <a:t>|</a:t>
            </a:r>
            <a:r>
              <a:rPr kumimoji="1" lang="en-US" altLang="en-US" sz="2400" i="1" dirty="0">
                <a:latin typeface="Times New Roman" panose="02020603050405020304" pitchFamily="18" charset="0"/>
                <a:cs typeface="Times New Roman" panose="02020603050405020304" pitchFamily="18" charset="0"/>
              </a:rPr>
              <a:t> </a:t>
            </a:r>
            <a:r>
              <a:rPr kumimoji="1" lang="en-US" altLang="en-US" sz="2400"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i="1" dirty="0">
                <a:latin typeface="Times New Roman" panose="02020603050405020304" pitchFamily="18" charset="0"/>
                <a:cs typeface="Times New Roman" panose="02020603050405020304" pitchFamily="18" charset="0"/>
                <a:sym typeface="Symbol" panose="05050102010706020507" pitchFamily="18" charset="2"/>
              </a:rPr>
              <a:t> s </a:t>
            </a:r>
            <a:r>
              <a:rPr kumimoji="1" lang="en-US" altLang="en-US" sz="2400" dirty="0">
                <a:latin typeface="Times New Roman" panose="02020603050405020304" pitchFamily="18" charset="0"/>
                <a:cs typeface="Times New Roman" panose="02020603050405020304" pitchFamily="18" charset="0"/>
                <a:sym typeface="Symbol" panose="05050102010706020507" pitchFamily="18" charset="2"/>
              </a:rPr>
              <a:t>instructor (</a:t>
            </a:r>
            <a:r>
              <a:rPr kumimoji="1" lang="en-US" altLang="en-US" sz="2400" i="1" dirty="0">
                <a:latin typeface="Times New Roman" panose="02020603050405020304" pitchFamily="18" charset="0"/>
                <a:cs typeface="Times New Roman" panose="02020603050405020304" pitchFamily="18" charset="0"/>
                <a:sym typeface="Symbol" panose="05050102010706020507" pitchFamily="18" charset="2"/>
              </a:rPr>
              <a:t>t </a:t>
            </a:r>
            <a:r>
              <a:rPr kumimoji="1" lang="en-US" altLang="en-US" sz="2400"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i="1" dirty="0">
                <a:latin typeface="Times New Roman" panose="02020603050405020304" pitchFamily="18" charset="0"/>
                <a:cs typeface="Times New Roman" panose="02020603050405020304" pitchFamily="18" charset="0"/>
                <a:sym typeface="Symbol" panose="05050102010706020507" pitchFamily="18" charset="2"/>
              </a:rPr>
              <a:t>ID </a:t>
            </a:r>
            <a:r>
              <a:rPr kumimoji="1" lang="en-US" altLang="en-US" sz="2400" dirty="0">
                <a:latin typeface="Times New Roman" panose="02020603050405020304" pitchFamily="18" charset="0"/>
                <a:cs typeface="Times New Roman" panose="02020603050405020304" pitchFamily="18" charset="0"/>
                <a:sym typeface="Symbol" panose="05050102010706020507" pitchFamily="18" charset="2"/>
              </a:rPr>
              <a:t>] = </a:t>
            </a:r>
            <a:r>
              <a:rPr kumimoji="1" lang="en-US" altLang="en-US" sz="2400" i="1" dirty="0">
                <a:latin typeface="Times New Roman" panose="02020603050405020304" pitchFamily="18" charset="0"/>
                <a:cs typeface="Times New Roman" panose="02020603050405020304" pitchFamily="18" charset="0"/>
                <a:sym typeface="Symbol" panose="05050102010706020507" pitchFamily="18" charset="2"/>
              </a:rPr>
              <a:t>s </a:t>
            </a:r>
            <a:r>
              <a:rPr kumimoji="1" lang="en-US" altLang="en-US" sz="2400"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i="1" dirty="0">
                <a:latin typeface="Times New Roman" panose="02020603050405020304" pitchFamily="18" charset="0"/>
                <a:cs typeface="Times New Roman" panose="02020603050405020304" pitchFamily="18" charset="0"/>
                <a:sym typeface="Symbol" panose="05050102010706020507" pitchFamily="18" charset="2"/>
              </a:rPr>
              <a:t>ID </a:t>
            </a:r>
            <a:r>
              <a:rPr kumimoji="1" lang="en-US" altLang="en-US" sz="2400" dirty="0">
                <a:latin typeface="Times New Roman" panose="02020603050405020304" pitchFamily="18" charset="0"/>
                <a:cs typeface="Times New Roman" panose="02020603050405020304" pitchFamily="18" charset="0"/>
                <a:sym typeface="Symbol" panose="05050102010706020507" pitchFamily="18" charset="2"/>
              </a:rPr>
              <a:t>]  </a:t>
            </a:r>
            <a:r>
              <a:rPr kumimoji="1" lang="en-US" altLang="en-US" sz="2400" i="1" dirty="0">
                <a:latin typeface="Times New Roman" panose="02020603050405020304" pitchFamily="18" charset="0"/>
                <a:cs typeface="Times New Roman" panose="02020603050405020304" pitchFamily="18" charset="0"/>
                <a:sym typeface="Symbol" panose="05050102010706020507" pitchFamily="18" charset="2"/>
              </a:rPr>
              <a:t>s</a:t>
            </a:r>
            <a:r>
              <a:rPr kumimoji="1" lang="en-US" altLang="en-US" sz="2400"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en-US" sz="2400" i="1" dirty="0">
                <a:latin typeface="Times New Roman" panose="02020603050405020304" pitchFamily="18" charset="0"/>
                <a:cs typeface="Times New Roman" panose="02020603050405020304" pitchFamily="18" charset="0"/>
                <a:sym typeface="Symbol" panose="05050102010706020507" pitchFamily="18" charset="2"/>
              </a:rPr>
              <a:t>salary </a:t>
            </a:r>
            <a:r>
              <a:rPr kumimoji="1" lang="en-US" altLang="en-US" sz="2400" dirty="0">
                <a:latin typeface="Times New Roman" panose="02020603050405020304" pitchFamily="18" charset="0"/>
                <a:cs typeface="Times New Roman" panose="02020603050405020304" pitchFamily="18" charset="0"/>
                <a:sym typeface="Symbol" panose="05050102010706020507" pitchFamily="18" charset="2"/>
              </a:rPr>
              <a:t>]  80000)}</a:t>
            </a:r>
          </a:p>
          <a:p>
            <a:pPr>
              <a:spcBef>
                <a:spcPct val="35000"/>
              </a:spcBef>
              <a:buClr>
                <a:schemeClr val="tx2"/>
              </a:buClr>
              <a:buSzPct val="90000"/>
              <a:buFont typeface="Monotype Sorts" pitchFamily="2" charset="2"/>
              <a:buNone/>
            </a:pPr>
            <a:endParaRPr kumimoji="1" lang="en-US" altLang="en-US" sz="2400" dirty="0">
              <a:latin typeface="Times New Roman" panose="02020603050405020304" pitchFamily="18" charset="0"/>
              <a:cs typeface="Times New Roman" panose="02020603050405020304" pitchFamily="18" charset="0"/>
              <a:sym typeface="Symbol" panose="05050102010706020507" pitchFamily="18" charset="2"/>
            </a:endParaRPr>
          </a:p>
          <a:p>
            <a:pPr>
              <a:spcBef>
                <a:spcPct val="35000"/>
              </a:spcBef>
              <a:buClr>
                <a:schemeClr val="tx2"/>
              </a:buClr>
              <a:buSzPct val="90000"/>
              <a:buFont typeface="Monotype Sorts" pitchFamily="2" charset="2"/>
              <a:buNone/>
            </a:pPr>
            <a:endParaRPr kumimoji="1" lang="en-US" altLang="en-US" sz="2400" dirty="0">
              <a:latin typeface="Times New Roman" panose="02020603050405020304" pitchFamily="18" charset="0"/>
              <a:cs typeface="Times New Roman" panose="02020603050405020304" pitchFamily="18" charset="0"/>
              <a:sym typeface="Symbol" panose="05050102010706020507" pitchFamily="18" charset="2"/>
            </a:endParaRPr>
          </a:p>
          <a:p>
            <a:pPr>
              <a:spcBef>
                <a:spcPct val="35000"/>
              </a:spcBef>
              <a:buClr>
                <a:schemeClr val="tx2"/>
              </a:buClr>
              <a:buSzPct val="90000"/>
              <a:buFont typeface="Monotype Sorts" pitchFamily="2" charset="2"/>
              <a:buNone/>
            </a:pPr>
            <a:endParaRPr kumimoji="1" lang="en-US" altLang="en-US" sz="2400" dirty="0">
              <a:latin typeface="Times New Roman" panose="02020603050405020304" pitchFamily="18" charset="0"/>
              <a:cs typeface="Times New Roman" panose="02020603050405020304" pitchFamily="18" charset="0"/>
              <a:sym typeface="Symbol" panose="05050102010706020507" pitchFamily="18" charset="2"/>
            </a:endParaRPr>
          </a:p>
          <a:p>
            <a:pPr>
              <a:spcBef>
                <a:spcPct val="35000"/>
              </a:spcBef>
              <a:buClr>
                <a:schemeClr val="tx2"/>
              </a:buClr>
              <a:buSzPct val="90000"/>
              <a:buFont typeface="Monotype Sorts" pitchFamily="2" charset="2"/>
              <a:buNone/>
            </a:pPr>
            <a:r>
              <a:rPr kumimoji="1" lang="en-US" altLang="en-US" sz="2400" dirty="0">
                <a:latin typeface="Times New Roman" panose="02020603050405020304" pitchFamily="18" charset="0"/>
                <a:cs typeface="Times New Roman" panose="02020603050405020304" pitchFamily="18" charset="0"/>
                <a:sym typeface="Symbol" panose="05050102010706020507" pitchFamily="18" charset="2"/>
              </a:rPr>
              <a:t>     </a:t>
            </a:r>
            <a:endParaRPr kumimoji="1" lang="en-US" altLang="en-US" sz="2400" i="1" dirty="0">
              <a:latin typeface="Times New Roman" panose="02020603050405020304" pitchFamily="18" charset="0"/>
              <a:cs typeface="Times New Roman" panose="02020603050405020304" pitchFamily="18" charset="0"/>
              <a:sym typeface="Symbol" panose="05050102010706020507" pitchFamily="18" charset="2"/>
            </a:endParaRPr>
          </a:p>
          <a:p>
            <a:pPr>
              <a:spcBef>
                <a:spcPct val="35000"/>
              </a:spcBef>
              <a:buClr>
                <a:schemeClr val="tx2"/>
              </a:buClr>
              <a:buSzPct val="90000"/>
              <a:buFont typeface="Monotype Sorts" pitchFamily="2" charset="2"/>
              <a:buNone/>
            </a:pPr>
            <a:endParaRPr kumimoji="1" lang="en-US" altLang="en-US" sz="2400" i="1" dirty="0">
              <a:latin typeface="Times New Roman" panose="02020603050405020304" pitchFamily="18" charset="0"/>
              <a:cs typeface="Times New Roman" panose="02020603050405020304" pitchFamily="18" charset="0"/>
              <a:sym typeface="Symbol" panose="05050102010706020507" pitchFamily="18" charset="2"/>
            </a:endParaRPr>
          </a:p>
          <a:p>
            <a:pPr>
              <a:spcBef>
                <a:spcPct val="35000"/>
              </a:spcBef>
              <a:buClr>
                <a:schemeClr val="tx2"/>
              </a:buClr>
              <a:buSzPct val="90000"/>
              <a:buFont typeface="Monotype Sorts" pitchFamily="2" charset="2"/>
              <a:buNone/>
            </a:pPr>
            <a:endParaRPr kumimoji="1" lang="en-US" altLang="en-US" sz="2400" i="1"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186373" name="Text Box 5"/>
          <p:cNvSpPr txBox="1">
            <a:spLocks noChangeArrowheads="1"/>
          </p:cNvSpPr>
          <p:nvPr/>
        </p:nvSpPr>
        <p:spPr bwMode="auto">
          <a:xfrm>
            <a:off x="1491631" y="2419678"/>
            <a:ext cx="59170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Helvetica" panose="020B0604020202020204" pitchFamily="34" charset="0"/>
              </a:defRPr>
            </a:lvl1pPr>
            <a:lvl2pPr marL="742950" indent="-2857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a:spcBef>
                <a:spcPct val="35000"/>
              </a:spcBef>
              <a:buClr>
                <a:schemeClr val="tx2"/>
              </a:buClr>
              <a:buSzPct val="90000"/>
              <a:buFont typeface="Monotype Sorts" pitchFamily="2" charset="2"/>
              <a:buNone/>
            </a:pPr>
            <a:r>
              <a:rPr kumimoji="1" lang="en-US" altLang="en-US" sz="2800" dirty="0">
                <a:latin typeface="Times New Roman" panose="02020603050405020304" pitchFamily="18" charset="0"/>
                <a:cs typeface="Times New Roman" panose="02020603050405020304" pitchFamily="18" charset="0"/>
              </a:rPr>
              <a:t>{</a:t>
            </a:r>
            <a:r>
              <a:rPr kumimoji="1" lang="en-US" altLang="en-US" sz="2800" i="1" dirty="0">
                <a:latin typeface="Times New Roman" panose="02020603050405020304" pitchFamily="18" charset="0"/>
                <a:cs typeface="Times New Roman" panose="02020603050405020304" pitchFamily="18" charset="0"/>
              </a:rPr>
              <a:t>t</a:t>
            </a:r>
            <a:r>
              <a:rPr kumimoji="1" lang="en-US" altLang="en-US" sz="2800" dirty="0">
                <a:latin typeface="Times New Roman" panose="02020603050405020304" pitchFamily="18" charset="0"/>
                <a:cs typeface="Times New Roman" panose="02020603050405020304" pitchFamily="18" charset="0"/>
              </a:rPr>
              <a:t> | </a:t>
            </a:r>
            <a:r>
              <a:rPr kumimoji="1" lang="en-US" altLang="en-US" sz="2800" i="1" dirty="0">
                <a:latin typeface="Times New Roman" panose="02020603050405020304" pitchFamily="18" charset="0"/>
                <a:cs typeface="Times New Roman" panose="02020603050405020304" pitchFamily="18" charset="0"/>
              </a:rPr>
              <a:t>t</a:t>
            </a:r>
            <a:r>
              <a:rPr kumimoji="1" lang="en-US" altLang="en-US" sz="2800" dirty="0">
                <a:latin typeface="Times New Roman" panose="02020603050405020304" pitchFamily="18" charset="0"/>
                <a:cs typeface="Times New Roman" panose="02020603050405020304" pitchFamily="18" charset="0"/>
              </a:rPr>
              <a:t> </a:t>
            </a:r>
            <a:r>
              <a:rPr kumimoji="1" lang="en-US" altLang="en-US" sz="2800"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en-US" sz="2800" i="1" dirty="0">
                <a:latin typeface="Times New Roman" panose="02020603050405020304" pitchFamily="18" charset="0"/>
                <a:cs typeface="Times New Roman" panose="02020603050405020304" pitchFamily="18" charset="0"/>
                <a:sym typeface="Symbol" panose="05050102010706020507" pitchFamily="18" charset="2"/>
              </a:rPr>
              <a:t>instructor</a:t>
            </a:r>
            <a:r>
              <a:rPr kumimoji="1" lang="en-US" altLang="en-US" sz="2800" dirty="0">
                <a:latin typeface="Times New Roman" panose="02020603050405020304" pitchFamily="18" charset="0"/>
                <a:cs typeface="Times New Roman" panose="02020603050405020304" pitchFamily="18" charset="0"/>
                <a:sym typeface="Symbol" panose="05050102010706020507" pitchFamily="18" charset="2"/>
              </a:rPr>
              <a:t>  </a:t>
            </a:r>
            <a:r>
              <a:rPr kumimoji="1" lang="en-US" altLang="en-US" sz="2800" i="1" dirty="0">
                <a:latin typeface="Times New Roman" panose="02020603050405020304" pitchFamily="18" charset="0"/>
                <a:cs typeface="Times New Roman" panose="02020603050405020304" pitchFamily="18" charset="0"/>
                <a:sym typeface="Symbol" panose="05050102010706020507" pitchFamily="18" charset="2"/>
              </a:rPr>
              <a:t>t</a:t>
            </a:r>
            <a:r>
              <a:rPr kumimoji="1" lang="en-US" altLang="en-US" sz="2800"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en-US" sz="2800" i="1" dirty="0">
                <a:latin typeface="Times New Roman" panose="02020603050405020304" pitchFamily="18" charset="0"/>
                <a:cs typeface="Times New Roman" panose="02020603050405020304" pitchFamily="18" charset="0"/>
                <a:sym typeface="Symbol" panose="05050102010706020507" pitchFamily="18" charset="2"/>
              </a:rPr>
              <a:t>salary </a:t>
            </a:r>
            <a:r>
              <a:rPr kumimoji="1" lang="en-US" altLang="en-US" sz="2800" dirty="0">
                <a:latin typeface="Times New Roman" panose="02020603050405020304" pitchFamily="18" charset="0"/>
                <a:cs typeface="Times New Roman" panose="02020603050405020304" pitchFamily="18" charset="0"/>
                <a:sym typeface="Symbol" panose="05050102010706020507" pitchFamily="18" charset="2"/>
              </a:rPr>
              <a:t>]  80000}</a:t>
            </a:r>
            <a:endParaRPr kumimoji="1" lang="en-US" altLang="en-US" sz="2800" i="1"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18438" name="Rectangle 6"/>
          <p:cNvSpPr>
            <a:spLocks noChangeArrowheads="1"/>
          </p:cNvSpPr>
          <p:nvPr/>
        </p:nvSpPr>
        <p:spPr bwMode="auto">
          <a:xfrm>
            <a:off x="695310" y="4803093"/>
            <a:ext cx="8187559" cy="1684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Helvetica" panose="020B0604020202020204" pitchFamily="34" charset="0"/>
              </a:defRPr>
            </a:lvl1pPr>
            <a:lvl2pPr marL="742950" indent="-2857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a:lnSpc>
                <a:spcPct val="200000"/>
              </a:lnSpc>
            </a:pPr>
            <a:r>
              <a:rPr kumimoji="1" lang="en-US" altLang="en-US" sz="2800" dirty="0">
                <a:latin typeface="Times New Roman" panose="02020603050405020304" pitchFamily="18" charset="0"/>
                <a:cs typeface="Times New Roman" panose="02020603050405020304" pitchFamily="18" charset="0"/>
                <a:sym typeface="Symbol" panose="05050102010706020507" pitchFamily="18" charset="2"/>
              </a:rPr>
              <a:t>Notice that a relation on schema (</a:t>
            </a:r>
            <a:r>
              <a:rPr kumimoji="1" lang="en-US" altLang="en-US" sz="2800" i="1" dirty="0">
                <a:latin typeface="Times New Roman" panose="02020603050405020304" pitchFamily="18" charset="0"/>
                <a:cs typeface="Times New Roman" panose="02020603050405020304" pitchFamily="18" charset="0"/>
                <a:sym typeface="Symbol" panose="05050102010706020507" pitchFamily="18" charset="2"/>
              </a:rPr>
              <a:t>ID</a:t>
            </a:r>
            <a:r>
              <a:rPr kumimoji="1" lang="en-US" altLang="en-US" sz="2800" dirty="0">
                <a:latin typeface="Times New Roman" panose="02020603050405020304" pitchFamily="18" charset="0"/>
                <a:cs typeface="Times New Roman" panose="02020603050405020304" pitchFamily="18" charset="0"/>
                <a:sym typeface="Symbol" panose="05050102010706020507" pitchFamily="18" charset="2"/>
              </a:rPr>
              <a:t>) is implicitly defined by the query  </a:t>
            </a:r>
            <a:endParaRPr lang="en-US"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68994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63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637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6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autoUpdateAnimBg="0"/>
      <p:bldP spid="186372" grpId="0" autoUpdateAnimBg="0"/>
      <p:bldP spid="186373"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96349420"/>
              </p:ext>
            </p:extLst>
          </p:nvPr>
        </p:nvGraphicFramePr>
        <p:xfrm>
          <a:off x="879671" y="274194"/>
          <a:ext cx="7549626" cy="2574110"/>
        </p:xfrm>
        <a:graphic>
          <a:graphicData uri="http://schemas.openxmlformats.org/drawingml/2006/table">
            <a:tbl>
              <a:tblPr firstRow="1" bandRow="1">
                <a:tableStyleId>{5C22544A-7EE6-4342-B048-85BDC9FD1C3A}</a:tableStyleId>
              </a:tblPr>
              <a:tblGrid>
                <a:gridCol w="2516542">
                  <a:extLst>
                    <a:ext uri="{9D8B030D-6E8A-4147-A177-3AD203B41FA5}">
                      <a16:colId xmlns:a16="http://schemas.microsoft.com/office/drawing/2014/main" val="20000"/>
                    </a:ext>
                  </a:extLst>
                </a:gridCol>
                <a:gridCol w="2516542">
                  <a:extLst>
                    <a:ext uri="{9D8B030D-6E8A-4147-A177-3AD203B41FA5}">
                      <a16:colId xmlns:a16="http://schemas.microsoft.com/office/drawing/2014/main" val="20001"/>
                    </a:ext>
                  </a:extLst>
                </a:gridCol>
                <a:gridCol w="2516542">
                  <a:extLst>
                    <a:ext uri="{9D8B030D-6E8A-4147-A177-3AD203B41FA5}">
                      <a16:colId xmlns:a16="http://schemas.microsoft.com/office/drawing/2014/main" val="20002"/>
                    </a:ext>
                  </a:extLst>
                </a:gridCol>
              </a:tblGrid>
              <a:tr h="514822">
                <a:tc>
                  <a:txBody>
                    <a:bodyPr/>
                    <a:lstStyle/>
                    <a:p>
                      <a:pPr algn="ctr"/>
                      <a:r>
                        <a:rPr lang="en-IN" dirty="0" err="1">
                          <a:effectLst/>
                        </a:rPr>
                        <a:t>Customer_id</a:t>
                      </a:r>
                      <a:endParaRPr lang="en-IN" dirty="0">
                        <a:effectLst/>
                      </a:endParaRPr>
                    </a:p>
                  </a:txBody>
                  <a:tcPr anchor="ctr"/>
                </a:tc>
                <a:tc>
                  <a:txBody>
                    <a:bodyPr/>
                    <a:lstStyle/>
                    <a:p>
                      <a:pPr algn="ctr"/>
                      <a:r>
                        <a:rPr lang="en-IN">
                          <a:effectLst/>
                        </a:rPr>
                        <a:t>Name</a:t>
                      </a:r>
                    </a:p>
                  </a:txBody>
                  <a:tcPr anchor="ctr"/>
                </a:tc>
                <a:tc>
                  <a:txBody>
                    <a:bodyPr/>
                    <a:lstStyle/>
                    <a:p>
                      <a:pPr algn="ctr"/>
                      <a:r>
                        <a:rPr lang="en-IN">
                          <a:effectLst/>
                        </a:rPr>
                        <a:t>Zip code</a:t>
                      </a:r>
                    </a:p>
                  </a:txBody>
                  <a:tcPr anchor="ctr"/>
                </a:tc>
                <a:extLst>
                  <a:ext uri="{0D108BD9-81ED-4DB2-BD59-A6C34878D82A}">
                    <a16:rowId xmlns:a16="http://schemas.microsoft.com/office/drawing/2014/main" val="10000"/>
                  </a:ext>
                </a:extLst>
              </a:tr>
              <a:tr h="514822">
                <a:tc>
                  <a:txBody>
                    <a:bodyPr/>
                    <a:lstStyle/>
                    <a:p>
                      <a:pPr algn="ctr"/>
                      <a:r>
                        <a:rPr lang="en-IN">
                          <a:effectLst/>
                        </a:rPr>
                        <a:t>1</a:t>
                      </a:r>
                    </a:p>
                  </a:txBody>
                  <a:tcPr anchor="ctr"/>
                </a:tc>
                <a:tc>
                  <a:txBody>
                    <a:bodyPr/>
                    <a:lstStyle/>
                    <a:p>
                      <a:pPr algn="ctr"/>
                      <a:r>
                        <a:rPr lang="en-IN">
                          <a:effectLst/>
                        </a:rPr>
                        <a:t>Rohit</a:t>
                      </a:r>
                    </a:p>
                  </a:txBody>
                  <a:tcPr anchor="ctr"/>
                </a:tc>
                <a:tc>
                  <a:txBody>
                    <a:bodyPr/>
                    <a:lstStyle/>
                    <a:p>
                      <a:pPr algn="ctr"/>
                      <a:r>
                        <a:rPr lang="en-IN">
                          <a:effectLst/>
                        </a:rPr>
                        <a:t>12345</a:t>
                      </a:r>
                    </a:p>
                  </a:txBody>
                  <a:tcPr anchor="ctr"/>
                </a:tc>
                <a:extLst>
                  <a:ext uri="{0D108BD9-81ED-4DB2-BD59-A6C34878D82A}">
                    <a16:rowId xmlns:a16="http://schemas.microsoft.com/office/drawing/2014/main" val="10001"/>
                  </a:ext>
                </a:extLst>
              </a:tr>
              <a:tr h="514822">
                <a:tc>
                  <a:txBody>
                    <a:bodyPr/>
                    <a:lstStyle/>
                    <a:p>
                      <a:pPr algn="ctr"/>
                      <a:r>
                        <a:rPr lang="en-IN" dirty="0">
                          <a:effectLst/>
                        </a:rPr>
                        <a:t>2</a:t>
                      </a:r>
                    </a:p>
                  </a:txBody>
                  <a:tcPr anchor="ctr"/>
                </a:tc>
                <a:tc>
                  <a:txBody>
                    <a:bodyPr/>
                    <a:lstStyle/>
                    <a:p>
                      <a:pPr algn="ctr"/>
                      <a:r>
                        <a:rPr lang="en-IN" dirty="0">
                          <a:effectLst/>
                        </a:rPr>
                        <a:t>Rahul</a:t>
                      </a:r>
                    </a:p>
                  </a:txBody>
                  <a:tcPr anchor="ctr"/>
                </a:tc>
                <a:tc>
                  <a:txBody>
                    <a:bodyPr/>
                    <a:lstStyle/>
                    <a:p>
                      <a:pPr algn="ctr"/>
                      <a:r>
                        <a:rPr lang="en-IN">
                          <a:effectLst/>
                        </a:rPr>
                        <a:t>13245</a:t>
                      </a:r>
                    </a:p>
                  </a:txBody>
                  <a:tcPr anchor="ctr"/>
                </a:tc>
                <a:extLst>
                  <a:ext uri="{0D108BD9-81ED-4DB2-BD59-A6C34878D82A}">
                    <a16:rowId xmlns:a16="http://schemas.microsoft.com/office/drawing/2014/main" val="10002"/>
                  </a:ext>
                </a:extLst>
              </a:tr>
              <a:tr h="514822">
                <a:tc>
                  <a:txBody>
                    <a:bodyPr/>
                    <a:lstStyle/>
                    <a:p>
                      <a:pPr algn="ctr"/>
                      <a:r>
                        <a:rPr lang="en-IN">
                          <a:effectLst/>
                        </a:rPr>
                        <a:t>3</a:t>
                      </a:r>
                    </a:p>
                  </a:txBody>
                  <a:tcPr anchor="ctr"/>
                </a:tc>
                <a:tc>
                  <a:txBody>
                    <a:bodyPr/>
                    <a:lstStyle/>
                    <a:p>
                      <a:pPr algn="ctr"/>
                      <a:r>
                        <a:rPr lang="en-IN">
                          <a:effectLst/>
                        </a:rPr>
                        <a:t>Rohit</a:t>
                      </a:r>
                    </a:p>
                  </a:txBody>
                  <a:tcPr anchor="ctr"/>
                </a:tc>
                <a:tc>
                  <a:txBody>
                    <a:bodyPr/>
                    <a:lstStyle/>
                    <a:p>
                      <a:pPr algn="ctr"/>
                      <a:r>
                        <a:rPr lang="en-IN">
                          <a:effectLst/>
                        </a:rPr>
                        <a:t>56789</a:t>
                      </a:r>
                    </a:p>
                  </a:txBody>
                  <a:tcPr anchor="ctr"/>
                </a:tc>
                <a:extLst>
                  <a:ext uri="{0D108BD9-81ED-4DB2-BD59-A6C34878D82A}">
                    <a16:rowId xmlns:a16="http://schemas.microsoft.com/office/drawing/2014/main" val="10003"/>
                  </a:ext>
                </a:extLst>
              </a:tr>
              <a:tr h="514822">
                <a:tc>
                  <a:txBody>
                    <a:bodyPr/>
                    <a:lstStyle/>
                    <a:p>
                      <a:pPr algn="ctr"/>
                      <a:r>
                        <a:rPr lang="en-IN" dirty="0">
                          <a:effectLst/>
                        </a:rPr>
                        <a:t>4</a:t>
                      </a:r>
                    </a:p>
                  </a:txBody>
                  <a:tcPr anchor="ctr"/>
                </a:tc>
                <a:tc>
                  <a:txBody>
                    <a:bodyPr/>
                    <a:lstStyle/>
                    <a:p>
                      <a:pPr algn="ctr"/>
                      <a:r>
                        <a:rPr lang="en-IN">
                          <a:effectLst/>
                        </a:rPr>
                        <a:t>Amit</a:t>
                      </a:r>
                    </a:p>
                  </a:txBody>
                  <a:tcPr anchor="ctr"/>
                </a:tc>
                <a:tc>
                  <a:txBody>
                    <a:bodyPr/>
                    <a:lstStyle/>
                    <a:p>
                      <a:pPr algn="ctr"/>
                      <a:r>
                        <a:rPr lang="en-IN" dirty="0">
                          <a:effectLst/>
                        </a:rPr>
                        <a:t>12345.</a:t>
                      </a:r>
                    </a:p>
                  </a:txBody>
                  <a:tcPr anchor="ctr"/>
                </a:tc>
                <a:extLst>
                  <a:ext uri="{0D108BD9-81ED-4DB2-BD59-A6C34878D82A}">
                    <a16:rowId xmlns:a16="http://schemas.microsoft.com/office/drawing/2014/main" val="10004"/>
                  </a:ext>
                </a:extLst>
              </a:tr>
            </a:tbl>
          </a:graphicData>
        </a:graphic>
      </p:graphicFrame>
      <p:sp>
        <p:nvSpPr>
          <p:cNvPr id="3" name="Subtitle 2"/>
          <p:cNvSpPr>
            <a:spLocks noGrp="1"/>
          </p:cNvSpPr>
          <p:nvPr>
            <p:ph type="subTitle" idx="1"/>
          </p:nvPr>
        </p:nvSpPr>
        <p:spPr>
          <a:xfrm>
            <a:off x="755374" y="3077828"/>
            <a:ext cx="7017026" cy="1666461"/>
          </a:xfrm>
        </p:spPr>
        <p:txBody>
          <a:bodyPr>
            <a:noAutofit/>
          </a:bodyPr>
          <a:lstStyle/>
          <a:p>
            <a:pPr marL="457200" indent="-457200" algn="just">
              <a:buFont typeface="Arial" pitchFamily="34" charset="0"/>
              <a:buChar char="•"/>
            </a:pPr>
            <a:r>
              <a:rPr lang="en-IN" sz="2400" dirty="0">
                <a:solidFill>
                  <a:schemeClr val="tx1"/>
                </a:solidFill>
                <a:latin typeface="Times New Roman" panose="02020603050405020304" pitchFamily="18" charset="0"/>
                <a:cs typeface="Times New Roman" panose="02020603050405020304" pitchFamily="18" charset="0"/>
              </a:rPr>
              <a:t>Write a TRC query to get all the data of customers whose zip code is 12345.</a:t>
            </a:r>
          </a:p>
          <a:p>
            <a:pPr algn="just"/>
            <a:r>
              <a:rPr lang="en-IN" sz="2400" dirty="0">
                <a:solidFill>
                  <a:schemeClr val="tx1"/>
                </a:solidFill>
                <a:latin typeface="Times New Roman" panose="02020603050405020304" pitchFamily="18" charset="0"/>
                <a:cs typeface="Times New Roman" panose="02020603050405020304" pitchFamily="18" charset="0"/>
              </a:rPr>
              <a:t>TRC Query: {t | t ∈ Customer ∧ </a:t>
            </a:r>
            <a:r>
              <a:rPr lang="en-IN" sz="2400" dirty="0" err="1">
                <a:solidFill>
                  <a:schemeClr val="tx1"/>
                </a:solidFill>
                <a:latin typeface="Times New Roman" panose="02020603050405020304" pitchFamily="18" charset="0"/>
                <a:cs typeface="Times New Roman" panose="02020603050405020304" pitchFamily="18" charset="0"/>
              </a:rPr>
              <a:t>t.Zipcode</a:t>
            </a:r>
            <a:r>
              <a:rPr lang="en-IN" sz="2400" dirty="0">
                <a:solidFill>
                  <a:schemeClr val="tx1"/>
                </a:solidFill>
                <a:latin typeface="Times New Roman" panose="02020603050405020304" pitchFamily="18" charset="0"/>
                <a:cs typeface="Times New Roman" panose="02020603050405020304" pitchFamily="18" charset="0"/>
              </a:rPr>
              <a:t> = 12345} </a:t>
            </a:r>
          </a:p>
          <a:p>
            <a:pPr algn="just"/>
            <a:r>
              <a:rPr lang="en-IN" sz="2400" dirty="0">
                <a:solidFill>
                  <a:schemeClr val="tx1"/>
                </a:solidFill>
                <a:latin typeface="Times New Roman" panose="02020603050405020304" pitchFamily="18" charset="0"/>
                <a:cs typeface="Times New Roman" panose="02020603050405020304" pitchFamily="18" charset="0"/>
              </a:rPr>
              <a:t>TRC Query: {t | Customer(t) ∧ t[</a:t>
            </a:r>
            <a:r>
              <a:rPr lang="en-IN" sz="2400" dirty="0" err="1">
                <a:solidFill>
                  <a:schemeClr val="tx1"/>
                </a:solidFill>
                <a:latin typeface="Times New Roman" panose="02020603050405020304" pitchFamily="18" charset="0"/>
                <a:cs typeface="Times New Roman" panose="02020603050405020304" pitchFamily="18" charset="0"/>
              </a:rPr>
              <a:t>Zipcode</a:t>
            </a:r>
            <a:r>
              <a:rPr lang="en-IN" sz="2400" dirty="0">
                <a:solidFill>
                  <a:schemeClr val="tx1"/>
                </a:solidFill>
                <a:latin typeface="Times New Roman" panose="02020603050405020304" pitchFamily="18" charset="0"/>
                <a:cs typeface="Times New Roman" panose="02020603050405020304" pitchFamily="18" charset="0"/>
              </a:rPr>
              <a:t>] = 12345 }</a:t>
            </a:r>
          </a:p>
          <a:p>
            <a:pPr marL="457200" indent="-457200" algn="just">
              <a:buFont typeface="Arial" pitchFamily="34" charset="0"/>
              <a:buChar char="•"/>
            </a:pPr>
            <a:r>
              <a:rPr lang="en-US" sz="2800" dirty="0">
                <a:solidFill>
                  <a:schemeClr val="tx1"/>
                </a:solidFill>
                <a:latin typeface="Times New Roman" panose="02020603050405020304" pitchFamily="18" charset="0"/>
                <a:cs typeface="Times New Roman" panose="02020603050405020304" pitchFamily="18" charset="0"/>
              </a:rPr>
              <a:t>Write a TRC query to get the customer id of all the Customers.</a:t>
            </a:r>
          </a:p>
          <a:p>
            <a:pPr algn="just"/>
            <a:r>
              <a:rPr lang="en-US" sz="2800" dirty="0">
                <a:solidFill>
                  <a:schemeClr val="tx1"/>
                </a:solidFill>
                <a:latin typeface="Times New Roman" panose="02020603050405020304" pitchFamily="18" charset="0"/>
                <a:cs typeface="Times New Roman" panose="02020603050405020304" pitchFamily="18" charset="0"/>
              </a:rPr>
              <a:t>TRC query: { t | ∃s (s ∈ Customer ∧ </a:t>
            </a:r>
            <a:r>
              <a:rPr lang="en-US" sz="2800" dirty="0" err="1">
                <a:solidFill>
                  <a:schemeClr val="tx1"/>
                </a:solidFill>
                <a:latin typeface="Times New Roman" panose="02020603050405020304" pitchFamily="18" charset="0"/>
                <a:cs typeface="Times New Roman" panose="02020603050405020304" pitchFamily="18" charset="0"/>
              </a:rPr>
              <a:t>s.Customer_id</a:t>
            </a:r>
            <a:r>
              <a:rPr lang="en-US" sz="2800" dirty="0">
                <a:solidFill>
                  <a:schemeClr val="tx1"/>
                </a:solidFill>
                <a:latin typeface="Times New Roman" panose="02020603050405020304" pitchFamily="18" charset="0"/>
                <a:cs typeface="Times New Roman" panose="02020603050405020304" pitchFamily="18" charset="0"/>
              </a:rPr>
              <a:t> = </a:t>
            </a:r>
            <a:r>
              <a:rPr lang="en-US" sz="2800" dirty="0" err="1">
                <a:solidFill>
                  <a:schemeClr val="tx1"/>
                </a:solidFill>
                <a:latin typeface="Times New Roman" panose="02020603050405020304" pitchFamily="18" charset="0"/>
                <a:cs typeface="Times New Roman" panose="02020603050405020304" pitchFamily="18" charset="0"/>
              </a:rPr>
              <a:t>t.customer_id</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2383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a:xfrm>
            <a:off x="768350" y="2441575"/>
            <a:ext cx="8077200" cy="609600"/>
          </a:xfrm>
        </p:spPr>
        <p:txBody>
          <a:bodyPr>
            <a:normAutofit fontScale="90000"/>
          </a:bodyPr>
          <a:lstStyle/>
          <a:p>
            <a:pPr>
              <a:lnSpc>
                <a:spcPct val="200000"/>
              </a:lnSpc>
              <a:defRPr/>
            </a:pPr>
            <a:r>
              <a:rPr lang="en-US" sz="3600" b="1" dirty="0">
                <a:latin typeface="Times New Roman" panose="02020603050405020304" pitchFamily="18" charset="0"/>
                <a:cs typeface="Times New Roman" panose="02020603050405020304" pitchFamily="18" charset="0"/>
              </a:rPr>
              <a:t>Domain Relational Calculus</a:t>
            </a:r>
            <a:br>
              <a:rPr lang="en-US" sz="3600"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sz="3100" dirty="0">
                <a:latin typeface="Times New Roman" panose="02020603050405020304" pitchFamily="18" charset="0"/>
                <a:cs typeface="Times New Roman" panose="02020603050405020304" pitchFamily="18" charset="0"/>
              </a:rPr>
              <a:t>Domain Relational Calculus uses domain Variables to get the column values required from the database based on the predicate expression or condition.</a:t>
            </a:r>
          </a:p>
        </p:txBody>
      </p:sp>
    </p:spTree>
    <p:extLst>
      <p:ext uri="{BB962C8B-B14F-4D97-AF65-F5344CB8AC3E}">
        <p14:creationId xmlns:p14="http://schemas.microsoft.com/office/powerpoint/2010/main" val="3888085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457200" y="-95477"/>
            <a:ext cx="8229600" cy="1143000"/>
          </a:xfrm>
        </p:spPr>
        <p:txBody>
          <a:bodyPr/>
          <a:lstStyle/>
          <a:p>
            <a:pPr>
              <a:defRPr/>
            </a:pPr>
            <a:r>
              <a:rPr lang="en-US" b="1" dirty="0">
                <a:latin typeface="Times New Roman" panose="02020603050405020304" pitchFamily="18" charset="0"/>
                <a:cs typeface="Times New Roman" panose="02020603050405020304" pitchFamily="18" charset="0"/>
              </a:rPr>
              <a:t>Domain Relational Calculus</a:t>
            </a:r>
          </a:p>
        </p:txBody>
      </p:sp>
      <p:sp>
        <p:nvSpPr>
          <p:cNvPr id="25603" name="Rectangle 3"/>
          <p:cNvSpPr>
            <a:spLocks noGrp="1" noChangeArrowheads="1"/>
          </p:cNvSpPr>
          <p:nvPr>
            <p:ph idx="1"/>
          </p:nvPr>
        </p:nvSpPr>
        <p:spPr>
          <a:xfrm>
            <a:off x="231228" y="1165224"/>
            <a:ext cx="8766722" cy="5418137"/>
          </a:xfrm>
        </p:spPr>
        <p:txBody>
          <a:bodyPr>
            <a:normAutofit/>
          </a:bodyPr>
          <a:lstStyle/>
          <a:p>
            <a:r>
              <a:rPr lang="en-US" altLang="en-US" sz="3600" dirty="0">
                <a:latin typeface="Times New Roman" panose="02020603050405020304" pitchFamily="18" charset="0"/>
                <a:cs typeface="Times New Roman" panose="02020603050405020304" pitchFamily="18" charset="0"/>
              </a:rPr>
              <a:t>A nonprocedural query language equivalent in power to the tuple relational calculus</a:t>
            </a:r>
          </a:p>
          <a:p>
            <a:r>
              <a:rPr lang="en-US" altLang="en-US" sz="3600" dirty="0">
                <a:latin typeface="Times New Roman" panose="02020603050405020304" pitchFamily="18" charset="0"/>
                <a:cs typeface="Times New Roman" panose="02020603050405020304" pitchFamily="18" charset="0"/>
              </a:rPr>
              <a:t>Each query is an expression of the form:</a:t>
            </a:r>
          </a:p>
          <a:p>
            <a:pPr>
              <a:buFont typeface="Monotype Sorts" pitchFamily="2" charset="2"/>
              <a:buNone/>
            </a:pPr>
            <a:endParaRPr lang="en-US" altLang="en-US" sz="3600" dirty="0">
              <a:latin typeface="Times New Roman" panose="02020603050405020304" pitchFamily="18" charset="0"/>
              <a:cs typeface="Times New Roman" panose="02020603050405020304" pitchFamily="18" charset="0"/>
            </a:endParaRPr>
          </a:p>
          <a:p>
            <a:pPr>
              <a:buFont typeface="Monotype Sorts" pitchFamily="2" charset="2"/>
              <a:buNone/>
            </a:pPr>
            <a:r>
              <a:rPr lang="en-US" altLang="en-US" sz="3600" dirty="0">
                <a:latin typeface="Times New Roman" panose="02020603050405020304" pitchFamily="18" charset="0"/>
                <a:cs typeface="Times New Roman" panose="02020603050405020304" pitchFamily="18" charset="0"/>
              </a:rPr>
              <a:t>			{ </a:t>
            </a:r>
            <a:r>
              <a:rPr lang="en-US" altLang="en-US" sz="36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3600"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0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en-US" sz="3600" i="1" dirty="0">
                <a:latin typeface="Times New Roman" panose="02020603050405020304" pitchFamily="18" charset="0"/>
                <a:cs typeface="Times New Roman" panose="02020603050405020304" pitchFamily="18" charset="0"/>
                <a:sym typeface="Symbol" panose="05050102010706020507" pitchFamily="18" charset="2"/>
              </a:rPr>
              <a:t>, x</a:t>
            </a:r>
            <a:r>
              <a:rPr lang="en-US" altLang="en-US" sz="20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en-US" sz="3600" i="1" dirty="0">
                <a:latin typeface="Times New Roman" panose="02020603050405020304" pitchFamily="18" charset="0"/>
                <a:cs typeface="Times New Roman" panose="02020603050405020304" pitchFamily="18" charset="0"/>
                <a:sym typeface="Symbol" panose="05050102010706020507" pitchFamily="18" charset="2"/>
              </a:rPr>
              <a:t>, …, x</a:t>
            </a:r>
            <a:r>
              <a:rPr lang="en-US" altLang="en-US" sz="2000"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en-US" sz="3600" dirty="0">
                <a:latin typeface="Times New Roman" panose="02020603050405020304" pitchFamily="18" charset="0"/>
                <a:cs typeface="Times New Roman" panose="02020603050405020304" pitchFamily="18" charset="0"/>
                <a:sym typeface="Symbol" panose="05050102010706020507" pitchFamily="18" charset="2"/>
              </a:rPr>
              <a:t>  | </a:t>
            </a:r>
            <a:r>
              <a:rPr lang="en-US" altLang="en-US" sz="3600" i="1" dirty="0">
                <a:latin typeface="Times New Roman" panose="02020603050405020304" pitchFamily="18" charset="0"/>
                <a:cs typeface="Times New Roman" panose="02020603050405020304" pitchFamily="18" charset="0"/>
                <a:sym typeface="Symbol" panose="05050102010706020507" pitchFamily="18" charset="2"/>
              </a:rPr>
              <a:t>P </a:t>
            </a:r>
            <a:r>
              <a:rPr lang="en-US" altLang="en-US" sz="36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3600"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0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en-US" sz="36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3600"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0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en-US" sz="3600" i="1" dirty="0">
                <a:latin typeface="Times New Roman" panose="02020603050405020304" pitchFamily="18" charset="0"/>
                <a:cs typeface="Times New Roman" panose="02020603050405020304" pitchFamily="18" charset="0"/>
                <a:sym typeface="Symbol" panose="05050102010706020507" pitchFamily="18" charset="2"/>
              </a:rPr>
              <a:t>, …, x</a:t>
            </a:r>
            <a:r>
              <a:rPr lang="en-US" altLang="en-US" sz="2000"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en-US" sz="3600" dirty="0">
                <a:latin typeface="Times New Roman" panose="02020603050405020304" pitchFamily="18" charset="0"/>
                <a:cs typeface="Times New Roman" panose="02020603050405020304" pitchFamily="18" charset="0"/>
                <a:sym typeface="Symbol" panose="05050102010706020507" pitchFamily="18" charset="2"/>
              </a:rPr>
              <a:t>)}</a:t>
            </a:r>
            <a:br>
              <a:rPr lang="en-US" altLang="en-US" sz="3600" dirty="0">
                <a:latin typeface="Times New Roman" panose="02020603050405020304" pitchFamily="18" charset="0"/>
                <a:cs typeface="Times New Roman" panose="02020603050405020304" pitchFamily="18" charset="0"/>
                <a:sym typeface="Symbol" panose="05050102010706020507" pitchFamily="18" charset="2"/>
              </a:rPr>
            </a:br>
            <a:endParaRPr lang="en-US" altLang="en-US" sz="3600" dirty="0">
              <a:latin typeface="Times New Roman" panose="02020603050405020304" pitchFamily="18" charset="0"/>
              <a:cs typeface="Times New Roman" panose="02020603050405020304" pitchFamily="18" charset="0"/>
              <a:sym typeface="Symbol" panose="05050102010706020507" pitchFamily="18" charset="2"/>
            </a:endParaRPr>
          </a:p>
          <a:p>
            <a:pPr lvl="1"/>
            <a:r>
              <a:rPr lang="en-US" altLang="en-US" sz="3200"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4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en-US"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3200"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4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en-US" sz="3200" i="1" dirty="0">
                <a:latin typeface="Times New Roman" panose="02020603050405020304" pitchFamily="18" charset="0"/>
                <a:cs typeface="Times New Roman" panose="02020603050405020304" pitchFamily="18" charset="0"/>
                <a:sym typeface="Symbol" panose="05050102010706020507" pitchFamily="18" charset="2"/>
              </a:rPr>
              <a:t>, …, x</a:t>
            </a:r>
            <a:r>
              <a:rPr lang="en-US" altLang="en-US" sz="2400"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en-US" sz="3200" i="1"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3200" dirty="0">
                <a:latin typeface="Times New Roman" panose="02020603050405020304" pitchFamily="18" charset="0"/>
                <a:cs typeface="Times New Roman" panose="02020603050405020304" pitchFamily="18" charset="0"/>
                <a:sym typeface="Symbol" panose="05050102010706020507" pitchFamily="18" charset="2"/>
              </a:rPr>
              <a:t> represent domain variables</a:t>
            </a:r>
          </a:p>
          <a:p>
            <a:pPr lvl="1"/>
            <a:r>
              <a:rPr lang="en-US" altLang="en-US" sz="3200" i="1" dirty="0">
                <a:latin typeface="Times New Roman" panose="02020603050405020304" pitchFamily="18" charset="0"/>
                <a:cs typeface="Times New Roman" panose="02020603050405020304" pitchFamily="18" charset="0"/>
                <a:sym typeface="Symbol" panose="05050102010706020507" pitchFamily="18" charset="2"/>
              </a:rPr>
              <a:t>P</a:t>
            </a:r>
            <a:r>
              <a:rPr lang="en-US" altLang="en-US" sz="3200" dirty="0">
                <a:latin typeface="Times New Roman" panose="02020603050405020304" pitchFamily="18" charset="0"/>
                <a:cs typeface="Times New Roman" panose="02020603050405020304" pitchFamily="18" charset="0"/>
                <a:sym typeface="Symbol" panose="05050102010706020507" pitchFamily="18" charset="2"/>
              </a:rPr>
              <a:t> represents a formula similar to that of the predicate calculus</a:t>
            </a:r>
          </a:p>
          <a:p>
            <a:pPr lvl="1">
              <a:buFont typeface="Monotype Sorts" pitchFamily="2" charset="2"/>
              <a:buNone/>
            </a:pPr>
            <a:endParaRPr lang="en-US" altLang="en-US" sz="3200" i="1" baseline="-25000" dirty="0">
              <a:latin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124701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p:cNvSpPr>
            <a:spLocks noGrp="1" noChangeArrowheads="1"/>
          </p:cNvSpPr>
          <p:nvPr>
            <p:ph type="title"/>
          </p:nvPr>
        </p:nvSpPr>
        <p:spPr/>
        <p:txBody>
          <a:bodyPr/>
          <a:lstStyle/>
          <a:p>
            <a:pPr>
              <a:defRPr/>
            </a:pPr>
            <a:r>
              <a:rPr lang="en-US" b="1" dirty="0">
                <a:latin typeface="Times New Roman" panose="02020603050405020304" pitchFamily="18" charset="0"/>
                <a:cs typeface="Times New Roman" panose="02020603050405020304" pitchFamily="18" charset="0"/>
              </a:rPr>
              <a:t>Example Queries</a:t>
            </a:r>
          </a:p>
        </p:txBody>
      </p:sp>
      <p:sp>
        <p:nvSpPr>
          <p:cNvPr id="759811" name="Rectangle 3"/>
          <p:cNvSpPr>
            <a:spLocks noGrp="1" noChangeArrowheads="1"/>
          </p:cNvSpPr>
          <p:nvPr>
            <p:ph idx="1"/>
          </p:nvPr>
        </p:nvSpPr>
        <p:spPr>
          <a:xfrm>
            <a:off x="768350" y="1165225"/>
            <a:ext cx="8229600" cy="5300889"/>
          </a:xfrm>
        </p:spPr>
        <p:txBody>
          <a:bodyPr>
            <a:normAutofit fontScale="92500" lnSpcReduction="20000"/>
          </a:bodyPr>
          <a:lstStyle/>
          <a:p>
            <a:pPr>
              <a:lnSpc>
                <a:spcPct val="200000"/>
              </a:lnSpc>
              <a:tabLst>
                <a:tab pos="3195638" algn="ctr"/>
              </a:tabLst>
            </a:pPr>
            <a:r>
              <a:rPr lang="en-US" altLang="en-US" dirty="0">
                <a:latin typeface="Times New Roman" panose="02020603050405020304" pitchFamily="18" charset="0"/>
                <a:cs typeface="Times New Roman" panose="02020603050405020304" pitchFamily="18" charset="0"/>
              </a:rPr>
              <a:t>Find the </a:t>
            </a:r>
            <a:r>
              <a:rPr lang="en-US" altLang="en-US" i="1" dirty="0">
                <a:latin typeface="Times New Roman" panose="02020603050405020304" pitchFamily="18" charset="0"/>
                <a:cs typeface="Times New Roman" panose="02020603050405020304" pitchFamily="18" charset="0"/>
              </a:rPr>
              <a:t>ID, name, dept_name, salary  </a:t>
            </a:r>
            <a:r>
              <a:rPr lang="en-US" altLang="en-US" dirty="0">
                <a:latin typeface="Times New Roman" panose="02020603050405020304" pitchFamily="18" charset="0"/>
                <a:cs typeface="Times New Roman" panose="02020603050405020304" pitchFamily="18" charset="0"/>
              </a:rPr>
              <a:t>for instructors whose salary is greater than $80,000</a:t>
            </a:r>
          </a:p>
          <a:p>
            <a:pPr lvl="1">
              <a:lnSpc>
                <a:spcPct val="200000"/>
              </a:lnSpc>
              <a:tabLst>
                <a:tab pos="3195638" algn="ctr"/>
              </a:tabLst>
            </a:pP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&lt; i, n, d, s&gt; </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 &lt; i, n, d, s&gt;</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instructor</a:t>
            </a:r>
            <a:r>
              <a:rPr lang="en-US" altLang="en-US" dirty="0">
                <a:latin typeface="Times New Roman" panose="02020603050405020304" pitchFamily="18" charset="0"/>
                <a:cs typeface="Times New Roman" panose="02020603050405020304" pitchFamily="18" charset="0"/>
                <a:sym typeface="Symbol" panose="05050102010706020507" pitchFamily="18" charset="2"/>
              </a:rPr>
              <a:t> 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s</a:t>
            </a:r>
            <a:r>
              <a:rPr lang="en-US" altLang="en-US" dirty="0">
                <a:latin typeface="Times New Roman" panose="02020603050405020304" pitchFamily="18" charset="0"/>
                <a:cs typeface="Times New Roman" panose="02020603050405020304" pitchFamily="18" charset="0"/>
                <a:sym typeface="Symbol" panose="05050102010706020507" pitchFamily="18" charset="2"/>
              </a:rPr>
              <a:t>  80000}</a:t>
            </a:r>
          </a:p>
          <a:p>
            <a:pPr>
              <a:lnSpc>
                <a:spcPct val="200000"/>
              </a:lnSpc>
              <a:tabLst>
                <a:tab pos="3195638" algn="ctr"/>
              </a:tabLst>
            </a:pPr>
            <a:r>
              <a:rPr lang="en-US" altLang="en-US" dirty="0">
                <a:latin typeface="Times New Roman" panose="02020603050405020304" pitchFamily="18" charset="0"/>
                <a:cs typeface="Times New Roman" panose="02020603050405020304" pitchFamily="18" charset="0"/>
              </a:rPr>
              <a:t> As in the previous query, but output only the </a:t>
            </a:r>
            <a:r>
              <a:rPr lang="en-US" altLang="en-US" i="1" dirty="0">
                <a:latin typeface="Times New Roman" panose="02020603050405020304" pitchFamily="18" charset="0"/>
                <a:cs typeface="Times New Roman" panose="02020603050405020304" pitchFamily="18" charset="0"/>
              </a:rPr>
              <a:t>ID</a:t>
            </a:r>
            <a:r>
              <a:rPr lang="en-US" altLang="en-US" dirty="0">
                <a:latin typeface="Times New Roman" panose="02020603050405020304" pitchFamily="18" charset="0"/>
                <a:cs typeface="Times New Roman" panose="02020603050405020304" pitchFamily="18" charset="0"/>
              </a:rPr>
              <a:t> attribute value</a:t>
            </a:r>
          </a:p>
          <a:p>
            <a:pPr lvl="1">
              <a:lnSpc>
                <a:spcPct val="200000"/>
              </a:lnSpc>
              <a:tabLst>
                <a:tab pos="3195638" algn="ctr"/>
              </a:tabLst>
            </a:pP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&lt; i&gt; </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 &lt; i, n, d, s&gt;</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instructor</a:t>
            </a:r>
            <a:r>
              <a:rPr lang="en-US" altLang="en-US" dirty="0">
                <a:latin typeface="Times New Roman" panose="02020603050405020304" pitchFamily="18" charset="0"/>
                <a:cs typeface="Times New Roman" panose="02020603050405020304" pitchFamily="18" charset="0"/>
                <a:sym typeface="Symbol" panose="05050102010706020507" pitchFamily="18" charset="2"/>
              </a:rPr>
              <a:t>  </a:t>
            </a:r>
            <a:r>
              <a:rPr lang="en-US" altLang="en-US" i="1" dirty="0">
                <a:latin typeface="Times New Roman" panose="02020603050405020304" pitchFamily="18" charset="0"/>
                <a:cs typeface="Times New Roman" panose="02020603050405020304" pitchFamily="18" charset="0"/>
                <a:sym typeface="Symbol" panose="05050102010706020507" pitchFamily="18" charset="2"/>
              </a:rPr>
              <a:t>s</a:t>
            </a:r>
            <a:r>
              <a:rPr lang="en-US" altLang="en-US" dirty="0">
                <a:latin typeface="Times New Roman" panose="02020603050405020304" pitchFamily="18" charset="0"/>
                <a:cs typeface="Times New Roman" panose="02020603050405020304" pitchFamily="18" charset="0"/>
                <a:sym typeface="Symbol" panose="05050102010706020507" pitchFamily="18" charset="2"/>
              </a:rPr>
              <a:t>  80000}</a:t>
            </a:r>
          </a:p>
          <a:p>
            <a:pPr>
              <a:lnSpc>
                <a:spcPct val="200000"/>
              </a:lnSpc>
              <a:tabLst>
                <a:tab pos="3195638" algn="ctr"/>
              </a:tabLst>
            </a:pPr>
            <a:endParaRPr lang="en-US" altLang="en-US" dirty="0">
              <a:latin typeface="Times New Roman" panose="02020603050405020304" pitchFamily="18" charset="0"/>
              <a:cs typeface="Times New Roman" panose="02020603050405020304" pitchFamily="18" charset="0"/>
              <a:sym typeface="Symbol" panose="05050102010706020507" pitchFamily="18" charset="2"/>
            </a:endParaRPr>
          </a:p>
          <a:p>
            <a:pPr lvl="1">
              <a:lnSpc>
                <a:spcPct val="200000"/>
              </a:lnSpc>
              <a:tabLst>
                <a:tab pos="3195638" algn="ctr"/>
              </a:tabLst>
            </a:pPr>
            <a:endParaRPr lang="en-US" altLang="en-US" dirty="0">
              <a:latin typeface="Times New Roman" panose="02020603050405020304" pitchFamily="18" charset="0"/>
              <a:cs typeface="Times New Roman" panose="02020603050405020304" pitchFamily="18" charset="0"/>
              <a:sym typeface="Symbol" panose="05050102010706020507" pitchFamily="18" charset="2"/>
            </a:endParaRPr>
          </a:p>
          <a:p>
            <a:pPr>
              <a:lnSpc>
                <a:spcPct val="200000"/>
              </a:lnSpc>
              <a:tabLst>
                <a:tab pos="3195638" algn="ctr"/>
              </a:tabLst>
            </a:pPr>
            <a:endParaRPr lang="en-US" altLang="en-US" dirty="0">
              <a:latin typeface="Times New Roman" panose="02020603050405020304" pitchFamily="18" charset="0"/>
              <a:cs typeface="Times New Roman" panose="02020603050405020304" pitchFamily="18" charset="0"/>
              <a:sym typeface="Symbol" panose="05050102010706020507" pitchFamily="18" charset="2"/>
            </a:endParaRPr>
          </a:p>
          <a:p>
            <a:pPr>
              <a:lnSpc>
                <a:spcPct val="200000"/>
              </a:lnSpc>
              <a:tabLst>
                <a:tab pos="3195638" algn="ctr"/>
              </a:tabLst>
            </a:pPr>
            <a:endParaRPr lang="en-US" altLang="en-US" dirty="0">
              <a:latin typeface="Times New Roman" panose="02020603050405020304" pitchFamily="18" charset="0"/>
              <a:cs typeface="Times New Roman" panose="02020603050405020304" pitchFamily="18" charset="0"/>
              <a:sym typeface="Symbol" panose="05050102010706020507" pitchFamily="18" charset="2"/>
            </a:endParaRPr>
          </a:p>
          <a:p>
            <a:pPr lvl="1">
              <a:lnSpc>
                <a:spcPct val="200000"/>
              </a:lnSpc>
              <a:tabLst>
                <a:tab pos="3195638" algn="ctr"/>
              </a:tabLst>
            </a:pPr>
            <a:endParaRPr lang="en-US" altLang="en-US" dirty="0">
              <a:latin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1031111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598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75981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75981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7598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9811"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566979912"/>
              </p:ext>
            </p:extLst>
          </p:nvPr>
        </p:nvGraphicFramePr>
        <p:xfrm>
          <a:off x="1902162" y="224350"/>
          <a:ext cx="4672809" cy="1828800"/>
        </p:xfrm>
        <a:graphic>
          <a:graphicData uri="http://schemas.openxmlformats.org/drawingml/2006/table">
            <a:tbl>
              <a:tblPr firstRow="1" bandRow="1">
                <a:tableStyleId>{5C22544A-7EE6-4342-B048-85BDC9FD1C3A}</a:tableStyleId>
              </a:tblPr>
              <a:tblGrid>
                <a:gridCol w="1557603">
                  <a:extLst>
                    <a:ext uri="{9D8B030D-6E8A-4147-A177-3AD203B41FA5}">
                      <a16:colId xmlns:a16="http://schemas.microsoft.com/office/drawing/2014/main" val="20000"/>
                    </a:ext>
                  </a:extLst>
                </a:gridCol>
                <a:gridCol w="1557603">
                  <a:extLst>
                    <a:ext uri="{9D8B030D-6E8A-4147-A177-3AD203B41FA5}">
                      <a16:colId xmlns:a16="http://schemas.microsoft.com/office/drawing/2014/main" val="20001"/>
                    </a:ext>
                  </a:extLst>
                </a:gridCol>
                <a:gridCol w="1557603">
                  <a:extLst>
                    <a:ext uri="{9D8B030D-6E8A-4147-A177-3AD203B41FA5}">
                      <a16:colId xmlns:a16="http://schemas.microsoft.com/office/drawing/2014/main" val="20002"/>
                    </a:ext>
                  </a:extLst>
                </a:gridCol>
              </a:tblGrid>
              <a:tr h="312181">
                <a:tc>
                  <a:txBody>
                    <a:bodyPr/>
                    <a:lstStyle/>
                    <a:p>
                      <a:pPr algn="ctr"/>
                      <a:r>
                        <a:rPr lang="en-IN" dirty="0" err="1">
                          <a:effectLst/>
                        </a:rPr>
                        <a:t>Customer_id</a:t>
                      </a:r>
                      <a:endParaRPr lang="en-IN" dirty="0">
                        <a:effectLst/>
                      </a:endParaRPr>
                    </a:p>
                  </a:txBody>
                  <a:tcPr anchor="ctr"/>
                </a:tc>
                <a:tc>
                  <a:txBody>
                    <a:bodyPr/>
                    <a:lstStyle/>
                    <a:p>
                      <a:pPr algn="ctr"/>
                      <a:r>
                        <a:rPr lang="en-IN">
                          <a:effectLst/>
                        </a:rPr>
                        <a:t>Name</a:t>
                      </a:r>
                    </a:p>
                  </a:txBody>
                  <a:tcPr anchor="ctr"/>
                </a:tc>
                <a:tc>
                  <a:txBody>
                    <a:bodyPr/>
                    <a:lstStyle/>
                    <a:p>
                      <a:pPr algn="ctr"/>
                      <a:r>
                        <a:rPr lang="en-IN">
                          <a:effectLst/>
                        </a:rPr>
                        <a:t>Zip code</a:t>
                      </a:r>
                    </a:p>
                  </a:txBody>
                  <a:tcPr anchor="ctr"/>
                </a:tc>
                <a:extLst>
                  <a:ext uri="{0D108BD9-81ED-4DB2-BD59-A6C34878D82A}">
                    <a16:rowId xmlns:a16="http://schemas.microsoft.com/office/drawing/2014/main" val="10000"/>
                  </a:ext>
                </a:extLst>
              </a:tr>
              <a:tr h="312181">
                <a:tc>
                  <a:txBody>
                    <a:bodyPr/>
                    <a:lstStyle/>
                    <a:p>
                      <a:pPr algn="ctr"/>
                      <a:r>
                        <a:rPr lang="en-IN">
                          <a:effectLst/>
                        </a:rPr>
                        <a:t>1</a:t>
                      </a:r>
                    </a:p>
                  </a:txBody>
                  <a:tcPr anchor="ctr"/>
                </a:tc>
                <a:tc>
                  <a:txBody>
                    <a:bodyPr/>
                    <a:lstStyle/>
                    <a:p>
                      <a:pPr algn="ctr"/>
                      <a:r>
                        <a:rPr lang="en-IN">
                          <a:effectLst/>
                        </a:rPr>
                        <a:t>Rohit</a:t>
                      </a:r>
                    </a:p>
                  </a:txBody>
                  <a:tcPr anchor="ctr"/>
                </a:tc>
                <a:tc>
                  <a:txBody>
                    <a:bodyPr/>
                    <a:lstStyle/>
                    <a:p>
                      <a:pPr algn="ctr"/>
                      <a:r>
                        <a:rPr lang="en-IN">
                          <a:effectLst/>
                        </a:rPr>
                        <a:t>12345</a:t>
                      </a:r>
                    </a:p>
                  </a:txBody>
                  <a:tcPr anchor="ctr"/>
                </a:tc>
                <a:extLst>
                  <a:ext uri="{0D108BD9-81ED-4DB2-BD59-A6C34878D82A}">
                    <a16:rowId xmlns:a16="http://schemas.microsoft.com/office/drawing/2014/main" val="10001"/>
                  </a:ext>
                </a:extLst>
              </a:tr>
              <a:tr h="312181">
                <a:tc>
                  <a:txBody>
                    <a:bodyPr/>
                    <a:lstStyle/>
                    <a:p>
                      <a:pPr algn="ctr"/>
                      <a:r>
                        <a:rPr lang="en-IN">
                          <a:effectLst/>
                        </a:rPr>
                        <a:t>2</a:t>
                      </a:r>
                    </a:p>
                  </a:txBody>
                  <a:tcPr anchor="ctr"/>
                </a:tc>
                <a:tc>
                  <a:txBody>
                    <a:bodyPr/>
                    <a:lstStyle/>
                    <a:p>
                      <a:pPr algn="ctr"/>
                      <a:r>
                        <a:rPr lang="en-IN" dirty="0">
                          <a:effectLst/>
                        </a:rPr>
                        <a:t>Rahul</a:t>
                      </a:r>
                    </a:p>
                  </a:txBody>
                  <a:tcPr anchor="ctr"/>
                </a:tc>
                <a:tc>
                  <a:txBody>
                    <a:bodyPr/>
                    <a:lstStyle/>
                    <a:p>
                      <a:pPr algn="ctr"/>
                      <a:r>
                        <a:rPr lang="en-IN">
                          <a:effectLst/>
                        </a:rPr>
                        <a:t>13245</a:t>
                      </a:r>
                    </a:p>
                  </a:txBody>
                  <a:tcPr anchor="ctr"/>
                </a:tc>
                <a:extLst>
                  <a:ext uri="{0D108BD9-81ED-4DB2-BD59-A6C34878D82A}">
                    <a16:rowId xmlns:a16="http://schemas.microsoft.com/office/drawing/2014/main" val="10002"/>
                  </a:ext>
                </a:extLst>
              </a:tr>
              <a:tr h="312181">
                <a:tc>
                  <a:txBody>
                    <a:bodyPr/>
                    <a:lstStyle/>
                    <a:p>
                      <a:pPr algn="ctr"/>
                      <a:r>
                        <a:rPr lang="en-IN">
                          <a:effectLst/>
                        </a:rPr>
                        <a:t>3</a:t>
                      </a:r>
                    </a:p>
                  </a:txBody>
                  <a:tcPr anchor="ctr"/>
                </a:tc>
                <a:tc>
                  <a:txBody>
                    <a:bodyPr/>
                    <a:lstStyle/>
                    <a:p>
                      <a:pPr algn="ctr"/>
                      <a:r>
                        <a:rPr lang="en-IN" dirty="0" err="1">
                          <a:effectLst/>
                        </a:rPr>
                        <a:t>Rohit</a:t>
                      </a:r>
                      <a:endParaRPr lang="en-IN" dirty="0">
                        <a:effectLst/>
                      </a:endParaRPr>
                    </a:p>
                  </a:txBody>
                  <a:tcPr anchor="ctr"/>
                </a:tc>
                <a:tc>
                  <a:txBody>
                    <a:bodyPr/>
                    <a:lstStyle/>
                    <a:p>
                      <a:pPr algn="ctr"/>
                      <a:r>
                        <a:rPr lang="en-IN">
                          <a:effectLst/>
                        </a:rPr>
                        <a:t>56789</a:t>
                      </a:r>
                    </a:p>
                  </a:txBody>
                  <a:tcPr anchor="ctr"/>
                </a:tc>
                <a:extLst>
                  <a:ext uri="{0D108BD9-81ED-4DB2-BD59-A6C34878D82A}">
                    <a16:rowId xmlns:a16="http://schemas.microsoft.com/office/drawing/2014/main" val="10003"/>
                  </a:ext>
                </a:extLst>
              </a:tr>
              <a:tr h="312181">
                <a:tc>
                  <a:txBody>
                    <a:bodyPr/>
                    <a:lstStyle/>
                    <a:p>
                      <a:pPr algn="ctr"/>
                      <a:r>
                        <a:rPr lang="en-IN" dirty="0">
                          <a:effectLst/>
                        </a:rPr>
                        <a:t>4</a:t>
                      </a:r>
                    </a:p>
                  </a:txBody>
                  <a:tcPr anchor="ctr"/>
                </a:tc>
                <a:tc>
                  <a:txBody>
                    <a:bodyPr/>
                    <a:lstStyle/>
                    <a:p>
                      <a:pPr algn="ctr"/>
                      <a:r>
                        <a:rPr lang="en-IN">
                          <a:effectLst/>
                        </a:rPr>
                        <a:t>Amit</a:t>
                      </a:r>
                    </a:p>
                  </a:txBody>
                  <a:tcPr anchor="ctr"/>
                </a:tc>
                <a:tc>
                  <a:txBody>
                    <a:bodyPr/>
                    <a:lstStyle/>
                    <a:p>
                      <a:pPr algn="ctr"/>
                      <a:r>
                        <a:rPr lang="en-IN" dirty="0">
                          <a:effectLst/>
                        </a:rPr>
                        <a:t>12345.</a:t>
                      </a:r>
                    </a:p>
                  </a:txBody>
                  <a:tcPr anchor="ctr"/>
                </a:tc>
                <a:extLst>
                  <a:ext uri="{0D108BD9-81ED-4DB2-BD59-A6C34878D82A}">
                    <a16:rowId xmlns:a16="http://schemas.microsoft.com/office/drawing/2014/main" val="10004"/>
                  </a:ext>
                </a:extLst>
              </a:tr>
            </a:tbl>
          </a:graphicData>
        </a:graphic>
      </p:graphicFrame>
      <p:sp>
        <p:nvSpPr>
          <p:cNvPr id="3" name="Subtitle 2"/>
          <p:cNvSpPr>
            <a:spLocks noGrp="1"/>
          </p:cNvSpPr>
          <p:nvPr>
            <p:ph type="subTitle" idx="1"/>
          </p:nvPr>
        </p:nvSpPr>
        <p:spPr>
          <a:xfrm>
            <a:off x="933095" y="2119886"/>
            <a:ext cx="7017026" cy="1666461"/>
          </a:xfrm>
        </p:spPr>
        <p:txBody>
          <a:bodyPr>
            <a:noAutofit/>
          </a:bodyPr>
          <a:lstStyle/>
          <a:p>
            <a:pPr marL="457200" indent="-457200" algn="just">
              <a:lnSpc>
                <a:spcPct val="150000"/>
              </a:lnSpc>
              <a:buFont typeface="Arial" pitchFamily="34" charset="0"/>
              <a:buChar char="•"/>
            </a:pPr>
            <a:r>
              <a:rPr lang="en-IN" sz="2400" dirty="0">
                <a:solidFill>
                  <a:schemeClr val="tx1"/>
                </a:solidFill>
                <a:latin typeface="Times New Roman" panose="02020603050405020304" pitchFamily="18" charset="0"/>
                <a:cs typeface="Times New Roman" panose="02020603050405020304" pitchFamily="18" charset="0"/>
              </a:rPr>
              <a:t>Write a DRC query to get all the data of customers whose zip code is 12345.</a:t>
            </a:r>
          </a:p>
          <a:p>
            <a:pPr algn="just">
              <a:lnSpc>
                <a:spcPct val="150000"/>
              </a:lnSpc>
            </a:pPr>
            <a:r>
              <a:rPr lang="en-IN" sz="2400" dirty="0">
                <a:solidFill>
                  <a:schemeClr val="tx1"/>
                </a:solidFill>
                <a:latin typeface="Times New Roman" panose="02020603050405020304" pitchFamily="18" charset="0"/>
                <a:cs typeface="Times New Roman" panose="02020603050405020304" pitchFamily="18" charset="0"/>
              </a:rPr>
              <a:t>DRC query: {&lt;x1,x2,x3&gt; | &lt;x1,x2,X3&gt; ∈ Customer ∧ x3 = 12345 }</a:t>
            </a:r>
          </a:p>
          <a:p>
            <a:pPr marL="457200" indent="-457200" algn="just">
              <a:lnSpc>
                <a:spcPct val="150000"/>
              </a:lnSpc>
              <a:buFont typeface="Arial" pitchFamily="34" charset="0"/>
              <a:buChar char="•"/>
            </a:pPr>
            <a:r>
              <a:rPr lang="en-US" sz="2400" dirty="0">
                <a:solidFill>
                  <a:schemeClr val="tx1"/>
                </a:solidFill>
                <a:latin typeface="Times New Roman" panose="02020603050405020304" pitchFamily="18" charset="0"/>
                <a:cs typeface="Times New Roman" panose="02020603050405020304" pitchFamily="18" charset="0"/>
              </a:rPr>
              <a:t>Write a DRC query to get the customer id of all the customer.</a:t>
            </a:r>
          </a:p>
          <a:p>
            <a:pPr algn="just">
              <a:lnSpc>
                <a:spcPct val="150000"/>
              </a:lnSpc>
            </a:pPr>
            <a:r>
              <a:rPr lang="en-US" sz="2400" dirty="0">
                <a:solidFill>
                  <a:schemeClr val="tx1"/>
                </a:solidFill>
                <a:latin typeface="Times New Roman" panose="02020603050405020304" pitchFamily="18" charset="0"/>
                <a:cs typeface="Times New Roman" panose="02020603050405020304" pitchFamily="18" charset="0"/>
              </a:rPr>
              <a:t>DRC Query: { &lt;x1&gt; | ∃ x2,x3(&lt;x1,x2,x3&gt; ∈ Customer ) }</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1240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92696</TotalTime>
  <Words>873</Words>
  <Application>Microsoft Office PowerPoint</Application>
  <PresentationFormat>On-screen Show (4:3)</PresentationFormat>
  <Paragraphs>152</Paragraphs>
  <Slides>11</Slides>
  <Notes>11</Notes>
  <HiddenSlides>0</HiddenSlides>
  <MMClips>0</MMClips>
  <ScaleCrop>false</ScaleCrop>
  <HeadingPairs>
    <vt:vector size="8" baseType="variant">
      <vt:variant>
        <vt:lpstr>Fonts Used</vt:lpstr>
      </vt:variant>
      <vt:variant>
        <vt:i4>6</vt:i4>
      </vt:variant>
      <vt:variant>
        <vt:lpstr>Theme</vt:lpstr>
      </vt:variant>
      <vt:variant>
        <vt:i4>1</vt:i4>
      </vt:variant>
      <vt:variant>
        <vt:lpstr>Slide Titles</vt:lpstr>
      </vt:variant>
      <vt:variant>
        <vt:i4>11</vt:i4>
      </vt:variant>
      <vt:variant>
        <vt:lpstr>Custom Shows</vt:lpstr>
      </vt:variant>
      <vt:variant>
        <vt:i4>1</vt:i4>
      </vt:variant>
    </vt:vector>
  </HeadingPairs>
  <TitlesOfParts>
    <vt:vector size="19" baseType="lpstr">
      <vt:lpstr>Arial</vt:lpstr>
      <vt:lpstr>Calibri</vt:lpstr>
      <vt:lpstr>Helvetica</vt:lpstr>
      <vt:lpstr>Monotype Sorts</vt:lpstr>
      <vt:lpstr>Times New Roman</vt:lpstr>
      <vt:lpstr>Wingdings</vt:lpstr>
      <vt:lpstr>Office Theme</vt:lpstr>
      <vt:lpstr>PowerPoint Presentation</vt:lpstr>
      <vt:lpstr>Tuple Relational Calculus: TRC in DBMS uses a tuple variable (t) that goes to each row of the table and checks if the predicate is true or false for the given row. Depending on the given predicate condition, it returns the row or part of the row.</vt:lpstr>
      <vt:lpstr>Tuple Relational Calculus</vt:lpstr>
      <vt:lpstr>Predicate Calculus Formula</vt:lpstr>
      <vt:lpstr>PowerPoint Presentation</vt:lpstr>
      <vt:lpstr>Example Queries</vt:lpstr>
      <vt:lpstr>PowerPoint Presentation</vt:lpstr>
      <vt:lpstr>Domain Relational Calculus  Domain Relational Calculus uses domain Variables to get the column values required from the database based on the predicate expression or condition.</vt:lpstr>
      <vt:lpstr>Domain Relational Calculus</vt:lpstr>
      <vt:lpstr>Example Queries</vt:lpstr>
      <vt:lpstr>PowerPoint Presentation</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murali krishna</cp:lastModifiedBy>
  <cp:revision>469</cp:revision>
  <cp:lastPrinted>1999-06-28T19:27:31Z</cp:lastPrinted>
  <dcterms:created xsi:type="dcterms:W3CDTF">2009-12-21T15:40:22Z</dcterms:created>
  <dcterms:modified xsi:type="dcterms:W3CDTF">2025-03-06T05:39:39Z</dcterms:modified>
</cp:coreProperties>
</file>