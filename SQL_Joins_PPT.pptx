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SQL Joins - Explanation &amp;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Different Types of Joins in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5290"/>
            <a:ext cx="8229600" cy="4525963"/>
          </a:xfrm>
        </p:spPr>
        <p:txBody>
          <a:bodyPr>
            <a:no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only matching rows from both tables.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table1.column, table2.column FROM table1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JOIN table2 ON table1.column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table2.column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JOIN (LEFT OUTER JOIN)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all records from the left table and matching records from the right table. If no match, NULL is returned.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table1.column, table2.column FROM table1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JOIN table2 ON table1.column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table2.column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JOIN (RIGHT OUTER JOIN)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all records from the right table and matching records from the left table.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table1.column, table2.column FROM table1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JOIN table2 ON table1.column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table2. column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JOIN (FULL OUTER JOIN)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all records from both tables. If no match is found, NULL is returned.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algn="just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table1.column, table2.column FROM table1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JOIN table2 ON table1.column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table2.column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Cartesian product of both tables (each row from one table is combined with every row from the other).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 algn="just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table1.column, table2.column FROM table1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JOIN table2;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table is joined with itself to compare rows.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A.column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B.column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table_name 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table_name B ON A.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olumn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B.column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join is an SQL join operation that creates a join on the base of the common columns in the tables. To perform natural join there must be one common attribute(Column) between two tables.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A.column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B.column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table_name 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NATURAL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table_name B;</a:t>
            </a: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453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516C8-EBCA-BD8C-DA45-C2EFD067B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56" y="2032876"/>
            <a:ext cx="7098900" cy="39651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CC16B1-93F8-BA4A-8542-8AAA91A5AFAB}"/>
              </a:ext>
            </a:extLst>
          </p:cNvPr>
          <p:cNvSpPr txBox="1"/>
          <p:nvPr/>
        </p:nvSpPr>
        <p:spPr>
          <a:xfrm>
            <a:off x="1480457" y="474897"/>
            <a:ext cx="36140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</a:p>
        </p:txBody>
      </p:sp>
    </p:spTree>
    <p:extLst>
      <p:ext uri="{BB962C8B-B14F-4D97-AF65-F5344CB8AC3E}">
        <p14:creationId xmlns:p14="http://schemas.microsoft.com/office/powerpoint/2010/main" val="115042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D1C1EB-FC5B-B2EA-7EE7-027614320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10" y="2132207"/>
            <a:ext cx="7638380" cy="40617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32EFF2-FA5C-B855-29E0-9846F17EA823}"/>
              </a:ext>
            </a:extLst>
          </p:cNvPr>
          <p:cNvSpPr txBox="1"/>
          <p:nvPr/>
        </p:nvSpPr>
        <p:spPr>
          <a:xfrm>
            <a:off x="1480457" y="474897"/>
            <a:ext cx="36140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</a:p>
        </p:txBody>
      </p:sp>
    </p:spTree>
    <p:extLst>
      <p:ext uri="{BB962C8B-B14F-4D97-AF65-F5344CB8AC3E}">
        <p14:creationId xmlns:p14="http://schemas.microsoft.com/office/powerpoint/2010/main" val="90821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C530EC-ED79-0F30-A0BF-36F7FF02B2FD}"/>
              </a:ext>
            </a:extLst>
          </p:cNvPr>
          <p:cNvSpPr txBox="1"/>
          <p:nvPr/>
        </p:nvSpPr>
        <p:spPr>
          <a:xfrm>
            <a:off x="533400" y="828801"/>
            <a:ext cx="8795657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e.emp_id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e.salary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 e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INNER JOIN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d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BAAF9-0851-1117-1606-77035B25FF15}"/>
              </a:ext>
            </a:extLst>
          </p:cNvPr>
          <p:cNvSpPr txBox="1"/>
          <p:nvPr/>
        </p:nvSpPr>
        <p:spPr>
          <a:xfrm>
            <a:off x="2930978" y="244026"/>
            <a:ext cx="46645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INNER JOIN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2773BC-62E2-FCE3-B880-94DAB0A3C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68" y="4133518"/>
            <a:ext cx="8239863" cy="206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1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DEDC4C-0B6F-8E93-ACA6-3923283D5BD9}"/>
              </a:ext>
            </a:extLst>
          </p:cNvPr>
          <p:cNvSpPr txBox="1"/>
          <p:nvPr/>
        </p:nvSpPr>
        <p:spPr>
          <a:xfrm>
            <a:off x="838200" y="1007929"/>
            <a:ext cx="8033657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e.salary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 e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 OUTER JOIN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d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822F1-F25A-1BF1-D716-76E23577A757}"/>
              </a:ext>
            </a:extLst>
          </p:cNvPr>
          <p:cNvSpPr txBox="1"/>
          <p:nvPr/>
        </p:nvSpPr>
        <p:spPr>
          <a:xfrm>
            <a:off x="2481942" y="30286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OUTER JOIN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237B00-FC0B-F3DD-9F7B-5D43148AA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33" y="4009540"/>
            <a:ext cx="7429571" cy="215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8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0099B9-2C20-5C63-7327-7F07394B76AB}"/>
              </a:ext>
            </a:extLst>
          </p:cNvPr>
          <p:cNvSpPr txBox="1"/>
          <p:nvPr/>
        </p:nvSpPr>
        <p:spPr>
          <a:xfrm>
            <a:off x="740228" y="914400"/>
            <a:ext cx="7794171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e.salary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 e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 OUTER JOIN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d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EB4336-0A08-34B5-AADF-75719BE2E5AD}"/>
              </a:ext>
            </a:extLst>
          </p:cNvPr>
          <p:cNvSpPr txBox="1"/>
          <p:nvPr/>
        </p:nvSpPr>
        <p:spPr>
          <a:xfrm>
            <a:off x="2345871" y="316468"/>
            <a:ext cx="4582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OUTER JOIN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07456-A45E-2408-D101-5758ACFAD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28" y="4040838"/>
            <a:ext cx="7716828" cy="214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3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44C835-12D4-4745-A10B-10A0D6391D28}"/>
              </a:ext>
            </a:extLst>
          </p:cNvPr>
          <p:cNvSpPr txBox="1"/>
          <p:nvPr/>
        </p:nvSpPr>
        <p:spPr>
          <a:xfrm>
            <a:off x="838200" y="751114"/>
            <a:ext cx="8305800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e.salary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 e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OUTER JOIN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d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ED338-DFB9-5E63-C244-1B3316ADA097}"/>
              </a:ext>
            </a:extLst>
          </p:cNvPr>
          <p:cNvSpPr txBox="1"/>
          <p:nvPr/>
        </p:nvSpPr>
        <p:spPr>
          <a:xfrm>
            <a:off x="2503715" y="237891"/>
            <a:ext cx="5393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OUTER JOIN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861170-EDD9-73D6-8F45-1EAA9B511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03" y="3624942"/>
            <a:ext cx="7422953" cy="248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CA386B-F815-D30F-00B4-52AAFD9C4F4B}"/>
              </a:ext>
            </a:extLst>
          </p:cNvPr>
          <p:cNvSpPr txBox="1"/>
          <p:nvPr/>
        </p:nvSpPr>
        <p:spPr>
          <a:xfrm>
            <a:off x="1311728" y="557128"/>
            <a:ext cx="6520543" cy="1953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 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 JOIN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d;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C45FF3-4050-D2DF-E485-FDFA6B34AFCE}"/>
              </a:ext>
            </a:extLst>
          </p:cNvPr>
          <p:cNvSpPr txBox="1"/>
          <p:nvPr/>
        </p:nvSpPr>
        <p:spPr>
          <a:xfrm>
            <a:off x="2775857" y="97971"/>
            <a:ext cx="4931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 JOIN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43910-8EA8-CEF4-CDF0-0A6C5A5E5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12" y="2510996"/>
            <a:ext cx="2457576" cy="415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9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730AD-ED4D-27CC-F6A9-5C324097AA8E}"/>
              </a:ext>
            </a:extLst>
          </p:cNvPr>
          <p:cNvSpPr txBox="1"/>
          <p:nvPr/>
        </p:nvSpPr>
        <p:spPr>
          <a:xfrm>
            <a:off x="2373085" y="52290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JOIN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E7D400-BC9D-98F0-3A9F-41EA75735298}"/>
              </a:ext>
            </a:extLst>
          </p:cNvPr>
          <p:cNvSpPr txBox="1"/>
          <p:nvPr/>
        </p:nvSpPr>
        <p:spPr>
          <a:xfrm>
            <a:off x="707570" y="1046125"/>
            <a:ext cx="7903029" cy="426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It automatically joins tables based on columns with the same name and compatible data types.</a:t>
            </a:r>
          </a:p>
          <a:p>
            <a:pPr>
              <a:lnSpc>
                <a:spcPct val="20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our case, DEPT_ID is common in both tables, so Oracle will join on DEPT_ID automatically.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932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1C6EB-1C00-AF2B-1D88-139DB869AA30}"/>
              </a:ext>
            </a:extLst>
          </p:cNvPr>
          <p:cNvSpPr txBox="1"/>
          <p:nvPr/>
        </p:nvSpPr>
        <p:spPr>
          <a:xfrm>
            <a:off x="869233" y="1143000"/>
            <a:ext cx="7064829" cy="219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JOIN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EE99F-D3A1-DD49-3B46-932B33B70BC8}"/>
              </a:ext>
            </a:extLst>
          </p:cNvPr>
          <p:cNvSpPr txBox="1"/>
          <p:nvPr/>
        </p:nvSpPr>
        <p:spPr>
          <a:xfrm>
            <a:off x="2841172" y="23144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NATURAL JOIN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B68AA6-94F1-4CF5-C86F-E0407D6EB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69" y="4008745"/>
            <a:ext cx="7737462" cy="198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26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0D6D0F-67D7-24A8-3290-E55AB6C69AB6}"/>
              </a:ext>
            </a:extLst>
          </p:cNvPr>
          <p:cNvSpPr txBox="1"/>
          <p:nvPr/>
        </p:nvSpPr>
        <p:spPr>
          <a:xfrm>
            <a:off x="908957" y="1144565"/>
            <a:ext cx="7326086" cy="293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JOIN department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salary &gt; 5500;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056A31-9D3A-9AEF-B082-CB24F4208672}"/>
              </a:ext>
            </a:extLst>
          </p:cNvPr>
          <p:cNvSpPr txBox="1"/>
          <p:nvPr/>
        </p:nvSpPr>
        <p:spPr>
          <a:xfrm>
            <a:off x="908957" y="404298"/>
            <a:ext cx="73260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NATURAL JOIN with additional conditions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59C3FC-3221-4EC1-ED6B-5C143DDF8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57" y="4513012"/>
            <a:ext cx="6967375" cy="158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8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9C1C50-0236-BD24-E037-D4E7A8D10B9E}"/>
              </a:ext>
            </a:extLst>
          </p:cNvPr>
          <p:cNvSpPr txBox="1"/>
          <p:nvPr/>
        </p:nvSpPr>
        <p:spPr>
          <a:xfrm>
            <a:off x="2024743" y="195942"/>
            <a:ext cx="36487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5862E6-C0B1-6750-7097-3B76E6AFF93B}"/>
              </a:ext>
            </a:extLst>
          </p:cNvPr>
          <p:cNvSpPr txBox="1"/>
          <p:nvPr/>
        </p:nvSpPr>
        <p:spPr>
          <a:xfrm>
            <a:off x="468085" y="1328057"/>
            <a:ext cx="8501743" cy="1490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kern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 all employees along with their department names where the department is assigned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E354F-E7B6-E4CF-F6A3-E6248D3042AA}"/>
              </a:ext>
            </a:extLst>
          </p:cNvPr>
          <p:cNvSpPr txBox="1"/>
          <p:nvPr/>
        </p:nvSpPr>
        <p:spPr>
          <a:xfrm>
            <a:off x="1338943" y="3527179"/>
            <a:ext cx="693420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chemeClr val="tx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b="1" kern="0" dirty="0" err="1">
                <a:solidFill>
                  <a:schemeClr val="tx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400" b="1" kern="0" dirty="0">
                <a:solidFill>
                  <a:schemeClr val="tx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kern="0" dirty="0" err="1">
                <a:solidFill>
                  <a:schemeClr val="tx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3200" b="1" kern="100" dirty="0">
              <a:solidFill>
                <a:schemeClr val="tx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chemeClr val="tx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 e</a:t>
            </a:r>
            <a:endParaRPr lang="en-IN" sz="3200" b="1" kern="100" dirty="0">
              <a:solidFill>
                <a:schemeClr val="tx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chemeClr val="tx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INNER JOIN departments d</a:t>
            </a:r>
            <a:endParaRPr lang="en-IN" sz="3200" b="1" kern="100" dirty="0">
              <a:solidFill>
                <a:schemeClr val="tx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chemeClr val="tx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400" b="1" kern="0" dirty="0" err="1">
                <a:solidFill>
                  <a:schemeClr val="tx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400" b="1" kern="0" dirty="0">
                <a:solidFill>
                  <a:schemeClr val="tx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b="1" kern="0" dirty="0" err="1">
                <a:solidFill>
                  <a:schemeClr val="tx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r>
              <a:rPr lang="en-IN" sz="2400" b="1" kern="0" dirty="0">
                <a:solidFill>
                  <a:schemeClr val="tx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3200" b="1" kern="100" dirty="0">
              <a:solidFill>
                <a:schemeClr val="tx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78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483914-BA00-B377-1441-6B5D7D8057ED}"/>
              </a:ext>
            </a:extLst>
          </p:cNvPr>
          <p:cNvSpPr txBox="1"/>
          <p:nvPr/>
        </p:nvSpPr>
        <p:spPr>
          <a:xfrm>
            <a:off x="914400" y="239486"/>
            <a:ext cx="7315200" cy="1962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kern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 employee names, department names, and salaries for only those employees who belong to a valid department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8D354-77BF-8D03-CD92-C6DF55505D03}"/>
              </a:ext>
            </a:extLst>
          </p:cNvPr>
          <p:cNvSpPr txBox="1"/>
          <p:nvPr/>
        </p:nvSpPr>
        <p:spPr>
          <a:xfrm>
            <a:off x="1415142" y="3110928"/>
            <a:ext cx="6662057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b="1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4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e.salary</a:t>
            </a:r>
            <a:r>
              <a:rPr lang="en-IN" sz="24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3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 e</a:t>
            </a:r>
            <a:endParaRPr lang="en-IN" sz="3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INNER JOIN departments d</a:t>
            </a:r>
            <a:endParaRPr lang="en-IN" sz="3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400" b="1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4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b="1" kern="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r>
              <a:rPr lang="en-IN" sz="2400" b="1" kern="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3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8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19FE43-03C8-492F-6A7D-658917B6C707}"/>
              </a:ext>
            </a:extLst>
          </p:cNvPr>
          <p:cNvSpPr txBox="1"/>
          <p:nvPr/>
        </p:nvSpPr>
        <p:spPr>
          <a:xfrm>
            <a:off x="244928" y="443910"/>
            <a:ext cx="8654143" cy="1141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 all employees along with their department names. If a department is not assigned, show NULL for department name.</a:t>
            </a:r>
            <a:endParaRPr lang="en-IN" sz="20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6CD4FC-9064-6501-5838-59D9FB7CDAB2}"/>
              </a:ext>
            </a:extLst>
          </p:cNvPr>
          <p:cNvSpPr txBox="1"/>
          <p:nvPr/>
        </p:nvSpPr>
        <p:spPr>
          <a:xfrm>
            <a:off x="1404256" y="3058736"/>
            <a:ext cx="6760029" cy="293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chemeClr val="bg2">
                    <a:lumMod val="1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800" b="1" kern="0" dirty="0" err="1">
                <a:solidFill>
                  <a:schemeClr val="bg2">
                    <a:lumMod val="1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800" b="1" kern="0" dirty="0">
                <a:solidFill>
                  <a:schemeClr val="bg2">
                    <a:lumMod val="1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b="1" kern="0" dirty="0" err="1">
                <a:solidFill>
                  <a:schemeClr val="bg2">
                    <a:lumMod val="1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3600" b="1" kern="100" dirty="0">
              <a:solidFill>
                <a:schemeClr val="bg2">
                  <a:lumMod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chemeClr val="bg2">
                    <a:lumMod val="1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 e</a:t>
            </a:r>
            <a:endParaRPr lang="en-IN" sz="3600" b="1" kern="100" dirty="0">
              <a:solidFill>
                <a:schemeClr val="bg2">
                  <a:lumMod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chemeClr val="bg2">
                    <a:lumMod val="1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 JOIN departments d</a:t>
            </a:r>
            <a:endParaRPr lang="en-IN" sz="3600" b="1" kern="100" dirty="0">
              <a:solidFill>
                <a:schemeClr val="bg2">
                  <a:lumMod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chemeClr val="bg2">
                    <a:lumMod val="1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800" b="1" kern="0" dirty="0" err="1">
                <a:solidFill>
                  <a:schemeClr val="bg2">
                    <a:lumMod val="1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800" b="1" kern="0" dirty="0">
                <a:solidFill>
                  <a:schemeClr val="bg2">
                    <a:lumMod val="1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800" b="1" kern="0" dirty="0" err="1">
                <a:solidFill>
                  <a:schemeClr val="bg2">
                    <a:lumMod val="1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r>
              <a:rPr lang="en-IN" sz="2800" b="1" kern="0" dirty="0">
                <a:solidFill>
                  <a:schemeClr val="bg2">
                    <a:lumMod val="1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3600" b="1" kern="100" dirty="0">
              <a:solidFill>
                <a:schemeClr val="bg2">
                  <a:lumMod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31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C3729C-8B8E-4E79-486A-039B90C02853}"/>
              </a:ext>
            </a:extLst>
          </p:cNvPr>
          <p:cNvSpPr txBox="1"/>
          <p:nvPr/>
        </p:nvSpPr>
        <p:spPr>
          <a:xfrm>
            <a:off x="1045029" y="557409"/>
            <a:ext cx="7652657" cy="991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employees who do not have any assigned department.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35E62-E985-67A8-AE7A-7EC5C59E7E0F}"/>
              </a:ext>
            </a:extLst>
          </p:cNvPr>
          <p:cNvSpPr txBox="1"/>
          <p:nvPr/>
        </p:nvSpPr>
        <p:spPr>
          <a:xfrm>
            <a:off x="1534886" y="2635089"/>
            <a:ext cx="6999514" cy="322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 e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 JOIN departments d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NULL;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8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5B52F9-55C2-5EA1-6B64-A3D3C6C0A8D8}"/>
              </a:ext>
            </a:extLst>
          </p:cNvPr>
          <p:cNvSpPr txBox="1"/>
          <p:nvPr/>
        </p:nvSpPr>
        <p:spPr>
          <a:xfrm>
            <a:off x="881743" y="369903"/>
            <a:ext cx="7837714" cy="16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 all departments along with the employees working in them. If no employee is working in that department, display NULL for employee names.</a:t>
            </a:r>
            <a:endParaRPr lang="en-IN" sz="20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F277C9-569F-C0F9-3496-3FC91C6F7A46}"/>
              </a:ext>
            </a:extLst>
          </p:cNvPr>
          <p:cNvSpPr txBox="1"/>
          <p:nvPr/>
        </p:nvSpPr>
        <p:spPr>
          <a:xfrm>
            <a:off x="1213757" y="3455052"/>
            <a:ext cx="6716486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b="1" kern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kern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32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 e</a:t>
            </a:r>
            <a:endParaRPr lang="en-IN" sz="32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 JOIN departments d</a:t>
            </a:r>
            <a:endParaRPr lang="en-IN" sz="32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400" b="1" kern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b="1" kern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32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04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1500C0-AE91-144B-6EDF-EAE75A83C178}"/>
              </a:ext>
            </a:extLst>
          </p:cNvPr>
          <p:cNvSpPr txBox="1"/>
          <p:nvPr/>
        </p:nvSpPr>
        <p:spPr>
          <a:xfrm>
            <a:off x="1099456" y="319092"/>
            <a:ext cx="6291943" cy="1315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departments that do not have any employees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62795-8097-C0F3-8A11-7CAD754CF320}"/>
              </a:ext>
            </a:extLst>
          </p:cNvPr>
          <p:cNvSpPr txBox="1"/>
          <p:nvPr/>
        </p:nvSpPr>
        <p:spPr>
          <a:xfrm>
            <a:off x="1349828" y="2885460"/>
            <a:ext cx="7413171" cy="322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b="1" kern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32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 e</a:t>
            </a:r>
            <a:endParaRPr lang="en-IN" sz="32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 JOIN departments d</a:t>
            </a:r>
            <a:endParaRPr lang="en-IN" sz="32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400" b="1" kern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4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b="1" kern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endParaRPr lang="en-IN" sz="32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2400" b="1" kern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e.emp_id</a:t>
            </a:r>
            <a:r>
              <a:rPr lang="en-IN" sz="24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NULL;</a:t>
            </a:r>
            <a:endParaRPr lang="en-IN" sz="32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33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A775B4-755A-16BF-0815-0C3CAF568060}"/>
              </a:ext>
            </a:extLst>
          </p:cNvPr>
          <p:cNvSpPr txBox="1"/>
          <p:nvPr/>
        </p:nvSpPr>
        <p:spPr>
          <a:xfrm>
            <a:off x="315687" y="293703"/>
            <a:ext cx="8175170" cy="16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 all employees and all departments. For employees without departments and departments without employees, show NULL values accordingly.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68EFD-CA3B-CEEC-FC01-F1BACD31CCFC}"/>
              </a:ext>
            </a:extLst>
          </p:cNvPr>
          <p:cNvSpPr txBox="1"/>
          <p:nvPr/>
        </p:nvSpPr>
        <p:spPr>
          <a:xfrm>
            <a:off x="1113064" y="3313538"/>
            <a:ext cx="7377793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 e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 OUTER JOIN departments d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611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CCC8E1-1F84-2A10-65FD-6E7CB5EAE6C8}"/>
              </a:ext>
            </a:extLst>
          </p:cNvPr>
          <p:cNvSpPr txBox="1"/>
          <p:nvPr/>
        </p:nvSpPr>
        <p:spPr>
          <a:xfrm>
            <a:off x="108857" y="300334"/>
            <a:ext cx="8469085" cy="1962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Find both employees who don’t belong to any department and departments without employees in one single query.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865E3-DF89-7E96-4CFD-5DBE82D37D2F}"/>
              </a:ext>
            </a:extLst>
          </p:cNvPr>
          <p:cNvSpPr txBox="1"/>
          <p:nvPr/>
        </p:nvSpPr>
        <p:spPr>
          <a:xfrm>
            <a:off x="1578428" y="2749451"/>
            <a:ext cx="6738257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 e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 OUTER JOIN departments d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NULL OR </a:t>
            </a:r>
            <a:r>
              <a:rPr lang="en-IN" sz="2400" b="1" kern="0" dirty="0" err="1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r>
              <a:rPr lang="en-IN" sz="2400" b="1" kern="0" dirty="0">
                <a:solidFill>
                  <a:srgbClr val="00206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NULL;</a:t>
            </a:r>
            <a:endParaRPr lang="en-IN" sz="3200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03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20361B-5C70-3540-5AC5-0AB91BC6B233}"/>
              </a:ext>
            </a:extLst>
          </p:cNvPr>
          <p:cNvSpPr txBox="1"/>
          <p:nvPr/>
        </p:nvSpPr>
        <p:spPr>
          <a:xfrm>
            <a:off x="685800" y="801078"/>
            <a:ext cx="82295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Generate a report showing every possible pair of employee and department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4C40A-6889-B7A5-2D91-690DF260A06A}"/>
              </a:ext>
            </a:extLst>
          </p:cNvPr>
          <p:cNvSpPr txBox="1"/>
          <p:nvPr/>
        </p:nvSpPr>
        <p:spPr>
          <a:xfrm>
            <a:off x="1162049" y="3041859"/>
            <a:ext cx="7277100" cy="2182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800" b="1" kern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800" b="1" kern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b="1" kern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3600" b="1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 e</a:t>
            </a:r>
            <a:endParaRPr lang="en-IN" sz="3600" b="1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CROSS JOIN departments d;</a:t>
            </a:r>
            <a:endParaRPr lang="en-IN" sz="3600" b="1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84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D33221-FDC0-ED44-917A-253E45AFBFAE}"/>
              </a:ext>
            </a:extLst>
          </p:cNvPr>
          <p:cNvSpPr txBox="1"/>
          <p:nvPr/>
        </p:nvSpPr>
        <p:spPr>
          <a:xfrm>
            <a:off x="489857" y="648712"/>
            <a:ext cx="7924801" cy="1315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many total combinations of employees and departments are possible from the current data?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22E87-E9BC-78C2-1D65-77899E931F42}"/>
              </a:ext>
            </a:extLst>
          </p:cNvPr>
          <p:cNvSpPr txBox="1"/>
          <p:nvPr/>
        </p:nvSpPr>
        <p:spPr>
          <a:xfrm>
            <a:off x="1186543" y="3306187"/>
            <a:ext cx="7010400" cy="2182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COUNT(*)</a:t>
            </a:r>
            <a:endParaRPr lang="en-IN" sz="36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 e</a:t>
            </a:r>
            <a:endParaRPr lang="en-IN" sz="36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CROSS JOIN departments d;</a:t>
            </a:r>
            <a:endParaRPr lang="en-IN" sz="36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2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C8DD29-D299-45A6-C8CE-901F421E39E8}"/>
              </a:ext>
            </a:extLst>
          </p:cNvPr>
          <p:cNvSpPr txBox="1"/>
          <p:nvPr/>
        </p:nvSpPr>
        <p:spPr>
          <a:xfrm>
            <a:off x="506185" y="491814"/>
            <a:ext cx="8131629" cy="1315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Display employee ID, employee name, department ID, and department name using a natural join.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8AC98-54C8-1EB7-8A71-0B0387D82E86}"/>
              </a:ext>
            </a:extLst>
          </p:cNvPr>
          <p:cNvSpPr txBox="1"/>
          <p:nvPr/>
        </p:nvSpPr>
        <p:spPr>
          <a:xfrm>
            <a:off x="1153886" y="3310404"/>
            <a:ext cx="6955971" cy="2828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800" b="1" kern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sz="28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b="1" kern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sz="28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b="1" kern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dept_id</a:t>
            </a:r>
            <a:r>
              <a:rPr lang="en-IN" sz="28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b="1" kern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endParaRPr lang="en-IN" sz="3600" b="1" kern="1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</a:t>
            </a:r>
            <a:endParaRPr lang="en-IN" sz="3600" b="1" kern="1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NATURAL JOIN departments;</a:t>
            </a:r>
            <a:endParaRPr lang="en-IN" sz="3600" b="1" kern="1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38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E56909-D72E-7CB9-E430-747F5D677952}"/>
              </a:ext>
            </a:extLst>
          </p:cNvPr>
          <p:cNvSpPr txBox="1"/>
          <p:nvPr/>
        </p:nvSpPr>
        <p:spPr>
          <a:xfrm>
            <a:off x="729342" y="354763"/>
            <a:ext cx="7347857" cy="1962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 a query that automatically joins employees and departments on the common column (without specifying ON conditions).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EE0B5-4E9E-6F61-36B1-FBAF036CDA33}"/>
              </a:ext>
            </a:extLst>
          </p:cNvPr>
          <p:cNvSpPr txBox="1"/>
          <p:nvPr/>
        </p:nvSpPr>
        <p:spPr>
          <a:xfrm>
            <a:off x="979715" y="2755233"/>
            <a:ext cx="7184570" cy="3159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b="1" kern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sz="24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kern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sz="24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salary, </a:t>
            </a:r>
            <a:r>
              <a:rPr lang="en-IN" sz="2400" b="1" kern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endParaRPr lang="en-IN" sz="3200" b="1" kern="1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</a:t>
            </a:r>
            <a:endParaRPr lang="en-IN" sz="3200" b="1" kern="1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NATURAL JOIN departments;</a:t>
            </a:r>
            <a:endParaRPr lang="en-IN" sz="3200" b="1" kern="1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54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996D14-5E6A-759A-9718-97D83833A623}"/>
              </a:ext>
            </a:extLst>
          </p:cNvPr>
          <p:cNvSpPr txBox="1"/>
          <p:nvPr/>
        </p:nvSpPr>
        <p:spPr>
          <a:xfrm>
            <a:off x="348343" y="496278"/>
            <a:ext cx="7892143" cy="1962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 employees and their department names, but include also departments that have no employees. Sort by department name.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753F19-8E00-62FF-523A-FA398118A00A}"/>
              </a:ext>
            </a:extLst>
          </p:cNvPr>
          <p:cNvSpPr txBox="1"/>
          <p:nvPr/>
        </p:nvSpPr>
        <p:spPr>
          <a:xfrm>
            <a:off x="1262743" y="3222917"/>
            <a:ext cx="7445827" cy="322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b="1" kern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4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kern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3200" b="1" kern="1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 e</a:t>
            </a:r>
            <a:endParaRPr lang="en-IN" sz="3200" b="1" kern="1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 JOIN departments d</a:t>
            </a:r>
            <a:endParaRPr lang="en-IN" sz="3200" b="1" kern="1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400" b="1" kern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4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b="1" kern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endParaRPr lang="en-IN" sz="3200" b="1" kern="1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2400" b="1" kern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r>
              <a:rPr lang="en-IN" sz="2400" b="1" kern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3200" b="1" kern="1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55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C5B7B8-7C0C-B7C0-A640-CDFFAAA95EAB}"/>
              </a:ext>
            </a:extLst>
          </p:cNvPr>
          <p:cNvSpPr txBox="1"/>
          <p:nvPr/>
        </p:nvSpPr>
        <p:spPr>
          <a:xfrm>
            <a:off x="968829" y="143420"/>
            <a:ext cx="7826828" cy="1315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Find employees whose salary is above the average salary of all employees in their department.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D0C17C-EE88-C7A9-B99C-5FE47879C91B}"/>
              </a:ext>
            </a:extLst>
          </p:cNvPr>
          <p:cNvSpPr txBox="1"/>
          <p:nvPr/>
        </p:nvSpPr>
        <p:spPr>
          <a:xfrm>
            <a:off x="903514" y="1718521"/>
            <a:ext cx="7336972" cy="4755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b="1" kern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kern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e.salary</a:t>
            </a: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kern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d.dept_name</a:t>
            </a:r>
            <a:endParaRPr lang="en-IN" sz="32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 e</a:t>
            </a:r>
            <a:endParaRPr lang="en-IN" sz="32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 departments d ON </a:t>
            </a:r>
            <a:r>
              <a:rPr lang="en-IN" sz="2400" b="1" kern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b="1" kern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endParaRPr lang="en-IN" sz="32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2400" b="1" kern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e.salary</a:t>
            </a: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 (</a:t>
            </a:r>
            <a:endParaRPr lang="en-IN" sz="32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SELECT AVG(salary)</a:t>
            </a:r>
            <a:endParaRPr lang="en-IN" sz="32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FROM employees</a:t>
            </a:r>
            <a:endParaRPr lang="en-IN" sz="32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WHERE </a:t>
            </a:r>
            <a:r>
              <a:rPr lang="en-IN" sz="2400" b="1" kern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dept_id</a:t>
            </a: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b="1" kern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endParaRPr lang="en-IN" sz="32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400" b="1" kern="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3200" b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25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BFE25E-070C-6E81-7E9C-20923CF85E74}"/>
              </a:ext>
            </a:extLst>
          </p:cNvPr>
          <p:cNvSpPr txBox="1"/>
          <p:nvPr/>
        </p:nvSpPr>
        <p:spPr>
          <a:xfrm>
            <a:off x="380999" y="343913"/>
            <a:ext cx="8382001" cy="1490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mismatches: list employees whose </a:t>
            </a:r>
            <a:r>
              <a:rPr lang="en-IN" sz="3200" b="1" kern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dept_id</a:t>
            </a:r>
            <a:r>
              <a:rPr lang="en-IN" sz="32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does not exist in the departments table.</a:t>
            </a:r>
            <a:endParaRPr lang="en-IN" sz="28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55368-E440-F4E7-5EC5-17F74BBB13E3}"/>
              </a:ext>
            </a:extLst>
          </p:cNvPr>
          <p:cNvSpPr txBox="1"/>
          <p:nvPr/>
        </p:nvSpPr>
        <p:spPr>
          <a:xfrm>
            <a:off x="761999" y="2051478"/>
            <a:ext cx="8131628" cy="4326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800" b="1" kern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sz="28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b="1" kern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endParaRPr lang="en-IN" sz="36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employees e</a:t>
            </a:r>
            <a:endParaRPr lang="en-IN" sz="36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 JOIN departments d</a:t>
            </a:r>
            <a:endParaRPr lang="en-IN" sz="36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800" b="1" kern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8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800" b="1" kern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endParaRPr lang="en-IN" sz="36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8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2800" b="1" kern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d.dept_id</a:t>
            </a:r>
            <a:r>
              <a:rPr lang="en-IN" sz="28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NULL AND </a:t>
            </a:r>
            <a:r>
              <a:rPr lang="en-IN" sz="2800" b="1" kern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e.dept_id</a:t>
            </a:r>
            <a:r>
              <a:rPr lang="en-IN" sz="2800" b="1" kern="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NOT NULL;</a:t>
            </a:r>
            <a:endParaRPr lang="en-IN" sz="3600" b="1" kern="1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37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1410</Words>
  <Application>Microsoft Office PowerPoint</Application>
  <PresentationFormat>On-screen Show (4:3)</PresentationFormat>
  <Paragraphs>160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Courier New</vt:lpstr>
      <vt:lpstr>Times New Roman</vt:lpstr>
      <vt:lpstr>Office Theme</vt:lpstr>
      <vt:lpstr>SQL Joins - Explanation &amp; Examples</vt:lpstr>
      <vt:lpstr>INNER JOIN</vt:lpstr>
      <vt:lpstr>LEFT JOIN (LEFT OUTER JOIN)</vt:lpstr>
      <vt:lpstr>RIGHT JOIN (RIGHT OUTER JOIN)</vt:lpstr>
      <vt:lpstr>FULL JOIN (FULL OUTER JOIN)</vt:lpstr>
      <vt:lpstr>CROSS JOIN</vt:lpstr>
      <vt:lpstr>SELF JOIN</vt:lpstr>
      <vt:lpstr>Natural JOIN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Joins - Explanation &amp; Examples</dc:title>
  <dc:subject/>
  <dc:creator/>
  <cp:keywords/>
  <dc:description>generated using python-pptx</dc:description>
  <cp:lastModifiedBy>murali krishna</cp:lastModifiedBy>
  <cp:revision>39</cp:revision>
  <dcterms:created xsi:type="dcterms:W3CDTF">2013-01-27T09:14:16Z</dcterms:created>
  <dcterms:modified xsi:type="dcterms:W3CDTF">2025-03-24T04:33:06Z</dcterms:modified>
  <cp:category/>
</cp:coreProperties>
</file>