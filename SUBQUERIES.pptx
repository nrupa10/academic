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  <p:sldId id="270" r:id="rId15"/>
    <p:sldId id="271" r:id="rId16"/>
    <p:sldId id="272" r:id="rId17"/>
    <p:sldId id="273" r:id="rId18"/>
    <p:sldId id="274" r:id="rId19"/>
    <p:sldId id="277" r:id="rId20"/>
    <p:sldId id="278" r:id="rId21"/>
    <p:sldId id="279" r:id="rId22"/>
    <p:sldId id="275" r:id="rId23"/>
    <p:sldId id="276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3835"/>
            <a:ext cx="9144000" cy="1075690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SUB QUERIES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727200"/>
            <a:ext cx="10566400" cy="4124960"/>
          </a:xfrm>
        </p:spPr>
        <p:txBody>
          <a:bodyPr>
            <a:normAutofit fontScale="92500"/>
          </a:bodyPr>
          <a:lstStyle/>
          <a:p>
            <a:pPr algn="just">
              <a:lnSpc>
                <a:spcPct val="220000"/>
              </a:lnSpc>
            </a:pP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	Subquery means a </a:t>
            </a:r>
            <a:r>
              <a:rPr lang="en-US" altLang="en-US" sz="3600" b="1" i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query</a:t>
            </a: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 defined under another </a:t>
            </a:r>
            <a:r>
              <a:rPr lang="en-US" altLang="en-US" sz="3600" b="1" i="1" dirty="0">
                <a:solidFill>
                  <a:srgbClr val="7030A0"/>
                </a:solidFill>
                <a:latin typeface="Times New Roman" panose="02020603050405020304" charset="0"/>
                <a:cs typeface="Times New Roman" panose="02020603050405020304" charset="0"/>
              </a:rPr>
              <a:t>query</a:t>
            </a: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. The main activity is that first subquery is executed and send the output of subquery as an input to the main query.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" y="0"/>
            <a:ext cx="11109960" cy="615886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A subquery is a SQL query nested inside a larger query.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 A subquery may occur in 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- A SELECT clause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- A FROM clause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- A WHERE clause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 The subquery can be nested inside a SELECT, INSERT, UPDATE, or DELETE  statement or inside another subquery.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 A subquery is usually added within the WHERE Clause of another SQL SELECT statement.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 You can use the comparison operators, such as &gt;, &lt;, or =. The comparison operator can also be a multiple-row operator, such as IN, ANY, or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920" y="629920"/>
            <a:ext cx="11724640" cy="6075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You can use a subquery in a SELECT, INSERT, DELETE, or UPDATE statement to perform  the following tasks :</a:t>
            </a:r>
          </a:p>
          <a:p>
            <a:pPr marL="0" indent="0">
              <a:buNone/>
            </a:pP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  Compare an expression to the result of the query.</a:t>
            </a:r>
          </a:p>
          <a:p>
            <a:pPr marL="0" indent="0">
              <a:buNone/>
            </a:pP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  Determine if an expression is included in the results of the query.</a:t>
            </a:r>
          </a:p>
          <a:p>
            <a:pPr marL="0" indent="0">
              <a:buNone/>
            </a:pP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  Check whether the query selects any rows.</a:t>
            </a:r>
          </a:p>
          <a:p>
            <a:pPr marL="0" indent="0">
              <a:buNone/>
            </a:pPr>
            <a:r>
              <a:rPr lang="en-US" altLang="en-US" sz="3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Syntax:</a:t>
            </a:r>
          </a:p>
          <a:p>
            <a:pPr marL="0" indent="0">
              <a:buNone/>
            </a:pPr>
            <a:r>
              <a:rPr lang="en-US" altLang="en-US" sz="3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select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select_list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from table where expr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opeartor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(select </a:t>
            </a:r>
            <a:r>
              <a:rPr lang="en-US" altLang="en-US" sz="3200" dirty="0" err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select_list</a:t>
            </a:r>
            <a:r>
              <a:rPr lang="en-US" altLang="en-US" sz="32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from table)</a:t>
            </a:r>
          </a:p>
          <a:p>
            <a:pPr marL="0" indent="0">
              <a:buNone/>
            </a:pP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The subquery (inner query) executes once before the main query (outer query) executes.</a:t>
            </a:r>
          </a:p>
          <a:p>
            <a:pPr marL="0" indent="0">
              <a:buNone/>
            </a:pP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The main query (outer query) use the subquery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284480"/>
            <a:ext cx="11856720" cy="657351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4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Subqueries: Guidelines</a:t>
            </a:r>
          </a:p>
          <a:p>
            <a:pPr marL="0" indent="0" algn="just">
              <a:buNone/>
            </a:pP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 There are some guidelines to consider when using subqueries :</a:t>
            </a:r>
          </a:p>
          <a:p>
            <a:pPr marL="0" indent="0" algn="just">
              <a:buNone/>
            </a:pP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 -A subquery must be enclosed in parentheses.</a:t>
            </a:r>
          </a:p>
          <a:p>
            <a:pPr marL="0" indent="0" algn="just">
              <a:buNone/>
            </a:pP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 -A subquery must be placed on the right side of the comparison operator.</a:t>
            </a:r>
          </a:p>
          <a:p>
            <a:pPr marL="0" indent="0" algn="just">
              <a:buNone/>
            </a:pP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 -Subqueries cannot manipulate their results internally, therefore ORDER BY clause cannot   be added in to a sub query. You can use a ORDER BY clause in the main SELECT statement  (outer query) which will be last clause.</a:t>
            </a:r>
          </a:p>
          <a:p>
            <a:pPr marL="0" indent="0" algn="just">
              <a:buNone/>
            </a:pP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 -Use single-row operators with single-row subqueries.</a:t>
            </a:r>
          </a:p>
          <a:p>
            <a:pPr marL="0" indent="0" algn="just">
              <a:buNone/>
            </a:pPr>
            <a:r>
              <a:rPr lang="en-US" altLang="en-US" sz="3200" dirty="0">
                <a:latin typeface="Times New Roman" panose="02020603050405020304" charset="0"/>
                <a:cs typeface="Times New Roman" panose="02020603050405020304" charset="0"/>
              </a:rPr>
              <a:t> -If a subquery (inner query) returns a null value to the outer query, the outer query will not return any rows when using certain comparison operators in a WHERE clause.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2081"/>
            <a:ext cx="11714480" cy="656336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altLang="en-US" sz="3200" b="1" dirty="0">
                <a:latin typeface="Times New Roman" panose="02020603050405020304" charset="0"/>
                <a:cs typeface="Times New Roman" panose="02020603050405020304" charset="0"/>
              </a:rPr>
              <a:t>Type of Subqueries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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Single row subquery :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Returns zero or one row.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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Multiple row subquery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Returns one or more rows.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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Multiple column subquery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Returns one or more columns.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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Correlated subqueries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Reference one or more columns in the outer SQL   statement.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The subquery is known as a correlated subquery because the subquery is related to the outer  SQL statement.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 Nested subqueries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: Subqueries are placed within another subqueries.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76517"/>
            <a:ext cx="11353800" cy="5546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1)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SINGLE ROW SUBQUERIES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:-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Returns zero or one row.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If inner query returns only one row then it is called single row subquery.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Syntax :-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SELECT &lt;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collist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&gt; FROM &lt;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tabname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&gt; 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 WHERE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colname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OPERATOR (SELECT statement)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Operator can be &lt; &gt; &lt;= &gt;= = &lt;&gt;</a:t>
            </a:r>
          </a:p>
          <a:p>
            <a:pPr marL="0" indent="0" algn="just"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Examples:- (on Emp Table)</a:t>
            </a:r>
          </a:p>
          <a:p>
            <a:pPr marL="0" indent="0" algn="just"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>
                <a:highlight>
                  <a:srgbClr val="00FF00"/>
                </a:highlight>
                <a:latin typeface="Times New Roman" panose="02020603050405020304" charset="0"/>
                <a:cs typeface="Times New Roman" panose="02020603050405020304" charset="0"/>
              </a:rPr>
              <a:t>Q: Display employee records whose job equals to job of SMITH?</a:t>
            </a:r>
          </a:p>
          <a:p>
            <a:pPr marL="0" indent="0" algn="just"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SQL&gt;</a:t>
            </a: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SELECT * FROM emp</a:t>
            </a:r>
          </a:p>
          <a:p>
            <a:pPr marL="0" indent="0" algn="just">
              <a:buNone/>
            </a:pP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 WHERE job = (SELECT job FROM emp WHERE </a:t>
            </a:r>
            <a:r>
              <a:rPr lang="en-US" altLang="en-US" b="1" dirty="0" err="1">
                <a:latin typeface="Times New Roman" panose="02020603050405020304" charset="0"/>
                <a:cs typeface="Times New Roman" panose="02020603050405020304" charset="0"/>
              </a:rPr>
              <a:t>ename</a:t>
            </a: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=’SMITH’) ;</a:t>
            </a:r>
          </a:p>
          <a:p>
            <a:pPr marL="0" indent="0" algn="just">
              <a:buNone/>
            </a:pPr>
            <a:r>
              <a:rPr lang="en-US" altLang="en-US" b="1" dirty="0">
                <a:highlight>
                  <a:srgbClr val="00FF00"/>
                </a:highlight>
                <a:latin typeface="Times New Roman" panose="02020603050405020304" charset="0"/>
                <a:cs typeface="Times New Roman" panose="02020603050405020304" charset="0"/>
              </a:rPr>
              <a:t>Q: Display employee name earning maximum salary ?</a:t>
            </a:r>
          </a:p>
          <a:p>
            <a:pPr marL="0" indent="0" algn="just">
              <a:buNone/>
            </a:pP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 SQL&gt;SELECT </a:t>
            </a:r>
            <a:r>
              <a:rPr lang="en-US" altLang="en-US" b="1" dirty="0" err="1">
                <a:latin typeface="Times New Roman" panose="02020603050405020304" charset="0"/>
                <a:cs typeface="Times New Roman" panose="02020603050405020304" charset="0"/>
              </a:rPr>
              <a:t>ename</a:t>
            </a: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 FROM emp</a:t>
            </a:r>
          </a:p>
          <a:p>
            <a:pPr marL="0" indent="0" algn="just">
              <a:buNone/>
            </a:pP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  WHERE </a:t>
            </a:r>
            <a:r>
              <a:rPr lang="en-US" altLang="en-US" b="1" dirty="0" err="1">
                <a:latin typeface="Times New Roman" panose="02020603050405020304" charset="0"/>
                <a:cs typeface="Times New Roman" panose="02020603050405020304" charset="0"/>
              </a:rPr>
              <a:t>sal</a:t>
            </a: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 = (SELECT MAX(</a:t>
            </a:r>
            <a:r>
              <a:rPr lang="en-US" altLang="en-US" b="1" dirty="0" err="1">
                <a:latin typeface="Times New Roman" panose="02020603050405020304" charset="0"/>
                <a:cs typeface="Times New Roman" panose="02020603050405020304" charset="0"/>
              </a:rPr>
              <a:t>sal</a:t>
            </a: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) FROM emp) 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1625"/>
            <a:ext cx="10515600" cy="5875655"/>
          </a:xfrm>
        </p:spPr>
        <p:txBody>
          <a:bodyPr>
            <a:normAutofit fontScale="90000" lnSpcReduction="10000"/>
          </a:bodyPr>
          <a:lstStyle/>
          <a:p>
            <a:pPr marL="0" indent="0" algn="just">
              <a:buNone/>
            </a:pPr>
            <a:r>
              <a:rPr lang="en-US" altLang="en-US" sz="2665">
                <a:latin typeface="Times New Roman" panose="02020603050405020304" charset="0"/>
                <a:cs typeface="Times New Roman" panose="02020603050405020304" charset="0"/>
              </a:rPr>
              <a:t>Example2: (on SAILORS _BOAT_RESERVATION DATABASE )</a:t>
            </a:r>
          </a:p>
          <a:p>
            <a:pPr marL="0" indent="0" algn="just">
              <a:buNone/>
            </a:pPr>
            <a:r>
              <a:rPr lang="en-US" altLang="en-US" sz="2665">
                <a:latin typeface="Times New Roman" panose="02020603050405020304" charset="0"/>
                <a:cs typeface="Times New Roman" panose="02020603050405020304" charset="0"/>
              </a:rPr>
              <a:t> SQL&gt; SELECT * FROM SAILORS;</a:t>
            </a:r>
          </a:p>
          <a:p>
            <a:pPr marL="0" indent="0" algn="just">
              <a:buNone/>
            </a:pPr>
            <a:r>
              <a:rPr lang="en-US" altLang="en-US" sz="2665">
                <a:latin typeface="Times New Roman" panose="02020603050405020304" charset="0"/>
                <a:cs typeface="Times New Roman" panose="02020603050405020304" charset="0"/>
              </a:rPr>
              <a:t> SID SNAME RATING AGE</a:t>
            </a:r>
          </a:p>
          <a:p>
            <a:pPr marL="0" indent="0" algn="just">
              <a:buNone/>
            </a:pPr>
            <a:r>
              <a:rPr lang="en-US" altLang="en-US" sz="2665">
                <a:latin typeface="Times New Roman" panose="02020603050405020304" charset="0"/>
                <a:cs typeface="Times New Roman" panose="02020603050405020304" charset="0"/>
              </a:rPr>
              <a:t> ---------- ---------- ---------- ----------</a:t>
            </a:r>
          </a:p>
          <a:p>
            <a:pPr marL="0" indent="0" algn="just">
              <a:buNone/>
            </a:pPr>
            <a:r>
              <a:rPr lang="en-US" altLang="en-US" sz="2665">
                <a:latin typeface="Times New Roman" panose="02020603050405020304" charset="0"/>
                <a:cs typeface="Times New Roman" panose="02020603050405020304" charset="0"/>
              </a:rPr>
              <a:t> 22 DUSTIN 7 45</a:t>
            </a:r>
          </a:p>
          <a:p>
            <a:pPr marL="0" indent="0" algn="just">
              <a:buNone/>
            </a:pPr>
            <a:r>
              <a:rPr lang="en-US" altLang="en-US" sz="2665">
                <a:latin typeface="Times New Roman" panose="02020603050405020304" charset="0"/>
                <a:cs typeface="Times New Roman" panose="02020603050405020304" charset="0"/>
              </a:rPr>
              <a:t> 29 BRUTUS 1 33</a:t>
            </a:r>
          </a:p>
          <a:p>
            <a:pPr marL="0" indent="0" algn="just">
              <a:buNone/>
            </a:pPr>
            <a:r>
              <a:rPr lang="en-US" altLang="en-US" sz="2665">
                <a:latin typeface="Times New Roman" panose="02020603050405020304" charset="0"/>
                <a:cs typeface="Times New Roman" panose="02020603050405020304" charset="0"/>
              </a:rPr>
              <a:t> 31 LUBBER 8 55.5</a:t>
            </a:r>
          </a:p>
          <a:p>
            <a:pPr marL="0" indent="0" algn="just">
              <a:buNone/>
            </a:pPr>
            <a:r>
              <a:rPr lang="en-US" altLang="en-US" sz="2665">
                <a:latin typeface="Times New Roman" panose="02020603050405020304" charset="0"/>
                <a:cs typeface="Times New Roman" panose="02020603050405020304" charset="0"/>
              </a:rPr>
              <a:t> 32 CANDY 8 25.5</a:t>
            </a:r>
          </a:p>
          <a:p>
            <a:pPr marL="0" indent="0" algn="just">
              <a:buNone/>
            </a:pPr>
            <a:r>
              <a:rPr lang="en-US" altLang="en-US" sz="2665">
                <a:latin typeface="Times New Roman" panose="02020603050405020304" charset="0"/>
                <a:cs typeface="Times New Roman" panose="02020603050405020304" charset="0"/>
              </a:rPr>
              <a:t> 58 RUSTY 10 35</a:t>
            </a:r>
          </a:p>
          <a:p>
            <a:pPr marL="0" indent="0" algn="just">
              <a:buNone/>
            </a:pPr>
            <a:r>
              <a:rPr lang="en-US" altLang="en-US" sz="2665">
                <a:latin typeface="Times New Roman" panose="02020603050405020304" charset="0"/>
                <a:cs typeface="Times New Roman" panose="02020603050405020304" charset="0"/>
              </a:rPr>
              <a:t> 64 HORATIO 7 35</a:t>
            </a:r>
          </a:p>
          <a:p>
            <a:pPr marL="0" indent="0" algn="just">
              <a:buNone/>
            </a:pPr>
            <a:r>
              <a:rPr lang="en-US" altLang="en-US" sz="2665">
                <a:latin typeface="Times New Roman" panose="02020603050405020304" charset="0"/>
                <a:cs typeface="Times New Roman" panose="02020603050405020304" charset="0"/>
              </a:rPr>
              <a:t> 71 ZOBRA 10 16</a:t>
            </a:r>
          </a:p>
          <a:p>
            <a:pPr marL="0" indent="0" algn="just">
              <a:buNone/>
            </a:pPr>
            <a:r>
              <a:rPr lang="en-US" altLang="en-US" sz="2665">
                <a:latin typeface="Times New Roman" panose="02020603050405020304" charset="0"/>
                <a:cs typeface="Times New Roman" panose="02020603050405020304" charset="0"/>
              </a:rPr>
              <a:t> 74 HORATIO 9 35</a:t>
            </a:r>
          </a:p>
          <a:p>
            <a:pPr marL="0" indent="0" algn="just">
              <a:buNone/>
            </a:pPr>
            <a:r>
              <a:rPr lang="en-US" altLang="en-US" sz="2665">
                <a:latin typeface="Times New Roman" panose="02020603050405020304" charset="0"/>
                <a:cs typeface="Times New Roman" panose="02020603050405020304" charset="0"/>
              </a:rPr>
              <a:t> 85 ART 3 25.5</a:t>
            </a:r>
          </a:p>
          <a:p>
            <a:pPr marL="0" indent="0" algn="just">
              <a:buNone/>
            </a:pPr>
            <a:r>
              <a:rPr lang="en-US" altLang="en-US" sz="2665">
                <a:latin typeface="Times New Roman" panose="02020603050405020304" charset="0"/>
                <a:cs typeface="Times New Roman" panose="02020603050405020304" charset="0"/>
              </a:rPr>
              <a:t> 95 BOB 3 63.5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375" y="1671320"/>
            <a:ext cx="8480425" cy="301180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SQL&gt; SELECT * FROM BOATS;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BID BNAME COLOR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---------- ---------- ----------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101 INTERLAKE BLUE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102 INTERLAKE RED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103 CLIPPER GREEN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104 MARINE 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5930"/>
            <a:ext cx="10515600" cy="57213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SQL&gt; SELECT * FROM RESERVES;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SID BID DAY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---------- ---------- ---------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22 101 10-OCT-17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22 102 10-OCT-17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22 103 10-OCT-17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22 104 10-JUL-17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31 102 11-OCT-17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31 103 11-JUN-17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31 104 11-DEC-17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64 101 09-MAY-17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64 102 09-AUG-17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74 103 09-AUG-17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25805"/>
            <a:ext cx="10515600" cy="54514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Q: Find the sailor’s ID whose name is equal to ‘DUSTIN’ 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SQL&gt; SELECT SID FROM SAILORS WHERE SID = (SELECT SID FROM 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SAILORS WHERE SNAME='DUSTIN');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SID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---------- 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22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Q:Find sailors records whose name equals to ‘ DUSTIN’?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SQL&gt; SELECT *FROM SAILORS WHERE SID = (SELECT SID FROM 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SAILORS WHERE SNAME='DUSTIN');</a:t>
            </a:r>
          </a:p>
          <a:p>
            <a:pPr marL="0" indent="0" algn="just">
              <a:buNone/>
            </a:pPr>
            <a:r>
              <a:rPr lang="en-US" altLang="en-US" sz="2400">
                <a:sym typeface="+mn-ea"/>
              </a:rPr>
              <a:t>SID SNAME RATING AGE</a:t>
            </a:r>
            <a:endParaRPr lang="en-US" altLang="en-US" sz="2400"/>
          </a:p>
          <a:p>
            <a:pPr marL="0" indent="0" algn="just">
              <a:buNone/>
            </a:pPr>
            <a:r>
              <a:rPr lang="en-US" altLang="en-US" sz="2400">
                <a:sym typeface="+mn-ea"/>
              </a:rPr>
              <a:t>  ---------- ---------- ---------- ----------</a:t>
            </a:r>
            <a:endParaRPr lang="en-US" altLang="en-US" sz="2400"/>
          </a:p>
          <a:p>
            <a:pPr marL="0" indent="0" algn="just">
              <a:buNone/>
            </a:pPr>
            <a:r>
              <a:rPr lang="en-US" altLang="en-US" sz="2400">
                <a:sym typeface="+mn-ea"/>
              </a:rPr>
              <a:t>  22 DUSTIN     7              45</a:t>
            </a:r>
            <a:endParaRPr lang="en-US" altLang="en-US" sz="2400"/>
          </a:p>
          <a:p>
            <a:pPr marL="0" indent="0" algn="just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7555"/>
            <a:ext cx="10515600" cy="364172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Q:Find the rating of a sailor whose name is ‘DUSTIN’.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SQL&gt; SELECT RATING FROM SAILORS WHERE SID = (SELECT SID FROM SAILORS WHERE SNAME='DUSTIN');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 RATING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---------- 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7</a:t>
            </a:r>
          </a:p>
          <a:p>
            <a:pPr marL="0" indent="0" algn="just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71500"/>
            <a:ext cx="10515600" cy="560578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Q: Find the sailors records whose sid is geater than ‘dustin’?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SQL&gt; SELECT *FROM SAILORS WHERE SID &gt; (SELECT SID FROM SAILORS WHERE SNAME='DUSTIN');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SID SNAME RATING AGE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---------- ---------- ---------- ----------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29 BRUTUS 1 33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31 LUBBER 8 55.5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32 CANDY 8 25.5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58 RUSTY 10 35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64 HORATIO 7 35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71 ZOBRA 10 16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74 HORATIO 9 35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3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85 ART 3 25.5</a:t>
            </a:r>
            <a:endParaRPr lang="en-US" altLang="en-US" sz="23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3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7650"/>
            <a:ext cx="10515600" cy="465963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Q:Find the sailors records ,whose sailors’ having maximum rating .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SQL&gt; SELECT *FROM SAILORS WHERE RATING = (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SELECT MAX(RATING) FROM SAILORS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);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 SID SNAME RATING AGE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---------- ---------- ---------- ----------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 58 RUSTY 10 35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 71 ZOBRA 10 16</a:t>
            </a:r>
          </a:p>
          <a:p>
            <a:pPr marL="0" indent="0" algn="just">
              <a:buNone/>
            </a:pP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74700"/>
            <a:ext cx="10515600" cy="540258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Q:Find the records of sailors whose rating is higher than ‘DUSTIN’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SQL&gt; SELECT *FROM SAILORS WHERE RATING &gt; (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SELECT  MAX(RATING) FROM SAILORS WHERE SNAME='DUSTIN'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);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SID SNAME RATING AGE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---------- ---------- ---------- ----------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31 LUBBER 8 55.5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32 CANDY 8 25.5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58 RUSTY 10 35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71 ZOBRA 10 16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74 HORATIO 9 35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54001"/>
            <a:ext cx="12049760" cy="592328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MULTI ROW SUBQUERIES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if inner query returns more than one row then it is called multi row subquery.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Syntax :-  SQL&gt;SELECT &lt;</a:t>
            </a:r>
            <a:r>
              <a:rPr lang="en-US" altLang="en-US" sz="2400" dirty="0" err="1">
                <a:latin typeface="Times New Roman" panose="02020603050405020304" charset="0"/>
                <a:cs typeface="Times New Roman" panose="02020603050405020304" charset="0"/>
              </a:rPr>
              <a:t>collist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&gt; FROM &lt;</a:t>
            </a:r>
            <a:r>
              <a:rPr lang="en-US" altLang="en-US" sz="2400" dirty="0" err="1">
                <a:latin typeface="Times New Roman" panose="02020603050405020304" charset="0"/>
                <a:cs typeface="Times New Roman" panose="02020603050405020304" charset="0"/>
              </a:rPr>
              <a:t>tabname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&gt;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 WHERE </a:t>
            </a:r>
            <a:r>
              <a:rPr lang="en-US" altLang="en-US" sz="2400" dirty="0" err="1">
                <a:latin typeface="Times New Roman" panose="02020603050405020304" charset="0"/>
                <a:cs typeface="Times New Roman" panose="02020603050405020304" charset="0"/>
              </a:rPr>
              <a:t>colname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OPERATOR (SELECT statement) 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Here, OPERATOR must be IN , NOT IN, ANY, ALL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IN operator :- To test for values in a specified list of values, use IN operator. The IN operator can be used with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any data type. If characters or dates are used in the list, they must be enclosed in single quotation marks (’’).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Syntax:-                           IN (V1,V2,V3------------);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080" y="436880"/>
            <a:ext cx="10967720" cy="624840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Q:Display employee records working as CLERK OR MANAGER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SQL&gt;</a:t>
            </a: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SELECT * FROM emp WHERE job </a:t>
            </a:r>
            <a:r>
              <a:rPr lang="en-US" altLang="en-US" sz="2400" b="1" dirty="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‘CLERK’,’MANAGER’) </a:t>
            </a: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Q:Find the name of sailors who have reserved boat 103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SQL&gt; </a:t>
            </a: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SELECT S.SNAME FROM SAILORS S WHERE S.SID </a:t>
            </a:r>
            <a:r>
              <a:rPr lang="en-US" altLang="en-US" sz="2400" b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SELECT R.SID  FROM RESERVES R WHERE R.BID=103</a:t>
            </a: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);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SNAME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----------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DUSTIN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LUBBER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HORATIO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000"/>
            <a:ext cx="10515600" cy="64109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Using EXISTS operator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EXISTS operator returns TRUE or FALSE.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If inner query returns at least one record then EXISTS returns TRUE otherwise returns FALSE. ORACLE recommends EXISTS and NOT EXISTS operators instead of IN and NOT IN.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Q: Find the name of sailors who have reserved boat 103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SQL&gt; </a:t>
            </a: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SELECT S.SNAME FROM SAILORS S WHERE EXISTS (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SELECT * FROM  RESERVES R WHERE R.BID=103 AND R.SID = S.SID</a:t>
            </a: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) ;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SNAME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----------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DUSTIN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LUBBER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HORATIO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6881"/>
            <a:ext cx="10515600" cy="57404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altLang="en-US" sz="3200" b="1" dirty="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Find the name of sailors who have not reserved boat 103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SQL&gt; </a:t>
            </a: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SELECT S.SNAME FROM SAILORS S WHERE NOT EXISTS (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SELECT *  FROM RESERVES R WHERE R.BID=103 AND R.SID = S.SID</a:t>
            </a: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) ;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SNAME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---------- 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BRUTUS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CANDY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RUSTY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HORATIO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ZOBRA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ART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BOB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A2891F-4D0E-A9CA-2A14-A9C99BF6E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675" y="2125313"/>
            <a:ext cx="6687507" cy="28429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6BF064-71A6-9F87-B04D-A45F41F73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52" y="5892800"/>
            <a:ext cx="11622657" cy="680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4200"/>
            <a:ext cx="10515600" cy="604075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ANY / SOME Operator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Compares a value to any value returned by a subquery.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Works with comparison operators (=, &gt;, &lt;, &gt;=, &lt;=, !=).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SOME is just another name for ANY (both function the same way).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Find employees who earn more than any IT department employee.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SELECT Name, Salary FROM Employees WHERE Salary &gt; ANY (SELECT Salary FROM Employees WHERE Department = 'IT');</a:t>
            </a:r>
          </a:p>
          <a:p>
            <a:pPr marL="0" indent="0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0" name="Table 9"/>
          <p:cNvGraphicFramePr/>
          <p:nvPr/>
        </p:nvGraphicFramePr>
        <p:xfrm>
          <a:off x="1828800" y="2286000"/>
          <a:ext cx="85318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2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2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2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EmpID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Alice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HR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50000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Bob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IT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70000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Charlie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IT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80000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/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David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Sales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60000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100"/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Eve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Sales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90000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2920"/>
            <a:ext cx="10515600" cy="567436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Explanation: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The subquery returns IT department salaries {70000, 80000}.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The main query checks for employees with a salary greater than any value from {70000, 80000}, meaning more than at least one IT employee.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So, employees with salary &gt; 70000 are selected.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Output:</a:t>
            </a:r>
          </a:p>
          <a:p>
            <a:pPr marL="0" indent="0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672080" y="3329940"/>
          <a:ext cx="5746750" cy="1598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2765">
                <a:tc>
                  <a:txBody>
                    <a:bodyPr/>
                    <a:lstStyle/>
                    <a:p>
                      <a:r>
                        <a:rPr sz="1100"/>
                        <a:t>Name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Salary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r>
                        <a:rPr sz="1100"/>
                        <a:t>Charlie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/>
                        <a:t>80000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r>
                        <a:rPr sz="1100"/>
                        <a:t>Eve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90000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9720"/>
            <a:ext cx="10515600" cy="624332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ALL Operator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Compares a value to all values returned by a subquery.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Works with comparison operators (=, &gt;, &lt;, &gt;=, &lt;=, !=).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Ensures a condition holds true for every value returned by a subquery.</a:t>
            </a:r>
          </a:p>
          <a:p>
            <a:pPr marL="0" indent="0">
              <a:buNone/>
            </a:pP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Find employees who earn more than all IT department employees.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SELECT Name, Salary FROM </a:t>
            </a:r>
            <a:r>
              <a:rPr lang="en-US" altLang="en-US" b="1" dirty="0" err="1">
                <a:latin typeface="Times New Roman" panose="02020603050405020304" charset="0"/>
                <a:cs typeface="Times New Roman" panose="02020603050405020304" charset="0"/>
              </a:rPr>
              <a:t>EmployeesWHERE</a:t>
            </a: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 Salary &gt; ALL (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SELECT Salary FROM Employees WHERE Department = 'IT'</a:t>
            </a: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</a:rPr>
              <a:t>);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Explanation: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The subquery returns IT salaries {70000, 80000}.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The main query checks for employees with salary greater than all values, meaning greater than 80000 (the highest IT salary).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Output: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Name       salary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Eve           90000</a:t>
            </a:r>
          </a:p>
          <a:p>
            <a:pPr marL="0" indent="0">
              <a:buNone/>
            </a:pP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25" y="243840"/>
            <a:ext cx="11151870" cy="626173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Multi Column Subqueries:-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If inner query returns more than one column value then it is called MULTI COLUMN subquery.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SQL&gt; SELECT SNAME FROM SAILORS WHERE (RATING,AGE) IN (SELECT 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RATING,MAX(AGE) FROM SAILORS GROUP BY RATING);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SNAME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---------- 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DUSTIN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BRUTUS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LUBBER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RUSTY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HORATIO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BOB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640" y="-85725"/>
            <a:ext cx="11318240" cy="655764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Nested Queries</a:t>
            </a:r>
          </a:p>
          <a:p>
            <a:pPr marL="0" indent="0" algn="just">
              <a:buNone/>
            </a:pPr>
            <a:r>
              <a:rPr lang="en-US" altLang="en-US" sz="2400" b="1" i="1" dirty="0">
                <a:latin typeface="Times New Roman" panose="02020603050405020304" charset="0"/>
                <a:cs typeface="Times New Roman" panose="02020603050405020304" charset="0"/>
              </a:rPr>
              <a:t>A subquery embedded in another subquery is called NESTED QUERY.</a:t>
            </a:r>
          </a:p>
          <a:p>
            <a:pPr marL="0" indent="0" algn="just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Display employee name earning second maximum salary ?</a:t>
            </a:r>
          </a:p>
          <a:p>
            <a:pPr marL="0" indent="0" algn="just"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SQL&gt;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SELECT </a:t>
            </a:r>
            <a:r>
              <a:rPr lang="en-US" altLang="en-US" sz="2000" b="1" dirty="0" err="1">
                <a:latin typeface="Times New Roman" panose="02020603050405020304" charset="0"/>
                <a:cs typeface="Times New Roman" panose="02020603050405020304" charset="0"/>
              </a:rPr>
              <a:t>ename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 FROM emp  WHERE </a:t>
            </a:r>
            <a:r>
              <a:rPr lang="en-US" altLang="en-US" sz="2000" b="1" dirty="0" err="1">
                <a:latin typeface="Times New Roman" panose="02020603050405020304" charset="0"/>
                <a:cs typeface="Times New Roman" panose="02020603050405020304" charset="0"/>
              </a:rPr>
              <a:t>sal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 = (</a:t>
            </a:r>
            <a:r>
              <a:rPr lang="en-US" altLang="en-US" sz="2000" b="1" dirty="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SELECT MAX(</a:t>
            </a:r>
            <a:r>
              <a:rPr lang="en-US" altLang="en-US" sz="2000" b="1" dirty="0" err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sal</a:t>
            </a:r>
            <a:r>
              <a:rPr lang="en-US" altLang="en-US" sz="2000" b="1" dirty="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) FROM EMP  WHERE </a:t>
            </a:r>
            <a:r>
              <a:rPr lang="en-US" altLang="en-US" sz="2000" b="1" dirty="0" err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sal</a:t>
            </a:r>
            <a:r>
              <a:rPr lang="en-US" altLang="en-US" sz="2000" b="1" dirty="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&lt; (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SELECT MAX(</a:t>
            </a:r>
            <a:r>
              <a:rPr lang="en-US" altLang="en-US" sz="2000" b="1" dirty="0" err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sal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) FROM emp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)) ;</a:t>
            </a:r>
          </a:p>
          <a:p>
            <a:pPr marL="0" indent="0" algn="just">
              <a:buNone/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Find the names of sailors who have not reserved a red boat.</a:t>
            </a:r>
          </a:p>
          <a:p>
            <a:pPr marL="0" indent="0" algn="just"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SELECT </a:t>
            </a:r>
            <a:r>
              <a:rPr lang="en-US" altLang="en-US" sz="2000" b="1" dirty="0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S.SNAME FROM SAILORS S WHERE S.SID </a:t>
            </a:r>
            <a:r>
              <a:rPr lang="en-US" altLang="en-US" sz="2000" b="1" i="1" u="sng" dirty="0">
                <a:latin typeface="Times New Roman" panose="02020603050405020304" charset="0"/>
                <a:cs typeface="Times New Roman" panose="02020603050405020304" charset="0"/>
              </a:rPr>
              <a:t>NOT IN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altLang="en-US" sz="2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SELECT R.SID FROM RESERVES R WHERE R.BID </a:t>
            </a:r>
            <a:r>
              <a:rPr lang="en-US" altLang="en-US" sz="2000" b="1" i="1" u="sng" dirty="0">
                <a:latin typeface="Times New Roman" panose="02020603050405020304" charset="0"/>
                <a:cs typeface="Times New Roman" panose="02020603050405020304" charset="0"/>
              </a:rPr>
              <a:t>IN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altLang="en-US" sz="2000" b="1" dirty="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SELECT B.BID FROM BOATS B WHERE B.COLOR = 'RED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'));</a:t>
            </a:r>
          </a:p>
          <a:p>
            <a:pPr marL="0" indent="0" algn="ctr">
              <a:buNone/>
            </a:pP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SNAME</a:t>
            </a:r>
          </a:p>
          <a:p>
            <a:pPr marL="0" indent="0" algn="ctr">
              <a:buNone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BRUTUS</a:t>
            </a:r>
          </a:p>
          <a:p>
            <a:pPr marL="0" indent="0" algn="ctr">
              <a:buNone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CANDY</a:t>
            </a:r>
          </a:p>
          <a:p>
            <a:pPr marL="0" indent="0" algn="ctr">
              <a:buNone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RUSTY</a:t>
            </a:r>
          </a:p>
          <a:p>
            <a:pPr marL="0" indent="0" algn="ctr">
              <a:buNone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ZOBRA</a:t>
            </a:r>
          </a:p>
          <a:p>
            <a:pPr marL="0" indent="0" algn="ctr">
              <a:buNone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HORATIO</a:t>
            </a:r>
          </a:p>
          <a:p>
            <a:pPr marL="0" indent="0" algn="ctr">
              <a:buNone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ART</a:t>
            </a:r>
          </a:p>
          <a:p>
            <a:pPr marL="0" indent="0" algn="ctr">
              <a:buNone/>
            </a:pPr>
            <a:r>
              <a:rPr lang="en-US" altLang="en-US" sz="1600" b="1" dirty="0">
                <a:latin typeface="Times New Roman" panose="02020603050405020304" charset="0"/>
                <a:cs typeface="Times New Roman" panose="02020603050405020304" charset="0"/>
              </a:rPr>
              <a:t>BOB</a:t>
            </a:r>
          </a:p>
          <a:p>
            <a:pPr marL="0" indent="0" algn="just">
              <a:buNone/>
            </a:pP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000"/>
            <a:ext cx="10515600" cy="60502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Consider the following schema:</a:t>
            </a:r>
          </a:p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Sailors (sid, sname, rating, age)</a:t>
            </a:r>
          </a:p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Boats (bid, bname, color)</a:t>
            </a:r>
          </a:p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Reserves (sid, bid, day(date))</a:t>
            </a:r>
          </a:p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Write subquery statement for the following queries.</a:t>
            </a:r>
          </a:p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1. Find all information of sailors who have reserved boat number 101.</a:t>
            </a:r>
          </a:p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2. Find the name of boat reserved by Bob.</a:t>
            </a:r>
          </a:p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3. Find the names of sailors who have reserved a red boat, and list in the order of age.</a:t>
            </a:r>
          </a:p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4. Find the names of sailors who have reserved at least one boat.</a:t>
            </a:r>
          </a:p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5. Find the ids and names of sailors who have reserved two different boats on the same day.</a:t>
            </a:r>
          </a:p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6. Find the ids of sailors who have reserved a red boat or a green boat.</a:t>
            </a:r>
          </a:p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7. Find the name and the age of the youngest sailor.</a:t>
            </a:r>
          </a:p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8. Count the number of different sailor names.</a:t>
            </a:r>
          </a:p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9. Find the average age of sailors for each rating level.</a:t>
            </a:r>
          </a:p>
          <a:p>
            <a:pPr marL="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10. Find the average age of sailors for each rating level that has at least two sailors.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2*125"/>
  <p:tag name="TABLE_ENDDRAG_RECT" val="210*262*452*12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2095</Words>
  <Application>Microsoft Office PowerPoint</Application>
  <PresentationFormat>Widescreen</PresentationFormat>
  <Paragraphs>263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SUB QUERIES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SUBQUERIES</dc:title>
  <dc:creator>Aashritha</dc:creator>
  <cp:lastModifiedBy>murali krishna</cp:lastModifiedBy>
  <cp:revision>62</cp:revision>
  <dcterms:created xsi:type="dcterms:W3CDTF">2025-03-23T08:28:00Z</dcterms:created>
  <dcterms:modified xsi:type="dcterms:W3CDTF">2025-03-27T15:47:23Z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9A2A8ABA04D54EDFB7BCEDF6370280CE_11</vt:lpwstr>
  </property>
  <property fmtid="{D5CDD505-2E9C-101B-9397-08002B2CF9AE}" pid="3" name="KSOProductBuildVer">
    <vt:lpwstr>1033-12.2.0.20326</vt:lpwstr>
  </property>
</Properties>
</file>