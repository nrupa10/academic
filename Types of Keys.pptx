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276EB-4619-4DEA-8066-16270AC9866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8334A-35FD-4311-AE3C-03095B96B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39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8334A-35FD-4311-AE3C-03095B96B5F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00698-9BCF-A3E0-9670-4C7EA8462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73BDF-D1F4-9EC6-B2CC-72310BC98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A6A3B-F504-3261-090F-F9A66E6F3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BAD7A-D76D-302A-B5F2-D0D1DF9E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67389-3715-9FE4-E104-6B25D1092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6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B514-DBEF-4DB3-35E1-AE70263B7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A463-7850-0675-2730-83AD8E5EB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E056-0C3B-D288-8D9B-D17510BE6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45E27-AA07-F32E-AB01-D9475BE9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E55BC-C149-3104-CEA3-1CA85657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127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DB4F-0888-C1D8-B1B4-79E371296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07FB-21C2-97AC-B6D0-D0FA09566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4B5C-F3F3-DA26-35E6-B35D817B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C755-865C-E556-1EB1-24C016E8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B2923-3BB6-D614-7C60-33DC65FB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443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4800-8371-2886-8FEB-372ED0591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60A15-7E40-46C0-4CF2-B293D05B2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66486-1A65-9472-B29B-7D0A61D47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8D7CB-6DDB-9041-47A6-9462D066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33B40-BBCF-7FBD-FA91-6CC910C7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B6474-4895-9F10-17B5-935F6BE1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267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B983-1FDF-F505-09F4-6B6D4576D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2000D-F96A-7902-9E05-0299E08ED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9F45E-31C2-48F7-CCD6-A328221E0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6347DF-D958-85C7-6323-6ADB18821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57B064-4AD4-5EBD-1F68-EE40D84A1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5D2331-083C-E9B8-3EF8-1D758801A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2B1A2-B190-E4A1-A78D-F23B114E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01E98E-864E-84D6-9F4D-708FC318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79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6E31-C1A3-7BFC-FC0A-4C2614BD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9E481-FBBF-6547-D4E2-0F4E1D65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805A3-344D-F90A-339C-87958B7A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A8164-312F-762F-C5CA-EED50D7C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39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FEB33-EE96-0AE7-66E3-B5CDDA8C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2C9B6-93A4-CA67-D255-59B38911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1DA1C-A394-B53E-D432-698FA44F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033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FC58-42DB-18A5-79FB-F8804D9C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64ED4-82D6-98AD-5A87-7DC2BB903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67879-8F1F-4ACB-94CC-28CAC8448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CC9F1-6154-E371-5F93-6CEA0750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67404-6754-BEAF-A37C-A98E55D1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7E017-F709-638B-5056-3F552787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12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2D92D-CD55-6CD7-CDCC-56358B211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AD6DC6-5AF5-87EA-33AF-A4E048F0B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B8197-3343-7875-780F-AD17D45D7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DC58B-91D5-DCBE-F7C9-25BE7BE4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0F155-FD2E-C02E-DED7-81E635B2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CC93E-E00C-E4D9-1293-8CCB3F9D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850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4AB4-8186-BB39-D7DE-6D4D7744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5151-6941-5A4D-701E-CE4565F42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D3428-A467-BA30-3C2B-9115F29F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0FF20-0299-1BC0-8BE1-B8AD51A15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53C34-BF4B-915F-E72F-EF869A4E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8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4D3D4F-55D2-DD3A-4788-AF1FC6B7E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219EA-5E06-67A5-38D3-03E947F53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83F58-1A45-4C2F-D06F-5C026ECB8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90030-A32A-254F-4009-409DD9B1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AAD82-4156-AAD8-4558-30CE814A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84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99537-1DC7-0DBA-7F4B-459EC49D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5A65C-35C1-0B74-5E37-F7A3E871D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E222-F894-E487-F52B-23B4F1956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24B04-7151-436B-8D2C-A96449B0DB8E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EBA80-9385-2FE1-B346-75F428273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CFB8D-C759-98F1-A4D1-59732DCB2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6D207-0A8A-47EC-9ED2-CCF8E8592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1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472066-3E1E-850F-0008-96E6D30A7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116017"/>
              </p:ext>
            </p:extLst>
          </p:nvPr>
        </p:nvGraphicFramePr>
        <p:xfrm>
          <a:off x="936172" y="642257"/>
          <a:ext cx="10515600" cy="5896604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090057">
                  <a:extLst>
                    <a:ext uri="{9D8B030D-6E8A-4147-A177-3AD203B41FA5}">
                      <a16:colId xmlns:a16="http://schemas.microsoft.com/office/drawing/2014/main" val="535942933"/>
                    </a:ext>
                  </a:extLst>
                </a:gridCol>
                <a:gridCol w="3635828">
                  <a:extLst>
                    <a:ext uri="{9D8B030D-6E8A-4147-A177-3AD203B41FA5}">
                      <a16:colId xmlns:a16="http://schemas.microsoft.com/office/drawing/2014/main" val="284162238"/>
                    </a:ext>
                  </a:extLst>
                </a:gridCol>
                <a:gridCol w="4789715">
                  <a:extLst>
                    <a:ext uri="{9D8B030D-6E8A-4147-A177-3AD203B41FA5}">
                      <a16:colId xmlns:a16="http://schemas.microsoft.com/office/drawing/2014/main" val="1201545785"/>
                    </a:ext>
                  </a:extLst>
                </a:gridCol>
              </a:tblGrid>
              <a:tr h="6126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 Key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Candidate Key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0356378"/>
                  </a:ext>
                </a:extLst>
              </a:tr>
              <a:tr h="13230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set of one or more attributes that uniquely identify a tuple in a relation.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minimal super key, meaning it has no unnecessary attributes.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24391083"/>
                  </a:ext>
                </a:extLst>
              </a:tr>
              <a:tr h="13230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Uniqueness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uniqueness of tuples but may contain extra attributes.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uniqueness with only the essential attributes.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99065053"/>
                  </a:ext>
                </a:extLst>
              </a:tr>
              <a:tr h="8792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Minimality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necessarily minimal (may have extra attributes).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Strictly minimal (no redundant attributes).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28397117"/>
                  </a:ext>
                </a:extLst>
              </a:tr>
              <a:tr h="8792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in a Table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have multiple super keys.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subset of super keys, so there are fewer candidate keys.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3122905"/>
                  </a:ext>
                </a:extLst>
              </a:tr>
              <a:tr h="8792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 Relationship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Superset of candidate keys.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of the candidate keys is chosen as the primary key.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92264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83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B568AC-5FEC-8489-E2CA-63191D8A15E9}"/>
              </a:ext>
            </a:extLst>
          </p:cNvPr>
          <p:cNvSpPr txBox="1"/>
          <p:nvPr/>
        </p:nvSpPr>
        <p:spPr>
          <a:xfrm>
            <a:off x="206828" y="59847"/>
            <a:ext cx="10472057" cy="628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 (</a:t>
            </a:r>
            <a:r>
              <a:rPr lang="en-IN" sz="32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Name, Email, Phone)</a:t>
            </a:r>
            <a:endParaRPr lang="en-IN" sz="4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Possible </a:t>
            </a:r>
            <a:r>
              <a:rPr lang="en-IN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 Keys</a:t>
            </a: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IN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{Email}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{Phone}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IN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Name}</a:t>
            </a: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(Not minimal, so it's only a super key)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{Email, Phone}</a:t>
            </a: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(Not minimal, just a super key)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Possible </a:t>
            </a:r>
            <a:r>
              <a:rPr lang="en-IN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Candidate Keys</a:t>
            </a: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IN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(Minimal)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{Email}</a:t>
            </a: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(Minimal)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{Phone}</a:t>
            </a: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(Minimal)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A0DD3-0065-EAE6-D318-7B85A2A165E0}"/>
              </a:ext>
            </a:extLst>
          </p:cNvPr>
          <p:cNvSpPr txBox="1"/>
          <p:nvPr/>
        </p:nvSpPr>
        <p:spPr>
          <a:xfrm rot="20704234">
            <a:off x="3962642" y="4266977"/>
            <a:ext cx="7837714" cy="994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Since candidate keys are minimal, one of them is chosen as the primary key, e.g., </a:t>
            </a: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IN" sz="2400" b="1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64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B91A8-C045-C2F6-194F-F4EA6D7BA599}"/>
              </a:ext>
            </a:extLst>
          </p:cNvPr>
          <p:cNvSpPr txBox="1"/>
          <p:nvPr/>
        </p:nvSpPr>
        <p:spPr>
          <a:xfrm>
            <a:off x="892627" y="881128"/>
            <a:ext cx="10798629" cy="4483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Every candidate key is a super key, but not every super key is a candidate key.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8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 key </a:t>
            </a: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may have </a:t>
            </a:r>
            <a:r>
              <a:rPr lang="en-IN" sz="2800" b="1" i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 attributes</a:t>
            </a: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while a </a:t>
            </a:r>
            <a:r>
              <a:rPr lang="en-IN" sz="2800" b="1" kern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key is </a:t>
            </a:r>
            <a:r>
              <a:rPr lang="en-IN" sz="2800" b="1" kern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minimal</a:t>
            </a: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candidate key is selected as the primary key.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92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E5044F2-0D57-0C8A-65EB-AFC934359531}"/>
              </a:ext>
            </a:extLst>
          </p:cNvPr>
          <p:cNvSpPr txBox="1"/>
          <p:nvPr/>
        </p:nvSpPr>
        <p:spPr>
          <a:xfrm>
            <a:off x="1115784" y="545844"/>
            <a:ext cx="9252858" cy="3680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best defines a 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 key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a relational database?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key that uniquely identifies a record in a table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key that consists of only one attribute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key that may or may not be minimal but uniquely identifies a record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 key that can never be a primary key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C2D78-43AD-E4FA-A5AE-0A6E0DE182B3}"/>
              </a:ext>
            </a:extLst>
          </p:cNvPr>
          <p:cNvSpPr txBox="1"/>
          <p:nvPr/>
        </p:nvSpPr>
        <p:spPr>
          <a:xfrm>
            <a:off x="2144486" y="4978178"/>
            <a:ext cx="69886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A key that may or may not be minimal but uniquely identifies a record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66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FCC356-D423-B96A-70AD-A0D20690230F}"/>
              </a:ext>
            </a:extLst>
          </p:cNvPr>
          <p:cNvSpPr txBox="1"/>
          <p:nvPr/>
        </p:nvSpPr>
        <p:spPr>
          <a:xfrm>
            <a:off x="446314" y="522685"/>
            <a:ext cx="11821886" cy="450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difference between a Candidate Key and a Super Key?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Candidate Key is a minimal Super Key.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Super Key is a minimal Candidate Key.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Candidate Key always contains extra attributes.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 Super Key is always chosen as the Primary Key.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2CB41-C79D-2292-0917-F9A9DBDE3187}"/>
              </a:ext>
            </a:extLst>
          </p:cNvPr>
          <p:cNvSpPr txBox="1"/>
          <p:nvPr/>
        </p:nvSpPr>
        <p:spPr>
          <a:xfrm>
            <a:off x="1877786" y="5750540"/>
            <a:ext cx="8115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A Candidate Key is a minimal Super Key.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7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D5F576-5125-5B8B-3CEC-EA59151A1D7E}"/>
              </a:ext>
            </a:extLst>
          </p:cNvPr>
          <p:cNvSpPr txBox="1"/>
          <p:nvPr/>
        </p:nvSpPr>
        <p:spPr>
          <a:xfrm>
            <a:off x="380999" y="108857"/>
            <a:ext cx="11625943" cy="450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can be considered as a Candidate Key?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key that uniquely identifies records and is minimal.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key that contains extra attributes but still uniquely identifies records.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key that is always chosen as the Primary Key.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 key that is always an artificial identifier.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C0C6B-DDC2-18E3-A792-17B598EB6FAF}"/>
              </a:ext>
            </a:extLst>
          </p:cNvPr>
          <p:cNvSpPr txBox="1"/>
          <p:nvPr/>
        </p:nvSpPr>
        <p:spPr>
          <a:xfrm>
            <a:off x="1268186" y="5388820"/>
            <a:ext cx="9655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A key that uniquely identifies records and is minimal.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6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BC8780-90AA-6C81-8806-0132EEA86C0E}"/>
              </a:ext>
            </a:extLst>
          </p:cNvPr>
          <p:cNvSpPr txBox="1"/>
          <p:nvPr/>
        </p:nvSpPr>
        <p:spPr>
          <a:xfrm>
            <a:off x="870857" y="385390"/>
            <a:ext cx="9829800" cy="39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is a Primary Key different from a Candidate Key?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Primary Key must contain extra attributes.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Candidate Key is always a Super Key but not necessarily a Primary Key.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Primary Key is always chosen randomly.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 Candidate Key can never be used as a Primary Key.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48FB81-C4D7-DB73-070D-59D0C4CD9B35}"/>
              </a:ext>
            </a:extLst>
          </p:cNvPr>
          <p:cNvSpPr txBox="1"/>
          <p:nvPr/>
        </p:nvSpPr>
        <p:spPr>
          <a:xfrm>
            <a:off x="566056" y="5096752"/>
            <a:ext cx="11473543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Candidate Key is always a Super Key but not necessarily a Primary Key.</a:t>
            </a:r>
            <a:endParaRPr lang="en-IN" sz="20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62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5606B-1DED-A306-AFAF-C7660FB58A48}"/>
              </a:ext>
            </a:extLst>
          </p:cNvPr>
          <p:cNvSpPr txBox="1"/>
          <p:nvPr/>
        </p:nvSpPr>
        <p:spPr>
          <a:xfrm>
            <a:off x="1230084" y="0"/>
            <a:ext cx="10276115" cy="450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an Alternate Key in DBMS?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key that is always chosen as the Primary Key.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key that is not a Candidate Key.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Candidate Key that is not selected as the Primary Key.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 Foreign Key that refers to another table.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DCE29-9FD8-02B4-8571-E306A90273C8}"/>
              </a:ext>
            </a:extLst>
          </p:cNvPr>
          <p:cNvSpPr txBox="1"/>
          <p:nvPr/>
        </p:nvSpPr>
        <p:spPr>
          <a:xfrm>
            <a:off x="979713" y="5432363"/>
            <a:ext cx="9601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A Candidate Key that is not selected as the Primary Key.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00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B796AC-2FA3-06C2-DA83-D0982FEC6104}"/>
              </a:ext>
            </a:extLst>
          </p:cNvPr>
          <p:cNvSpPr txBox="1"/>
          <p:nvPr/>
        </p:nvSpPr>
        <p:spPr>
          <a:xfrm>
            <a:off x="783772" y="489859"/>
            <a:ext cx="10199914" cy="39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a Surrogate Key in DBMS?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key that is a natural attribute of the entity.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key generated by the system, usually numeric or unique identifiers.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key that is always a Foreign Key.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 key that is chosen from existing attributes in the table.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10629-4345-28FD-88C7-3B0F4608431D}"/>
              </a:ext>
            </a:extLst>
          </p:cNvPr>
          <p:cNvSpPr txBox="1"/>
          <p:nvPr/>
        </p:nvSpPr>
        <p:spPr>
          <a:xfrm>
            <a:off x="1393370" y="5489806"/>
            <a:ext cx="101999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A key generated by the system, usually numeric or unique identifiers.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47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D82FF0-61EA-3264-C543-ACD4354AD455}"/>
              </a:ext>
            </a:extLst>
          </p:cNvPr>
          <p:cNvSpPr txBox="1"/>
          <p:nvPr/>
        </p:nvSpPr>
        <p:spPr>
          <a:xfrm>
            <a:off x="827314" y="174172"/>
            <a:ext cx="10308772" cy="39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statements is true about a Foreign Key?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Foreign Key must be unique in the table where it is defined.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Foreign Key references a Candidate Key in another table.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Foreign Key cannot contain NULL values.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 Foreign Key must always be a Primary Key in the referenced table.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9EFB81-FB1C-1C67-DEA5-D122FE326553}"/>
              </a:ext>
            </a:extLst>
          </p:cNvPr>
          <p:cNvSpPr txBox="1"/>
          <p:nvPr/>
        </p:nvSpPr>
        <p:spPr>
          <a:xfrm>
            <a:off x="936169" y="5040476"/>
            <a:ext cx="9710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A Foreign Key references a Candidate Key in another table.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92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ED0999-5912-9718-5800-B965A3310752}"/>
              </a:ext>
            </a:extLst>
          </p:cNvPr>
          <p:cNvSpPr txBox="1"/>
          <p:nvPr/>
        </p:nvSpPr>
        <p:spPr>
          <a:xfrm>
            <a:off x="381000" y="272314"/>
            <a:ext cx="11647715" cy="39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happens if a Foreign Key value does not exist in the referenced table?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It is allowed in all cases.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It results in a violation of referential integrity.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It is automatically inserted into the referenced table.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It does not affect the database.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3A6E3-581C-19E1-38F6-ADA4373A142C}"/>
              </a:ext>
            </a:extLst>
          </p:cNvPr>
          <p:cNvSpPr txBox="1"/>
          <p:nvPr/>
        </p:nvSpPr>
        <p:spPr>
          <a:xfrm>
            <a:off x="2285999" y="5171106"/>
            <a:ext cx="8109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It results in a violation of referential integrity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09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967ABE-DF5C-0B0C-9E61-E9E401B88AE6}"/>
              </a:ext>
            </a:extLst>
          </p:cNvPr>
          <p:cNvSpPr txBox="1"/>
          <p:nvPr/>
        </p:nvSpPr>
        <p:spPr>
          <a:xfrm>
            <a:off x="1578428" y="197490"/>
            <a:ext cx="7957457" cy="39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type of key can have NULL values?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Primary Key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Candidate Key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Foreign Key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Super Key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12544-8680-F591-60ED-A17194466B7F}"/>
              </a:ext>
            </a:extLst>
          </p:cNvPr>
          <p:cNvSpPr txBox="1"/>
          <p:nvPr/>
        </p:nvSpPr>
        <p:spPr>
          <a:xfrm>
            <a:off x="2786742" y="5136076"/>
            <a:ext cx="6096000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Foreign Key</a:t>
            </a:r>
            <a:endParaRPr lang="en-IN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57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E6E217-C9B0-DD10-3B01-24E909110363}"/>
              </a:ext>
            </a:extLst>
          </p:cNvPr>
          <p:cNvSpPr txBox="1"/>
          <p:nvPr/>
        </p:nvSpPr>
        <p:spPr>
          <a:xfrm>
            <a:off x="1600200" y="182397"/>
            <a:ext cx="8349343" cy="3680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 key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contains more attributes than necessary, it is called: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minimal key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primary key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redundant key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 non-minimal key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F543D8-A4E4-1C01-20EF-284E5D6AE8D4}"/>
              </a:ext>
            </a:extLst>
          </p:cNvPr>
          <p:cNvSpPr txBox="1"/>
          <p:nvPr/>
        </p:nvSpPr>
        <p:spPr>
          <a:xfrm>
            <a:off x="2726871" y="502959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 non-minimal key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10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162377-8192-F672-6237-F60C2F488108}"/>
              </a:ext>
            </a:extLst>
          </p:cNvPr>
          <p:cNvSpPr txBox="1"/>
          <p:nvPr/>
        </p:nvSpPr>
        <p:spPr>
          <a:xfrm>
            <a:off x="979713" y="0"/>
            <a:ext cx="11212287" cy="44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chosen from multiple candidate keys, the remaining candidate keys are called: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Super keys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Foreign keys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Alternate keys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Composite keys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91340-6405-5875-BA17-3BA8A961D429}"/>
              </a:ext>
            </a:extLst>
          </p:cNvPr>
          <p:cNvSpPr txBox="1"/>
          <p:nvPr/>
        </p:nvSpPr>
        <p:spPr>
          <a:xfrm>
            <a:off x="2960915" y="519287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Alternate keys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2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790CA3-1A10-D3FD-731E-6677A8247113}"/>
              </a:ext>
            </a:extLst>
          </p:cNvPr>
          <p:cNvSpPr txBox="1"/>
          <p:nvPr/>
        </p:nvSpPr>
        <p:spPr>
          <a:xfrm>
            <a:off x="734785" y="326571"/>
            <a:ext cx="10722429" cy="44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Given a relation 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Employee(</a:t>
            </a:r>
            <a:r>
              <a:rPr lang="en-IN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Name, Dept, Salary)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IN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uniquely identifies employees, which of the following is a super key?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{</a:t>
            </a:r>
            <a:r>
              <a:rPr lang="en-IN" sz="2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{</a:t>
            </a:r>
            <a:r>
              <a:rPr lang="en-IN" sz="2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Name}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{</a:t>
            </a:r>
            <a:r>
              <a:rPr lang="en-IN" sz="2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Dept, Salary}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All of the above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C9FD82-4525-F787-8488-5B3B126EB98D}"/>
              </a:ext>
            </a:extLst>
          </p:cNvPr>
          <p:cNvSpPr txBox="1"/>
          <p:nvPr/>
        </p:nvSpPr>
        <p:spPr>
          <a:xfrm>
            <a:off x="3047999" y="529084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All of the above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19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EB6CC3-2AF5-8EFE-667A-B860AF872CF5}"/>
              </a:ext>
            </a:extLst>
          </p:cNvPr>
          <p:cNvSpPr txBox="1"/>
          <p:nvPr/>
        </p:nvSpPr>
        <p:spPr>
          <a:xfrm>
            <a:off x="990601" y="359228"/>
            <a:ext cx="10384971" cy="44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a relation 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IN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Name, Course, Age)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IN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uniquely identifies a student. The 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candidate key(s)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this relation is/are: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{</a:t>
            </a:r>
            <a:r>
              <a:rPr lang="en-IN" sz="2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{</a:t>
            </a:r>
            <a:r>
              <a:rPr lang="en-IN" sz="2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Name}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{</a:t>
            </a:r>
            <a:r>
              <a:rPr lang="en-IN" sz="2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Course}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{Name, Course}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36EB1-35D8-F271-E755-5253F2560BCB}"/>
              </a:ext>
            </a:extLst>
          </p:cNvPr>
          <p:cNvSpPr txBox="1"/>
          <p:nvPr/>
        </p:nvSpPr>
        <p:spPr>
          <a:xfrm>
            <a:off x="2819400" y="5527962"/>
            <a:ext cx="6096000" cy="59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{</a:t>
            </a:r>
            <a:r>
              <a:rPr lang="en-IN" sz="3200" b="1" kern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8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51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A1890B-964F-FB1D-67BE-684C9EC314B6}"/>
              </a:ext>
            </a:extLst>
          </p:cNvPr>
          <p:cNvSpPr txBox="1"/>
          <p:nvPr/>
        </p:nvSpPr>
        <p:spPr>
          <a:xfrm>
            <a:off x="1077686" y="163287"/>
            <a:ext cx="10330543" cy="4278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is </a:t>
            </a: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true</a:t>
            </a: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about candidate keys?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relation can have more than one candidate key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 candidate key is always a super key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 candidate key may have redundant attributes</a:t>
            </a:r>
            <a:b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A primary key is chosen from candidate keys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2A827-905B-99EE-CD3C-FE3E7EA14885}"/>
              </a:ext>
            </a:extLst>
          </p:cNvPr>
          <p:cNvSpPr txBox="1"/>
          <p:nvPr/>
        </p:nvSpPr>
        <p:spPr>
          <a:xfrm>
            <a:off x="1077686" y="5301734"/>
            <a:ext cx="899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candidate key may have redundant attributes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55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1195</Words>
  <Application>Microsoft Office PowerPoint</Application>
  <PresentationFormat>Widescreen</PresentationFormat>
  <Paragraphs>70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 krishna</dc:creator>
  <cp:lastModifiedBy>murali krishna</cp:lastModifiedBy>
  <cp:revision>27</cp:revision>
  <dcterms:created xsi:type="dcterms:W3CDTF">2025-02-27T23:56:32Z</dcterms:created>
  <dcterms:modified xsi:type="dcterms:W3CDTF">2025-02-28T00:32:44Z</dcterms:modified>
</cp:coreProperties>
</file>